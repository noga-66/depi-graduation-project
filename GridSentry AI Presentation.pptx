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8288000" cy="10287000"/>
  <p:notesSz cx="6858000" cy="9144000"/>
  <p:embeddedFontLst>
    <p:embeddedFont>
      <p:font typeface="Arial Bold" panose="020B0704020202020204" pitchFamily="34" charset="0"/>
      <p:regular r:id="rId25"/>
      <p:bold r:id="rId26"/>
    </p:embeddedFont>
    <p:embeddedFont>
      <p:font typeface="Calibri (MS)" panose="020B0604020202020204" charset="0"/>
      <p:regular r:id="rId27"/>
    </p:embeddedFont>
    <p:embeddedFont>
      <p:font typeface="Calibri (MS) Bold" panose="020B0604020202020204" charset="0"/>
      <p:regular r:id="rId28"/>
    </p:embeddedFont>
    <p:embeddedFont>
      <p:font typeface="Calibri (MS) Italics" panose="020B0604020202020204" charset="0"/>
      <p:regular r:id="rId29"/>
    </p:embeddedFont>
    <p:embeddedFont>
      <p:font typeface="Cambria Bold" panose="02040803050406030204" pitchFamily="18" charset="0"/>
      <p:regular r:id="rId30"/>
      <p:bold r:id="rId31"/>
    </p:embeddedFont>
    <p:embeddedFont>
      <p:font typeface="Courier New Bold" panose="02070609020205020404" pitchFamily="49" charset="0"/>
      <p:regular r:id="rId32"/>
      <p:bold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70" d="100"/>
          <a:sy n="70" d="100"/>
        </p:scale>
        <p:origin x="768"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13.07.2026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grpSp>
        <p:nvGrpSpPr>
          <p:cNvPr id="2" name="Group 2"/>
          <p:cNvGrpSpPr/>
          <p:nvPr/>
        </p:nvGrpSpPr>
        <p:grpSpPr>
          <a:xfrm>
            <a:off x="-9525" y="1362075"/>
            <a:ext cx="18302478" cy="19050"/>
            <a:chOff x="0" y="0"/>
            <a:chExt cx="24403304" cy="25400"/>
          </a:xfrm>
        </p:grpSpPr>
        <p:sp>
          <p:nvSpPr>
            <p:cNvPr id="3" name="Freeform 3"/>
            <p:cNvSpPr/>
            <p:nvPr/>
          </p:nvSpPr>
          <p:spPr>
            <a:xfrm>
              <a:off x="0" y="0"/>
              <a:ext cx="24403304" cy="25400"/>
            </a:xfrm>
            <a:custGeom>
              <a:avLst/>
              <a:gdLst/>
              <a:ahLst/>
              <a:cxnLst/>
              <a:rect l="l" t="t" r="r" b="b"/>
              <a:pathLst>
                <a:path w="24403304" h="25400">
                  <a:moveTo>
                    <a:pt x="0" y="0"/>
                  </a:moveTo>
                  <a:lnTo>
                    <a:pt x="24403304" y="25400"/>
                  </a:lnTo>
                </a:path>
              </a:pathLst>
            </a:custGeom>
            <a:blipFill>
              <a:blip r:embed="rId3">
                <a:alphaModFix amt="0"/>
              </a:blip>
              <a:stretch>
                <a:fillRect t="-18670445" b="-18670445"/>
              </a:stretch>
            </a:blipFill>
            <a:ln w="19050" cap="sq">
              <a:solidFill>
                <a:srgbClr val="16273D"/>
              </a:solidFill>
              <a:prstDash val="solid"/>
              <a:miter/>
            </a:ln>
          </p:spPr>
          <p:txBody>
            <a:bodyPr/>
            <a:lstStyle/>
            <a:p>
              <a:endParaRPr lang="en-US"/>
            </a:p>
          </p:txBody>
        </p:sp>
      </p:grpSp>
      <p:grpSp>
        <p:nvGrpSpPr>
          <p:cNvPr id="4" name="Group 4"/>
          <p:cNvGrpSpPr/>
          <p:nvPr/>
        </p:nvGrpSpPr>
        <p:grpSpPr>
          <a:xfrm>
            <a:off x="0" y="1911072"/>
            <a:ext cx="18302478" cy="19050"/>
            <a:chOff x="0" y="0"/>
            <a:chExt cx="24403304" cy="25400"/>
          </a:xfrm>
        </p:grpSpPr>
        <p:sp>
          <p:nvSpPr>
            <p:cNvPr id="5" name="Freeform 5"/>
            <p:cNvSpPr/>
            <p:nvPr/>
          </p:nvSpPr>
          <p:spPr>
            <a:xfrm>
              <a:off x="0" y="0"/>
              <a:ext cx="24403304" cy="25400"/>
            </a:xfrm>
            <a:custGeom>
              <a:avLst/>
              <a:gdLst/>
              <a:ahLst/>
              <a:cxnLst/>
              <a:rect l="l" t="t" r="r" b="b"/>
              <a:pathLst>
                <a:path w="24403304" h="25400">
                  <a:moveTo>
                    <a:pt x="0" y="0"/>
                  </a:moveTo>
                  <a:lnTo>
                    <a:pt x="24403304" y="25400"/>
                  </a:lnTo>
                </a:path>
              </a:pathLst>
            </a:custGeom>
            <a:blipFill>
              <a:blip r:embed="rId3">
                <a:alphaModFix amt="0"/>
              </a:blip>
              <a:stretch>
                <a:fillRect t="-18670445" b="-18670445"/>
              </a:stretch>
            </a:blipFill>
            <a:ln w="19050" cap="sq">
              <a:solidFill>
                <a:srgbClr val="16273D"/>
              </a:solidFill>
              <a:prstDash val="solid"/>
              <a:miter/>
            </a:ln>
          </p:spPr>
          <p:txBody>
            <a:bodyPr/>
            <a:lstStyle/>
            <a:p>
              <a:endParaRPr lang="en-US"/>
            </a:p>
          </p:txBody>
        </p:sp>
      </p:grpSp>
      <p:grpSp>
        <p:nvGrpSpPr>
          <p:cNvPr id="6" name="Group 6"/>
          <p:cNvGrpSpPr/>
          <p:nvPr/>
        </p:nvGrpSpPr>
        <p:grpSpPr>
          <a:xfrm>
            <a:off x="0" y="3591104"/>
            <a:ext cx="18302478" cy="19050"/>
            <a:chOff x="0" y="0"/>
            <a:chExt cx="24403304" cy="25400"/>
          </a:xfrm>
        </p:grpSpPr>
        <p:sp>
          <p:nvSpPr>
            <p:cNvPr id="7" name="Freeform 7"/>
            <p:cNvSpPr/>
            <p:nvPr/>
          </p:nvSpPr>
          <p:spPr>
            <a:xfrm>
              <a:off x="0" y="0"/>
              <a:ext cx="24403304" cy="25400"/>
            </a:xfrm>
            <a:custGeom>
              <a:avLst/>
              <a:gdLst/>
              <a:ahLst/>
              <a:cxnLst/>
              <a:rect l="l" t="t" r="r" b="b"/>
              <a:pathLst>
                <a:path w="24403304" h="25400">
                  <a:moveTo>
                    <a:pt x="0" y="0"/>
                  </a:moveTo>
                  <a:lnTo>
                    <a:pt x="24403304" y="25400"/>
                  </a:lnTo>
                </a:path>
              </a:pathLst>
            </a:custGeom>
            <a:blipFill>
              <a:blip r:embed="rId3">
                <a:alphaModFix amt="0"/>
              </a:blip>
              <a:stretch>
                <a:fillRect t="-18670445" b="-18670445"/>
              </a:stretch>
            </a:blipFill>
            <a:ln w="19050" cap="sq">
              <a:solidFill>
                <a:srgbClr val="16273D"/>
              </a:solidFill>
              <a:prstDash val="solid"/>
              <a:miter/>
            </a:ln>
          </p:spPr>
          <p:txBody>
            <a:bodyPr/>
            <a:lstStyle/>
            <a:p>
              <a:endParaRPr lang="en-US"/>
            </a:p>
          </p:txBody>
        </p:sp>
      </p:grpSp>
      <p:grpSp>
        <p:nvGrpSpPr>
          <p:cNvPr id="8" name="Group 8"/>
          <p:cNvGrpSpPr/>
          <p:nvPr/>
        </p:nvGrpSpPr>
        <p:grpSpPr>
          <a:xfrm>
            <a:off x="0" y="4894124"/>
            <a:ext cx="18302478" cy="19050"/>
            <a:chOff x="0" y="0"/>
            <a:chExt cx="24403304" cy="25400"/>
          </a:xfrm>
        </p:grpSpPr>
        <p:sp>
          <p:nvSpPr>
            <p:cNvPr id="9" name="Freeform 9"/>
            <p:cNvSpPr/>
            <p:nvPr/>
          </p:nvSpPr>
          <p:spPr>
            <a:xfrm>
              <a:off x="0" y="0"/>
              <a:ext cx="24403304" cy="25400"/>
            </a:xfrm>
            <a:custGeom>
              <a:avLst/>
              <a:gdLst/>
              <a:ahLst/>
              <a:cxnLst/>
              <a:rect l="l" t="t" r="r" b="b"/>
              <a:pathLst>
                <a:path w="24403304" h="25400">
                  <a:moveTo>
                    <a:pt x="0" y="0"/>
                  </a:moveTo>
                  <a:lnTo>
                    <a:pt x="24403304" y="25400"/>
                  </a:lnTo>
                </a:path>
              </a:pathLst>
            </a:custGeom>
            <a:blipFill>
              <a:blip r:embed="rId3">
                <a:alphaModFix amt="0"/>
              </a:blip>
              <a:stretch>
                <a:fillRect t="-18670445" b="-18670445"/>
              </a:stretch>
            </a:blipFill>
            <a:ln w="19050" cap="sq">
              <a:solidFill>
                <a:srgbClr val="16273D"/>
              </a:solidFill>
              <a:prstDash val="solid"/>
              <a:miter/>
            </a:ln>
          </p:spPr>
          <p:txBody>
            <a:bodyPr/>
            <a:lstStyle/>
            <a:p>
              <a:endParaRPr lang="en-US"/>
            </a:p>
          </p:txBody>
        </p:sp>
      </p:grpSp>
      <p:grpSp>
        <p:nvGrpSpPr>
          <p:cNvPr id="10" name="Group 10"/>
          <p:cNvGrpSpPr/>
          <p:nvPr/>
        </p:nvGrpSpPr>
        <p:grpSpPr>
          <a:xfrm>
            <a:off x="0" y="6197144"/>
            <a:ext cx="18302478" cy="19050"/>
            <a:chOff x="0" y="0"/>
            <a:chExt cx="24403304" cy="25400"/>
          </a:xfrm>
        </p:grpSpPr>
        <p:sp>
          <p:nvSpPr>
            <p:cNvPr id="11" name="Freeform 11"/>
            <p:cNvSpPr/>
            <p:nvPr/>
          </p:nvSpPr>
          <p:spPr>
            <a:xfrm>
              <a:off x="0" y="0"/>
              <a:ext cx="24403304" cy="25400"/>
            </a:xfrm>
            <a:custGeom>
              <a:avLst/>
              <a:gdLst/>
              <a:ahLst/>
              <a:cxnLst/>
              <a:rect l="l" t="t" r="r" b="b"/>
              <a:pathLst>
                <a:path w="24403304" h="25400">
                  <a:moveTo>
                    <a:pt x="0" y="0"/>
                  </a:moveTo>
                  <a:lnTo>
                    <a:pt x="24403304" y="25400"/>
                  </a:lnTo>
                </a:path>
              </a:pathLst>
            </a:custGeom>
            <a:blipFill>
              <a:blip r:embed="rId3">
                <a:alphaModFix amt="0"/>
              </a:blip>
              <a:stretch>
                <a:fillRect t="-18670445" b="-18670445"/>
              </a:stretch>
            </a:blipFill>
            <a:ln w="19050" cap="sq">
              <a:solidFill>
                <a:srgbClr val="16273D"/>
              </a:solidFill>
              <a:prstDash val="solid"/>
              <a:miter/>
            </a:ln>
          </p:spPr>
          <p:txBody>
            <a:bodyPr/>
            <a:lstStyle/>
            <a:p>
              <a:endParaRPr lang="en-US"/>
            </a:p>
          </p:txBody>
        </p:sp>
      </p:grpSp>
      <p:grpSp>
        <p:nvGrpSpPr>
          <p:cNvPr id="12" name="Group 12"/>
          <p:cNvGrpSpPr/>
          <p:nvPr/>
        </p:nvGrpSpPr>
        <p:grpSpPr>
          <a:xfrm>
            <a:off x="0" y="7500164"/>
            <a:ext cx="18302478" cy="19050"/>
            <a:chOff x="0" y="0"/>
            <a:chExt cx="24403304" cy="25400"/>
          </a:xfrm>
        </p:grpSpPr>
        <p:sp>
          <p:nvSpPr>
            <p:cNvPr id="13" name="Freeform 13"/>
            <p:cNvSpPr/>
            <p:nvPr/>
          </p:nvSpPr>
          <p:spPr>
            <a:xfrm>
              <a:off x="0" y="0"/>
              <a:ext cx="24403304" cy="25400"/>
            </a:xfrm>
            <a:custGeom>
              <a:avLst/>
              <a:gdLst/>
              <a:ahLst/>
              <a:cxnLst/>
              <a:rect l="l" t="t" r="r" b="b"/>
              <a:pathLst>
                <a:path w="24403304" h="25400">
                  <a:moveTo>
                    <a:pt x="0" y="0"/>
                  </a:moveTo>
                  <a:lnTo>
                    <a:pt x="24403304" y="25400"/>
                  </a:lnTo>
                </a:path>
              </a:pathLst>
            </a:custGeom>
            <a:blipFill>
              <a:blip r:embed="rId3">
                <a:alphaModFix amt="0"/>
              </a:blip>
              <a:stretch>
                <a:fillRect t="-18670445" b="-18670445"/>
              </a:stretch>
            </a:blipFill>
            <a:ln w="19050" cap="sq">
              <a:solidFill>
                <a:srgbClr val="16273D"/>
              </a:solidFill>
              <a:prstDash val="solid"/>
              <a:miter/>
            </a:ln>
          </p:spPr>
          <p:txBody>
            <a:bodyPr/>
            <a:lstStyle/>
            <a:p>
              <a:endParaRPr lang="en-US"/>
            </a:p>
          </p:txBody>
        </p:sp>
      </p:grpSp>
      <p:grpSp>
        <p:nvGrpSpPr>
          <p:cNvPr id="14" name="Group 14"/>
          <p:cNvGrpSpPr/>
          <p:nvPr/>
        </p:nvGrpSpPr>
        <p:grpSpPr>
          <a:xfrm>
            <a:off x="-9525" y="9180195"/>
            <a:ext cx="18302478" cy="19050"/>
            <a:chOff x="0" y="0"/>
            <a:chExt cx="24403304" cy="25400"/>
          </a:xfrm>
        </p:grpSpPr>
        <p:sp>
          <p:nvSpPr>
            <p:cNvPr id="15" name="Freeform 15"/>
            <p:cNvSpPr/>
            <p:nvPr/>
          </p:nvSpPr>
          <p:spPr>
            <a:xfrm>
              <a:off x="0" y="0"/>
              <a:ext cx="24403304" cy="25400"/>
            </a:xfrm>
            <a:custGeom>
              <a:avLst/>
              <a:gdLst/>
              <a:ahLst/>
              <a:cxnLst/>
              <a:rect l="l" t="t" r="r" b="b"/>
              <a:pathLst>
                <a:path w="24403304" h="25400">
                  <a:moveTo>
                    <a:pt x="0" y="0"/>
                  </a:moveTo>
                  <a:lnTo>
                    <a:pt x="24403304" y="25400"/>
                  </a:lnTo>
                </a:path>
              </a:pathLst>
            </a:custGeom>
            <a:blipFill>
              <a:blip r:embed="rId3">
                <a:alphaModFix amt="0"/>
              </a:blip>
              <a:stretch>
                <a:fillRect t="-18670445" b="-18670445"/>
              </a:stretch>
            </a:blipFill>
            <a:ln w="19050" cap="sq">
              <a:solidFill>
                <a:srgbClr val="16273D"/>
              </a:solidFill>
              <a:prstDash val="solid"/>
              <a:miter/>
            </a:ln>
          </p:spPr>
          <p:txBody>
            <a:bodyPr/>
            <a:lstStyle/>
            <a:p>
              <a:endParaRPr lang="en-US"/>
            </a:p>
          </p:txBody>
        </p:sp>
      </p:grpSp>
      <p:grpSp>
        <p:nvGrpSpPr>
          <p:cNvPr id="16" name="Group 16"/>
          <p:cNvGrpSpPr/>
          <p:nvPr/>
        </p:nvGrpSpPr>
        <p:grpSpPr>
          <a:xfrm>
            <a:off x="174839" y="26929"/>
            <a:ext cx="557638" cy="10306050"/>
            <a:chOff x="0" y="0"/>
            <a:chExt cx="743517" cy="13741400"/>
          </a:xfrm>
        </p:grpSpPr>
        <p:sp>
          <p:nvSpPr>
            <p:cNvPr id="17" name="Freeform 17"/>
            <p:cNvSpPr/>
            <p:nvPr/>
          </p:nvSpPr>
          <p:spPr>
            <a:xfrm>
              <a:off x="0" y="0"/>
              <a:ext cx="743517" cy="13741400"/>
            </a:xfrm>
            <a:custGeom>
              <a:avLst/>
              <a:gdLst/>
              <a:ahLst/>
              <a:cxnLst/>
              <a:rect l="l" t="t" r="r" b="b"/>
              <a:pathLst>
                <a:path w="743517" h="13741400">
                  <a:moveTo>
                    <a:pt x="0" y="0"/>
                  </a:moveTo>
                  <a:lnTo>
                    <a:pt x="743517" y="13741400"/>
                  </a:lnTo>
                </a:path>
              </a:pathLst>
            </a:custGeom>
            <a:solidFill>
              <a:srgbClr val="40916C">
                <a:alpha val="0"/>
              </a:srgbClr>
            </a:solidFill>
            <a:ln w="19050" cap="sq">
              <a:solidFill>
                <a:srgbClr val="40916C"/>
              </a:solidFill>
              <a:prstDash val="solid"/>
              <a:miter/>
            </a:ln>
          </p:spPr>
          <p:txBody>
            <a:bodyPr/>
            <a:lstStyle/>
            <a:p>
              <a:endParaRPr lang="en-US"/>
            </a:p>
          </p:txBody>
        </p:sp>
      </p:grpSp>
      <p:grpSp>
        <p:nvGrpSpPr>
          <p:cNvPr id="18" name="Group 18"/>
          <p:cNvGrpSpPr/>
          <p:nvPr/>
        </p:nvGrpSpPr>
        <p:grpSpPr>
          <a:xfrm>
            <a:off x="2253615" y="367486"/>
            <a:ext cx="19050" cy="10306050"/>
            <a:chOff x="0" y="0"/>
            <a:chExt cx="25400" cy="13741400"/>
          </a:xfrm>
        </p:grpSpPr>
        <p:sp>
          <p:nvSpPr>
            <p:cNvPr id="19" name="Freeform 19"/>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20" name="Group 20"/>
          <p:cNvGrpSpPr/>
          <p:nvPr/>
        </p:nvGrpSpPr>
        <p:grpSpPr>
          <a:xfrm>
            <a:off x="3703320" y="-386536"/>
            <a:ext cx="19050" cy="10306050"/>
            <a:chOff x="0" y="0"/>
            <a:chExt cx="25400" cy="13741400"/>
          </a:xfrm>
        </p:grpSpPr>
        <p:sp>
          <p:nvSpPr>
            <p:cNvPr id="21" name="Freeform 21"/>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22" name="Group 22"/>
          <p:cNvGrpSpPr/>
          <p:nvPr/>
        </p:nvGrpSpPr>
        <p:grpSpPr>
          <a:xfrm>
            <a:off x="5143500" y="-386536"/>
            <a:ext cx="19050" cy="10306050"/>
            <a:chOff x="0" y="0"/>
            <a:chExt cx="25400" cy="13741400"/>
          </a:xfrm>
        </p:grpSpPr>
        <p:sp>
          <p:nvSpPr>
            <p:cNvPr id="23" name="Freeform 23"/>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24" name="Group 24"/>
          <p:cNvGrpSpPr/>
          <p:nvPr/>
        </p:nvGrpSpPr>
        <p:grpSpPr>
          <a:xfrm>
            <a:off x="6583680" y="-386536"/>
            <a:ext cx="19050" cy="10306050"/>
            <a:chOff x="0" y="0"/>
            <a:chExt cx="25400" cy="13741400"/>
          </a:xfrm>
        </p:grpSpPr>
        <p:sp>
          <p:nvSpPr>
            <p:cNvPr id="25" name="Freeform 25"/>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26" name="Group 26"/>
          <p:cNvGrpSpPr/>
          <p:nvPr/>
        </p:nvGrpSpPr>
        <p:grpSpPr>
          <a:xfrm>
            <a:off x="8014335" y="367486"/>
            <a:ext cx="19050" cy="10306050"/>
            <a:chOff x="0" y="0"/>
            <a:chExt cx="25400" cy="13741400"/>
          </a:xfrm>
        </p:grpSpPr>
        <p:sp>
          <p:nvSpPr>
            <p:cNvPr id="27" name="Freeform 27"/>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28" name="Group 28"/>
          <p:cNvGrpSpPr/>
          <p:nvPr/>
        </p:nvGrpSpPr>
        <p:grpSpPr>
          <a:xfrm>
            <a:off x="9454515" y="-9525"/>
            <a:ext cx="19050" cy="10306050"/>
            <a:chOff x="0" y="0"/>
            <a:chExt cx="25400" cy="13741400"/>
          </a:xfrm>
        </p:grpSpPr>
        <p:sp>
          <p:nvSpPr>
            <p:cNvPr id="29" name="Freeform 29"/>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30" name="Group 30"/>
          <p:cNvGrpSpPr/>
          <p:nvPr/>
        </p:nvGrpSpPr>
        <p:grpSpPr>
          <a:xfrm>
            <a:off x="10894695" y="-9525"/>
            <a:ext cx="19050" cy="10306050"/>
            <a:chOff x="0" y="0"/>
            <a:chExt cx="25400" cy="13741400"/>
          </a:xfrm>
        </p:grpSpPr>
        <p:sp>
          <p:nvSpPr>
            <p:cNvPr id="31" name="Freeform 31"/>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32" name="Group 32"/>
          <p:cNvGrpSpPr/>
          <p:nvPr/>
        </p:nvGrpSpPr>
        <p:grpSpPr>
          <a:xfrm>
            <a:off x="12334875" y="-9525"/>
            <a:ext cx="19050" cy="10306050"/>
            <a:chOff x="0" y="0"/>
            <a:chExt cx="25400" cy="13741400"/>
          </a:xfrm>
        </p:grpSpPr>
        <p:sp>
          <p:nvSpPr>
            <p:cNvPr id="33" name="Freeform 33"/>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34" name="Group 34"/>
          <p:cNvGrpSpPr/>
          <p:nvPr/>
        </p:nvGrpSpPr>
        <p:grpSpPr>
          <a:xfrm>
            <a:off x="13775055" y="-9525"/>
            <a:ext cx="19050" cy="10306050"/>
            <a:chOff x="0" y="0"/>
            <a:chExt cx="25400" cy="13741400"/>
          </a:xfrm>
        </p:grpSpPr>
        <p:sp>
          <p:nvSpPr>
            <p:cNvPr id="35" name="Freeform 35"/>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36" name="Group 36"/>
          <p:cNvGrpSpPr/>
          <p:nvPr/>
        </p:nvGrpSpPr>
        <p:grpSpPr>
          <a:xfrm>
            <a:off x="15215235" y="-9525"/>
            <a:ext cx="19050" cy="10306050"/>
            <a:chOff x="0" y="0"/>
            <a:chExt cx="25400" cy="13741400"/>
          </a:xfrm>
        </p:grpSpPr>
        <p:sp>
          <p:nvSpPr>
            <p:cNvPr id="37" name="Freeform 37"/>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38" name="Group 38"/>
          <p:cNvGrpSpPr/>
          <p:nvPr/>
        </p:nvGrpSpPr>
        <p:grpSpPr>
          <a:xfrm>
            <a:off x="16655415" y="-9525"/>
            <a:ext cx="19050" cy="10306050"/>
            <a:chOff x="0" y="0"/>
            <a:chExt cx="25400" cy="13741400"/>
          </a:xfrm>
        </p:grpSpPr>
        <p:sp>
          <p:nvSpPr>
            <p:cNvPr id="39" name="Freeform 39"/>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40" name="Group 40"/>
          <p:cNvGrpSpPr/>
          <p:nvPr/>
        </p:nvGrpSpPr>
        <p:grpSpPr>
          <a:xfrm>
            <a:off x="2194560" y="2983051"/>
            <a:ext cx="192024" cy="192024"/>
            <a:chOff x="0" y="0"/>
            <a:chExt cx="256032" cy="256032"/>
          </a:xfrm>
        </p:grpSpPr>
        <p:sp>
          <p:nvSpPr>
            <p:cNvPr id="41" name="Freeform 41"/>
            <p:cNvSpPr/>
            <p:nvPr/>
          </p:nvSpPr>
          <p:spPr>
            <a:xfrm>
              <a:off x="0" y="0"/>
              <a:ext cx="256032" cy="256032"/>
            </a:xfrm>
            <a:custGeom>
              <a:avLst/>
              <a:gdLst/>
              <a:ahLst/>
              <a:cxnLst/>
              <a:rect l="l" t="t" r="r" b="b"/>
              <a:pathLst>
                <a:path w="256032" h="256032">
                  <a:moveTo>
                    <a:pt x="0" y="128016"/>
                  </a:moveTo>
                  <a:cubicBezTo>
                    <a:pt x="0" y="57277"/>
                    <a:pt x="57277" y="0"/>
                    <a:pt x="128016" y="0"/>
                  </a:cubicBezTo>
                  <a:cubicBezTo>
                    <a:pt x="198755" y="0"/>
                    <a:pt x="256032" y="57277"/>
                    <a:pt x="256032" y="128016"/>
                  </a:cubicBezTo>
                  <a:cubicBezTo>
                    <a:pt x="256032" y="198755"/>
                    <a:pt x="198755" y="256032"/>
                    <a:pt x="128016" y="256032"/>
                  </a:cubicBezTo>
                  <a:cubicBezTo>
                    <a:pt x="57277" y="256032"/>
                    <a:pt x="0" y="198755"/>
                    <a:pt x="0" y="128016"/>
                  </a:cubicBezTo>
                  <a:close/>
                </a:path>
              </a:pathLst>
            </a:custGeom>
            <a:solidFill>
              <a:srgbClr val="74C69D"/>
            </a:solidFill>
          </p:spPr>
          <p:txBody>
            <a:bodyPr/>
            <a:lstStyle/>
            <a:p>
              <a:endParaRPr lang="en-US"/>
            </a:p>
          </p:txBody>
        </p:sp>
      </p:grpSp>
      <p:grpSp>
        <p:nvGrpSpPr>
          <p:cNvPr id="42" name="Group 42"/>
          <p:cNvGrpSpPr/>
          <p:nvPr/>
        </p:nvGrpSpPr>
        <p:grpSpPr>
          <a:xfrm>
            <a:off x="14950440" y="2606040"/>
            <a:ext cx="192024" cy="192024"/>
            <a:chOff x="0" y="0"/>
            <a:chExt cx="256032" cy="256032"/>
          </a:xfrm>
        </p:grpSpPr>
        <p:sp>
          <p:nvSpPr>
            <p:cNvPr id="43" name="Freeform 43"/>
            <p:cNvSpPr/>
            <p:nvPr/>
          </p:nvSpPr>
          <p:spPr>
            <a:xfrm>
              <a:off x="0" y="0"/>
              <a:ext cx="256032" cy="256032"/>
            </a:xfrm>
            <a:custGeom>
              <a:avLst/>
              <a:gdLst/>
              <a:ahLst/>
              <a:cxnLst/>
              <a:rect l="l" t="t" r="r" b="b"/>
              <a:pathLst>
                <a:path w="256032" h="256032">
                  <a:moveTo>
                    <a:pt x="0" y="128016"/>
                  </a:moveTo>
                  <a:cubicBezTo>
                    <a:pt x="0" y="57277"/>
                    <a:pt x="57277" y="0"/>
                    <a:pt x="128016" y="0"/>
                  </a:cubicBezTo>
                  <a:cubicBezTo>
                    <a:pt x="198755" y="0"/>
                    <a:pt x="256032" y="57277"/>
                    <a:pt x="256032" y="128016"/>
                  </a:cubicBezTo>
                  <a:cubicBezTo>
                    <a:pt x="256032" y="198755"/>
                    <a:pt x="198755" y="256032"/>
                    <a:pt x="128016" y="256032"/>
                  </a:cubicBezTo>
                  <a:cubicBezTo>
                    <a:pt x="57277" y="256032"/>
                    <a:pt x="0" y="198755"/>
                    <a:pt x="0" y="128016"/>
                  </a:cubicBezTo>
                  <a:close/>
                </a:path>
              </a:pathLst>
            </a:custGeom>
            <a:solidFill>
              <a:srgbClr val="FFB703"/>
            </a:solidFill>
          </p:spPr>
          <p:txBody>
            <a:bodyPr/>
            <a:lstStyle/>
            <a:p>
              <a:endParaRPr lang="en-US"/>
            </a:p>
          </p:txBody>
        </p:sp>
      </p:grpSp>
      <p:grpSp>
        <p:nvGrpSpPr>
          <p:cNvPr id="44" name="Group 44"/>
          <p:cNvGrpSpPr/>
          <p:nvPr/>
        </p:nvGrpSpPr>
        <p:grpSpPr>
          <a:xfrm>
            <a:off x="3575685" y="7441109"/>
            <a:ext cx="192024" cy="192024"/>
            <a:chOff x="0" y="0"/>
            <a:chExt cx="256032" cy="256032"/>
          </a:xfrm>
        </p:grpSpPr>
        <p:sp>
          <p:nvSpPr>
            <p:cNvPr id="45" name="Freeform 45"/>
            <p:cNvSpPr/>
            <p:nvPr/>
          </p:nvSpPr>
          <p:spPr>
            <a:xfrm>
              <a:off x="0" y="0"/>
              <a:ext cx="256032" cy="256032"/>
            </a:xfrm>
            <a:custGeom>
              <a:avLst/>
              <a:gdLst/>
              <a:ahLst/>
              <a:cxnLst/>
              <a:rect l="l" t="t" r="r" b="b"/>
              <a:pathLst>
                <a:path w="256032" h="256032">
                  <a:moveTo>
                    <a:pt x="0" y="128016"/>
                  </a:moveTo>
                  <a:cubicBezTo>
                    <a:pt x="0" y="57277"/>
                    <a:pt x="57277" y="0"/>
                    <a:pt x="128016" y="0"/>
                  </a:cubicBezTo>
                  <a:cubicBezTo>
                    <a:pt x="198755" y="0"/>
                    <a:pt x="256032" y="57277"/>
                    <a:pt x="256032" y="128016"/>
                  </a:cubicBezTo>
                  <a:cubicBezTo>
                    <a:pt x="256032" y="198755"/>
                    <a:pt x="198755" y="256032"/>
                    <a:pt x="128016" y="256032"/>
                  </a:cubicBezTo>
                  <a:cubicBezTo>
                    <a:pt x="57277" y="256032"/>
                    <a:pt x="0" y="198755"/>
                    <a:pt x="0" y="128016"/>
                  </a:cubicBezTo>
                  <a:close/>
                </a:path>
              </a:pathLst>
            </a:custGeom>
            <a:solidFill>
              <a:srgbClr val="74C69D"/>
            </a:solidFill>
          </p:spPr>
          <p:txBody>
            <a:bodyPr/>
            <a:lstStyle/>
            <a:p>
              <a:endParaRPr lang="en-US"/>
            </a:p>
          </p:txBody>
        </p:sp>
      </p:grpSp>
      <p:grpSp>
        <p:nvGrpSpPr>
          <p:cNvPr id="46" name="Group 46"/>
          <p:cNvGrpSpPr/>
          <p:nvPr/>
        </p:nvGrpSpPr>
        <p:grpSpPr>
          <a:xfrm>
            <a:off x="16184880" y="7406640"/>
            <a:ext cx="192024" cy="192024"/>
            <a:chOff x="0" y="0"/>
            <a:chExt cx="256032" cy="256032"/>
          </a:xfrm>
        </p:grpSpPr>
        <p:sp>
          <p:nvSpPr>
            <p:cNvPr id="47" name="Freeform 47"/>
            <p:cNvSpPr/>
            <p:nvPr/>
          </p:nvSpPr>
          <p:spPr>
            <a:xfrm>
              <a:off x="0" y="0"/>
              <a:ext cx="256032" cy="256032"/>
            </a:xfrm>
            <a:custGeom>
              <a:avLst/>
              <a:gdLst/>
              <a:ahLst/>
              <a:cxnLst/>
              <a:rect l="l" t="t" r="r" b="b"/>
              <a:pathLst>
                <a:path w="256032" h="256032">
                  <a:moveTo>
                    <a:pt x="0" y="128016"/>
                  </a:moveTo>
                  <a:cubicBezTo>
                    <a:pt x="0" y="57277"/>
                    <a:pt x="57277" y="0"/>
                    <a:pt x="128016" y="0"/>
                  </a:cubicBezTo>
                  <a:cubicBezTo>
                    <a:pt x="198755" y="0"/>
                    <a:pt x="256032" y="57277"/>
                    <a:pt x="256032" y="128016"/>
                  </a:cubicBezTo>
                  <a:cubicBezTo>
                    <a:pt x="256032" y="198755"/>
                    <a:pt x="198755" y="256032"/>
                    <a:pt x="128016" y="256032"/>
                  </a:cubicBezTo>
                  <a:cubicBezTo>
                    <a:pt x="57277" y="256032"/>
                    <a:pt x="0" y="198755"/>
                    <a:pt x="0" y="128016"/>
                  </a:cubicBezTo>
                  <a:close/>
                </a:path>
              </a:pathLst>
            </a:custGeom>
            <a:solidFill>
              <a:srgbClr val="FFB703"/>
            </a:solidFill>
          </p:spPr>
          <p:txBody>
            <a:bodyPr/>
            <a:lstStyle/>
            <a:p>
              <a:endParaRPr lang="en-US"/>
            </a:p>
          </p:txBody>
        </p:sp>
      </p:grpSp>
      <p:grpSp>
        <p:nvGrpSpPr>
          <p:cNvPr id="48" name="Group 48"/>
          <p:cNvGrpSpPr/>
          <p:nvPr/>
        </p:nvGrpSpPr>
        <p:grpSpPr>
          <a:xfrm>
            <a:off x="9464040" y="1344168"/>
            <a:ext cx="192024" cy="192024"/>
            <a:chOff x="0" y="0"/>
            <a:chExt cx="256032" cy="256032"/>
          </a:xfrm>
        </p:grpSpPr>
        <p:sp>
          <p:nvSpPr>
            <p:cNvPr id="49" name="Freeform 49"/>
            <p:cNvSpPr/>
            <p:nvPr/>
          </p:nvSpPr>
          <p:spPr>
            <a:xfrm>
              <a:off x="0" y="0"/>
              <a:ext cx="256032" cy="256032"/>
            </a:xfrm>
            <a:custGeom>
              <a:avLst/>
              <a:gdLst/>
              <a:ahLst/>
              <a:cxnLst/>
              <a:rect l="l" t="t" r="r" b="b"/>
              <a:pathLst>
                <a:path w="256032" h="256032">
                  <a:moveTo>
                    <a:pt x="0" y="128016"/>
                  </a:moveTo>
                  <a:cubicBezTo>
                    <a:pt x="0" y="57277"/>
                    <a:pt x="57277" y="0"/>
                    <a:pt x="128016" y="0"/>
                  </a:cubicBezTo>
                  <a:cubicBezTo>
                    <a:pt x="198755" y="0"/>
                    <a:pt x="256032" y="57277"/>
                    <a:pt x="256032" y="128016"/>
                  </a:cubicBezTo>
                  <a:cubicBezTo>
                    <a:pt x="256032" y="198755"/>
                    <a:pt x="198755" y="256032"/>
                    <a:pt x="128016" y="256032"/>
                  </a:cubicBezTo>
                  <a:cubicBezTo>
                    <a:pt x="57277" y="256032"/>
                    <a:pt x="0" y="198755"/>
                    <a:pt x="0" y="128016"/>
                  </a:cubicBezTo>
                  <a:close/>
                </a:path>
              </a:pathLst>
            </a:custGeom>
            <a:solidFill>
              <a:srgbClr val="74C69D"/>
            </a:solidFill>
          </p:spPr>
          <p:txBody>
            <a:bodyPr/>
            <a:lstStyle/>
            <a:p>
              <a:endParaRPr lang="en-US"/>
            </a:p>
          </p:txBody>
        </p:sp>
      </p:grpSp>
      <p:grpSp>
        <p:nvGrpSpPr>
          <p:cNvPr id="50" name="Group 50"/>
          <p:cNvGrpSpPr/>
          <p:nvPr/>
        </p:nvGrpSpPr>
        <p:grpSpPr>
          <a:xfrm>
            <a:off x="6446520" y="9052560"/>
            <a:ext cx="192024" cy="192024"/>
            <a:chOff x="0" y="0"/>
            <a:chExt cx="256032" cy="256032"/>
          </a:xfrm>
        </p:grpSpPr>
        <p:sp>
          <p:nvSpPr>
            <p:cNvPr id="51" name="Freeform 51"/>
            <p:cNvSpPr/>
            <p:nvPr/>
          </p:nvSpPr>
          <p:spPr>
            <a:xfrm>
              <a:off x="0" y="0"/>
              <a:ext cx="256032" cy="256032"/>
            </a:xfrm>
            <a:custGeom>
              <a:avLst/>
              <a:gdLst/>
              <a:ahLst/>
              <a:cxnLst/>
              <a:rect l="l" t="t" r="r" b="b"/>
              <a:pathLst>
                <a:path w="256032" h="256032">
                  <a:moveTo>
                    <a:pt x="0" y="128016"/>
                  </a:moveTo>
                  <a:cubicBezTo>
                    <a:pt x="0" y="57277"/>
                    <a:pt x="57277" y="0"/>
                    <a:pt x="128016" y="0"/>
                  </a:cubicBezTo>
                  <a:cubicBezTo>
                    <a:pt x="198755" y="0"/>
                    <a:pt x="256032" y="57277"/>
                    <a:pt x="256032" y="128016"/>
                  </a:cubicBezTo>
                  <a:cubicBezTo>
                    <a:pt x="256032" y="198755"/>
                    <a:pt x="198755" y="256032"/>
                    <a:pt x="128016" y="256032"/>
                  </a:cubicBezTo>
                  <a:cubicBezTo>
                    <a:pt x="57277" y="256032"/>
                    <a:pt x="0" y="198755"/>
                    <a:pt x="0" y="128016"/>
                  </a:cubicBezTo>
                  <a:close/>
                </a:path>
              </a:pathLst>
            </a:custGeom>
            <a:solidFill>
              <a:srgbClr val="FFB703"/>
            </a:solidFill>
          </p:spPr>
          <p:txBody>
            <a:bodyPr/>
            <a:lstStyle/>
            <a:p>
              <a:endParaRPr lang="en-US"/>
            </a:p>
          </p:txBody>
        </p:sp>
      </p:grpSp>
      <p:grpSp>
        <p:nvGrpSpPr>
          <p:cNvPr id="52" name="Group 52"/>
          <p:cNvGrpSpPr/>
          <p:nvPr/>
        </p:nvGrpSpPr>
        <p:grpSpPr>
          <a:xfrm>
            <a:off x="1243965" y="3120569"/>
            <a:ext cx="15773400" cy="548640"/>
            <a:chOff x="0" y="0"/>
            <a:chExt cx="21031200" cy="731520"/>
          </a:xfrm>
        </p:grpSpPr>
        <p:sp>
          <p:nvSpPr>
            <p:cNvPr id="53" name="Freeform 53"/>
            <p:cNvSpPr/>
            <p:nvPr/>
          </p:nvSpPr>
          <p:spPr>
            <a:xfrm>
              <a:off x="0" y="0"/>
              <a:ext cx="21031200" cy="731520"/>
            </a:xfrm>
            <a:custGeom>
              <a:avLst/>
              <a:gdLst/>
              <a:ahLst/>
              <a:cxnLst/>
              <a:rect l="l" t="t" r="r" b="b"/>
              <a:pathLst>
                <a:path w="21031200" h="731520">
                  <a:moveTo>
                    <a:pt x="0" y="0"/>
                  </a:moveTo>
                  <a:lnTo>
                    <a:pt x="21031200" y="0"/>
                  </a:lnTo>
                  <a:lnTo>
                    <a:pt x="21031200" y="731520"/>
                  </a:lnTo>
                  <a:lnTo>
                    <a:pt x="0" y="731520"/>
                  </a:lnTo>
                  <a:close/>
                </a:path>
              </a:pathLst>
            </a:custGeom>
            <a:blipFill>
              <a:blip r:embed="rId3">
                <a:alphaModFix amt="0"/>
              </a:blip>
              <a:stretch>
                <a:fillRect t="-510194" b="-510194"/>
              </a:stretch>
            </a:blipFill>
          </p:spPr>
          <p:txBody>
            <a:bodyPr/>
            <a:lstStyle/>
            <a:p>
              <a:endParaRPr lang="en-US"/>
            </a:p>
          </p:txBody>
        </p:sp>
        <p:sp>
          <p:nvSpPr>
            <p:cNvPr id="54" name="TextBox 54"/>
            <p:cNvSpPr txBox="1"/>
            <p:nvPr/>
          </p:nvSpPr>
          <p:spPr>
            <a:xfrm>
              <a:off x="0" y="-47625"/>
              <a:ext cx="21031200" cy="779145"/>
            </a:xfrm>
            <a:prstGeom prst="rect">
              <a:avLst/>
            </a:prstGeom>
          </p:spPr>
          <p:txBody>
            <a:bodyPr lIns="0" tIns="0" rIns="0" bIns="0" rtlCol="0" anchor="ctr"/>
            <a:lstStyle/>
            <a:p>
              <a:pPr algn="l">
                <a:lnSpc>
                  <a:spcPts val="2340"/>
                </a:lnSpc>
              </a:pPr>
              <a:r>
                <a:rPr lang="en-US" sz="1950" b="1" spc="300">
                  <a:solidFill>
                    <a:srgbClr val="74C69D"/>
                  </a:solidFill>
                  <a:latin typeface="Calibri (MS) Bold"/>
                  <a:ea typeface="Calibri (MS) Bold"/>
                  <a:cs typeface="Calibri (MS) Bold"/>
                  <a:sym typeface="Calibri (MS) Bold"/>
                </a:rPr>
                <a:t>RENEWABLE TELEMETRY  ·  AI DIAGNOSTICS  ·  CHAOS ENGINEERING</a:t>
              </a:r>
            </a:p>
          </p:txBody>
        </p:sp>
      </p:grpSp>
      <p:grpSp>
        <p:nvGrpSpPr>
          <p:cNvPr id="55" name="Group 55"/>
          <p:cNvGrpSpPr/>
          <p:nvPr/>
        </p:nvGrpSpPr>
        <p:grpSpPr>
          <a:xfrm>
            <a:off x="1038225" y="1063169"/>
            <a:ext cx="15773400" cy="7041952"/>
            <a:chOff x="0" y="0"/>
            <a:chExt cx="21031200" cy="9389269"/>
          </a:xfrm>
        </p:grpSpPr>
        <p:sp>
          <p:nvSpPr>
            <p:cNvPr id="56" name="Freeform 56"/>
            <p:cNvSpPr/>
            <p:nvPr/>
          </p:nvSpPr>
          <p:spPr>
            <a:xfrm>
              <a:off x="0" y="0"/>
              <a:ext cx="21031200" cy="9389269"/>
            </a:xfrm>
            <a:custGeom>
              <a:avLst/>
              <a:gdLst/>
              <a:ahLst/>
              <a:cxnLst/>
              <a:rect l="l" t="t" r="r" b="b"/>
              <a:pathLst>
                <a:path w="21031200" h="9389269">
                  <a:moveTo>
                    <a:pt x="0" y="0"/>
                  </a:moveTo>
                  <a:lnTo>
                    <a:pt x="21031200" y="0"/>
                  </a:lnTo>
                  <a:lnTo>
                    <a:pt x="21031200" y="9389269"/>
                  </a:lnTo>
                  <a:lnTo>
                    <a:pt x="0" y="9389269"/>
                  </a:lnTo>
                  <a:close/>
                </a:path>
              </a:pathLst>
            </a:custGeom>
            <a:blipFill>
              <a:blip r:embed="rId3">
                <a:alphaModFix amt="0"/>
              </a:blip>
              <a:stretch>
                <a:fillRect t="-29036" b="41746"/>
              </a:stretch>
            </a:blipFill>
          </p:spPr>
          <p:txBody>
            <a:bodyPr/>
            <a:lstStyle/>
            <a:p>
              <a:endParaRPr lang="en-US"/>
            </a:p>
          </p:txBody>
        </p:sp>
        <p:sp>
          <p:nvSpPr>
            <p:cNvPr id="57" name="TextBox 57"/>
            <p:cNvSpPr txBox="1"/>
            <p:nvPr/>
          </p:nvSpPr>
          <p:spPr>
            <a:xfrm>
              <a:off x="0" y="-9525"/>
              <a:ext cx="21031200" cy="9398794"/>
            </a:xfrm>
            <a:prstGeom prst="rect">
              <a:avLst/>
            </a:prstGeom>
          </p:spPr>
          <p:txBody>
            <a:bodyPr lIns="0" tIns="0" rIns="0" bIns="0" rtlCol="0" anchor="ctr"/>
            <a:lstStyle/>
            <a:p>
              <a:pPr algn="ctr">
                <a:lnSpc>
                  <a:spcPts val="11519"/>
                </a:lnSpc>
              </a:pPr>
              <a:r>
                <a:rPr lang="en-US" sz="9600" b="1">
                  <a:solidFill>
                    <a:srgbClr val="FFFFFF"/>
                  </a:solidFill>
                  <a:latin typeface="Cambria Bold"/>
                  <a:ea typeface="Cambria Bold"/>
                  <a:cs typeface="Cambria Bold"/>
                  <a:sym typeface="Cambria Bold"/>
                </a:rPr>
                <a:t>GridSentry AI</a:t>
              </a:r>
            </a:p>
          </p:txBody>
        </p:sp>
      </p:grpSp>
      <p:grpSp>
        <p:nvGrpSpPr>
          <p:cNvPr id="58" name="Group 58"/>
          <p:cNvGrpSpPr/>
          <p:nvPr/>
        </p:nvGrpSpPr>
        <p:grpSpPr>
          <a:xfrm>
            <a:off x="1243965" y="5589449"/>
            <a:ext cx="14401800" cy="822960"/>
            <a:chOff x="0" y="0"/>
            <a:chExt cx="19202400" cy="1097280"/>
          </a:xfrm>
        </p:grpSpPr>
        <p:sp>
          <p:nvSpPr>
            <p:cNvPr id="59" name="Freeform 59"/>
            <p:cNvSpPr/>
            <p:nvPr/>
          </p:nvSpPr>
          <p:spPr>
            <a:xfrm>
              <a:off x="0" y="0"/>
              <a:ext cx="19202400" cy="1097280"/>
            </a:xfrm>
            <a:custGeom>
              <a:avLst/>
              <a:gdLst/>
              <a:ahLst/>
              <a:cxnLst/>
              <a:rect l="l" t="t" r="r" b="b"/>
              <a:pathLst>
                <a:path w="19202400" h="1097280">
                  <a:moveTo>
                    <a:pt x="0" y="0"/>
                  </a:moveTo>
                  <a:lnTo>
                    <a:pt x="19202400" y="0"/>
                  </a:lnTo>
                  <a:lnTo>
                    <a:pt x="19202400" y="1097280"/>
                  </a:lnTo>
                  <a:lnTo>
                    <a:pt x="0" y="1097280"/>
                  </a:lnTo>
                  <a:close/>
                </a:path>
              </a:pathLst>
            </a:custGeom>
            <a:blipFill>
              <a:blip r:embed="rId3">
                <a:alphaModFix amt="0"/>
              </a:blip>
              <a:stretch>
                <a:fillRect t="-290988" b="-290988"/>
              </a:stretch>
            </a:blipFill>
          </p:spPr>
          <p:txBody>
            <a:bodyPr/>
            <a:lstStyle/>
            <a:p>
              <a:endParaRPr lang="en-US"/>
            </a:p>
          </p:txBody>
        </p:sp>
        <p:sp>
          <p:nvSpPr>
            <p:cNvPr id="60" name="TextBox 60"/>
            <p:cNvSpPr txBox="1"/>
            <p:nvPr/>
          </p:nvSpPr>
          <p:spPr>
            <a:xfrm>
              <a:off x="0" y="-57150"/>
              <a:ext cx="19202400" cy="1154430"/>
            </a:xfrm>
            <a:prstGeom prst="rect">
              <a:avLst/>
            </a:prstGeom>
          </p:spPr>
          <p:txBody>
            <a:bodyPr lIns="0" tIns="0" rIns="0" bIns="0" rtlCol="0" anchor="ctr"/>
            <a:lstStyle/>
            <a:p>
              <a:pPr algn="ctr">
                <a:lnSpc>
                  <a:spcPts val="3240"/>
                </a:lnSpc>
              </a:pPr>
              <a:r>
                <a:rPr lang="en-US" sz="2700">
                  <a:solidFill>
                    <a:srgbClr val="C9D6CE"/>
                  </a:solidFill>
                  <a:latin typeface="Calibri (MS)"/>
                  <a:ea typeface="Calibri (MS)"/>
                  <a:cs typeface="Calibri (MS)"/>
                  <a:sym typeface="Calibri (MS)"/>
                </a:rPr>
                <a:t>An End-to-End Platform for Wind, Solar &amp; Weather Intelligence</a:t>
              </a:r>
            </a:p>
          </p:txBody>
        </p:sp>
      </p:grpSp>
      <p:grpSp>
        <p:nvGrpSpPr>
          <p:cNvPr id="61" name="Group 61"/>
          <p:cNvGrpSpPr/>
          <p:nvPr/>
        </p:nvGrpSpPr>
        <p:grpSpPr>
          <a:xfrm>
            <a:off x="1215390" y="6658154"/>
            <a:ext cx="4446270" cy="57150"/>
            <a:chOff x="0" y="0"/>
            <a:chExt cx="5928360" cy="76200"/>
          </a:xfrm>
        </p:grpSpPr>
        <p:sp>
          <p:nvSpPr>
            <p:cNvPr id="62" name="Freeform 62"/>
            <p:cNvSpPr/>
            <p:nvPr/>
          </p:nvSpPr>
          <p:spPr>
            <a:xfrm>
              <a:off x="0" y="0"/>
              <a:ext cx="5928360" cy="76200"/>
            </a:xfrm>
            <a:custGeom>
              <a:avLst/>
              <a:gdLst/>
              <a:ahLst/>
              <a:cxnLst/>
              <a:rect l="l" t="t" r="r" b="b"/>
              <a:pathLst>
                <a:path w="5928360" h="76200">
                  <a:moveTo>
                    <a:pt x="0" y="0"/>
                  </a:moveTo>
                  <a:lnTo>
                    <a:pt x="5928360" y="76200"/>
                  </a:lnTo>
                </a:path>
              </a:pathLst>
            </a:custGeom>
            <a:blipFill>
              <a:blip r:embed="rId3">
                <a:alphaModFix amt="0"/>
              </a:blip>
              <a:stretch>
                <a:fillRect t="-1465935" b="-1465935"/>
              </a:stretch>
            </a:blipFill>
            <a:ln w="57150" cap="sq">
              <a:solidFill>
                <a:srgbClr val="40916C"/>
              </a:solidFill>
              <a:prstDash val="solid"/>
              <a:miter/>
            </a:ln>
          </p:spPr>
          <p:txBody>
            <a:bodyPr/>
            <a:lstStyle/>
            <a:p>
              <a:endParaRPr lang="en-US"/>
            </a:p>
          </p:txBody>
        </p:sp>
      </p:grpSp>
      <p:sp>
        <p:nvSpPr>
          <p:cNvPr id="63" name="Freeform 63"/>
          <p:cNvSpPr/>
          <p:nvPr/>
        </p:nvSpPr>
        <p:spPr>
          <a:xfrm>
            <a:off x="1028700" y="490147"/>
            <a:ext cx="1728376" cy="1708042"/>
          </a:xfrm>
          <a:custGeom>
            <a:avLst/>
            <a:gdLst/>
            <a:ahLst/>
            <a:cxnLst/>
            <a:rect l="l" t="t" r="r" b="b"/>
            <a:pathLst>
              <a:path w="1728376" h="1708042">
                <a:moveTo>
                  <a:pt x="0" y="0"/>
                </a:moveTo>
                <a:lnTo>
                  <a:pt x="1728376" y="0"/>
                </a:lnTo>
                <a:lnTo>
                  <a:pt x="1728376" y="1708042"/>
                </a:lnTo>
                <a:lnTo>
                  <a:pt x="0" y="1708042"/>
                </a:lnTo>
                <a:lnTo>
                  <a:pt x="0" y="0"/>
                </a:lnTo>
                <a:close/>
              </a:path>
            </a:pathLst>
          </a:custGeom>
          <a:blipFill>
            <a:blip r:embed="rId4"/>
            <a:stretch>
              <a:fillRect/>
            </a:stretch>
          </a:blipFill>
        </p:spPr>
        <p:txBody>
          <a:bodyPr/>
          <a:lstStyle/>
          <a:p>
            <a:endParaRPr lang="en-US"/>
          </a:p>
        </p:txBody>
      </p:sp>
      <p:sp>
        <p:nvSpPr>
          <p:cNvPr id="64" name="TextBox 64"/>
          <p:cNvSpPr txBox="1"/>
          <p:nvPr/>
        </p:nvSpPr>
        <p:spPr>
          <a:xfrm>
            <a:off x="3213882" y="774192"/>
            <a:ext cx="1088603" cy="762000"/>
          </a:xfrm>
          <a:prstGeom prst="rect">
            <a:avLst/>
          </a:prstGeom>
        </p:spPr>
        <p:txBody>
          <a:bodyPr lIns="0" tIns="0" rIns="0" bIns="0" rtlCol="0" anchor="t">
            <a:spAutoFit/>
          </a:bodyPr>
          <a:lstStyle/>
          <a:p>
            <a:pPr algn="ctr">
              <a:lnSpc>
                <a:spcPts val="5365"/>
              </a:lnSpc>
              <a:spcBef>
                <a:spcPct val="0"/>
              </a:spcBef>
            </a:pPr>
            <a:r>
              <a:rPr lang="en-US" sz="4471" b="1">
                <a:solidFill>
                  <a:srgbClr val="FFFFFF"/>
                </a:solidFill>
                <a:latin typeface="Calibri (MS) Bold"/>
                <a:ea typeface="Calibri (MS) Bold"/>
                <a:cs typeface="Calibri (MS) Bold"/>
                <a:sym typeface="Calibri (MS) Bold"/>
              </a:rPr>
              <a:t>DEPI</a:t>
            </a:r>
          </a:p>
        </p:txBody>
      </p:sp>
      <p:sp>
        <p:nvSpPr>
          <p:cNvPr id="65" name="TextBox 65"/>
          <p:cNvSpPr txBox="1"/>
          <p:nvPr/>
        </p:nvSpPr>
        <p:spPr>
          <a:xfrm>
            <a:off x="2878205" y="1541145"/>
            <a:ext cx="2134642" cy="485775"/>
          </a:xfrm>
          <a:prstGeom prst="rect">
            <a:avLst/>
          </a:prstGeom>
        </p:spPr>
        <p:txBody>
          <a:bodyPr lIns="0" tIns="0" rIns="0" bIns="0" rtlCol="0" anchor="t">
            <a:spAutoFit/>
          </a:bodyPr>
          <a:lstStyle/>
          <a:p>
            <a:pPr algn="ctr" rtl="1">
              <a:lnSpc>
                <a:spcPts val="3449"/>
              </a:lnSpc>
              <a:spcBef>
                <a:spcPct val="0"/>
              </a:spcBef>
            </a:pPr>
            <a:r>
              <a:rPr lang="ar-EG" sz="2874" b="1">
                <a:solidFill>
                  <a:srgbClr val="FFFFFF"/>
                </a:solidFill>
                <a:latin typeface="Calibri (MS) Bold"/>
                <a:ea typeface="Calibri (MS) Bold"/>
                <a:cs typeface="Calibri (MS) Bold"/>
                <a:sym typeface="Calibri (MS) Bold"/>
                <a:rtl/>
              </a:rPr>
              <a:t>رواد مصر الرقمية</a:t>
            </a:r>
          </a:p>
        </p:txBody>
      </p:sp>
      <p:sp>
        <p:nvSpPr>
          <p:cNvPr id="66" name="TextBox 66"/>
          <p:cNvSpPr txBox="1"/>
          <p:nvPr/>
        </p:nvSpPr>
        <p:spPr>
          <a:xfrm>
            <a:off x="603504" y="7251001"/>
            <a:ext cx="15773400" cy="619125"/>
          </a:xfrm>
          <a:prstGeom prst="rect">
            <a:avLst/>
          </a:prstGeom>
        </p:spPr>
        <p:txBody>
          <a:bodyPr lIns="0" tIns="0" rIns="0" bIns="0" rtlCol="0" anchor="t">
            <a:spAutoFit/>
          </a:bodyPr>
          <a:lstStyle/>
          <a:p>
            <a:pPr algn="ctr">
              <a:lnSpc>
                <a:spcPts val="4289"/>
              </a:lnSpc>
              <a:spcBef>
                <a:spcPct val="0"/>
              </a:spcBef>
            </a:pPr>
            <a:r>
              <a:rPr lang="en-US" sz="3574" b="1">
                <a:solidFill>
                  <a:srgbClr val="FFFFFF"/>
                </a:solidFill>
                <a:latin typeface="Calibri (MS) Bold"/>
                <a:ea typeface="Calibri (MS) Bold"/>
                <a:cs typeface="Calibri (MS) Bold"/>
                <a:sym typeface="Calibri (MS) Bold"/>
              </a:rPr>
              <a:t>Supervised By ENG : Sara Ashraf</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grpSp>
        <p:nvGrpSpPr>
          <p:cNvPr id="2" name="Group 2"/>
          <p:cNvGrpSpPr/>
          <p:nvPr/>
        </p:nvGrpSpPr>
        <p:grpSpPr>
          <a:xfrm>
            <a:off x="-9525" y="1362075"/>
            <a:ext cx="18302478" cy="19050"/>
            <a:chOff x="0" y="0"/>
            <a:chExt cx="24403304" cy="25400"/>
          </a:xfrm>
        </p:grpSpPr>
        <p:sp>
          <p:nvSpPr>
            <p:cNvPr id="3" name="Freeform 3"/>
            <p:cNvSpPr/>
            <p:nvPr/>
          </p:nvSpPr>
          <p:spPr>
            <a:xfrm>
              <a:off x="0" y="0"/>
              <a:ext cx="24403304" cy="25400"/>
            </a:xfrm>
            <a:custGeom>
              <a:avLst/>
              <a:gdLst/>
              <a:ahLst/>
              <a:cxnLst/>
              <a:rect l="l" t="t" r="r" b="b"/>
              <a:pathLst>
                <a:path w="24403304" h="25400">
                  <a:moveTo>
                    <a:pt x="0" y="0"/>
                  </a:moveTo>
                  <a:lnTo>
                    <a:pt x="24403304" y="25400"/>
                  </a:lnTo>
                </a:path>
              </a:pathLst>
            </a:custGeom>
            <a:blipFill>
              <a:blip r:embed="rId3">
                <a:alphaModFix amt="0"/>
              </a:blip>
              <a:stretch>
                <a:fillRect t="-18670445" b="-18670445"/>
              </a:stretch>
            </a:blipFill>
            <a:ln w="19050" cap="sq">
              <a:solidFill>
                <a:srgbClr val="16273D"/>
              </a:solidFill>
              <a:prstDash val="solid"/>
              <a:miter/>
            </a:ln>
          </p:spPr>
          <p:txBody>
            <a:bodyPr/>
            <a:lstStyle/>
            <a:p>
              <a:endParaRPr lang="en-US"/>
            </a:p>
          </p:txBody>
        </p:sp>
      </p:grpSp>
      <p:grpSp>
        <p:nvGrpSpPr>
          <p:cNvPr id="4" name="Group 4"/>
          <p:cNvGrpSpPr/>
          <p:nvPr/>
        </p:nvGrpSpPr>
        <p:grpSpPr>
          <a:xfrm>
            <a:off x="0" y="1911072"/>
            <a:ext cx="18302478" cy="19050"/>
            <a:chOff x="0" y="0"/>
            <a:chExt cx="24403304" cy="25400"/>
          </a:xfrm>
        </p:grpSpPr>
        <p:sp>
          <p:nvSpPr>
            <p:cNvPr id="5" name="Freeform 5"/>
            <p:cNvSpPr/>
            <p:nvPr/>
          </p:nvSpPr>
          <p:spPr>
            <a:xfrm>
              <a:off x="0" y="0"/>
              <a:ext cx="24403304" cy="25400"/>
            </a:xfrm>
            <a:custGeom>
              <a:avLst/>
              <a:gdLst/>
              <a:ahLst/>
              <a:cxnLst/>
              <a:rect l="l" t="t" r="r" b="b"/>
              <a:pathLst>
                <a:path w="24403304" h="25400">
                  <a:moveTo>
                    <a:pt x="0" y="0"/>
                  </a:moveTo>
                  <a:lnTo>
                    <a:pt x="24403304" y="25400"/>
                  </a:lnTo>
                </a:path>
              </a:pathLst>
            </a:custGeom>
            <a:blipFill>
              <a:blip r:embed="rId3">
                <a:alphaModFix amt="0"/>
              </a:blip>
              <a:stretch>
                <a:fillRect t="-18670445" b="-18670445"/>
              </a:stretch>
            </a:blipFill>
            <a:ln w="19050" cap="sq">
              <a:solidFill>
                <a:srgbClr val="16273D"/>
              </a:solidFill>
              <a:prstDash val="solid"/>
              <a:miter/>
            </a:ln>
          </p:spPr>
          <p:txBody>
            <a:bodyPr/>
            <a:lstStyle/>
            <a:p>
              <a:endParaRPr lang="en-US"/>
            </a:p>
          </p:txBody>
        </p:sp>
      </p:grpSp>
      <p:grpSp>
        <p:nvGrpSpPr>
          <p:cNvPr id="6" name="Group 6"/>
          <p:cNvGrpSpPr/>
          <p:nvPr/>
        </p:nvGrpSpPr>
        <p:grpSpPr>
          <a:xfrm>
            <a:off x="12334875" y="-9525"/>
            <a:ext cx="19050" cy="10306050"/>
            <a:chOff x="0" y="0"/>
            <a:chExt cx="25400" cy="13741400"/>
          </a:xfrm>
        </p:grpSpPr>
        <p:sp>
          <p:nvSpPr>
            <p:cNvPr id="7" name="Freeform 7"/>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8" name="Group 8"/>
          <p:cNvGrpSpPr/>
          <p:nvPr/>
        </p:nvGrpSpPr>
        <p:grpSpPr>
          <a:xfrm>
            <a:off x="13775055" y="-9525"/>
            <a:ext cx="19050" cy="10306050"/>
            <a:chOff x="0" y="0"/>
            <a:chExt cx="25400" cy="13741400"/>
          </a:xfrm>
        </p:grpSpPr>
        <p:sp>
          <p:nvSpPr>
            <p:cNvPr id="9" name="Freeform 9"/>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10" name="Group 10"/>
          <p:cNvGrpSpPr/>
          <p:nvPr/>
        </p:nvGrpSpPr>
        <p:grpSpPr>
          <a:xfrm>
            <a:off x="15215235" y="-9525"/>
            <a:ext cx="19050" cy="10306050"/>
            <a:chOff x="0" y="0"/>
            <a:chExt cx="25400" cy="13741400"/>
          </a:xfrm>
        </p:grpSpPr>
        <p:sp>
          <p:nvSpPr>
            <p:cNvPr id="11" name="Freeform 11"/>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12" name="Group 12"/>
          <p:cNvGrpSpPr/>
          <p:nvPr/>
        </p:nvGrpSpPr>
        <p:grpSpPr>
          <a:xfrm>
            <a:off x="16655415" y="-9525"/>
            <a:ext cx="19050" cy="10306050"/>
            <a:chOff x="0" y="0"/>
            <a:chExt cx="25400" cy="13741400"/>
          </a:xfrm>
        </p:grpSpPr>
        <p:sp>
          <p:nvSpPr>
            <p:cNvPr id="13" name="Freeform 13"/>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14" name="Group 14"/>
          <p:cNvGrpSpPr/>
          <p:nvPr/>
        </p:nvGrpSpPr>
        <p:grpSpPr>
          <a:xfrm>
            <a:off x="14950440" y="2606040"/>
            <a:ext cx="192024" cy="192024"/>
            <a:chOff x="0" y="0"/>
            <a:chExt cx="256032" cy="256032"/>
          </a:xfrm>
        </p:grpSpPr>
        <p:sp>
          <p:nvSpPr>
            <p:cNvPr id="15" name="Freeform 15"/>
            <p:cNvSpPr/>
            <p:nvPr/>
          </p:nvSpPr>
          <p:spPr>
            <a:xfrm>
              <a:off x="0" y="0"/>
              <a:ext cx="256032" cy="256032"/>
            </a:xfrm>
            <a:custGeom>
              <a:avLst/>
              <a:gdLst/>
              <a:ahLst/>
              <a:cxnLst/>
              <a:rect l="l" t="t" r="r" b="b"/>
              <a:pathLst>
                <a:path w="256032" h="256032">
                  <a:moveTo>
                    <a:pt x="0" y="128016"/>
                  </a:moveTo>
                  <a:cubicBezTo>
                    <a:pt x="0" y="57277"/>
                    <a:pt x="57277" y="0"/>
                    <a:pt x="128016" y="0"/>
                  </a:cubicBezTo>
                  <a:cubicBezTo>
                    <a:pt x="198755" y="0"/>
                    <a:pt x="256032" y="57277"/>
                    <a:pt x="256032" y="128016"/>
                  </a:cubicBezTo>
                  <a:cubicBezTo>
                    <a:pt x="256032" y="198755"/>
                    <a:pt x="198755" y="256032"/>
                    <a:pt x="128016" y="256032"/>
                  </a:cubicBezTo>
                  <a:cubicBezTo>
                    <a:pt x="57277" y="256032"/>
                    <a:pt x="0" y="198755"/>
                    <a:pt x="0" y="128016"/>
                  </a:cubicBezTo>
                  <a:close/>
                </a:path>
              </a:pathLst>
            </a:custGeom>
            <a:solidFill>
              <a:srgbClr val="FFB703"/>
            </a:solidFill>
          </p:spPr>
          <p:txBody>
            <a:bodyPr/>
            <a:lstStyle/>
            <a:p>
              <a:endParaRPr lang="en-US"/>
            </a:p>
          </p:txBody>
        </p:sp>
      </p:grpSp>
      <p:grpSp>
        <p:nvGrpSpPr>
          <p:cNvPr id="16" name="Group 16"/>
          <p:cNvGrpSpPr/>
          <p:nvPr/>
        </p:nvGrpSpPr>
        <p:grpSpPr>
          <a:xfrm>
            <a:off x="16463391" y="8036052"/>
            <a:ext cx="192024" cy="192024"/>
            <a:chOff x="0" y="0"/>
            <a:chExt cx="256032" cy="256032"/>
          </a:xfrm>
        </p:grpSpPr>
        <p:sp>
          <p:nvSpPr>
            <p:cNvPr id="17" name="Freeform 17"/>
            <p:cNvSpPr/>
            <p:nvPr/>
          </p:nvSpPr>
          <p:spPr>
            <a:xfrm>
              <a:off x="0" y="0"/>
              <a:ext cx="256032" cy="256032"/>
            </a:xfrm>
            <a:custGeom>
              <a:avLst/>
              <a:gdLst/>
              <a:ahLst/>
              <a:cxnLst/>
              <a:rect l="l" t="t" r="r" b="b"/>
              <a:pathLst>
                <a:path w="256032" h="256032">
                  <a:moveTo>
                    <a:pt x="0" y="128016"/>
                  </a:moveTo>
                  <a:cubicBezTo>
                    <a:pt x="0" y="57277"/>
                    <a:pt x="57277" y="0"/>
                    <a:pt x="128016" y="0"/>
                  </a:cubicBezTo>
                  <a:cubicBezTo>
                    <a:pt x="198755" y="0"/>
                    <a:pt x="256032" y="57277"/>
                    <a:pt x="256032" y="128016"/>
                  </a:cubicBezTo>
                  <a:cubicBezTo>
                    <a:pt x="256032" y="198755"/>
                    <a:pt x="198755" y="256032"/>
                    <a:pt x="128016" y="256032"/>
                  </a:cubicBezTo>
                  <a:cubicBezTo>
                    <a:pt x="57277" y="256032"/>
                    <a:pt x="0" y="198755"/>
                    <a:pt x="0" y="128016"/>
                  </a:cubicBezTo>
                  <a:close/>
                </a:path>
              </a:pathLst>
            </a:custGeom>
            <a:solidFill>
              <a:srgbClr val="FFB703"/>
            </a:solidFill>
          </p:spPr>
          <p:txBody>
            <a:bodyPr/>
            <a:lstStyle/>
            <a:p>
              <a:endParaRPr lang="en-US"/>
            </a:p>
          </p:txBody>
        </p:sp>
      </p:grpSp>
      <p:grpSp>
        <p:nvGrpSpPr>
          <p:cNvPr id="18" name="Group 18"/>
          <p:cNvGrpSpPr/>
          <p:nvPr/>
        </p:nvGrpSpPr>
        <p:grpSpPr>
          <a:xfrm>
            <a:off x="9464040" y="1344168"/>
            <a:ext cx="192024" cy="192024"/>
            <a:chOff x="0" y="0"/>
            <a:chExt cx="256032" cy="256032"/>
          </a:xfrm>
        </p:grpSpPr>
        <p:sp>
          <p:nvSpPr>
            <p:cNvPr id="19" name="Freeform 19"/>
            <p:cNvSpPr/>
            <p:nvPr/>
          </p:nvSpPr>
          <p:spPr>
            <a:xfrm>
              <a:off x="0" y="0"/>
              <a:ext cx="256032" cy="256032"/>
            </a:xfrm>
            <a:custGeom>
              <a:avLst/>
              <a:gdLst/>
              <a:ahLst/>
              <a:cxnLst/>
              <a:rect l="l" t="t" r="r" b="b"/>
              <a:pathLst>
                <a:path w="256032" h="256032">
                  <a:moveTo>
                    <a:pt x="0" y="128016"/>
                  </a:moveTo>
                  <a:cubicBezTo>
                    <a:pt x="0" y="57277"/>
                    <a:pt x="57277" y="0"/>
                    <a:pt x="128016" y="0"/>
                  </a:cubicBezTo>
                  <a:cubicBezTo>
                    <a:pt x="198755" y="0"/>
                    <a:pt x="256032" y="57277"/>
                    <a:pt x="256032" y="128016"/>
                  </a:cubicBezTo>
                  <a:cubicBezTo>
                    <a:pt x="256032" y="198755"/>
                    <a:pt x="198755" y="256032"/>
                    <a:pt x="128016" y="256032"/>
                  </a:cubicBezTo>
                  <a:cubicBezTo>
                    <a:pt x="57277" y="256032"/>
                    <a:pt x="0" y="198755"/>
                    <a:pt x="0" y="128016"/>
                  </a:cubicBezTo>
                  <a:close/>
                </a:path>
              </a:pathLst>
            </a:custGeom>
            <a:solidFill>
              <a:srgbClr val="74C69D"/>
            </a:solidFill>
          </p:spPr>
          <p:txBody>
            <a:bodyPr/>
            <a:lstStyle/>
            <a:p>
              <a:endParaRPr lang="en-US"/>
            </a:p>
          </p:txBody>
        </p:sp>
      </p:grpSp>
      <p:sp>
        <p:nvSpPr>
          <p:cNvPr id="20" name="Freeform 20"/>
          <p:cNvSpPr/>
          <p:nvPr/>
        </p:nvSpPr>
        <p:spPr>
          <a:xfrm>
            <a:off x="1028700" y="490147"/>
            <a:ext cx="1728376" cy="1708042"/>
          </a:xfrm>
          <a:custGeom>
            <a:avLst/>
            <a:gdLst/>
            <a:ahLst/>
            <a:cxnLst/>
            <a:rect l="l" t="t" r="r" b="b"/>
            <a:pathLst>
              <a:path w="1728376" h="1708042">
                <a:moveTo>
                  <a:pt x="0" y="0"/>
                </a:moveTo>
                <a:lnTo>
                  <a:pt x="1728376" y="0"/>
                </a:lnTo>
                <a:lnTo>
                  <a:pt x="1728376" y="1708042"/>
                </a:lnTo>
                <a:lnTo>
                  <a:pt x="0" y="1708042"/>
                </a:lnTo>
                <a:lnTo>
                  <a:pt x="0" y="0"/>
                </a:lnTo>
                <a:close/>
              </a:path>
            </a:pathLst>
          </a:custGeom>
          <a:blipFill>
            <a:blip r:embed="rId4"/>
            <a:stretch>
              <a:fillRect/>
            </a:stretch>
          </a:blipFill>
        </p:spPr>
        <p:txBody>
          <a:bodyPr/>
          <a:lstStyle/>
          <a:p>
            <a:endParaRPr lang="en-US"/>
          </a:p>
        </p:txBody>
      </p:sp>
      <p:sp>
        <p:nvSpPr>
          <p:cNvPr id="21" name="TextBox 21"/>
          <p:cNvSpPr txBox="1"/>
          <p:nvPr/>
        </p:nvSpPr>
        <p:spPr>
          <a:xfrm>
            <a:off x="3213882" y="774192"/>
            <a:ext cx="1088603" cy="762000"/>
          </a:xfrm>
          <a:prstGeom prst="rect">
            <a:avLst/>
          </a:prstGeom>
        </p:spPr>
        <p:txBody>
          <a:bodyPr lIns="0" tIns="0" rIns="0" bIns="0" rtlCol="0" anchor="t">
            <a:spAutoFit/>
          </a:bodyPr>
          <a:lstStyle/>
          <a:p>
            <a:pPr algn="ctr">
              <a:lnSpc>
                <a:spcPts val="5365"/>
              </a:lnSpc>
              <a:spcBef>
                <a:spcPct val="0"/>
              </a:spcBef>
            </a:pPr>
            <a:r>
              <a:rPr lang="en-US" sz="4471" b="1">
                <a:solidFill>
                  <a:srgbClr val="FFFFFF"/>
                </a:solidFill>
                <a:latin typeface="Calibri (MS) Bold"/>
                <a:ea typeface="Calibri (MS) Bold"/>
                <a:cs typeface="Calibri (MS) Bold"/>
                <a:sym typeface="Calibri (MS) Bold"/>
              </a:rPr>
              <a:t>DEPI</a:t>
            </a:r>
          </a:p>
        </p:txBody>
      </p:sp>
      <p:sp>
        <p:nvSpPr>
          <p:cNvPr id="22" name="TextBox 22"/>
          <p:cNvSpPr txBox="1"/>
          <p:nvPr/>
        </p:nvSpPr>
        <p:spPr>
          <a:xfrm>
            <a:off x="2878205" y="1541145"/>
            <a:ext cx="2134642" cy="485775"/>
          </a:xfrm>
          <a:prstGeom prst="rect">
            <a:avLst/>
          </a:prstGeom>
        </p:spPr>
        <p:txBody>
          <a:bodyPr lIns="0" tIns="0" rIns="0" bIns="0" rtlCol="0" anchor="t">
            <a:spAutoFit/>
          </a:bodyPr>
          <a:lstStyle/>
          <a:p>
            <a:pPr algn="ctr" rtl="1">
              <a:lnSpc>
                <a:spcPts val="3449"/>
              </a:lnSpc>
              <a:spcBef>
                <a:spcPct val="0"/>
              </a:spcBef>
            </a:pPr>
            <a:r>
              <a:rPr lang="ar-EG" sz="2874" b="1">
                <a:solidFill>
                  <a:srgbClr val="FFFFFF"/>
                </a:solidFill>
                <a:latin typeface="Calibri (MS) Bold"/>
                <a:ea typeface="Calibri (MS) Bold"/>
                <a:cs typeface="Calibri (MS) Bold"/>
                <a:sym typeface="Calibri (MS) Bold"/>
                <a:rtl/>
              </a:rPr>
              <a:t>رواد مصر الرقمية</a:t>
            </a:r>
          </a:p>
        </p:txBody>
      </p:sp>
      <p:grpSp>
        <p:nvGrpSpPr>
          <p:cNvPr id="23" name="Group 23"/>
          <p:cNvGrpSpPr/>
          <p:nvPr/>
        </p:nvGrpSpPr>
        <p:grpSpPr>
          <a:xfrm>
            <a:off x="534064" y="3406069"/>
            <a:ext cx="16725236" cy="4096583"/>
            <a:chOff x="0" y="0"/>
            <a:chExt cx="14290040" cy="3500120"/>
          </a:xfrm>
        </p:grpSpPr>
        <p:sp>
          <p:nvSpPr>
            <p:cNvPr id="24" name="Freeform 24"/>
            <p:cNvSpPr/>
            <p:nvPr/>
          </p:nvSpPr>
          <p:spPr>
            <a:xfrm>
              <a:off x="0" y="0"/>
              <a:ext cx="14290041" cy="3500120"/>
            </a:xfrm>
            <a:custGeom>
              <a:avLst/>
              <a:gdLst/>
              <a:ahLst/>
              <a:cxnLst/>
              <a:rect l="l" t="t" r="r" b="b"/>
              <a:pathLst>
                <a:path w="14290041" h="3500120">
                  <a:moveTo>
                    <a:pt x="0" y="165862"/>
                  </a:moveTo>
                  <a:cubicBezTo>
                    <a:pt x="0" y="74168"/>
                    <a:pt x="74168" y="0"/>
                    <a:pt x="165862" y="0"/>
                  </a:cubicBezTo>
                  <a:lnTo>
                    <a:pt x="14124178" y="0"/>
                  </a:lnTo>
                  <a:cubicBezTo>
                    <a:pt x="14215745" y="0"/>
                    <a:pt x="14290041" y="74168"/>
                    <a:pt x="14290041" y="165862"/>
                  </a:cubicBezTo>
                  <a:lnTo>
                    <a:pt x="14290041" y="3334258"/>
                  </a:lnTo>
                  <a:cubicBezTo>
                    <a:pt x="14290041" y="3425825"/>
                    <a:pt x="14215872" y="3500120"/>
                    <a:pt x="14124178" y="3500120"/>
                  </a:cubicBezTo>
                  <a:lnTo>
                    <a:pt x="165862" y="3500120"/>
                  </a:lnTo>
                  <a:cubicBezTo>
                    <a:pt x="74168" y="3500120"/>
                    <a:pt x="0" y="3425952"/>
                    <a:pt x="0" y="3334258"/>
                  </a:cubicBezTo>
                  <a:close/>
                </a:path>
              </a:pathLst>
            </a:custGeom>
            <a:solidFill>
              <a:srgbClr val="0F2A47"/>
            </a:solidFill>
            <a:ln w="19050" cap="sq">
              <a:solidFill>
                <a:srgbClr val="1E3E5F"/>
              </a:solidFill>
              <a:prstDash val="solid"/>
              <a:miter/>
            </a:ln>
          </p:spPr>
          <p:txBody>
            <a:bodyPr/>
            <a:lstStyle/>
            <a:p>
              <a:endParaRPr lang="en-US"/>
            </a:p>
          </p:txBody>
        </p:sp>
      </p:grpSp>
      <p:grpSp>
        <p:nvGrpSpPr>
          <p:cNvPr id="25" name="Group 25"/>
          <p:cNvGrpSpPr/>
          <p:nvPr/>
        </p:nvGrpSpPr>
        <p:grpSpPr>
          <a:xfrm>
            <a:off x="1191063" y="3645989"/>
            <a:ext cx="8561799" cy="642135"/>
            <a:chOff x="0" y="0"/>
            <a:chExt cx="7315200" cy="548640"/>
          </a:xfrm>
        </p:grpSpPr>
        <p:sp>
          <p:nvSpPr>
            <p:cNvPr id="26" name="Freeform 26"/>
            <p:cNvSpPr/>
            <p:nvPr/>
          </p:nvSpPr>
          <p:spPr>
            <a:xfrm>
              <a:off x="0" y="0"/>
              <a:ext cx="7315200" cy="548640"/>
            </a:xfrm>
            <a:custGeom>
              <a:avLst/>
              <a:gdLst/>
              <a:ahLst/>
              <a:cxnLst/>
              <a:rect l="l" t="t" r="r" b="b"/>
              <a:pathLst>
                <a:path w="7315200" h="548640">
                  <a:moveTo>
                    <a:pt x="0" y="0"/>
                  </a:moveTo>
                  <a:lnTo>
                    <a:pt x="7315200" y="0"/>
                  </a:lnTo>
                  <a:lnTo>
                    <a:pt x="7315200" y="548640"/>
                  </a:lnTo>
                  <a:lnTo>
                    <a:pt x="0" y="548640"/>
                  </a:lnTo>
                  <a:close/>
                </a:path>
              </a:pathLst>
            </a:custGeom>
            <a:blipFill>
              <a:blip r:embed="rId3">
                <a:alphaModFix amt="0"/>
              </a:blip>
              <a:stretch>
                <a:fillRect t="-209800" b="-209800"/>
              </a:stretch>
            </a:blipFill>
          </p:spPr>
          <p:txBody>
            <a:bodyPr/>
            <a:lstStyle/>
            <a:p>
              <a:endParaRPr lang="en-US"/>
            </a:p>
          </p:txBody>
        </p:sp>
        <p:sp>
          <p:nvSpPr>
            <p:cNvPr id="27" name="TextBox 27"/>
            <p:cNvSpPr txBox="1"/>
            <p:nvPr/>
          </p:nvSpPr>
          <p:spPr>
            <a:xfrm>
              <a:off x="0" y="-19050"/>
              <a:ext cx="7315200" cy="567690"/>
            </a:xfrm>
            <a:prstGeom prst="rect">
              <a:avLst/>
            </a:prstGeom>
          </p:spPr>
          <p:txBody>
            <a:bodyPr lIns="0" tIns="0" rIns="0" bIns="0" rtlCol="0" anchor="ctr"/>
            <a:lstStyle/>
            <a:p>
              <a:pPr algn="l">
                <a:lnSpc>
                  <a:spcPts val="2639"/>
                </a:lnSpc>
              </a:pPr>
              <a:r>
                <a:rPr lang="en-US" sz="2199" b="1" spc="329">
                  <a:solidFill>
                    <a:srgbClr val="22D3B8"/>
                  </a:solidFill>
                  <a:latin typeface="Arial Bold"/>
                  <a:ea typeface="Arial Bold"/>
                  <a:cs typeface="Arial Bold"/>
                  <a:sym typeface="Arial Bold"/>
                </a:rPr>
                <a:t>PRESENTED BY</a:t>
              </a:r>
            </a:p>
          </p:txBody>
        </p:sp>
      </p:grpSp>
      <p:grpSp>
        <p:nvGrpSpPr>
          <p:cNvPr id="28" name="Group 28"/>
          <p:cNvGrpSpPr/>
          <p:nvPr/>
        </p:nvGrpSpPr>
        <p:grpSpPr>
          <a:xfrm>
            <a:off x="1191063" y="4459360"/>
            <a:ext cx="299663" cy="299663"/>
            <a:chOff x="0" y="0"/>
            <a:chExt cx="256032" cy="256032"/>
          </a:xfrm>
        </p:grpSpPr>
        <p:sp>
          <p:nvSpPr>
            <p:cNvPr id="29" name="Freeform 29"/>
            <p:cNvSpPr/>
            <p:nvPr/>
          </p:nvSpPr>
          <p:spPr>
            <a:xfrm>
              <a:off x="0" y="0"/>
              <a:ext cx="256032" cy="256032"/>
            </a:xfrm>
            <a:custGeom>
              <a:avLst/>
              <a:gdLst/>
              <a:ahLst/>
              <a:cxnLst/>
              <a:rect l="l" t="t" r="r" b="b"/>
              <a:pathLst>
                <a:path w="256032" h="256032">
                  <a:moveTo>
                    <a:pt x="0" y="128016"/>
                  </a:moveTo>
                  <a:cubicBezTo>
                    <a:pt x="0" y="57277"/>
                    <a:pt x="57277" y="0"/>
                    <a:pt x="128016" y="0"/>
                  </a:cubicBezTo>
                  <a:cubicBezTo>
                    <a:pt x="198755" y="0"/>
                    <a:pt x="256032" y="57277"/>
                    <a:pt x="256032" y="128016"/>
                  </a:cubicBezTo>
                  <a:cubicBezTo>
                    <a:pt x="256032" y="198755"/>
                    <a:pt x="198755" y="256032"/>
                    <a:pt x="128016" y="256032"/>
                  </a:cubicBezTo>
                  <a:cubicBezTo>
                    <a:pt x="57277" y="256032"/>
                    <a:pt x="0" y="198755"/>
                    <a:pt x="0" y="128016"/>
                  </a:cubicBezTo>
                  <a:close/>
                </a:path>
              </a:pathLst>
            </a:custGeom>
            <a:solidFill>
              <a:srgbClr val="22D3B8"/>
            </a:solidFill>
          </p:spPr>
          <p:txBody>
            <a:bodyPr/>
            <a:lstStyle/>
            <a:p>
              <a:endParaRPr lang="en-US"/>
            </a:p>
          </p:txBody>
        </p:sp>
      </p:grpSp>
      <p:grpSp>
        <p:nvGrpSpPr>
          <p:cNvPr id="30" name="Group 30"/>
          <p:cNvGrpSpPr/>
          <p:nvPr/>
        </p:nvGrpSpPr>
        <p:grpSpPr>
          <a:xfrm>
            <a:off x="6542187" y="4459360"/>
            <a:ext cx="299663" cy="299663"/>
            <a:chOff x="0" y="0"/>
            <a:chExt cx="256032" cy="256032"/>
          </a:xfrm>
        </p:grpSpPr>
        <p:sp>
          <p:nvSpPr>
            <p:cNvPr id="31" name="Freeform 31"/>
            <p:cNvSpPr/>
            <p:nvPr/>
          </p:nvSpPr>
          <p:spPr>
            <a:xfrm>
              <a:off x="0" y="0"/>
              <a:ext cx="256032" cy="256032"/>
            </a:xfrm>
            <a:custGeom>
              <a:avLst/>
              <a:gdLst/>
              <a:ahLst/>
              <a:cxnLst/>
              <a:rect l="l" t="t" r="r" b="b"/>
              <a:pathLst>
                <a:path w="256032" h="256032">
                  <a:moveTo>
                    <a:pt x="0" y="128016"/>
                  </a:moveTo>
                  <a:cubicBezTo>
                    <a:pt x="0" y="57277"/>
                    <a:pt x="57277" y="0"/>
                    <a:pt x="128016" y="0"/>
                  </a:cubicBezTo>
                  <a:cubicBezTo>
                    <a:pt x="198755" y="0"/>
                    <a:pt x="256032" y="57277"/>
                    <a:pt x="256032" y="128016"/>
                  </a:cubicBezTo>
                  <a:cubicBezTo>
                    <a:pt x="256032" y="198755"/>
                    <a:pt x="198755" y="256032"/>
                    <a:pt x="128016" y="256032"/>
                  </a:cubicBezTo>
                  <a:cubicBezTo>
                    <a:pt x="57277" y="256032"/>
                    <a:pt x="0" y="198755"/>
                    <a:pt x="0" y="128016"/>
                  </a:cubicBezTo>
                  <a:close/>
                </a:path>
              </a:pathLst>
            </a:custGeom>
            <a:solidFill>
              <a:srgbClr val="22D3B8"/>
            </a:solidFill>
          </p:spPr>
          <p:txBody>
            <a:bodyPr/>
            <a:lstStyle/>
            <a:p>
              <a:endParaRPr lang="en-US"/>
            </a:p>
          </p:txBody>
        </p:sp>
      </p:grpSp>
      <p:grpSp>
        <p:nvGrpSpPr>
          <p:cNvPr id="32" name="Group 32"/>
          <p:cNvGrpSpPr/>
          <p:nvPr/>
        </p:nvGrpSpPr>
        <p:grpSpPr>
          <a:xfrm>
            <a:off x="1191063" y="5914865"/>
            <a:ext cx="299663" cy="299663"/>
            <a:chOff x="0" y="0"/>
            <a:chExt cx="256032" cy="256032"/>
          </a:xfrm>
        </p:grpSpPr>
        <p:sp>
          <p:nvSpPr>
            <p:cNvPr id="33" name="Freeform 33"/>
            <p:cNvSpPr/>
            <p:nvPr/>
          </p:nvSpPr>
          <p:spPr>
            <a:xfrm>
              <a:off x="0" y="0"/>
              <a:ext cx="256032" cy="256032"/>
            </a:xfrm>
            <a:custGeom>
              <a:avLst/>
              <a:gdLst/>
              <a:ahLst/>
              <a:cxnLst/>
              <a:rect l="l" t="t" r="r" b="b"/>
              <a:pathLst>
                <a:path w="256032" h="256032">
                  <a:moveTo>
                    <a:pt x="0" y="128016"/>
                  </a:moveTo>
                  <a:cubicBezTo>
                    <a:pt x="0" y="57277"/>
                    <a:pt x="57277" y="0"/>
                    <a:pt x="128016" y="0"/>
                  </a:cubicBezTo>
                  <a:cubicBezTo>
                    <a:pt x="198755" y="0"/>
                    <a:pt x="256032" y="57277"/>
                    <a:pt x="256032" y="128016"/>
                  </a:cubicBezTo>
                  <a:cubicBezTo>
                    <a:pt x="256032" y="198755"/>
                    <a:pt x="198755" y="256032"/>
                    <a:pt x="128016" y="256032"/>
                  </a:cubicBezTo>
                  <a:cubicBezTo>
                    <a:pt x="57277" y="256032"/>
                    <a:pt x="0" y="198755"/>
                    <a:pt x="0" y="128016"/>
                  </a:cubicBezTo>
                  <a:close/>
                </a:path>
              </a:pathLst>
            </a:custGeom>
            <a:solidFill>
              <a:srgbClr val="22D3B8"/>
            </a:solidFill>
          </p:spPr>
          <p:txBody>
            <a:bodyPr/>
            <a:lstStyle/>
            <a:p>
              <a:endParaRPr lang="en-US"/>
            </a:p>
          </p:txBody>
        </p:sp>
      </p:grpSp>
      <p:grpSp>
        <p:nvGrpSpPr>
          <p:cNvPr id="34" name="Group 34"/>
          <p:cNvGrpSpPr/>
          <p:nvPr/>
        </p:nvGrpSpPr>
        <p:grpSpPr>
          <a:xfrm>
            <a:off x="6542187" y="5914865"/>
            <a:ext cx="299663" cy="299663"/>
            <a:chOff x="0" y="0"/>
            <a:chExt cx="256032" cy="256032"/>
          </a:xfrm>
        </p:grpSpPr>
        <p:sp>
          <p:nvSpPr>
            <p:cNvPr id="35" name="Freeform 35"/>
            <p:cNvSpPr/>
            <p:nvPr/>
          </p:nvSpPr>
          <p:spPr>
            <a:xfrm>
              <a:off x="0" y="0"/>
              <a:ext cx="256032" cy="256032"/>
            </a:xfrm>
            <a:custGeom>
              <a:avLst/>
              <a:gdLst/>
              <a:ahLst/>
              <a:cxnLst/>
              <a:rect l="l" t="t" r="r" b="b"/>
              <a:pathLst>
                <a:path w="256032" h="256032">
                  <a:moveTo>
                    <a:pt x="0" y="128016"/>
                  </a:moveTo>
                  <a:cubicBezTo>
                    <a:pt x="0" y="57277"/>
                    <a:pt x="57277" y="0"/>
                    <a:pt x="128016" y="0"/>
                  </a:cubicBezTo>
                  <a:cubicBezTo>
                    <a:pt x="198755" y="0"/>
                    <a:pt x="256032" y="57277"/>
                    <a:pt x="256032" y="128016"/>
                  </a:cubicBezTo>
                  <a:cubicBezTo>
                    <a:pt x="256032" y="198755"/>
                    <a:pt x="198755" y="256032"/>
                    <a:pt x="128016" y="256032"/>
                  </a:cubicBezTo>
                  <a:cubicBezTo>
                    <a:pt x="57277" y="256032"/>
                    <a:pt x="0" y="198755"/>
                    <a:pt x="0" y="128016"/>
                  </a:cubicBezTo>
                  <a:close/>
                </a:path>
              </a:pathLst>
            </a:custGeom>
            <a:solidFill>
              <a:srgbClr val="22D3B8"/>
            </a:solidFill>
          </p:spPr>
          <p:txBody>
            <a:bodyPr/>
            <a:lstStyle/>
            <a:p>
              <a:endParaRPr lang="en-US"/>
            </a:p>
          </p:txBody>
        </p:sp>
      </p:grpSp>
      <p:grpSp>
        <p:nvGrpSpPr>
          <p:cNvPr id="36" name="Group 36"/>
          <p:cNvGrpSpPr/>
          <p:nvPr/>
        </p:nvGrpSpPr>
        <p:grpSpPr>
          <a:xfrm>
            <a:off x="11893311" y="5914865"/>
            <a:ext cx="299663" cy="299663"/>
            <a:chOff x="0" y="0"/>
            <a:chExt cx="256032" cy="256032"/>
          </a:xfrm>
        </p:grpSpPr>
        <p:sp>
          <p:nvSpPr>
            <p:cNvPr id="37" name="Freeform 37"/>
            <p:cNvSpPr/>
            <p:nvPr/>
          </p:nvSpPr>
          <p:spPr>
            <a:xfrm>
              <a:off x="0" y="0"/>
              <a:ext cx="256032" cy="256032"/>
            </a:xfrm>
            <a:custGeom>
              <a:avLst/>
              <a:gdLst/>
              <a:ahLst/>
              <a:cxnLst/>
              <a:rect l="l" t="t" r="r" b="b"/>
              <a:pathLst>
                <a:path w="256032" h="256032">
                  <a:moveTo>
                    <a:pt x="0" y="128016"/>
                  </a:moveTo>
                  <a:cubicBezTo>
                    <a:pt x="0" y="57277"/>
                    <a:pt x="57277" y="0"/>
                    <a:pt x="128016" y="0"/>
                  </a:cubicBezTo>
                  <a:cubicBezTo>
                    <a:pt x="198755" y="0"/>
                    <a:pt x="256032" y="57277"/>
                    <a:pt x="256032" y="128016"/>
                  </a:cubicBezTo>
                  <a:cubicBezTo>
                    <a:pt x="256032" y="198755"/>
                    <a:pt x="198755" y="256032"/>
                    <a:pt x="128016" y="256032"/>
                  </a:cubicBezTo>
                  <a:cubicBezTo>
                    <a:pt x="57277" y="256032"/>
                    <a:pt x="0" y="198755"/>
                    <a:pt x="0" y="128016"/>
                  </a:cubicBezTo>
                  <a:close/>
                </a:path>
              </a:pathLst>
            </a:custGeom>
            <a:solidFill>
              <a:srgbClr val="22D3B8"/>
            </a:solidFill>
          </p:spPr>
          <p:txBody>
            <a:bodyPr/>
            <a:lstStyle/>
            <a:p>
              <a:endParaRPr lang="en-US"/>
            </a:p>
          </p:txBody>
        </p:sp>
      </p:grpSp>
      <p:sp>
        <p:nvSpPr>
          <p:cNvPr id="38" name="TextBox 38"/>
          <p:cNvSpPr txBox="1"/>
          <p:nvPr/>
        </p:nvSpPr>
        <p:spPr>
          <a:xfrm>
            <a:off x="1787239" y="4361369"/>
            <a:ext cx="4316574" cy="473004"/>
          </a:xfrm>
          <a:prstGeom prst="rect">
            <a:avLst/>
          </a:prstGeom>
        </p:spPr>
        <p:txBody>
          <a:bodyPr lIns="0" tIns="0" rIns="0" bIns="0" rtlCol="0" anchor="t">
            <a:spAutoFit/>
          </a:bodyPr>
          <a:lstStyle/>
          <a:p>
            <a:pPr algn="l">
              <a:lnSpc>
                <a:spcPts val="3686"/>
              </a:lnSpc>
            </a:pPr>
            <a:r>
              <a:rPr lang="en-US" sz="2926" b="1">
                <a:solidFill>
                  <a:srgbClr val="F4F8FB"/>
                </a:solidFill>
                <a:latin typeface="Arial Bold"/>
                <a:ea typeface="Arial Bold"/>
                <a:cs typeface="Arial Bold"/>
                <a:sym typeface="Arial Bold"/>
              </a:rPr>
              <a:t>Mohamed Hany</a:t>
            </a:r>
          </a:p>
        </p:txBody>
      </p:sp>
      <p:sp>
        <p:nvSpPr>
          <p:cNvPr id="39" name="TextBox 39"/>
          <p:cNvSpPr txBox="1"/>
          <p:nvPr/>
        </p:nvSpPr>
        <p:spPr>
          <a:xfrm>
            <a:off x="7137125" y="4353342"/>
            <a:ext cx="4316574" cy="467070"/>
          </a:xfrm>
          <a:prstGeom prst="rect">
            <a:avLst/>
          </a:prstGeom>
        </p:spPr>
        <p:txBody>
          <a:bodyPr lIns="0" tIns="0" rIns="0" bIns="0" rtlCol="0" anchor="t">
            <a:spAutoFit/>
          </a:bodyPr>
          <a:lstStyle/>
          <a:p>
            <a:pPr algn="l">
              <a:lnSpc>
                <a:spcPts val="3686"/>
              </a:lnSpc>
            </a:pPr>
            <a:r>
              <a:rPr lang="en-US" sz="2926" b="1">
                <a:solidFill>
                  <a:srgbClr val="F4F8FB"/>
                </a:solidFill>
                <a:latin typeface="Arial Bold"/>
                <a:ea typeface="Arial Bold"/>
                <a:cs typeface="Arial Bold"/>
                <a:sym typeface="Arial Bold"/>
              </a:rPr>
              <a:t>Michael Samy</a:t>
            </a:r>
          </a:p>
        </p:txBody>
      </p:sp>
      <p:sp>
        <p:nvSpPr>
          <p:cNvPr id="40" name="TextBox 40"/>
          <p:cNvSpPr txBox="1"/>
          <p:nvPr/>
        </p:nvSpPr>
        <p:spPr>
          <a:xfrm>
            <a:off x="1787239" y="5805881"/>
            <a:ext cx="4316574" cy="473004"/>
          </a:xfrm>
          <a:prstGeom prst="rect">
            <a:avLst/>
          </a:prstGeom>
        </p:spPr>
        <p:txBody>
          <a:bodyPr lIns="0" tIns="0" rIns="0" bIns="0" rtlCol="0" anchor="t">
            <a:spAutoFit/>
          </a:bodyPr>
          <a:lstStyle/>
          <a:p>
            <a:pPr algn="l">
              <a:lnSpc>
                <a:spcPts val="3686"/>
              </a:lnSpc>
            </a:pPr>
            <a:r>
              <a:rPr lang="en-US" sz="2926" b="1">
                <a:solidFill>
                  <a:srgbClr val="F4F8FB"/>
                </a:solidFill>
                <a:latin typeface="Arial Bold"/>
                <a:ea typeface="Arial Bold"/>
                <a:cs typeface="Arial Bold"/>
                <a:sym typeface="Arial Bold"/>
              </a:rPr>
              <a:t>Hana Alaa</a:t>
            </a:r>
          </a:p>
        </p:txBody>
      </p:sp>
      <p:sp>
        <p:nvSpPr>
          <p:cNvPr id="41" name="TextBox 41"/>
          <p:cNvSpPr txBox="1"/>
          <p:nvPr/>
        </p:nvSpPr>
        <p:spPr>
          <a:xfrm>
            <a:off x="7195738" y="5816874"/>
            <a:ext cx="4316574" cy="467070"/>
          </a:xfrm>
          <a:prstGeom prst="rect">
            <a:avLst/>
          </a:prstGeom>
        </p:spPr>
        <p:txBody>
          <a:bodyPr lIns="0" tIns="0" rIns="0" bIns="0" rtlCol="0" anchor="t">
            <a:spAutoFit/>
          </a:bodyPr>
          <a:lstStyle/>
          <a:p>
            <a:pPr algn="l">
              <a:lnSpc>
                <a:spcPts val="3686"/>
              </a:lnSpc>
            </a:pPr>
            <a:r>
              <a:rPr lang="en-US" sz="2926" b="1">
                <a:solidFill>
                  <a:srgbClr val="F4F8FB"/>
                </a:solidFill>
                <a:latin typeface="Arial Bold"/>
                <a:ea typeface="Arial Bold"/>
                <a:cs typeface="Arial Bold"/>
                <a:sym typeface="Arial Bold"/>
              </a:rPr>
              <a:t>Nada Hossam</a:t>
            </a:r>
          </a:p>
        </p:txBody>
      </p:sp>
      <p:sp>
        <p:nvSpPr>
          <p:cNvPr id="42" name="TextBox 42"/>
          <p:cNvSpPr txBox="1"/>
          <p:nvPr/>
        </p:nvSpPr>
        <p:spPr>
          <a:xfrm>
            <a:off x="12496800" y="5805881"/>
            <a:ext cx="4316574" cy="473004"/>
          </a:xfrm>
          <a:prstGeom prst="rect">
            <a:avLst/>
          </a:prstGeom>
        </p:spPr>
        <p:txBody>
          <a:bodyPr lIns="0" tIns="0" rIns="0" bIns="0" rtlCol="0" anchor="t">
            <a:spAutoFit/>
          </a:bodyPr>
          <a:lstStyle/>
          <a:p>
            <a:pPr algn="l">
              <a:lnSpc>
                <a:spcPts val="3686"/>
              </a:lnSpc>
            </a:pPr>
            <a:r>
              <a:rPr lang="en-US" sz="2926" b="1">
                <a:solidFill>
                  <a:srgbClr val="F4F8FB"/>
                </a:solidFill>
                <a:latin typeface="Arial Bold"/>
                <a:ea typeface="Arial Bold"/>
                <a:cs typeface="Arial Bold"/>
                <a:sym typeface="Arial Bold"/>
              </a:rPr>
              <a:t>Toqa Hussein</a:t>
            </a:r>
          </a:p>
        </p:txBody>
      </p:sp>
      <p:grpSp>
        <p:nvGrpSpPr>
          <p:cNvPr id="43" name="Group 43"/>
          <p:cNvGrpSpPr/>
          <p:nvPr/>
        </p:nvGrpSpPr>
        <p:grpSpPr>
          <a:xfrm>
            <a:off x="11986226" y="8013480"/>
            <a:ext cx="192024" cy="192024"/>
            <a:chOff x="0" y="0"/>
            <a:chExt cx="256032" cy="256032"/>
          </a:xfrm>
        </p:grpSpPr>
        <p:sp>
          <p:nvSpPr>
            <p:cNvPr id="44" name="Freeform 44"/>
            <p:cNvSpPr/>
            <p:nvPr/>
          </p:nvSpPr>
          <p:spPr>
            <a:xfrm>
              <a:off x="0" y="0"/>
              <a:ext cx="256032" cy="256032"/>
            </a:xfrm>
            <a:custGeom>
              <a:avLst/>
              <a:gdLst/>
              <a:ahLst/>
              <a:cxnLst/>
              <a:rect l="l" t="t" r="r" b="b"/>
              <a:pathLst>
                <a:path w="256032" h="256032">
                  <a:moveTo>
                    <a:pt x="0" y="128016"/>
                  </a:moveTo>
                  <a:cubicBezTo>
                    <a:pt x="0" y="57277"/>
                    <a:pt x="57277" y="0"/>
                    <a:pt x="128016" y="0"/>
                  </a:cubicBezTo>
                  <a:cubicBezTo>
                    <a:pt x="198755" y="0"/>
                    <a:pt x="256032" y="57277"/>
                    <a:pt x="256032" y="128016"/>
                  </a:cubicBezTo>
                  <a:cubicBezTo>
                    <a:pt x="256032" y="198755"/>
                    <a:pt x="198755" y="256032"/>
                    <a:pt x="128016" y="256032"/>
                  </a:cubicBezTo>
                  <a:cubicBezTo>
                    <a:pt x="57277" y="256032"/>
                    <a:pt x="0" y="198755"/>
                    <a:pt x="0" y="128016"/>
                  </a:cubicBezTo>
                  <a:close/>
                </a:path>
              </a:pathLst>
            </a:custGeom>
            <a:solidFill>
              <a:srgbClr val="74C69D"/>
            </a:solidFill>
          </p:spPr>
          <p:txBody>
            <a:bodyPr/>
            <a:lstStyle/>
            <a:p>
              <a:endParaRPr lang="en-US"/>
            </a:p>
          </p:txBody>
        </p:sp>
      </p:grpSp>
      <p:grpSp>
        <p:nvGrpSpPr>
          <p:cNvPr id="45" name="Group 45"/>
          <p:cNvGrpSpPr/>
          <p:nvPr/>
        </p:nvGrpSpPr>
        <p:grpSpPr>
          <a:xfrm>
            <a:off x="6160302" y="8892973"/>
            <a:ext cx="192024" cy="192024"/>
            <a:chOff x="0" y="0"/>
            <a:chExt cx="256032" cy="256032"/>
          </a:xfrm>
        </p:grpSpPr>
        <p:sp>
          <p:nvSpPr>
            <p:cNvPr id="46" name="Freeform 46"/>
            <p:cNvSpPr/>
            <p:nvPr/>
          </p:nvSpPr>
          <p:spPr>
            <a:xfrm>
              <a:off x="0" y="0"/>
              <a:ext cx="256032" cy="256032"/>
            </a:xfrm>
            <a:custGeom>
              <a:avLst/>
              <a:gdLst/>
              <a:ahLst/>
              <a:cxnLst/>
              <a:rect l="l" t="t" r="r" b="b"/>
              <a:pathLst>
                <a:path w="256032" h="256032">
                  <a:moveTo>
                    <a:pt x="0" y="128016"/>
                  </a:moveTo>
                  <a:cubicBezTo>
                    <a:pt x="0" y="57277"/>
                    <a:pt x="57277" y="0"/>
                    <a:pt x="128016" y="0"/>
                  </a:cubicBezTo>
                  <a:cubicBezTo>
                    <a:pt x="198755" y="0"/>
                    <a:pt x="256032" y="57277"/>
                    <a:pt x="256032" y="128016"/>
                  </a:cubicBezTo>
                  <a:cubicBezTo>
                    <a:pt x="256032" y="198755"/>
                    <a:pt x="198755" y="256032"/>
                    <a:pt x="128016" y="256032"/>
                  </a:cubicBezTo>
                  <a:cubicBezTo>
                    <a:pt x="57277" y="256032"/>
                    <a:pt x="0" y="198755"/>
                    <a:pt x="0" y="128016"/>
                  </a:cubicBezTo>
                  <a:close/>
                </a:path>
              </a:pathLst>
            </a:custGeom>
            <a:solidFill>
              <a:srgbClr val="74C69D"/>
            </a:solidFill>
          </p:spPr>
          <p:txBody>
            <a:bodyPr/>
            <a:lstStyle/>
            <a:p>
              <a:endParaRPr lang="en-US"/>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8F6"/>
        </a:solidFill>
        <a:effectLst/>
      </p:bgPr>
    </p:bg>
    <p:spTree>
      <p:nvGrpSpPr>
        <p:cNvPr id="1" name=""/>
        <p:cNvGrpSpPr/>
        <p:nvPr/>
      </p:nvGrpSpPr>
      <p:grpSpPr>
        <a:xfrm>
          <a:off x="0" y="0"/>
          <a:ext cx="0" cy="0"/>
          <a:chOff x="0" y="0"/>
          <a:chExt cx="0" cy="0"/>
        </a:xfrm>
      </p:grpSpPr>
      <p:grpSp>
        <p:nvGrpSpPr>
          <p:cNvPr id="2" name="Group 2"/>
          <p:cNvGrpSpPr/>
          <p:nvPr/>
        </p:nvGrpSpPr>
        <p:grpSpPr>
          <a:xfrm>
            <a:off x="822960" y="576072"/>
            <a:ext cx="10972800" cy="480060"/>
            <a:chOff x="0" y="0"/>
            <a:chExt cx="14630400" cy="640080"/>
          </a:xfrm>
        </p:grpSpPr>
        <p:sp>
          <p:nvSpPr>
            <p:cNvPr id="3" name="Freeform 3"/>
            <p:cNvSpPr/>
            <p:nvPr/>
          </p:nvSpPr>
          <p:spPr>
            <a:xfrm>
              <a:off x="0" y="0"/>
              <a:ext cx="14630400" cy="640080"/>
            </a:xfrm>
            <a:custGeom>
              <a:avLst/>
              <a:gdLst/>
              <a:ahLst/>
              <a:cxnLst/>
              <a:rect l="l" t="t" r="r" b="b"/>
              <a:pathLst>
                <a:path w="14630400" h="640080">
                  <a:moveTo>
                    <a:pt x="0" y="0"/>
                  </a:moveTo>
                  <a:lnTo>
                    <a:pt x="14630400" y="0"/>
                  </a:lnTo>
                  <a:lnTo>
                    <a:pt x="14630400" y="640080"/>
                  </a:lnTo>
                  <a:lnTo>
                    <a:pt x="0" y="640080"/>
                  </a:lnTo>
                  <a:close/>
                </a:path>
              </a:pathLst>
            </a:custGeom>
            <a:blipFill>
              <a:blip r:embed="rId3">
                <a:alphaModFix amt="0"/>
              </a:blip>
              <a:stretch>
                <a:fillRect t="-395372" b="-395372"/>
              </a:stretch>
            </a:blipFill>
          </p:spPr>
          <p:txBody>
            <a:bodyPr/>
            <a:lstStyle/>
            <a:p>
              <a:endParaRPr lang="en-US"/>
            </a:p>
          </p:txBody>
        </p:sp>
        <p:sp>
          <p:nvSpPr>
            <p:cNvPr id="4" name="TextBox 4"/>
            <p:cNvSpPr txBox="1"/>
            <p:nvPr/>
          </p:nvSpPr>
          <p:spPr>
            <a:xfrm>
              <a:off x="0" y="-38100"/>
              <a:ext cx="14630400" cy="678180"/>
            </a:xfrm>
            <a:prstGeom prst="rect">
              <a:avLst/>
            </a:prstGeom>
          </p:spPr>
          <p:txBody>
            <a:bodyPr lIns="0" tIns="0" rIns="0" bIns="0" rtlCol="0" anchor="ctr"/>
            <a:lstStyle/>
            <a:p>
              <a:pPr algn="l">
                <a:lnSpc>
                  <a:spcPts val="2160"/>
                </a:lnSpc>
              </a:pPr>
              <a:r>
                <a:rPr lang="en-US" sz="1800" b="1" spc="299">
                  <a:solidFill>
                    <a:srgbClr val="40916C"/>
                  </a:solidFill>
                  <a:latin typeface="Calibri (MS) Bold"/>
                  <a:ea typeface="Calibri (MS) Bold"/>
                  <a:cs typeface="Calibri (MS) Bold"/>
                  <a:sym typeface="Calibri (MS) Bold"/>
                </a:rPr>
                <a:t>PRESENTATION ROADMAP</a:t>
              </a:r>
            </a:p>
          </p:txBody>
        </p:sp>
      </p:grpSp>
      <p:grpSp>
        <p:nvGrpSpPr>
          <p:cNvPr id="5" name="Group 5"/>
          <p:cNvGrpSpPr/>
          <p:nvPr/>
        </p:nvGrpSpPr>
        <p:grpSpPr>
          <a:xfrm>
            <a:off x="822960" y="0"/>
            <a:ext cx="15773400" cy="3516213"/>
            <a:chOff x="0" y="0"/>
            <a:chExt cx="21031200" cy="4688284"/>
          </a:xfrm>
        </p:grpSpPr>
        <p:sp>
          <p:nvSpPr>
            <p:cNvPr id="6" name="Freeform 6"/>
            <p:cNvSpPr/>
            <p:nvPr/>
          </p:nvSpPr>
          <p:spPr>
            <a:xfrm>
              <a:off x="0" y="0"/>
              <a:ext cx="21031200" cy="4688284"/>
            </a:xfrm>
            <a:custGeom>
              <a:avLst/>
              <a:gdLst/>
              <a:ahLst/>
              <a:cxnLst/>
              <a:rect l="l" t="t" r="r" b="b"/>
              <a:pathLst>
                <a:path w="21031200" h="4688284">
                  <a:moveTo>
                    <a:pt x="0" y="0"/>
                  </a:moveTo>
                  <a:lnTo>
                    <a:pt x="21031200" y="0"/>
                  </a:lnTo>
                  <a:lnTo>
                    <a:pt x="21031200" y="4688284"/>
                  </a:lnTo>
                  <a:lnTo>
                    <a:pt x="0" y="4688284"/>
                  </a:lnTo>
                  <a:close/>
                </a:path>
              </a:pathLst>
            </a:custGeom>
            <a:blipFill>
              <a:blip r:embed="rId3">
                <a:alphaModFix amt="0"/>
              </a:blip>
              <a:stretch>
                <a:fillRect t="-69854" b="-4961"/>
              </a:stretch>
            </a:blipFill>
          </p:spPr>
          <p:txBody>
            <a:bodyPr/>
            <a:lstStyle/>
            <a:p>
              <a:endParaRPr lang="en-US"/>
            </a:p>
          </p:txBody>
        </p:sp>
        <p:sp>
          <p:nvSpPr>
            <p:cNvPr id="7" name="TextBox 7"/>
            <p:cNvSpPr txBox="1"/>
            <p:nvPr/>
          </p:nvSpPr>
          <p:spPr>
            <a:xfrm>
              <a:off x="0" y="-9525"/>
              <a:ext cx="21031200" cy="4697809"/>
            </a:xfrm>
            <a:prstGeom prst="rect">
              <a:avLst/>
            </a:prstGeom>
          </p:spPr>
          <p:txBody>
            <a:bodyPr lIns="0" tIns="0" rIns="0" bIns="0" rtlCol="0" anchor="ctr"/>
            <a:lstStyle/>
            <a:p>
              <a:pPr algn="l">
                <a:lnSpc>
                  <a:spcPts val="5759"/>
                </a:lnSpc>
              </a:pPr>
              <a:r>
                <a:rPr lang="en-US" sz="4800" b="1">
                  <a:solidFill>
                    <a:srgbClr val="0D1B2A"/>
                  </a:solidFill>
                  <a:latin typeface="Cambria Bold"/>
                  <a:ea typeface="Cambria Bold"/>
                  <a:cs typeface="Cambria Bold"/>
                  <a:sym typeface="Cambria Bold"/>
                </a:rPr>
                <a:t>What We'll Cover — Five Speakers</a:t>
              </a:r>
            </a:p>
          </p:txBody>
        </p:sp>
      </p:grpSp>
      <p:grpSp>
        <p:nvGrpSpPr>
          <p:cNvPr id="8" name="Group 8"/>
          <p:cNvGrpSpPr/>
          <p:nvPr/>
        </p:nvGrpSpPr>
        <p:grpSpPr>
          <a:xfrm>
            <a:off x="813435" y="2527935"/>
            <a:ext cx="16615410" cy="1171194"/>
            <a:chOff x="0" y="0"/>
            <a:chExt cx="22153880" cy="1561592"/>
          </a:xfrm>
        </p:grpSpPr>
        <p:sp>
          <p:nvSpPr>
            <p:cNvPr id="9" name="Freeform 9"/>
            <p:cNvSpPr/>
            <p:nvPr/>
          </p:nvSpPr>
          <p:spPr>
            <a:xfrm>
              <a:off x="0" y="0"/>
              <a:ext cx="22153879" cy="1561592"/>
            </a:xfrm>
            <a:custGeom>
              <a:avLst/>
              <a:gdLst/>
              <a:ahLst/>
              <a:cxnLst/>
              <a:rect l="l" t="t" r="r" b="b"/>
              <a:pathLst>
                <a:path w="22153879" h="1561592">
                  <a:moveTo>
                    <a:pt x="0" y="148717"/>
                  </a:moveTo>
                  <a:cubicBezTo>
                    <a:pt x="0" y="66548"/>
                    <a:pt x="66548" y="0"/>
                    <a:pt x="148717" y="0"/>
                  </a:cubicBezTo>
                  <a:lnTo>
                    <a:pt x="22005162" y="0"/>
                  </a:lnTo>
                  <a:cubicBezTo>
                    <a:pt x="22087331" y="0"/>
                    <a:pt x="22153879" y="66548"/>
                    <a:pt x="22153879" y="148717"/>
                  </a:cubicBezTo>
                  <a:lnTo>
                    <a:pt x="22153879" y="1412875"/>
                  </a:lnTo>
                  <a:cubicBezTo>
                    <a:pt x="22153879" y="1495044"/>
                    <a:pt x="22087331" y="1561592"/>
                    <a:pt x="22005162" y="1561592"/>
                  </a:cubicBezTo>
                  <a:lnTo>
                    <a:pt x="148717" y="1561592"/>
                  </a:lnTo>
                  <a:cubicBezTo>
                    <a:pt x="66548" y="1561592"/>
                    <a:pt x="0" y="1495044"/>
                    <a:pt x="0" y="1412875"/>
                  </a:cubicBezTo>
                  <a:close/>
                </a:path>
              </a:pathLst>
            </a:custGeom>
            <a:solidFill>
              <a:srgbClr val="FFFFFF"/>
            </a:solidFill>
            <a:ln w="19050" cap="sq">
              <a:solidFill>
                <a:srgbClr val="DCE7E0"/>
              </a:solidFill>
              <a:prstDash val="solid"/>
              <a:miter/>
            </a:ln>
          </p:spPr>
          <p:txBody>
            <a:bodyPr/>
            <a:lstStyle/>
            <a:p>
              <a:endParaRPr lang="en-US"/>
            </a:p>
          </p:txBody>
        </p:sp>
      </p:grpSp>
      <p:grpSp>
        <p:nvGrpSpPr>
          <p:cNvPr id="10" name="Group 10"/>
          <p:cNvGrpSpPr/>
          <p:nvPr/>
        </p:nvGrpSpPr>
        <p:grpSpPr>
          <a:xfrm>
            <a:off x="1165860" y="2537460"/>
            <a:ext cx="1371600" cy="1152144"/>
            <a:chOff x="0" y="0"/>
            <a:chExt cx="1828800" cy="1536192"/>
          </a:xfrm>
        </p:grpSpPr>
        <p:sp>
          <p:nvSpPr>
            <p:cNvPr id="11" name="Freeform 11"/>
            <p:cNvSpPr/>
            <p:nvPr/>
          </p:nvSpPr>
          <p:spPr>
            <a:xfrm>
              <a:off x="0" y="0"/>
              <a:ext cx="1828800" cy="1536192"/>
            </a:xfrm>
            <a:custGeom>
              <a:avLst/>
              <a:gdLst/>
              <a:ahLst/>
              <a:cxnLst/>
              <a:rect l="l" t="t" r="r" b="b"/>
              <a:pathLst>
                <a:path w="1828800" h="1536192">
                  <a:moveTo>
                    <a:pt x="0" y="0"/>
                  </a:moveTo>
                  <a:lnTo>
                    <a:pt x="1828800" y="0"/>
                  </a:lnTo>
                  <a:lnTo>
                    <a:pt x="1828800" y="1536192"/>
                  </a:lnTo>
                  <a:lnTo>
                    <a:pt x="0" y="1536192"/>
                  </a:lnTo>
                  <a:close/>
                </a:path>
              </a:pathLst>
            </a:custGeom>
            <a:blipFill>
              <a:blip r:embed="rId3">
                <a:alphaModFix amt="0"/>
              </a:blip>
              <a:stretch>
                <a:fillRect l="-57775" r="-57775"/>
              </a:stretch>
            </a:blipFill>
          </p:spPr>
          <p:txBody>
            <a:bodyPr/>
            <a:lstStyle/>
            <a:p>
              <a:endParaRPr lang="en-US"/>
            </a:p>
          </p:txBody>
        </p:sp>
        <p:sp>
          <p:nvSpPr>
            <p:cNvPr id="12" name="TextBox 12"/>
            <p:cNvSpPr txBox="1"/>
            <p:nvPr/>
          </p:nvSpPr>
          <p:spPr>
            <a:xfrm>
              <a:off x="0" y="0"/>
              <a:ext cx="1828800" cy="1536192"/>
            </a:xfrm>
            <a:prstGeom prst="rect">
              <a:avLst/>
            </a:prstGeom>
          </p:spPr>
          <p:txBody>
            <a:bodyPr lIns="0" tIns="0" rIns="0" bIns="0" rtlCol="0" anchor="ctr"/>
            <a:lstStyle/>
            <a:p>
              <a:pPr algn="ctr">
                <a:lnSpc>
                  <a:spcPts val="4680"/>
                </a:lnSpc>
              </a:pPr>
              <a:r>
                <a:rPr lang="en-US" sz="3900" b="1">
                  <a:solidFill>
                    <a:srgbClr val="40916C"/>
                  </a:solidFill>
                  <a:latin typeface="Cambria Bold"/>
                  <a:ea typeface="Cambria Bold"/>
                  <a:cs typeface="Cambria Bold"/>
                  <a:sym typeface="Cambria Bold"/>
                </a:rPr>
                <a:t>01</a:t>
              </a:r>
            </a:p>
          </p:txBody>
        </p:sp>
      </p:grpSp>
      <p:grpSp>
        <p:nvGrpSpPr>
          <p:cNvPr id="13" name="Group 13"/>
          <p:cNvGrpSpPr/>
          <p:nvPr/>
        </p:nvGrpSpPr>
        <p:grpSpPr>
          <a:xfrm>
            <a:off x="2811780" y="2674620"/>
            <a:ext cx="9052560" cy="617220"/>
            <a:chOff x="0" y="0"/>
            <a:chExt cx="12070080" cy="822960"/>
          </a:xfrm>
        </p:grpSpPr>
        <p:sp>
          <p:nvSpPr>
            <p:cNvPr id="14" name="Freeform 14"/>
            <p:cNvSpPr/>
            <p:nvPr/>
          </p:nvSpPr>
          <p:spPr>
            <a:xfrm>
              <a:off x="0" y="0"/>
              <a:ext cx="12070080" cy="822960"/>
            </a:xfrm>
            <a:custGeom>
              <a:avLst/>
              <a:gdLst/>
              <a:ahLst/>
              <a:cxnLst/>
              <a:rect l="l" t="t" r="r" b="b"/>
              <a:pathLst>
                <a:path w="12070080" h="822960">
                  <a:moveTo>
                    <a:pt x="0" y="0"/>
                  </a:moveTo>
                  <a:lnTo>
                    <a:pt x="12070080" y="0"/>
                  </a:lnTo>
                  <a:lnTo>
                    <a:pt x="12070080" y="822960"/>
                  </a:lnTo>
                  <a:lnTo>
                    <a:pt x="0" y="822960"/>
                  </a:lnTo>
                  <a:close/>
                </a:path>
              </a:pathLst>
            </a:custGeom>
            <a:blipFill>
              <a:blip r:embed="rId3">
                <a:alphaModFix amt="0"/>
              </a:blip>
              <a:stretch>
                <a:fillRect t="-235780" b="-235780"/>
              </a:stretch>
            </a:blipFill>
          </p:spPr>
          <p:txBody>
            <a:bodyPr/>
            <a:lstStyle/>
            <a:p>
              <a:endParaRPr lang="en-US"/>
            </a:p>
          </p:txBody>
        </p:sp>
        <p:sp>
          <p:nvSpPr>
            <p:cNvPr id="15" name="TextBox 15"/>
            <p:cNvSpPr txBox="1"/>
            <p:nvPr/>
          </p:nvSpPr>
          <p:spPr>
            <a:xfrm>
              <a:off x="0" y="-38100"/>
              <a:ext cx="12070080" cy="861060"/>
            </a:xfrm>
            <a:prstGeom prst="rect">
              <a:avLst/>
            </a:prstGeom>
          </p:spPr>
          <p:txBody>
            <a:bodyPr lIns="0" tIns="0" rIns="0" bIns="0" rtlCol="0" anchor="ctr"/>
            <a:lstStyle/>
            <a:p>
              <a:pPr algn="l">
                <a:lnSpc>
                  <a:spcPts val="2879"/>
                </a:lnSpc>
              </a:pPr>
              <a:r>
                <a:rPr lang="en-US" sz="2400" b="1">
                  <a:solidFill>
                    <a:srgbClr val="0D1B2A"/>
                  </a:solidFill>
                  <a:latin typeface="Calibri (MS) Bold"/>
                  <a:ea typeface="Calibri (MS) Bold"/>
                  <a:cs typeface="Calibri (MS) Bold"/>
                  <a:sym typeface="Calibri (MS) Bold"/>
                </a:rPr>
                <a:t>System Overview &amp; Architecture</a:t>
              </a:r>
            </a:p>
          </p:txBody>
        </p:sp>
      </p:grpSp>
      <p:grpSp>
        <p:nvGrpSpPr>
          <p:cNvPr id="16" name="Group 16"/>
          <p:cNvGrpSpPr/>
          <p:nvPr/>
        </p:nvGrpSpPr>
        <p:grpSpPr>
          <a:xfrm>
            <a:off x="2811780" y="3250692"/>
            <a:ext cx="11521440" cy="548640"/>
            <a:chOff x="0" y="0"/>
            <a:chExt cx="15361920" cy="731520"/>
          </a:xfrm>
        </p:grpSpPr>
        <p:sp>
          <p:nvSpPr>
            <p:cNvPr id="17" name="Freeform 17"/>
            <p:cNvSpPr/>
            <p:nvPr/>
          </p:nvSpPr>
          <p:spPr>
            <a:xfrm>
              <a:off x="0" y="0"/>
              <a:ext cx="15361920" cy="731520"/>
            </a:xfrm>
            <a:custGeom>
              <a:avLst/>
              <a:gdLst/>
              <a:ahLst/>
              <a:cxnLst/>
              <a:rect l="l" t="t" r="r" b="b"/>
              <a:pathLst>
                <a:path w="15361920" h="731520">
                  <a:moveTo>
                    <a:pt x="0" y="0"/>
                  </a:moveTo>
                  <a:lnTo>
                    <a:pt x="15361920" y="0"/>
                  </a:lnTo>
                  <a:lnTo>
                    <a:pt x="15361920" y="731520"/>
                  </a:lnTo>
                  <a:lnTo>
                    <a:pt x="0" y="731520"/>
                  </a:lnTo>
                  <a:close/>
                </a:path>
              </a:pathLst>
            </a:custGeom>
            <a:blipFill>
              <a:blip r:embed="rId3">
                <a:alphaModFix amt="0"/>
              </a:blip>
              <a:stretch>
                <a:fillRect t="-359185" b="-359185"/>
              </a:stretch>
            </a:blipFill>
          </p:spPr>
          <p:txBody>
            <a:bodyPr/>
            <a:lstStyle/>
            <a:p>
              <a:endParaRPr lang="en-US"/>
            </a:p>
          </p:txBody>
        </p:sp>
        <p:sp>
          <p:nvSpPr>
            <p:cNvPr id="18" name="TextBox 18"/>
            <p:cNvSpPr txBox="1"/>
            <p:nvPr/>
          </p:nvSpPr>
          <p:spPr>
            <a:xfrm>
              <a:off x="0" y="-38100"/>
              <a:ext cx="15361920" cy="769620"/>
            </a:xfrm>
            <a:prstGeom prst="rect">
              <a:avLst/>
            </a:prstGeom>
          </p:spPr>
          <p:txBody>
            <a:bodyPr lIns="0" tIns="0" rIns="0" bIns="0" rtlCol="0" anchor="ctr"/>
            <a:lstStyle/>
            <a:p>
              <a:pPr algn="l">
                <a:lnSpc>
                  <a:spcPts val="2070"/>
                </a:lnSpc>
              </a:pPr>
              <a:r>
                <a:rPr lang="en-US" sz="1725">
                  <a:solidFill>
                    <a:srgbClr val="5B6B72"/>
                  </a:solidFill>
                  <a:latin typeface="Calibri (MS)"/>
                  <a:ea typeface="Calibri (MS)"/>
                  <a:cs typeface="Calibri (MS)"/>
                  <a:sym typeface="Calibri (MS)"/>
                </a:rPr>
                <a:t>What DEPI Grid is and how its pieces fit together</a:t>
              </a:r>
            </a:p>
          </p:txBody>
        </p:sp>
      </p:grpSp>
      <p:grpSp>
        <p:nvGrpSpPr>
          <p:cNvPr id="19" name="Group 19"/>
          <p:cNvGrpSpPr/>
          <p:nvPr/>
        </p:nvGrpSpPr>
        <p:grpSpPr>
          <a:xfrm>
            <a:off x="813435" y="3899535"/>
            <a:ext cx="16615410" cy="1171194"/>
            <a:chOff x="0" y="0"/>
            <a:chExt cx="22153880" cy="1561592"/>
          </a:xfrm>
        </p:grpSpPr>
        <p:sp>
          <p:nvSpPr>
            <p:cNvPr id="20" name="Freeform 20"/>
            <p:cNvSpPr/>
            <p:nvPr/>
          </p:nvSpPr>
          <p:spPr>
            <a:xfrm>
              <a:off x="0" y="0"/>
              <a:ext cx="22153879" cy="1561592"/>
            </a:xfrm>
            <a:custGeom>
              <a:avLst/>
              <a:gdLst/>
              <a:ahLst/>
              <a:cxnLst/>
              <a:rect l="l" t="t" r="r" b="b"/>
              <a:pathLst>
                <a:path w="22153879" h="1561592">
                  <a:moveTo>
                    <a:pt x="0" y="148717"/>
                  </a:moveTo>
                  <a:cubicBezTo>
                    <a:pt x="0" y="66548"/>
                    <a:pt x="66548" y="0"/>
                    <a:pt x="148717" y="0"/>
                  </a:cubicBezTo>
                  <a:lnTo>
                    <a:pt x="22005162" y="0"/>
                  </a:lnTo>
                  <a:cubicBezTo>
                    <a:pt x="22087331" y="0"/>
                    <a:pt x="22153879" y="66548"/>
                    <a:pt x="22153879" y="148717"/>
                  </a:cubicBezTo>
                  <a:lnTo>
                    <a:pt x="22153879" y="1412875"/>
                  </a:lnTo>
                  <a:cubicBezTo>
                    <a:pt x="22153879" y="1495044"/>
                    <a:pt x="22087331" y="1561592"/>
                    <a:pt x="22005162" y="1561592"/>
                  </a:cubicBezTo>
                  <a:lnTo>
                    <a:pt x="148717" y="1561592"/>
                  </a:lnTo>
                  <a:cubicBezTo>
                    <a:pt x="66548" y="1561592"/>
                    <a:pt x="0" y="1495044"/>
                    <a:pt x="0" y="1412875"/>
                  </a:cubicBezTo>
                  <a:close/>
                </a:path>
              </a:pathLst>
            </a:custGeom>
            <a:solidFill>
              <a:srgbClr val="FFFFFF"/>
            </a:solidFill>
            <a:ln w="19050" cap="sq">
              <a:solidFill>
                <a:srgbClr val="DCE7E0"/>
              </a:solidFill>
              <a:prstDash val="solid"/>
              <a:miter/>
            </a:ln>
          </p:spPr>
          <p:txBody>
            <a:bodyPr/>
            <a:lstStyle/>
            <a:p>
              <a:endParaRPr lang="en-US"/>
            </a:p>
          </p:txBody>
        </p:sp>
      </p:grpSp>
      <p:grpSp>
        <p:nvGrpSpPr>
          <p:cNvPr id="21" name="Group 21"/>
          <p:cNvGrpSpPr/>
          <p:nvPr/>
        </p:nvGrpSpPr>
        <p:grpSpPr>
          <a:xfrm>
            <a:off x="1165860" y="3909060"/>
            <a:ext cx="1371600" cy="1152144"/>
            <a:chOff x="0" y="0"/>
            <a:chExt cx="1828800" cy="1536192"/>
          </a:xfrm>
        </p:grpSpPr>
        <p:sp>
          <p:nvSpPr>
            <p:cNvPr id="22" name="Freeform 22"/>
            <p:cNvSpPr/>
            <p:nvPr/>
          </p:nvSpPr>
          <p:spPr>
            <a:xfrm>
              <a:off x="0" y="0"/>
              <a:ext cx="1828800" cy="1536192"/>
            </a:xfrm>
            <a:custGeom>
              <a:avLst/>
              <a:gdLst/>
              <a:ahLst/>
              <a:cxnLst/>
              <a:rect l="l" t="t" r="r" b="b"/>
              <a:pathLst>
                <a:path w="1828800" h="1536192">
                  <a:moveTo>
                    <a:pt x="0" y="0"/>
                  </a:moveTo>
                  <a:lnTo>
                    <a:pt x="1828800" y="0"/>
                  </a:lnTo>
                  <a:lnTo>
                    <a:pt x="1828800" y="1536192"/>
                  </a:lnTo>
                  <a:lnTo>
                    <a:pt x="0" y="1536192"/>
                  </a:lnTo>
                  <a:close/>
                </a:path>
              </a:pathLst>
            </a:custGeom>
            <a:blipFill>
              <a:blip r:embed="rId3">
                <a:alphaModFix amt="0"/>
              </a:blip>
              <a:stretch>
                <a:fillRect l="-57775" r="-57775"/>
              </a:stretch>
            </a:blipFill>
          </p:spPr>
          <p:txBody>
            <a:bodyPr/>
            <a:lstStyle/>
            <a:p>
              <a:endParaRPr lang="en-US"/>
            </a:p>
          </p:txBody>
        </p:sp>
        <p:sp>
          <p:nvSpPr>
            <p:cNvPr id="23" name="TextBox 23"/>
            <p:cNvSpPr txBox="1"/>
            <p:nvPr/>
          </p:nvSpPr>
          <p:spPr>
            <a:xfrm>
              <a:off x="0" y="0"/>
              <a:ext cx="1828800" cy="1536192"/>
            </a:xfrm>
            <a:prstGeom prst="rect">
              <a:avLst/>
            </a:prstGeom>
          </p:spPr>
          <p:txBody>
            <a:bodyPr lIns="0" tIns="0" rIns="0" bIns="0" rtlCol="0" anchor="ctr"/>
            <a:lstStyle/>
            <a:p>
              <a:pPr algn="ctr">
                <a:lnSpc>
                  <a:spcPts val="4680"/>
                </a:lnSpc>
              </a:pPr>
              <a:r>
                <a:rPr lang="en-US" sz="3900" b="1">
                  <a:solidFill>
                    <a:srgbClr val="74C69D"/>
                  </a:solidFill>
                  <a:latin typeface="Cambria Bold"/>
                  <a:ea typeface="Cambria Bold"/>
                  <a:cs typeface="Cambria Bold"/>
                  <a:sym typeface="Cambria Bold"/>
                </a:rPr>
                <a:t>02</a:t>
              </a:r>
            </a:p>
          </p:txBody>
        </p:sp>
      </p:grpSp>
      <p:grpSp>
        <p:nvGrpSpPr>
          <p:cNvPr id="24" name="Group 24"/>
          <p:cNvGrpSpPr/>
          <p:nvPr/>
        </p:nvGrpSpPr>
        <p:grpSpPr>
          <a:xfrm>
            <a:off x="2811780" y="4046220"/>
            <a:ext cx="9052560" cy="617220"/>
            <a:chOff x="0" y="0"/>
            <a:chExt cx="12070080" cy="822960"/>
          </a:xfrm>
        </p:grpSpPr>
        <p:sp>
          <p:nvSpPr>
            <p:cNvPr id="25" name="Freeform 25"/>
            <p:cNvSpPr/>
            <p:nvPr/>
          </p:nvSpPr>
          <p:spPr>
            <a:xfrm>
              <a:off x="0" y="0"/>
              <a:ext cx="12070080" cy="822960"/>
            </a:xfrm>
            <a:custGeom>
              <a:avLst/>
              <a:gdLst/>
              <a:ahLst/>
              <a:cxnLst/>
              <a:rect l="l" t="t" r="r" b="b"/>
              <a:pathLst>
                <a:path w="12070080" h="822960">
                  <a:moveTo>
                    <a:pt x="0" y="0"/>
                  </a:moveTo>
                  <a:lnTo>
                    <a:pt x="12070080" y="0"/>
                  </a:lnTo>
                  <a:lnTo>
                    <a:pt x="12070080" y="822960"/>
                  </a:lnTo>
                  <a:lnTo>
                    <a:pt x="0" y="822960"/>
                  </a:lnTo>
                  <a:close/>
                </a:path>
              </a:pathLst>
            </a:custGeom>
            <a:blipFill>
              <a:blip r:embed="rId3">
                <a:alphaModFix amt="0"/>
              </a:blip>
              <a:stretch>
                <a:fillRect t="-235780" b="-235780"/>
              </a:stretch>
            </a:blipFill>
          </p:spPr>
          <p:txBody>
            <a:bodyPr/>
            <a:lstStyle/>
            <a:p>
              <a:endParaRPr lang="en-US"/>
            </a:p>
          </p:txBody>
        </p:sp>
        <p:sp>
          <p:nvSpPr>
            <p:cNvPr id="26" name="TextBox 26"/>
            <p:cNvSpPr txBox="1"/>
            <p:nvPr/>
          </p:nvSpPr>
          <p:spPr>
            <a:xfrm>
              <a:off x="0" y="-38100"/>
              <a:ext cx="12070080" cy="861060"/>
            </a:xfrm>
            <a:prstGeom prst="rect">
              <a:avLst/>
            </a:prstGeom>
          </p:spPr>
          <p:txBody>
            <a:bodyPr lIns="0" tIns="0" rIns="0" bIns="0" rtlCol="0" anchor="ctr"/>
            <a:lstStyle/>
            <a:p>
              <a:pPr algn="l">
                <a:lnSpc>
                  <a:spcPts val="2879"/>
                </a:lnSpc>
              </a:pPr>
              <a:r>
                <a:rPr lang="en-US" sz="2400" b="1">
                  <a:solidFill>
                    <a:srgbClr val="0D1B2A"/>
                  </a:solidFill>
                  <a:latin typeface="Calibri (MS) Bold"/>
                  <a:ea typeface="Calibri (MS) Bold"/>
                  <a:cs typeface="Calibri (MS) Bold"/>
                  <a:sym typeface="Calibri (MS) Bold"/>
                </a:rPr>
                <a:t>Data Pipeline</a:t>
              </a:r>
            </a:p>
          </p:txBody>
        </p:sp>
      </p:grpSp>
      <p:grpSp>
        <p:nvGrpSpPr>
          <p:cNvPr id="27" name="Group 27"/>
          <p:cNvGrpSpPr/>
          <p:nvPr/>
        </p:nvGrpSpPr>
        <p:grpSpPr>
          <a:xfrm>
            <a:off x="2811780" y="4622292"/>
            <a:ext cx="11521440" cy="548640"/>
            <a:chOff x="0" y="0"/>
            <a:chExt cx="15361920" cy="731520"/>
          </a:xfrm>
        </p:grpSpPr>
        <p:sp>
          <p:nvSpPr>
            <p:cNvPr id="28" name="Freeform 28"/>
            <p:cNvSpPr/>
            <p:nvPr/>
          </p:nvSpPr>
          <p:spPr>
            <a:xfrm>
              <a:off x="0" y="0"/>
              <a:ext cx="15361920" cy="731520"/>
            </a:xfrm>
            <a:custGeom>
              <a:avLst/>
              <a:gdLst/>
              <a:ahLst/>
              <a:cxnLst/>
              <a:rect l="l" t="t" r="r" b="b"/>
              <a:pathLst>
                <a:path w="15361920" h="731520">
                  <a:moveTo>
                    <a:pt x="0" y="0"/>
                  </a:moveTo>
                  <a:lnTo>
                    <a:pt x="15361920" y="0"/>
                  </a:lnTo>
                  <a:lnTo>
                    <a:pt x="15361920" y="731520"/>
                  </a:lnTo>
                  <a:lnTo>
                    <a:pt x="0" y="731520"/>
                  </a:lnTo>
                  <a:close/>
                </a:path>
              </a:pathLst>
            </a:custGeom>
            <a:blipFill>
              <a:blip r:embed="rId3">
                <a:alphaModFix amt="0"/>
              </a:blip>
              <a:stretch>
                <a:fillRect t="-359185" b="-359185"/>
              </a:stretch>
            </a:blipFill>
          </p:spPr>
          <p:txBody>
            <a:bodyPr/>
            <a:lstStyle/>
            <a:p>
              <a:endParaRPr lang="en-US"/>
            </a:p>
          </p:txBody>
        </p:sp>
        <p:sp>
          <p:nvSpPr>
            <p:cNvPr id="29" name="TextBox 29"/>
            <p:cNvSpPr txBox="1"/>
            <p:nvPr/>
          </p:nvSpPr>
          <p:spPr>
            <a:xfrm>
              <a:off x="0" y="-38100"/>
              <a:ext cx="15361920" cy="769620"/>
            </a:xfrm>
            <a:prstGeom prst="rect">
              <a:avLst/>
            </a:prstGeom>
          </p:spPr>
          <p:txBody>
            <a:bodyPr lIns="0" tIns="0" rIns="0" bIns="0" rtlCol="0" anchor="ctr"/>
            <a:lstStyle/>
            <a:p>
              <a:pPr algn="l">
                <a:lnSpc>
                  <a:spcPts val="2070"/>
                </a:lnSpc>
              </a:pPr>
              <a:r>
                <a:rPr lang="en-US" sz="1725">
                  <a:solidFill>
                    <a:srgbClr val="5B6B72"/>
                  </a:solidFill>
                  <a:latin typeface="Calibri (MS)"/>
                  <a:ea typeface="Calibri (MS)"/>
                  <a:cs typeface="Calibri (MS)"/>
                  <a:sym typeface="Calibri (MS)"/>
                </a:rPr>
                <a:t>Kafka streaming, direct-DB simulation, TimescaleDB persistence</a:t>
              </a:r>
            </a:p>
          </p:txBody>
        </p:sp>
      </p:grpSp>
      <p:grpSp>
        <p:nvGrpSpPr>
          <p:cNvPr id="30" name="Group 30"/>
          <p:cNvGrpSpPr/>
          <p:nvPr/>
        </p:nvGrpSpPr>
        <p:grpSpPr>
          <a:xfrm>
            <a:off x="813435" y="5271135"/>
            <a:ext cx="16615410" cy="1171194"/>
            <a:chOff x="0" y="0"/>
            <a:chExt cx="22153880" cy="1561592"/>
          </a:xfrm>
        </p:grpSpPr>
        <p:sp>
          <p:nvSpPr>
            <p:cNvPr id="31" name="Freeform 31"/>
            <p:cNvSpPr/>
            <p:nvPr/>
          </p:nvSpPr>
          <p:spPr>
            <a:xfrm>
              <a:off x="0" y="0"/>
              <a:ext cx="22153879" cy="1561592"/>
            </a:xfrm>
            <a:custGeom>
              <a:avLst/>
              <a:gdLst/>
              <a:ahLst/>
              <a:cxnLst/>
              <a:rect l="l" t="t" r="r" b="b"/>
              <a:pathLst>
                <a:path w="22153879" h="1561592">
                  <a:moveTo>
                    <a:pt x="0" y="148717"/>
                  </a:moveTo>
                  <a:cubicBezTo>
                    <a:pt x="0" y="66548"/>
                    <a:pt x="66548" y="0"/>
                    <a:pt x="148717" y="0"/>
                  </a:cubicBezTo>
                  <a:lnTo>
                    <a:pt x="22005162" y="0"/>
                  </a:lnTo>
                  <a:cubicBezTo>
                    <a:pt x="22087331" y="0"/>
                    <a:pt x="22153879" y="66548"/>
                    <a:pt x="22153879" y="148717"/>
                  </a:cubicBezTo>
                  <a:lnTo>
                    <a:pt x="22153879" y="1412875"/>
                  </a:lnTo>
                  <a:cubicBezTo>
                    <a:pt x="22153879" y="1495044"/>
                    <a:pt x="22087331" y="1561592"/>
                    <a:pt x="22005162" y="1561592"/>
                  </a:cubicBezTo>
                  <a:lnTo>
                    <a:pt x="148717" y="1561592"/>
                  </a:lnTo>
                  <a:cubicBezTo>
                    <a:pt x="66548" y="1561592"/>
                    <a:pt x="0" y="1495044"/>
                    <a:pt x="0" y="1412875"/>
                  </a:cubicBezTo>
                  <a:close/>
                </a:path>
              </a:pathLst>
            </a:custGeom>
            <a:solidFill>
              <a:srgbClr val="FFFFFF"/>
            </a:solidFill>
            <a:ln w="19050" cap="sq">
              <a:solidFill>
                <a:srgbClr val="DCE7E0"/>
              </a:solidFill>
              <a:prstDash val="solid"/>
              <a:miter/>
            </a:ln>
          </p:spPr>
          <p:txBody>
            <a:bodyPr/>
            <a:lstStyle/>
            <a:p>
              <a:endParaRPr lang="en-US"/>
            </a:p>
          </p:txBody>
        </p:sp>
      </p:grpSp>
      <p:grpSp>
        <p:nvGrpSpPr>
          <p:cNvPr id="32" name="Group 32"/>
          <p:cNvGrpSpPr/>
          <p:nvPr/>
        </p:nvGrpSpPr>
        <p:grpSpPr>
          <a:xfrm>
            <a:off x="1165860" y="5280660"/>
            <a:ext cx="1371600" cy="1152144"/>
            <a:chOff x="0" y="0"/>
            <a:chExt cx="1828800" cy="1536192"/>
          </a:xfrm>
        </p:grpSpPr>
        <p:sp>
          <p:nvSpPr>
            <p:cNvPr id="33" name="Freeform 33"/>
            <p:cNvSpPr/>
            <p:nvPr/>
          </p:nvSpPr>
          <p:spPr>
            <a:xfrm>
              <a:off x="0" y="0"/>
              <a:ext cx="1828800" cy="1536192"/>
            </a:xfrm>
            <a:custGeom>
              <a:avLst/>
              <a:gdLst/>
              <a:ahLst/>
              <a:cxnLst/>
              <a:rect l="l" t="t" r="r" b="b"/>
              <a:pathLst>
                <a:path w="1828800" h="1536192">
                  <a:moveTo>
                    <a:pt x="0" y="0"/>
                  </a:moveTo>
                  <a:lnTo>
                    <a:pt x="1828800" y="0"/>
                  </a:lnTo>
                  <a:lnTo>
                    <a:pt x="1828800" y="1536192"/>
                  </a:lnTo>
                  <a:lnTo>
                    <a:pt x="0" y="1536192"/>
                  </a:lnTo>
                  <a:close/>
                </a:path>
              </a:pathLst>
            </a:custGeom>
            <a:blipFill>
              <a:blip r:embed="rId3">
                <a:alphaModFix amt="0"/>
              </a:blip>
              <a:stretch>
                <a:fillRect l="-57775" r="-57775"/>
              </a:stretch>
            </a:blipFill>
          </p:spPr>
          <p:txBody>
            <a:bodyPr/>
            <a:lstStyle/>
            <a:p>
              <a:endParaRPr lang="en-US"/>
            </a:p>
          </p:txBody>
        </p:sp>
        <p:sp>
          <p:nvSpPr>
            <p:cNvPr id="34" name="TextBox 34"/>
            <p:cNvSpPr txBox="1"/>
            <p:nvPr/>
          </p:nvSpPr>
          <p:spPr>
            <a:xfrm>
              <a:off x="0" y="0"/>
              <a:ext cx="1828800" cy="1536192"/>
            </a:xfrm>
            <a:prstGeom prst="rect">
              <a:avLst/>
            </a:prstGeom>
          </p:spPr>
          <p:txBody>
            <a:bodyPr lIns="0" tIns="0" rIns="0" bIns="0" rtlCol="0" anchor="ctr"/>
            <a:lstStyle/>
            <a:p>
              <a:pPr algn="ctr">
                <a:lnSpc>
                  <a:spcPts val="4680"/>
                </a:lnSpc>
              </a:pPr>
              <a:r>
                <a:rPr lang="en-US" sz="3900" b="1">
                  <a:solidFill>
                    <a:srgbClr val="FFB703"/>
                  </a:solidFill>
                  <a:latin typeface="Cambria Bold"/>
                  <a:ea typeface="Cambria Bold"/>
                  <a:cs typeface="Cambria Bold"/>
                  <a:sym typeface="Cambria Bold"/>
                </a:rPr>
                <a:t>03</a:t>
              </a:r>
            </a:p>
          </p:txBody>
        </p:sp>
      </p:grpSp>
      <p:grpSp>
        <p:nvGrpSpPr>
          <p:cNvPr id="35" name="Group 35"/>
          <p:cNvGrpSpPr/>
          <p:nvPr/>
        </p:nvGrpSpPr>
        <p:grpSpPr>
          <a:xfrm>
            <a:off x="2811780" y="5417820"/>
            <a:ext cx="9052560" cy="617220"/>
            <a:chOff x="0" y="0"/>
            <a:chExt cx="12070080" cy="822960"/>
          </a:xfrm>
        </p:grpSpPr>
        <p:sp>
          <p:nvSpPr>
            <p:cNvPr id="36" name="Freeform 36"/>
            <p:cNvSpPr/>
            <p:nvPr/>
          </p:nvSpPr>
          <p:spPr>
            <a:xfrm>
              <a:off x="0" y="0"/>
              <a:ext cx="12070080" cy="822960"/>
            </a:xfrm>
            <a:custGeom>
              <a:avLst/>
              <a:gdLst/>
              <a:ahLst/>
              <a:cxnLst/>
              <a:rect l="l" t="t" r="r" b="b"/>
              <a:pathLst>
                <a:path w="12070080" h="822960">
                  <a:moveTo>
                    <a:pt x="0" y="0"/>
                  </a:moveTo>
                  <a:lnTo>
                    <a:pt x="12070080" y="0"/>
                  </a:lnTo>
                  <a:lnTo>
                    <a:pt x="12070080" y="822960"/>
                  </a:lnTo>
                  <a:lnTo>
                    <a:pt x="0" y="822960"/>
                  </a:lnTo>
                  <a:close/>
                </a:path>
              </a:pathLst>
            </a:custGeom>
            <a:blipFill>
              <a:blip r:embed="rId3">
                <a:alphaModFix amt="0"/>
              </a:blip>
              <a:stretch>
                <a:fillRect t="-235780" b="-235780"/>
              </a:stretch>
            </a:blipFill>
          </p:spPr>
          <p:txBody>
            <a:bodyPr/>
            <a:lstStyle/>
            <a:p>
              <a:endParaRPr lang="en-US"/>
            </a:p>
          </p:txBody>
        </p:sp>
        <p:sp>
          <p:nvSpPr>
            <p:cNvPr id="37" name="TextBox 37"/>
            <p:cNvSpPr txBox="1"/>
            <p:nvPr/>
          </p:nvSpPr>
          <p:spPr>
            <a:xfrm>
              <a:off x="0" y="-38100"/>
              <a:ext cx="12070080" cy="861060"/>
            </a:xfrm>
            <a:prstGeom prst="rect">
              <a:avLst/>
            </a:prstGeom>
          </p:spPr>
          <p:txBody>
            <a:bodyPr lIns="0" tIns="0" rIns="0" bIns="0" rtlCol="0" anchor="ctr"/>
            <a:lstStyle/>
            <a:p>
              <a:pPr algn="l">
                <a:lnSpc>
                  <a:spcPts val="2879"/>
                </a:lnSpc>
              </a:pPr>
              <a:r>
                <a:rPr lang="en-US" sz="2400" b="1">
                  <a:solidFill>
                    <a:srgbClr val="0D1B2A"/>
                  </a:solidFill>
                  <a:latin typeface="Calibri (MS) Bold"/>
                  <a:ea typeface="Calibri (MS) Bold"/>
                  <a:cs typeface="Calibri (MS) Bold"/>
                  <a:sym typeface="Calibri (MS) Bold"/>
                </a:rPr>
                <a:t>AI / ML Inference Engine</a:t>
              </a:r>
            </a:p>
          </p:txBody>
        </p:sp>
      </p:grpSp>
      <p:grpSp>
        <p:nvGrpSpPr>
          <p:cNvPr id="38" name="Group 38"/>
          <p:cNvGrpSpPr/>
          <p:nvPr/>
        </p:nvGrpSpPr>
        <p:grpSpPr>
          <a:xfrm>
            <a:off x="2811780" y="5993892"/>
            <a:ext cx="11521440" cy="548640"/>
            <a:chOff x="0" y="0"/>
            <a:chExt cx="15361920" cy="731520"/>
          </a:xfrm>
        </p:grpSpPr>
        <p:sp>
          <p:nvSpPr>
            <p:cNvPr id="39" name="Freeform 39"/>
            <p:cNvSpPr/>
            <p:nvPr/>
          </p:nvSpPr>
          <p:spPr>
            <a:xfrm>
              <a:off x="0" y="0"/>
              <a:ext cx="15361920" cy="731520"/>
            </a:xfrm>
            <a:custGeom>
              <a:avLst/>
              <a:gdLst/>
              <a:ahLst/>
              <a:cxnLst/>
              <a:rect l="l" t="t" r="r" b="b"/>
              <a:pathLst>
                <a:path w="15361920" h="731520">
                  <a:moveTo>
                    <a:pt x="0" y="0"/>
                  </a:moveTo>
                  <a:lnTo>
                    <a:pt x="15361920" y="0"/>
                  </a:lnTo>
                  <a:lnTo>
                    <a:pt x="15361920" y="731520"/>
                  </a:lnTo>
                  <a:lnTo>
                    <a:pt x="0" y="731520"/>
                  </a:lnTo>
                  <a:close/>
                </a:path>
              </a:pathLst>
            </a:custGeom>
            <a:blipFill>
              <a:blip r:embed="rId3">
                <a:alphaModFix amt="0"/>
              </a:blip>
              <a:stretch>
                <a:fillRect t="-359185" b="-359185"/>
              </a:stretch>
            </a:blipFill>
          </p:spPr>
          <p:txBody>
            <a:bodyPr/>
            <a:lstStyle/>
            <a:p>
              <a:endParaRPr lang="en-US"/>
            </a:p>
          </p:txBody>
        </p:sp>
        <p:sp>
          <p:nvSpPr>
            <p:cNvPr id="40" name="TextBox 40"/>
            <p:cNvSpPr txBox="1"/>
            <p:nvPr/>
          </p:nvSpPr>
          <p:spPr>
            <a:xfrm>
              <a:off x="0" y="-38100"/>
              <a:ext cx="15361920" cy="769620"/>
            </a:xfrm>
            <a:prstGeom prst="rect">
              <a:avLst/>
            </a:prstGeom>
          </p:spPr>
          <p:txBody>
            <a:bodyPr lIns="0" tIns="0" rIns="0" bIns="0" rtlCol="0" anchor="ctr"/>
            <a:lstStyle/>
            <a:p>
              <a:pPr algn="l">
                <a:lnSpc>
                  <a:spcPts val="2070"/>
                </a:lnSpc>
              </a:pPr>
              <a:r>
                <a:rPr lang="en-US" sz="1725">
                  <a:solidFill>
                    <a:srgbClr val="5B6B72"/>
                  </a:solidFill>
                  <a:latin typeface="Calibri (MS)"/>
                  <a:ea typeface="Calibri (MS)"/>
                  <a:cs typeface="Calibri (MS)"/>
                  <a:sym typeface="Calibri (MS)"/>
                </a:rPr>
                <a:t>Forecasting models, anomaly detection, soiling diagnostics</a:t>
              </a:r>
            </a:p>
          </p:txBody>
        </p:sp>
      </p:grpSp>
      <p:grpSp>
        <p:nvGrpSpPr>
          <p:cNvPr id="41" name="Group 41"/>
          <p:cNvGrpSpPr/>
          <p:nvPr/>
        </p:nvGrpSpPr>
        <p:grpSpPr>
          <a:xfrm>
            <a:off x="813435" y="6642735"/>
            <a:ext cx="16615410" cy="1171194"/>
            <a:chOff x="0" y="0"/>
            <a:chExt cx="22153880" cy="1561592"/>
          </a:xfrm>
        </p:grpSpPr>
        <p:sp>
          <p:nvSpPr>
            <p:cNvPr id="42" name="Freeform 42"/>
            <p:cNvSpPr/>
            <p:nvPr/>
          </p:nvSpPr>
          <p:spPr>
            <a:xfrm>
              <a:off x="0" y="0"/>
              <a:ext cx="22153879" cy="1561592"/>
            </a:xfrm>
            <a:custGeom>
              <a:avLst/>
              <a:gdLst/>
              <a:ahLst/>
              <a:cxnLst/>
              <a:rect l="l" t="t" r="r" b="b"/>
              <a:pathLst>
                <a:path w="22153879" h="1561592">
                  <a:moveTo>
                    <a:pt x="0" y="148717"/>
                  </a:moveTo>
                  <a:cubicBezTo>
                    <a:pt x="0" y="66548"/>
                    <a:pt x="66548" y="0"/>
                    <a:pt x="148717" y="0"/>
                  </a:cubicBezTo>
                  <a:lnTo>
                    <a:pt x="22005162" y="0"/>
                  </a:lnTo>
                  <a:cubicBezTo>
                    <a:pt x="22087331" y="0"/>
                    <a:pt x="22153879" y="66548"/>
                    <a:pt x="22153879" y="148717"/>
                  </a:cubicBezTo>
                  <a:lnTo>
                    <a:pt x="22153879" y="1412875"/>
                  </a:lnTo>
                  <a:cubicBezTo>
                    <a:pt x="22153879" y="1495044"/>
                    <a:pt x="22087331" y="1561592"/>
                    <a:pt x="22005162" y="1561592"/>
                  </a:cubicBezTo>
                  <a:lnTo>
                    <a:pt x="148717" y="1561592"/>
                  </a:lnTo>
                  <a:cubicBezTo>
                    <a:pt x="66548" y="1561592"/>
                    <a:pt x="0" y="1495044"/>
                    <a:pt x="0" y="1412875"/>
                  </a:cubicBezTo>
                  <a:close/>
                </a:path>
              </a:pathLst>
            </a:custGeom>
            <a:solidFill>
              <a:srgbClr val="FFFFFF"/>
            </a:solidFill>
            <a:ln w="19050" cap="sq">
              <a:solidFill>
                <a:srgbClr val="DCE7E0"/>
              </a:solidFill>
              <a:prstDash val="solid"/>
              <a:miter/>
            </a:ln>
          </p:spPr>
          <p:txBody>
            <a:bodyPr/>
            <a:lstStyle/>
            <a:p>
              <a:endParaRPr lang="en-US"/>
            </a:p>
          </p:txBody>
        </p:sp>
      </p:grpSp>
      <p:grpSp>
        <p:nvGrpSpPr>
          <p:cNvPr id="43" name="Group 43"/>
          <p:cNvGrpSpPr/>
          <p:nvPr/>
        </p:nvGrpSpPr>
        <p:grpSpPr>
          <a:xfrm>
            <a:off x="1165860" y="6652260"/>
            <a:ext cx="1371600" cy="1152144"/>
            <a:chOff x="0" y="0"/>
            <a:chExt cx="1828800" cy="1536192"/>
          </a:xfrm>
        </p:grpSpPr>
        <p:sp>
          <p:nvSpPr>
            <p:cNvPr id="44" name="Freeform 44"/>
            <p:cNvSpPr/>
            <p:nvPr/>
          </p:nvSpPr>
          <p:spPr>
            <a:xfrm>
              <a:off x="0" y="0"/>
              <a:ext cx="1828800" cy="1536192"/>
            </a:xfrm>
            <a:custGeom>
              <a:avLst/>
              <a:gdLst/>
              <a:ahLst/>
              <a:cxnLst/>
              <a:rect l="l" t="t" r="r" b="b"/>
              <a:pathLst>
                <a:path w="1828800" h="1536192">
                  <a:moveTo>
                    <a:pt x="0" y="0"/>
                  </a:moveTo>
                  <a:lnTo>
                    <a:pt x="1828800" y="0"/>
                  </a:lnTo>
                  <a:lnTo>
                    <a:pt x="1828800" y="1536192"/>
                  </a:lnTo>
                  <a:lnTo>
                    <a:pt x="0" y="1536192"/>
                  </a:lnTo>
                  <a:close/>
                </a:path>
              </a:pathLst>
            </a:custGeom>
            <a:blipFill>
              <a:blip r:embed="rId3">
                <a:alphaModFix amt="0"/>
              </a:blip>
              <a:stretch>
                <a:fillRect l="-57775" r="-57775"/>
              </a:stretch>
            </a:blipFill>
          </p:spPr>
          <p:txBody>
            <a:bodyPr/>
            <a:lstStyle/>
            <a:p>
              <a:endParaRPr lang="en-US"/>
            </a:p>
          </p:txBody>
        </p:sp>
        <p:sp>
          <p:nvSpPr>
            <p:cNvPr id="45" name="TextBox 45"/>
            <p:cNvSpPr txBox="1"/>
            <p:nvPr/>
          </p:nvSpPr>
          <p:spPr>
            <a:xfrm>
              <a:off x="0" y="0"/>
              <a:ext cx="1828800" cy="1536192"/>
            </a:xfrm>
            <a:prstGeom prst="rect">
              <a:avLst/>
            </a:prstGeom>
          </p:spPr>
          <p:txBody>
            <a:bodyPr lIns="0" tIns="0" rIns="0" bIns="0" rtlCol="0" anchor="ctr"/>
            <a:lstStyle/>
            <a:p>
              <a:pPr algn="ctr">
                <a:lnSpc>
                  <a:spcPts val="4680"/>
                </a:lnSpc>
              </a:pPr>
              <a:r>
                <a:rPr lang="en-US" sz="3900" b="1">
                  <a:solidFill>
                    <a:srgbClr val="40916C"/>
                  </a:solidFill>
                  <a:latin typeface="Cambria Bold"/>
                  <a:ea typeface="Cambria Bold"/>
                  <a:cs typeface="Cambria Bold"/>
                  <a:sym typeface="Cambria Bold"/>
                </a:rPr>
                <a:t>04</a:t>
              </a:r>
            </a:p>
          </p:txBody>
        </p:sp>
      </p:grpSp>
      <p:grpSp>
        <p:nvGrpSpPr>
          <p:cNvPr id="46" name="Group 46"/>
          <p:cNvGrpSpPr/>
          <p:nvPr/>
        </p:nvGrpSpPr>
        <p:grpSpPr>
          <a:xfrm>
            <a:off x="2811780" y="6789420"/>
            <a:ext cx="9052560" cy="617220"/>
            <a:chOff x="0" y="0"/>
            <a:chExt cx="12070080" cy="822960"/>
          </a:xfrm>
        </p:grpSpPr>
        <p:sp>
          <p:nvSpPr>
            <p:cNvPr id="47" name="Freeform 47"/>
            <p:cNvSpPr/>
            <p:nvPr/>
          </p:nvSpPr>
          <p:spPr>
            <a:xfrm>
              <a:off x="0" y="0"/>
              <a:ext cx="12070080" cy="822960"/>
            </a:xfrm>
            <a:custGeom>
              <a:avLst/>
              <a:gdLst/>
              <a:ahLst/>
              <a:cxnLst/>
              <a:rect l="l" t="t" r="r" b="b"/>
              <a:pathLst>
                <a:path w="12070080" h="822960">
                  <a:moveTo>
                    <a:pt x="0" y="0"/>
                  </a:moveTo>
                  <a:lnTo>
                    <a:pt x="12070080" y="0"/>
                  </a:lnTo>
                  <a:lnTo>
                    <a:pt x="12070080" y="822960"/>
                  </a:lnTo>
                  <a:lnTo>
                    <a:pt x="0" y="822960"/>
                  </a:lnTo>
                  <a:close/>
                </a:path>
              </a:pathLst>
            </a:custGeom>
            <a:blipFill>
              <a:blip r:embed="rId3">
                <a:alphaModFix amt="0"/>
              </a:blip>
              <a:stretch>
                <a:fillRect t="-235780" b="-235780"/>
              </a:stretch>
            </a:blipFill>
          </p:spPr>
          <p:txBody>
            <a:bodyPr/>
            <a:lstStyle/>
            <a:p>
              <a:endParaRPr lang="en-US"/>
            </a:p>
          </p:txBody>
        </p:sp>
        <p:sp>
          <p:nvSpPr>
            <p:cNvPr id="48" name="TextBox 48"/>
            <p:cNvSpPr txBox="1"/>
            <p:nvPr/>
          </p:nvSpPr>
          <p:spPr>
            <a:xfrm>
              <a:off x="0" y="-38100"/>
              <a:ext cx="12070080" cy="861060"/>
            </a:xfrm>
            <a:prstGeom prst="rect">
              <a:avLst/>
            </a:prstGeom>
          </p:spPr>
          <p:txBody>
            <a:bodyPr lIns="0" tIns="0" rIns="0" bIns="0" rtlCol="0" anchor="ctr"/>
            <a:lstStyle/>
            <a:p>
              <a:pPr algn="l">
                <a:lnSpc>
                  <a:spcPts val="2879"/>
                </a:lnSpc>
              </a:pPr>
              <a:r>
                <a:rPr lang="en-US" sz="2400" b="1">
                  <a:solidFill>
                    <a:srgbClr val="0D1B2A"/>
                  </a:solidFill>
                  <a:latin typeface="Calibri (MS) Bold"/>
                  <a:ea typeface="Calibri (MS) Bold"/>
                  <a:cs typeface="Calibri (MS) Bold"/>
                  <a:sym typeface="Calibri (MS) Bold"/>
                </a:rPr>
                <a:t>API, Dashboard &amp; RAG</a:t>
              </a:r>
            </a:p>
          </p:txBody>
        </p:sp>
      </p:grpSp>
      <p:grpSp>
        <p:nvGrpSpPr>
          <p:cNvPr id="49" name="Group 49"/>
          <p:cNvGrpSpPr/>
          <p:nvPr/>
        </p:nvGrpSpPr>
        <p:grpSpPr>
          <a:xfrm>
            <a:off x="2811780" y="7365492"/>
            <a:ext cx="11521440" cy="548640"/>
            <a:chOff x="0" y="0"/>
            <a:chExt cx="15361920" cy="731520"/>
          </a:xfrm>
        </p:grpSpPr>
        <p:sp>
          <p:nvSpPr>
            <p:cNvPr id="50" name="Freeform 50"/>
            <p:cNvSpPr/>
            <p:nvPr/>
          </p:nvSpPr>
          <p:spPr>
            <a:xfrm>
              <a:off x="0" y="0"/>
              <a:ext cx="15361920" cy="731520"/>
            </a:xfrm>
            <a:custGeom>
              <a:avLst/>
              <a:gdLst/>
              <a:ahLst/>
              <a:cxnLst/>
              <a:rect l="l" t="t" r="r" b="b"/>
              <a:pathLst>
                <a:path w="15361920" h="731520">
                  <a:moveTo>
                    <a:pt x="0" y="0"/>
                  </a:moveTo>
                  <a:lnTo>
                    <a:pt x="15361920" y="0"/>
                  </a:lnTo>
                  <a:lnTo>
                    <a:pt x="15361920" y="731520"/>
                  </a:lnTo>
                  <a:lnTo>
                    <a:pt x="0" y="731520"/>
                  </a:lnTo>
                  <a:close/>
                </a:path>
              </a:pathLst>
            </a:custGeom>
            <a:blipFill>
              <a:blip r:embed="rId3">
                <a:alphaModFix amt="0"/>
              </a:blip>
              <a:stretch>
                <a:fillRect t="-359185" b="-359185"/>
              </a:stretch>
            </a:blipFill>
          </p:spPr>
          <p:txBody>
            <a:bodyPr/>
            <a:lstStyle/>
            <a:p>
              <a:endParaRPr lang="en-US"/>
            </a:p>
          </p:txBody>
        </p:sp>
        <p:sp>
          <p:nvSpPr>
            <p:cNvPr id="51" name="TextBox 51"/>
            <p:cNvSpPr txBox="1"/>
            <p:nvPr/>
          </p:nvSpPr>
          <p:spPr>
            <a:xfrm>
              <a:off x="0" y="-38100"/>
              <a:ext cx="15361920" cy="769620"/>
            </a:xfrm>
            <a:prstGeom prst="rect">
              <a:avLst/>
            </a:prstGeom>
          </p:spPr>
          <p:txBody>
            <a:bodyPr lIns="0" tIns="0" rIns="0" bIns="0" rtlCol="0" anchor="ctr"/>
            <a:lstStyle/>
            <a:p>
              <a:pPr algn="l">
                <a:lnSpc>
                  <a:spcPts val="2070"/>
                </a:lnSpc>
              </a:pPr>
              <a:r>
                <a:rPr lang="en-US" sz="1725">
                  <a:solidFill>
                    <a:srgbClr val="5B6B72"/>
                  </a:solidFill>
                  <a:latin typeface="Calibri (MS)"/>
                  <a:ea typeface="Calibri (MS)"/>
                  <a:cs typeface="Calibri (MS)"/>
                  <a:sym typeface="Calibri (MS)"/>
                </a:rPr>
                <a:t>FastAPI orchestration, Streamlit UI, Gemini-powered repair blueprints</a:t>
              </a:r>
            </a:p>
          </p:txBody>
        </p:sp>
      </p:grpSp>
      <p:grpSp>
        <p:nvGrpSpPr>
          <p:cNvPr id="52" name="Group 52"/>
          <p:cNvGrpSpPr/>
          <p:nvPr/>
        </p:nvGrpSpPr>
        <p:grpSpPr>
          <a:xfrm>
            <a:off x="813435" y="8014335"/>
            <a:ext cx="16615410" cy="1171194"/>
            <a:chOff x="0" y="0"/>
            <a:chExt cx="22153880" cy="1561592"/>
          </a:xfrm>
        </p:grpSpPr>
        <p:sp>
          <p:nvSpPr>
            <p:cNvPr id="53" name="Freeform 53"/>
            <p:cNvSpPr/>
            <p:nvPr/>
          </p:nvSpPr>
          <p:spPr>
            <a:xfrm>
              <a:off x="0" y="0"/>
              <a:ext cx="22153879" cy="1561592"/>
            </a:xfrm>
            <a:custGeom>
              <a:avLst/>
              <a:gdLst/>
              <a:ahLst/>
              <a:cxnLst/>
              <a:rect l="l" t="t" r="r" b="b"/>
              <a:pathLst>
                <a:path w="22153879" h="1561592">
                  <a:moveTo>
                    <a:pt x="0" y="148717"/>
                  </a:moveTo>
                  <a:cubicBezTo>
                    <a:pt x="0" y="66548"/>
                    <a:pt x="66548" y="0"/>
                    <a:pt x="148717" y="0"/>
                  </a:cubicBezTo>
                  <a:lnTo>
                    <a:pt x="22005162" y="0"/>
                  </a:lnTo>
                  <a:cubicBezTo>
                    <a:pt x="22087331" y="0"/>
                    <a:pt x="22153879" y="66548"/>
                    <a:pt x="22153879" y="148717"/>
                  </a:cubicBezTo>
                  <a:lnTo>
                    <a:pt x="22153879" y="1412875"/>
                  </a:lnTo>
                  <a:cubicBezTo>
                    <a:pt x="22153879" y="1495044"/>
                    <a:pt x="22087331" y="1561592"/>
                    <a:pt x="22005162" y="1561592"/>
                  </a:cubicBezTo>
                  <a:lnTo>
                    <a:pt x="148717" y="1561592"/>
                  </a:lnTo>
                  <a:cubicBezTo>
                    <a:pt x="66548" y="1561592"/>
                    <a:pt x="0" y="1495044"/>
                    <a:pt x="0" y="1412875"/>
                  </a:cubicBezTo>
                  <a:close/>
                </a:path>
              </a:pathLst>
            </a:custGeom>
            <a:solidFill>
              <a:srgbClr val="FFFFFF"/>
            </a:solidFill>
            <a:ln w="19050" cap="sq">
              <a:solidFill>
                <a:srgbClr val="DCE7E0"/>
              </a:solidFill>
              <a:prstDash val="solid"/>
              <a:miter/>
            </a:ln>
          </p:spPr>
          <p:txBody>
            <a:bodyPr/>
            <a:lstStyle/>
            <a:p>
              <a:endParaRPr lang="en-US"/>
            </a:p>
          </p:txBody>
        </p:sp>
      </p:grpSp>
      <p:grpSp>
        <p:nvGrpSpPr>
          <p:cNvPr id="54" name="Group 54"/>
          <p:cNvGrpSpPr/>
          <p:nvPr/>
        </p:nvGrpSpPr>
        <p:grpSpPr>
          <a:xfrm>
            <a:off x="1165860" y="8023860"/>
            <a:ext cx="1371600" cy="1152144"/>
            <a:chOff x="0" y="0"/>
            <a:chExt cx="1828800" cy="1536192"/>
          </a:xfrm>
        </p:grpSpPr>
        <p:sp>
          <p:nvSpPr>
            <p:cNvPr id="55" name="Freeform 55"/>
            <p:cNvSpPr/>
            <p:nvPr/>
          </p:nvSpPr>
          <p:spPr>
            <a:xfrm>
              <a:off x="0" y="0"/>
              <a:ext cx="1828800" cy="1536192"/>
            </a:xfrm>
            <a:custGeom>
              <a:avLst/>
              <a:gdLst/>
              <a:ahLst/>
              <a:cxnLst/>
              <a:rect l="l" t="t" r="r" b="b"/>
              <a:pathLst>
                <a:path w="1828800" h="1536192">
                  <a:moveTo>
                    <a:pt x="0" y="0"/>
                  </a:moveTo>
                  <a:lnTo>
                    <a:pt x="1828800" y="0"/>
                  </a:lnTo>
                  <a:lnTo>
                    <a:pt x="1828800" y="1536192"/>
                  </a:lnTo>
                  <a:lnTo>
                    <a:pt x="0" y="1536192"/>
                  </a:lnTo>
                  <a:close/>
                </a:path>
              </a:pathLst>
            </a:custGeom>
            <a:blipFill>
              <a:blip r:embed="rId3">
                <a:alphaModFix amt="0"/>
              </a:blip>
              <a:stretch>
                <a:fillRect l="-57775" r="-57775"/>
              </a:stretch>
            </a:blipFill>
          </p:spPr>
          <p:txBody>
            <a:bodyPr/>
            <a:lstStyle/>
            <a:p>
              <a:endParaRPr lang="en-US"/>
            </a:p>
          </p:txBody>
        </p:sp>
        <p:sp>
          <p:nvSpPr>
            <p:cNvPr id="56" name="TextBox 56"/>
            <p:cNvSpPr txBox="1"/>
            <p:nvPr/>
          </p:nvSpPr>
          <p:spPr>
            <a:xfrm>
              <a:off x="0" y="0"/>
              <a:ext cx="1828800" cy="1536192"/>
            </a:xfrm>
            <a:prstGeom prst="rect">
              <a:avLst/>
            </a:prstGeom>
          </p:spPr>
          <p:txBody>
            <a:bodyPr lIns="0" tIns="0" rIns="0" bIns="0" rtlCol="0" anchor="ctr"/>
            <a:lstStyle/>
            <a:p>
              <a:pPr algn="ctr">
                <a:lnSpc>
                  <a:spcPts val="4680"/>
                </a:lnSpc>
              </a:pPr>
              <a:r>
                <a:rPr lang="en-US" sz="3900" b="1">
                  <a:solidFill>
                    <a:srgbClr val="74C69D"/>
                  </a:solidFill>
                  <a:latin typeface="Cambria Bold"/>
                  <a:ea typeface="Cambria Bold"/>
                  <a:cs typeface="Cambria Bold"/>
                  <a:sym typeface="Cambria Bold"/>
                </a:rPr>
                <a:t>05</a:t>
              </a:r>
            </a:p>
          </p:txBody>
        </p:sp>
      </p:grpSp>
      <p:grpSp>
        <p:nvGrpSpPr>
          <p:cNvPr id="57" name="Group 57"/>
          <p:cNvGrpSpPr/>
          <p:nvPr/>
        </p:nvGrpSpPr>
        <p:grpSpPr>
          <a:xfrm>
            <a:off x="2811780" y="8161020"/>
            <a:ext cx="9052560" cy="617220"/>
            <a:chOff x="0" y="0"/>
            <a:chExt cx="12070080" cy="822960"/>
          </a:xfrm>
        </p:grpSpPr>
        <p:sp>
          <p:nvSpPr>
            <p:cNvPr id="58" name="Freeform 58"/>
            <p:cNvSpPr/>
            <p:nvPr/>
          </p:nvSpPr>
          <p:spPr>
            <a:xfrm>
              <a:off x="0" y="0"/>
              <a:ext cx="12070080" cy="822960"/>
            </a:xfrm>
            <a:custGeom>
              <a:avLst/>
              <a:gdLst/>
              <a:ahLst/>
              <a:cxnLst/>
              <a:rect l="l" t="t" r="r" b="b"/>
              <a:pathLst>
                <a:path w="12070080" h="822960">
                  <a:moveTo>
                    <a:pt x="0" y="0"/>
                  </a:moveTo>
                  <a:lnTo>
                    <a:pt x="12070080" y="0"/>
                  </a:lnTo>
                  <a:lnTo>
                    <a:pt x="12070080" y="822960"/>
                  </a:lnTo>
                  <a:lnTo>
                    <a:pt x="0" y="822960"/>
                  </a:lnTo>
                  <a:close/>
                </a:path>
              </a:pathLst>
            </a:custGeom>
            <a:blipFill>
              <a:blip r:embed="rId3">
                <a:alphaModFix amt="0"/>
              </a:blip>
              <a:stretch>
                <a:fillRect t="-235780" b="-235780"/>
              </a:stretch>
            </a:blipFill>
          </p:spPr>
          <p:txBody>
            <a:bodyPr/>
            <a:lstStyle/>
            <a:p>
              <a:endParaRPr lang="en-US"/>
            </a:p>
          </p:txBody>
        </p:sp>
        <p:sp>
          <p:nvSpPr>
            <p:cNvPr id="59" name="TextBox 59"/>
            <p:cNvSpPr txBox="1"/>
            <p:nvPr/>
          </p:nvSpPr>
          <p:spPr>
            <a:xfrm>
              <a:off x="0" y="-38100"/>
              <a:ext cx="12070080" cy="861060"/>
            </a:xfrm>
            <a:prstGeom prst="rect">
              <a:avLst/>
            </a:prstGeom>
          </p:spPr>
          <p:txBody>
            <a:bodyPr lIns="0" tIns="0" rIns="0" bIns="0" rtlCol="0" anchor="ctr"/>
            <a:lstStyle/>
            <a:p>
              <a:pPr algn="l">
                <a:lnSpc>
                  <a:spcPts val="2879"/>
                </a:lnSpc>
              </a:pPr>
              <a:r>
                <a:rPr lang="en-US" sz="2400" b="1">
                  <a:solidFill>
                    <a:srgbClr val="0D1B2A"/>
                  </a:solidFill>
                  <a:latin typeface="Calibri (MS) Bold"/>
                  <a:ea typeface="Calibri (MS) Bold"/>
                  <a:cs typeface="Calibri (MS) Bold"/>
                  <a:sym typeface="Calibri (MS) Bold"/>
                </a:rPr>
                <a:t>Engineering, Setup &amp; Lessons</a:t>
              </a:r>
            </a:p>
          </p:txBody>
        </p:sp>
      </p:grpSp>
      <p:grpSp>
        <p:nvGrpSpPr>
          <p:cNvPr id="60" name="Group 60"/>
          <p:cNvGrpSpPr/>
          <p:nvPr/>
        </p:nvGrpSpPr>
        <p:grpSpPr>
          <a:xfrm>
            <a:off x="2811780" y="8737092"/>
            <a:ext cx="11521440" cy="548640"/>
            <a:chOff x="0" y="0"/>
            <a:chExt cx="15361920" cy="731520"/>
          </a:xfrm>
        </p:grpSpPr>
        <p:sp>
          <p:nvSpPr>
            <p:cNvPr id="61" name="Freeform 61"/>
            <p:cNvSpPr/>
            <p:nvPr/>
          </p:nvSpPr>
          <p:spPr>
            <a:xfrm>
              <a:off x="0" y="0"/>
              <a:ext cx="15361920" cy="731520"/>
            </a:xfrm>
            <a:custGeom>
              <a:avLst/>
              <a:gdLst/>
              <a:ahLst/>
              <a:cxnLst/>
              <a:rect l="l" t="t" r="r" b="b"/>
              <a:pathLst>
                <a:path w="15361920" h="731520">
                  <a:moveTo>
                    <a:pt x="0" y="0"/>
                  </a:moveTo>
                  <a:lnTo>
                    <a:pt x="15361920" y="0"/>
                  </a:lnTo>
                  <a:lnTo>
                    <a:pt x="15361920" y="731520"/>
                  </a:lnTo>
                  <a:lnTo>
                    <a:pt x="0" y="731520"/>
                  </a:lnTo>
                  <a:close/>
                </a:path>
              </a:pathLst>
            </a:custGeom>
            <a:blipFill>
              <a:blip r:embed="rId3">
                <a:alphaModFix amt="0"/>
              </a:blip>
              <a:stretch>
                <a:fillRect t="-359185" b="-359185"/>
              </a:stretch>
            </a:blipFill>
          </p:spPr>
          <p:txBody>
            <a:bodyPr/>
            <a:lstStyle/>
            <a:p>
              <a:endParaRPr lang="en-US"/>
            </a:p>
          </p:txBody>
        </p:sp>
        <p:sp>
          <p:nvSpPr>
            <p:cNvPr id="62" name="TextBox 62"/>
            <p:cNvSpPr txBox="1"/>
            <p:nvPr/>
          </p:nvSpPr>
          <p:spPr>
            <a:xfrm>
              <a:off x="0" y="-38100"/>
              <a:ext cx="15361920" cy="769620"/>
            </a:xfrm>
            <a:prstGeom prst="rect">
              <a:avLst/>
            </a:prstGeom>
          </p:spPr>
          <p:txBody>
            <a:bodyPr lIns="0" tIns="0" rIns="0" bIns="0" rtlCol="0" anchor="ctr"/>
            <a:lstStyle/>
            <a:p>
              <a:pPr algn="l">
                <a:lnSpc>
                  <a:spcPts val="2070"/>
                </a:lnSpc>
              </a:pPr>
              <a:r>
                <a:rPr lang="en-US" sz="1725">
                  <a:solidFill>
                    <a:srgbClr val="5B6B72"/>
                  </a:solidFill>
                  <a:latin typeface="Calibri (MS)"/>
                  <a:ea typeface="Calibri (MS)"/>
                  <a:cs typeface="Calibri (MS)"/>
                  <a:sym typeface="Calibri (MS)"/>
                </a:rPr>
                <a:t>Design decisions, run instructions, troubleshooting playbook</a:t>
              </a:r>
            </a:p>
          </p:txBody>
        </p:sp>
      </p:grpSp>
      <p:grpSp>
        <p:nvGrpSpPr>
          <p:cNvPr id="63" name="Group 63"/>
          <p:cNvGrpSpPr/>
          <p:nvPr/>
        </p:nvGrpSpPr>
        <p:grpSpPr>
          <a:xfrm>
            <a:off x="17282160" y="9710928"/>
            <a:ext cx="822960" cy="411480"/>
            <a:chOff x="0" y="0"/>
            <a:chExt cx="1097280" cy="548640"/>
          </a:xfrm>
        </p:grpSpPr>
        <p:sp>
          <p:nvSpPr>
            <p:cNvPr id="64" name="Freeform 64"/>
            <p:cNvSpPr/>
            <p:nvPr/>
          </p:nvSpPr>
          <p:spPr>
            <a:xfrm>
              <a:off x="0" y="0"/>
              <a:ext cx="1097280" cy="548640"/>
            </a:xfrm>
            <a:custGeom>
              <a:avLst/>
              <a:gdLst/>
              <a:ahLst/>
              <a:cxnLst/>
              <a:rect l="l" t="t" r="r" b="b"/>
              <a:pathLst>
                <a:path w="1097280" h="548640">
                  <a:moveTo>
                    <a:pt x="0" y="0"/>
                  </a:moveTo>
                  <a:lnTo>
                    <a:pt x="1097280" y="0"/>
                  </a:lnTo>
                  <a:lnTo>
                    <a:pt x="1097280" y="548640"/>
                  </a:lnTo>
                  <a:lnTo>
                    <a:pt x="0" y="548640"/>
                  </a:lnTo>
                  <a:close/>
                </a:path>
              </a:pathLst>
            </a:custGeom>
            <a:blipFill>
              <a:blip r:embed="rId3">
                <a:alphaModFix amt="0"/>
              </a:blip>
              <a:stretch>
                <a:fillRect l="-14151" r="-14151"/>
              </a:stretch>
            </a:blipFill>
          </p:spPr>
          <p:txBody>
            <a:bodyPr/>
            <a:lstStyle/>
            <a:p>
              <a:endParaRPr lang="en-US"/>
            </a:p>
          </p:txBody>
        </p:sp>
        <p:sp>
          <p:nvSpPr>
            <p:cNvPr id="65" name="TextBox 65"/>
            <p:cNvSpPr txBox="1"/>
            <p:nvPr/>
          </p:nvSpPr>
          <p:spPr>
            <a:xfrm>
              <a:off x="0" y="-38100"/>
              <a:ext cx="1097280" cy="586740"/>
            </a:xfrm>
            <a:prstGeom prst="rect">
              <a:avLst/>
            </a:prstGeom>
          </p:spPr>
          <p:txBody>
            <a:bodyPr lIns="0" tIns="0" rIns="0" bIns="0" rtlCol="0" anchor="ctr"/>
            <a:lstStyle/>
            <a:p>
              <a:pPr algn="r">
                <a:lnSpc>
                  <a:spcPts val="1800"/>
                </a:lnSpc>
              </a:pPr>
              <a:r>
                <a:rPr lang="en-US" sz="1500">
                  <a:solidFill>
                    <a:srgbClr val="5B6B72"/>
                  </a:solidFill>
                  <a:latin typeface="Calibri (MS)"/>
                  <a:ea typeface="Calibri (MS)"/>
                  <a:cs typeface="Calibri (MS)"/>
                  <a:sym typeface="Calibri (MS)"/>
                </a:rPr>
                <a:t>02</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grpSp>
        <p:nvGrpSpPr>
          <p:cNvPr id="2" name="Group 2"/>
          <p:cNvGrpSpPr/>
          <p:nvPr/>
        </p:nvGrpSpPr>
        <p:grpSpPr>
          <a:xfrm>
            <a:off x="813435" y="-9525"/>
            <a:ext cx="19050" cy="10306050"/>
            <a:chOff x="0" y="0"/>
            <a:chExt cx="25400" cy="13741400"/>
          </a:xfrm>
        </p:grpSpPr>
        <p:sp>
          <p:nvSpPr>
            <p:cNvPr id="3" name="Freeform 3"/>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4" name="Group 4"/>
          <p:cNvGrpSpPr/>
          <p:nvPr/>
        </p:nvGrpSpPr>
        <p:grpSpPr>
          <a:xfrm>
            <a:off x="2253615" y="-9525"/>
            <a:ext cx="19050" cy="10306050"/>
            <a:chOff x="0" y="0"/>
            <a:chExt cx="25400" cy="13741400"/>
          </a:xfrm>
        </p:grpSpPr>
        <p:sp>
          <p:nvSpPr>
            <p:cNvPr id="5" name="Freeform 5"/>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6" name="Group 6"/>
          <p:cNvGrpSpPr/>
          <p:nvPr/>
        </p:nvGrpSpPr>
        <p:grpSpPr>
          <a:xfrm>
            <a:off x="3693795" y="-9525"/>
            <a:ext cx="19050" cy="10306050"/>
            <a:chOff x="0" y="0"/>
            <a:chExt cx="25400" cy="13741400"/>
          </a:xfrm>
        </p:grpSpPr>
        <p:sp>
          <p:nvSpPr>
            <p:cNvPr id="7" name="Freeform 7"/>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8" name="Group 8"/>
          <p:cNvGrpSpPr/>
          <p:nvPr/>
        </p:nvGrpSpPr>
        <p:grpSpPr>
          <a:xfrm>
            <a:off x="5133975" y="-9525"/>
            <a:ext cx="19050" cy="10306050"/>
            <a:chOff x="0" y="0"/>
            <a:chExt cx="25400" cy="13741400"/>
          </a:xfrm>
        </p:grpSpPr>
        <p:sp>
          <p:nvSpPr>
            <p:cNvPr id="9" name="Freeform 9"/>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10" name="Group 10"/>
          <p:cNvGrpSpPr/>
          <p:nvPr/>
        </p:nvGrpSpPr>
        <p:grpSpPr>
          <a:xfrm>
            <a:off x="6574155" y="-9525"/>
            <a:ext cx="19050" cy="10306050"/>
            <a:chOff x="0" y="0"/>
            <a:chExt cx="25400" cy="13741400"/>
          </a:xfrm>
        </p:grpSpPr>
        <p:sp>
          <p:nvSpPr>
            <p:cNvPr id="11" name="Freeform 11"/>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12" name="Group 12"/>
          <p:cNvGrpSpPr/>
          <p:nvPr/>
        </p:nvGrpSpPr>
        <p:grpSpPr>
          <a:xfrm>
            <a:off x="8014335" y="-9525"/>
            <a:ext cx="19050" cy="10306050"/>
            <a:chOff x="0" y="0"/>
            <a:chExt cx="25400" cy="13741400"/>
          </a:xfrm>
        </p:grpSpPr>
        <p:sp>
          <p:nvSpPr>
            <p:cNvPr id="13" name="Freeform 13"/>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14" name="Group 14"/>
          <p:cNvGrpSpPr/>
          <p:nvPr/>
        </p:nvGrpSpPr>
        <p:grpSpPr>
          <a:xfrm>
            <a:off x="9454515" y="-9525"/>
            <a:ext cx="19050" cy="10306050"/>
            <a:chOff x="0" y="0"/>
            <a:chExt cx="25400" cy="13741400"/>
          </a:xfrm>
        </p:grpSpPr>
        <p:sp>
          <p:nvSpPr>
            <p:cNvPr id="15" name="Freeform 15"/>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16" name="Group 16"/>
          <p:cNvGrpSpPr/>
          <p:nvPr/>
        </p:nvGrpSpPr>
        <p:grpSpPr>
          <a:xfrm>
            <a:off x="10894695" y="-9525"/>
            <a:ext cx="19050" cy="10306050"/>
            <a:chOff x="0" y="0"/>
            <a:chExt cx="25400" cy="13741400"/>
          </a:xfrm>
        </p:grpSpPr>
        <p:sp>
          <p:nvSpPr>
            <p:cNvPr id="17" name="Freeform 17"/>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18" name="Group 18"/>
          <p:cNvGrpSpPr/>
          <p:nvPr/>
        </p:nvGrpSpPr>
        <p:grpSpPr>
          <a:xfrm>
            <a:off x="12334875" y="-9525"/>
            <a:ext cx="19050" cy="10306050"/>
            <a:chOff x="0" y="0"/>
            <a:chExt cx="25400" cy="13741400"/>
          </a:xfrm>
        </p:grpSpPr>
        <p:sp>
          <p:nvSpPr>
            <p:cNvPr id="19" name="Freeform 19"/>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20" name="Group 20"/>
          <p:cNvGrpSpPr/>
          <p:nvPr/>
        </p:nvGrpSpPr>
        <p:grpSpPr>
          <a:xfrm>
            <a:off x="13775055" y="-9525"/>
            <a:ext cx="19050" cy="10306050"/>
            <a:chOff x="0" y="0"/>
            <a:chExt cx="25400" cy="13741400"/>
          </a:xfrm>
        </p:grpSpPr>
        <p:sp>
          <p:nvSpPr>
            <p:cNvPr id="21" name="Freeform 21"/>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22" name="Group 22"/>
          <p:cNvGrpSpPr/>
          <p:nvPr/>
        </p:nvGrpSpPr>
        <p:grpSpPr>
          <a:xfrm>
            <a:off x="15215235" y="-9525"/>
            <a:ext cx="19050" cy="10306050"/>
            <a:chOff x="0" y="0"/>
            <a:chExt cx="25400" cy="13741400"/>
          </a:xfrm>
        </p:grpSpPr>
        <p:sp>
          <p:nvSpPr>
            <p:cNvPr id="23" name="Freeform 23"/>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24" name="Group 24"/>
          <p:cNvGrpSpPr/>
          <p:nvPr/>
        </p:nvGrpSpPr>
        <p:grpSpPr>
          <a:xfrm>
            <a:off x="16655415" y="-9525"/>
            <a:ext cx="19050" cy="10306050"/>
            <a:chOff x="0" y="0"/>
            <a:chExt cx="25400" cy="13741400"/>
          </a:xfrm>
        </p:grpSpPr>
        <p:sp>
          <p:nvSpPr>
            <p:cNvPr id="25" name="Freeform 25"/>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26" name="Group 26"/>
          <p:cNvGrpSpPr/>
          <p:nvPr/>
        </p:nvGrpSpPr>
        <p:grpSpPr>
          <a:xfrm>
            <a:off x="960120" y="2057400"/>
            <a:ext cx="6172200" cy="3017520"/>
            <a:chOff x="0" y="0"/>
            <a:chExt cx="8229600" cy="4023360"/>
          </a:xfrm>
        </p:grpSpPr>
        <p:sp>
          <p:nvSpPr>
            <p:cNvPr id="27" name="Freeform 27"/>
            <p:cNvSpPr/>
            <p:nvPr/>
          </p:nvSpPr>
          <p:spPr>
            <a:xfrm>
              <a:off x="0" y="0"/>
              <a:ext cx="8229600" cy="4023360"/>
            </a:xfrm>
            <a:custGeom>
              <a:avLst/>
              <a:gdLst/>
              <a:ahLst/>
              <a:cxnLst/>
              <a:rect l="l" t="t" r="r" b="b"/>
              <a:pathLst>
                <a:path w="8229600" h="4023360">
                  <a:moveTo>
                    <a:pt x="0" y="0"/>
                  </a:moveTo>
                  <a:lnTo>
                    <a:pt x="8229600" y="0"/>
                  </a:lnTo>
                  <a:lnTo>
                    <a:pt x="8229600" y="4023360"/>
                  </a:lnTo>
                  <a:lnTo>
                    <a:pt x="0" y="4023360"/>
                  </a:lnTo>
                  <a:close/>
                </a:path>
              </a:pathLst>
            </a:custGeom>
            <a:blipFill>
              <a:blip r:embed="rId3">
                <a:alphaModFix amt="0"/>
              </a:blip>
              <a:stretch>
                <a:fillRect l="-12726" r="-12726"/>
              </a:stretch>
            </a:blipFill>
          </p:spPr>
          <p:txBody>
            <a:bodyPr/>
            <a:lstStyle/>
            <a:p>
              <a:endParaRPr lang="en-US"/>
            </a:p>
          </p:txBody>
        </p:sp>
        <p:sp>
          <p:nvSpPr>
            <p:cNvPr id="28" name="TextBox 28"/>
            <p:cNvSpPr txBox="1"/>
            <p:nvPr/>
          </p:nvSpPr>
          <p:spPr>
            <a:xfrm>
              <a:off x="0" y="-9525"/>
              <a:ext cx="8229600" cy="4032885"/>
            </a:xfrm>
            <a:prstGeom prst="rect">
              <a:avLst/>
            </a:prstGeom>
          </p:spPr>
          <p:txBody>
            <a:bodyPr lIns="0" tIns="0" rIns="0" bIns="0" rtlCol="0" anchor="ctr"/>
            <a:lstStyle/>
            <a:p>
              <a:pPr algn="l">
                <a:lnSpc>
                  <a:spcPts val="23400"/>
                </a:lnSpc>
              </a:pPr>
              <a:r>
                <a:rPr lang="en-US" sz="19500" b="1">
                  <a:solidFill>
                    <a:srgbClr val="74C69D"/>
                  </a:solidFill>
                  <a:latin typeface="Cambria Bold"/>
                  <a:ea typeface="Cambria Bold"/>
                  <a:cs typeface="Cambria Bold"/>
                  <a:sym typeface="Cambria Bold"/>
                </a:rPr>
                <a:t>01</a:t>
              </a:r>
            </a:p>
          </p:txBody>
        </p:sp>
      </p:grpSp>
      <p:grpSp>
        <p:nvGrpSpPr>
          <p:cNvPr id="29" name="Group 29"/>
          <p:cNvGrpSpPr/>
          <p:nvPr/>
        </p:nvGrpSpPr>
        <p:grpSpPr>
          <a:xfrm>
            <a:off x="1234440" y="4869180"/>
            <a:ext cx="12344400" cy="548640"/>
            <a:chOff x="0" y="0"/>
            <a:chExt cx="16459200" cy="731520"/>
          </a:xfrm>
        </p:grpSpPr>
        <p:sp>
          <p:nvSpPr>
            <p:cNvPr id="30" name="Freeform 30"/>
            <p:cNvSpPr/>
            <p:nvPr/>
          </p:nvSpPr>
          <p:spPr>
            <a:xfrm>
              <a:off x="0" y="0"/>
              <a:ext cx="16459200" cy="731520"/>
            </a:xfrm>
            <a:custGeom>
              <a:avLst/>
              <a:gdLst/>
              <a:ahLst/>
              <a:cxnLst/>
              <a:rect l="l" t="t" r="r" b="b"/>
              <a:pathLst>
                <a:path w="16459200" h="731520">
                  <a:moveTo>
                    <a:pt x="0" y="0"/>
                  </a:moveTo>
                  <a:lnTo>
                    <a:pt x="16459200" y="0"/>
                  </a:lnTo>
                  <a:lnTo>
                    <a:pt x="16459200" y="731520"/>
                  </a:lnTo>
                  <a:lnTo>
                    <a:pt x="0" y="731520"/>
                  </a:lnTo>
                  <a:close/>
                </a:path>
              </a:pathLst>
            </a:custGeom>
            <a:blipFill>
              <a:blip r:embed="rId3">
                <a:alphaModFix amt="0"/>
              </a:blip>
              <a:stretch>
                <a:fillRect t="-388413" b="-388413"/>
              </a:stretch>
            </a:blipFill>
          </p:spPr>
          <p:txBody>
            <a:bodyPr/>
            <a:lstStyle/>
            <a:p>
              <a:endParaRPr lang="en-US"/>
            </a:p>
          </p:txBody>
        </p:sp>
        <p:sp>
          <p:nvSpPr>
            <p:cNvPr id="31" name="TextBox 31"/>
            <p:cNvSpPr txBox="1"/>
            <p:nvPr/>
          </p:nvSpPr>
          <p:spPr>
            <a:xfrm>
              <a:off x="0" y="-47625"/>
              <a:ext cx="16459200" cy="779145"/>
            </a:xfrm>
            <a:prstGeom prst="rect">
              <a:avLst/>
            </a:prstGeom>
          </p:spPr>
          <p:txBody>
            <a:bodyPr lIns="0" tIns="0" rIns="0" bIns="0" rtlCol="0" anchor="ctr"/>
            <a:lstStyle/>
            <a:p>
              <a:pPr algn="l">
                <a:lnSpc>
                  <a:spcPts val="2340"/>
                </a:lnSpc>
              </a:pPr>
              <a:r>
                <a:rPr lang="en-US" sz="1950" b="1" spc="300">
                  <a:solidFill>
                    <a:srgbClr val="74C69D"/>
                  </a:solidFill>
                  <a:latin typeface="Calibri (MS) Bold"/>
                  <a:ea typeface="Calibri (MS) Bold"/>
                  <a:cs typeface="Calibri (MS) Bold"/>
                  <a:sym typeface="Calibri (MS) Bold"/>
                </a:rPr>
                <a:t>PART ONE</a:t>
              </a:r>
            </a:p>
          </p:txBody>
        </p:sp>
      </p:grpSp>
      <p:grpSp>
        <p:nvGrpSpPr>
          <p:cNvPr id="32" name="Group 32"/>
          <p:cNvGrpSpPr/>
          <p:nvPr/>
        </p:nvGrpSpPr>
        <p:grpSpPr>
          <a:xfrm>
            <a:off x="1165860" y="5417820"/>
            <a:ext cx="14813280" cy="1783080"/>
            <a:chOff x="0" y="0"/>
            <a:chExt cx="19751040" cy="2377440"/>
          </a:xfrm>
        </p:grpSpPr>
        <p:sp>
          <p:nvSpPr>
            <p:cNvPr id="33" name="Freeform 33"/>
            <p:cNvSpPr/>
            <p:nvPr/>
          </p:nvSpPr>
          <p:spPr>
            <a:xfrm>
              <a:off x="0" y="0"/>
              <a:ext cx="19751039" cy="2377440"/>
            </a:xfrm>
            <a:custGeom>
              <a:avLst/>
              <a:gdLst/>
              <a:ahLst/>
              <a:cxnLst/>
              <a:rect l="l" t="t" r="r" b="b"/>
              <a:pathLst>
                <a:path w="19751039" h="2377440">
                  <a:moveTo>
                    <a:pt x="0" y="0"/>
                  </a:moveTo>
                  <a:lnTo>
                    <a:pt x="19751039" y="0"/>
                  </a:lnTo>
                  <a:lnTo>
                    <a:pt x="19751039" y="2377440"/>
                  </a:lnTo>
                  <a:lnTo>
                    <a:pt x="0" y="2377440"/>
                  </a:lnTo>
                  <a:close/>
                </a:path>
              </a:pathLst>
            </a:custGeom>
            <a:blipFill>
              <a:blip r:embed="rId3">
                <a:alphaModFix amt="0"/>
              </a:blip>
              <a:stretch>
                <a:fillRect t="-111875" b="-111875"/>
              </a:stretch>
            </a:blipFill>
          </p:spPr>
          <p:txBody>
            <a:bodyPr/>
            <a:lstStyle/>
            <a:p>
              <a:endParaRPr lang="en-US"/>
            </a:p>
          </p:txBody>
        </p:sp>
        <p:sp>
          <p:nvSpPr>
            <p:cNvPr id="34" name="TextBox 34"/>
            <p:cNvSpPr txBox="1"/>
            <p:nvPr/>
          </p:nvSpPr>
          <p:spPr>
            <a:xfrm>
              <a:off x="0" y="-19050"/>
              <a:ext cx="19751040" cy="2396490"/>
            </a:xfrm>
            <a:prstGeom prst="rect">
              <a:avLst/>
            </a:prstGeom>
          </p:spPr>
          <p:txBody>
            <a:bodyPr lIns="0" tIns="0" rIns="0" bIns="0" rtlCol="0" anchor="ctr"/>
            <a:lstStyle/>
            <a:p>
              <a:pPr algn="l">
                <a:lnSpc>
                  <a:spcPts val="7559"/>
                </a:lnSpc>
              </a:pPr>
              <a:r>
                <a:rPr lang="en-US" sz="6300" b="1">
                  <a:solidFill>
                    <a:srgbClr val="FFFFFF"/>
                  </a:solidFill>
                  <a:latin typeface="Cambria Bold"/>
                  <a:ea typeface="Cambria Bold"/>
                  <a:cs typeface="Cambria Bold"/>
                  <a:sym typeface="Cambria Bold"/>
                </a:rPr>
                <a:t>System Overview &amp; Architecture</a:t>
              </a:r>
            </a:p>
          </p:txBody>
        </p:sp>
      </p:grpSp>
      <p:grpSp>
        <p:nvGrpSpPr>
          <p:cNvPr id="35" name="Group 35"/>
          <p:cNvGrpSpPr/>
          <p:nvPr/>
        </p:nvGrpSpPr>
        <p:grpSpPr>
          <a:xfrm>
            <a:off x="1205865" y="7172325"/>
            <a:ext cx="3623310" cy="57150"/>
            <a:chOff x="0" y="0"/>
            <a:chExt cx="4831080" cy="76200"/>
          </a:xfrm>
        </p:grpSpPr>
        <p:sp>
          <p:nvSpPr>
            <p:cNvPr id="36" name="Freeform 36"/>
            <p:cNvSpPr/>
            <p:nvPr/>
          </p:nvSpPr>
          <p:spPr>
            <a:xfrm>
              <a:off x="0" y="0"/>
              <a:ext cx="4831080" cy="76200"/>
            </a:xfrm>
            <a:custGeom>
              <a:avLst/>
              <a:gdLst/>
              <a:ahLst/>
              <a:cxnLst/>
              <a:rect l="l" t="t" r="r" b="b"/>
              <a:pathLst>
                <a:path w="4831080" h="76200">
                  <a:moveTo>
                    <a:pt x="0" y="0"/>
                  </a:moveTo>
                  <a:lnTo>
                    <a:pt x="4831080" y="76200"/>
                  </a:lnTo>
                </a:path>
              </a:pathLst>
            </a:custGeom>
            <a:blipFill>
              <a:blip r:embed="rId3">
                <a:alphaModFix amt="0"/>
              </a:blip>
              <a:stretch>
                <a:fillRect t="-1185351" b="-1185351"/>
              </a:stretch>
            </a:blipFill>
            <a:ln w="57150" cap="sq">
              <a:solidFill>
                <a:srgbClr val="40916C"/>
              </a:solidFill>
              <a:prstDash val="solid"/>
              <a:miter/>
            </a:ln>
          </p:spPr>
          <p:txBody>
            <a:bodyPr/>
            <a:lstStyle/>
            <a:p>
              <a:endParaRPr lang="en-US"/>
            </a:p>
          </p:txBody>
        </p:sp>
      </p:grpSp>
      <p:grpSp>
        <p:nvGrpSpPr>
          <p:cNvPr id="37" name="Group 37"/>
          <p:cNvGrpSpPr/>
          <p:nvPr/>
        </p:nvGrpSpPr>
        <p:grpSpPr>
          <a:xfrm>
            <a:off x="1234440" y="7475220"/>
            <a:ext cx="13030200" cy="822960"/>
            <a:chOff x="0" y="0"/>
            <a:chExt cx="17373600" cy="1097280"/>
          </a:xfrm>
        </p:grpSpPr>
        <p:sp>
          <p:nvSpPr>
            <p:cNvPr id="38" name="Freeform 38"/>
            <p:cNvSpPr/>
            <p:nvPr/>
          </p:nvSpPr>
          <p:spPr>
            <a:xfrm>
              <a:off x="0" y="0"/>
              <a:ext cx="17373600" cy="1097280"/>
            </a:xfrm>
            <a:custGeom>
              <a:avLst/>
              <a:gdLst/>
              <a:ahLst/>
              <a:cxnLst/>
              <a:rect l="l" t="t" r="r" b="b"/>
              <a:pathLst>
                <a:path w="17373600" h="1097280">
                  <a:moveTo>
                    <a:pt x="0" y="0"/>
                  </a:moveTo>
                  <a:lnTo>
                    <a:pt x="17373600" y="0"/>
                  </a:lnTo>
                  <a:lnTo>
                    <a:pt x="17373600" y="1097280"/>
                  </a:lnTo>
                  <a:lnTo>
                    <a:pt x="0" y="1097280"/>
                  </a:lnTo>
                  <a:close/>
                </a:path>
              </a:pathLst>
            </a:custGeom>
            <a:blipFill>
              <a:blip r:embed="rId3">
                <a:alphaModFix amt="0"/>
              </a:blip>
              <a:stretch>
                <a:fillRect t="-258513" b="-258513"/>
              </a:stretch>
            </a:blipFill>
          </p:spPr>
          <p:txBody>
            <a:bodyPr/>
            <a:lstStyle/>
            <a:p>
              <a:endParaRPr lang="en-US"/>
            </a:p>
          </p:txBody>
        </p:sp>
        <p:sp>
          <p:nvSpPr>
            <p:cNvPr id="39" name="TextBox 39"/>
            <p:cNvSpPr txBox="1"/>
            <p:nvPr/>
          </p:nvSpPr>
          <p:spPr>
            <a:xfrm>
              <a:off x="0" y="-47625"/>
              <a:ext cx="17373600" cy="1144905"/>
            </a:xfrm>
            <a:prstGeom prst="rect">
              <a:avLst/>
            </a:prstGeom>
          </p:spPr>
          <p:txBody>
            <a:bodyPr lIns="0" tIns="0" rIns="0" bIns="0" rtlCol="0" anchor="ctr"/>
            <a:lstStyle/>
            <a:p>
              <a:pPr algn="l">
                <a:lnSpc>
                  <a:spcPts val="2520"/>
                </a:lnSpc>
              </a:pPr>
              <a:r>
                <a:rPr lang="en-US" sz="2100">
                  <a:solidFill>
                    <a:srgbClr val="C9D6CE"/>
                  </a:solidFill>
                  <a:latin typeface="Calibri (MS)"/>
                  <a:ea typeface="Calibri (MS)"/>
                  <a:cs typeface="Calibri (MS)"/>
                  <a:sym typeface="Calibri (MS)"/>
                </a:rPr>
                <a:t>The big picture: what DEPI Grid does and how five subsystems connect.</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8F6"/>
        </a:solidFill>
        <a:effectLst/>
      </p:bgPr>
    </p:bg>
    <p:spTree>
      <p:nvGrpSpPr>
        <p:cNvPr id="1" name=""/>
        <p:cNvGrpSpPr/>
        <p:nvPr/>
      </p:nvGrpSpPr>
      <p:grpSpPr>
        <a:xfrm>
          <a:off x="0" y="0"/>
          <a:ext cx="0" cy="0"/>
          <a:chOff x="0" y="0"/>
          <a:chExt cx="0" cy="0"/>
        </a:xfrm>
      </p:grpSpPr>
      <p:grpSp>
        <p:nvGrpSpPr>
          <p:cNvPr id="2" name="Group 2"/>
          <p:cNvGrpSpPr/>
          <p:nvPr/>
        </p:nvGrpSpPr>
        <p:grpSpPr>
          <a:xfrm>
            <a:off x="822960" y="576072"/>
            <a:ext cx="10972800" cy="480060"/>
            <a:chOff x="0" y="0"/>
            <a:chExt cx="14630400" cy="640080"/>
          </a:xfrm>
        </p:grpSpPr>
        <p:sp>
          <p:nvSpPr>
            <p:cNvPr id="3" name="Freeform 3"/>
            <p:cNvSpPr/>
            <p:nvPr/>
          </p:nvSpPr>
          <p:spPr>
            <a:xfrm>
              <a:off x="0" y="0"/>
              <a:ext cx="14630400" cy="640080"/>
            </a:xfrm>
            <a:custGeom>
              <a:avLst/>
              <a:gdLst/>
              <a:ahLst/>
              <a:cxnLst/>
              <a:rect l="l" t="t" r="r" b="b"/>
              <a:pathLst>
                <a:path w="14630400" h="640080">
                  <a:moveTo>
                    <a:pt x="0" y="0"/>
                  </a:moveTo>
                  <a:lnTo>
                    <a:pt x="14630400" y="0"/>
                  </a:lnTo>
                  <a:lnTo>
                    <a:pt x="14630400" y="640080"/>
                  </a:lnTo>
                  <a:lnTo>
                    <a:pt x="0" y="640080"/>
                  </a:lnTo>
                  <a:close/>
                </a:path>
              </a:pathLst>
            </a:custGeom>
            <a:blipFill>
              <a:blip r:embed="rId3">
                <a:alphaModFix amt="0"/>
              </a:blip>
              <a:stretch>
                <a:fillRect t="-395372" b="-395372"/>
              </a:stretch>
            </a:blipFill>
          </p:spPr>
          <p:txBody>
            <a:bodyPr/>
            <a:lstStyle/>
            <a:p>
              <a:endParaRPr lang="en-US"/>
            </a:p>
          </p:txBody>
        </p:sp>
        <p:sp>
          <p:nvSpPr>
            <p:cNvPr id="4" name="TextBox 4"/>
            <p:cNvSpPr txBox="1"/>
            <p:nvPr/>
          </p:nvSpPr>
          <p:spPr>
            <a:xfrm>
              <a:off x="0" y="-38100"/>
              <a:ext cx="14630400" cy="678180"/>
            </a:xfrm>
            <a:prstGeom prst="rect">
              <a:avLst/>
            </a:prstGeom>
          </p:spPr>
          <p:txBody>
            <a:bodyPr lIns="0" tIns="0" rIns="0" bIns="0" rtlCol="0" anchor="ctr"/>
            <a:lstStyle/>
            <a:p>
              <a:pPr algn="l">
                <a:lnSpc>
                  <a:spcPts val="2160"/>
                </a:lnSpc>
              </a:pPr>
              <a:r>
                <a:rPr lang="en-US" sz="1800" b="1" spc="299">
                  <a:solidFill>
                    <a:srgbClr val="40916C"/>
                  </a:solidFill>
                  <a:latin typeface="Calibri (MS) Bold"/>
                  <a:ea typeface="Calibri (MS) Bold"/>
                  <a:cs typeface="Calibri (MS) Bold"/>
                  <a:sym typeface="Calibri (MS) Bold"/>
                </a:rPr>
                <a:t>PART 01 · OVERVIEW</a:t>
              </a:r>
            </a:p>
          </p:txBody>
        </p:sp>
      </p:grpSp>
      <p:grpSp>
        <p:nvGrpSpPr>
          <p:cNvPr id="5" name="Group 5"/>
          <p:cNvGrpSpPr/>
          <p:nvPr/>
        </p:nvGrpSpPr>
        <p:grpSpPr>
          <a:xfrm>
            <a:off x="822960" y="987552"/>
            <a:ext cx="15773400" cy="1234440"/>
            <a:chOff x="0" y="0"/>
            <a:chExt cx="21031200" cy="1645920"/>
          </a:xfrm>
        </p:grpSpPr>
        <p:sp>
          <p:nvSpPr>
            <p:cNvPr id="6" name="Freeform 6"/>
            <p:cNvSpPr/>
            <p:nvPr/>
          </p:nvSpPr>
          <p:spPr>
            <a:xfrm>
              <a:off x="0" y="0"/>
              <a:ext cx="21031200" cy="1645920"/>
            </a:xfrm>
            <a:custGeom>
              <a:avLst/>
              <a:gdLst/>
              <a:ahLst/>
              <a:cxnLst/>
              <a:rect l="l" t="t" r="r" b="b"/>
              <a:pathLst>
                <a:path w="21031200" h="1645920">
                  <a:moveTo>
                    <a:pt x="0" y="0"/>
                  </a:moveTo>
                  <a:lnTo>
                    <a:pt x="21031200" y="0"/>
                  </a:lnTo>
                  <a:lnTo>
                    <a:pt x="21031200" y="1645920"/>
                  </a:lnTo>
                  <a:lnTo>
                    <a:pt x="0" y="1645920"/>
                  </a:lnTo>
                  <a:close/>
                </a:path>
              </a:pathLst>
            </a:custGeom>
            <a:blipFill>
              <a:blip r:embed="rId3">
                <a:alphaModFix amt="0"/>
              </a:blip>
              <a:stretch>
                <a:fillRect t="-198975" b="-198975"/>
              </a:stretch>
            </a:blipFill>
          </p:spPr>
          <p:txBody>
            <a:bodyPr/>
            <a:lstStyle/>
            <a:p>
              <a:endParaRPr lang="en-US"/>
            </a:p>
          </p:txBody>
        </p:sp>
        <p:sp>
          <p:nvSpPr>
            <p:cNvPr id="7" name="TextBox 7"/>
            <p:cNvSpPr txBox="1"/>
            <p:nvPr/>
          </p:nvSpPr>
          <p:spPr>
            <a:xfrm>
              <a:off x="0" y="-9525"/>
              <a:ext cx="21031200" cy="1655445"/>
            </a:xfrm>
            <a:prstGeom prst="rect">
              <a:avLst/>
            </a:prstGeom>
          </p:spPr>
          <p:txBody>
            <a:bodyPr lIns="0" tIns="0" rIns="0" bIns="0" rtlCol="0" anchor="ctr"/>
            <a:lstStyle/>
            <a:p>
              <a:pPr algn="l">
                <a:lnSpc>
                  <a:spcPts val="5759"/>
                </a:lnSpc>
              </a:pPr>
              <a:r>
                <a:rPr lang="en-US" sz="4800" b="1">
                  <a:solidFill>
                    <a:srgbClr val="0D1B2A"/>
                  </a:solidFill>
                  <a:latin typeface="Cambria Bold"/>
                  <a:ea typeface="Cambria Bold"/>
                  <a:cs typeface="Cambria Bold"/>
                  <a:sym typeface="Cambria Bold"/>
                </a:rPr>
                <a:t>What Is DEPI Grid?</a:t>
              </a:r>
            </a:p>
          </p:txBody>
        </p:sp>
      </p:grpSp>
      <p:grpSp>
        <p:nvGrpSpPr>
          <p:cNvPr id="8" name="Group 8"/>
          <p:cNvGrpSpPr/>
          <p:nvPr/>
        </p:nvGrpSpPr>
        <p:grpSpPr>
          <a:xfrm>
            <a:off x="822960" y="2194560"/>
            <a:ext cx="8366760" cy="2331720"/>
            <a:chOff x="0" y="0"/>
            <a:chExt cx="11155680" cy="3108960"/>
          </a:xfrm>
        </p:grpSpPr>
        <p:sp>
          <p:nvSpPr>
            <p:cNvPr id="9" name="Freeform 9"/>
            <p:cNvSpPr/>
            <p:nvPr/>
          </p:nvSpPr>
          <p:spPr>
            <a:xfrm>
              <a:off x="0" y="0"/>
              <a:ext cx="11155680" cy="3108960"/>
            </a:xfrm>
            <a:custGeom>
              <a:avLst/>
              <a:gdLst/>
              <a:ahLst/>
              <a:cxnLst/>
              <a:rect l="l" t="t" r="r" b="b"/>
              <a:pathLst>
                <a:path w="11155680" h="3108960">
                  <a:moveTo>
                    <a:pt x="0" y="0"/>
                  </a:moveTo>
                  <a:lnTo>
                    <a:pt x="11155680" y="0"/>
                  </a:lnTo>
                  <a:lnTo>
                    <a:pt x="11155680" y="3108960"/>
                  </a:lnTo>
                  <a:lnTo>
                    <a:pt x="0" y="3108960"/>
                  </a:lnTo>
                  <a:close/>
                </a:path>
              </a:pathLst>
            </a:custGeom>
            <a:blipFill>
              <a:blip r:embed="rId3">
                <a:alphaModFix amt="0"/>
              </a:blip>
              <a:stretch>
                <a:fillRect t="-19916" b="-19916"/>
              </a:stretch>
            </a:blipFill>
          </p:spPr>
          <p:txBody>
            <a:bodyPr/>
            <a:lstStyle/>
            <a:p>
              <a:endParaRPr lang="en-US"/>
            </a:p>
          </p:txBody>
        </p:sp>
        <p:sp>
          <p:nvSpPr>
            <p:cNvPr id="10" name="TextBox 10"/>
            <p:cNvSpPr txBox="1"/>
            <p:nvPr/>
          </p:nvSpPr>
          <p:spPr>
            <a:xfrm>
              <a:off x="0" y="-104775"/>
              <a:ext cx="11155680" cy="3213735"/>
            </a:xfrm>
            <a:prstGeom prst="rect">
              <a:avLst/>
            </a:prstGeom>
          </p:spPr>
          <p:txBody>
            <a:bodyPr lIns="0" tIns="0" rIns="0" bIns="0" rtlCol="0" anchor="ctr"/>
            <a:lstStyle/>
            <a:p>
              <a:pPr algn="l">
                <a:lnSpc>
                  <a:spcPts val="3150"/>
                </a:lnSpc>
              </a:pPr>
              <a:r>
                <a:rPr lang="en-US" sz="2100">
                  <a:solidFill>
                    <a:srgbClr val="5B6B72"/>
                  </a:solidFill>
                  <a:latin typeface="Calibri (MS)"/>
                  <a:ea typeface="Calibri (MS)"/>
                  <a:cs typeface="Calibri (MS)"/>
                  <a:sym typeface="Calibri (MS)"/>
                </a:rPr>
                <a:t>An end-to-end renewable-energy monitoring platform combining real-time telemetry streaming, machine-learning forecasting, explainable anomaly detection, and Retrieval-Augmented Generation (RAG) for autonomous repair blueprints.</a:t>
              </a:r>
            </a:p>
          </p:txBody>
        </p:sp>
      </p:grpSp>
      <p:grpSp>
        <p:nvGrpSpPr>
          <p:cNvPr id="11" name="Group 11"/>
          <p:cNvGrpSpPr/>
          <p:nvPr/>
        </p:nvGrpSpPr>
        <p:grpSpPr>
          <a:xfrm>
            <a:off x="822960" y="4732020"/>
            <a:ext cx="548640" cy="548640"/>
            <a:chOff x="0" y="0"/>
            <a:chExt cx="731520" cy="731520"/>
          </a:xfrm>
        </p:grpSpPr>
        <p:sp>
          <p:nvSpPr>
            <p:cNvPr id="12" name="Freeform 12"/>
            <p:cNvSpPr/>
            <p:nvPr/>
          </p:nvSpPr>
          <p:spPr>
            <a:xfrm>
              <a:off x="0" y="0"/>
              <a:ext cx="731520" cy="731520"/>
            </a:xfrm>
            <a:custGeom>
              <a:avLst/>
              <a:gdLst/>
              <a:ahLst/>
              <a:cxnLst/>
              <a:rect l="l" t="t" r="r" b="b"/>
              <a:pathLst>
                <a:path w="731520" h="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40916C"/>
            </a:solidFill>
          </p:spPr>
          <p:txBody>
            <a:bodyPr/>
            <a:lstStyle/>
            <a:p>
              <a:endParaRPr lang="en-US"/>
            </a:p>
          </p:txBody>
        </p:sp>
      </p:grpSp>
      <p:grpSp>
        <p:nvGrpSpPr>
          <p:cNvPr id="13" name="Group 13"/>
          <p:cNvGrpSpPr/>
          <p:nvPr/>
        </p:nvGrpSpPr>
        <p:grpSpPr>
          <a:xfrm>
            <a:off x="822960" y="4732020"/>
            <a:ext cx="548640" cy="548640"/>
            <a:chOff x="0" y="0"/>
            <a:chExt cx="731520" cy="731520"/>
          </a:xfrm>
        </p:grpSpPr>
        <p:sp>
          <p:nvSpPr>
            <p:cNvPr id="14" name="Freeform 14"/>
            <p:cNvSpPr/>
            <p:nvPr/>
          </p:nvSpPr>
          <p:spPr>
            <a:xfrm>
              <a:off x="0" y="0"/>
              <a:ext cx="731520" cy="731520"/>
            </a:xfrm>
            <a:custGeom>
              <a:avLst/>
              <a:gdLst/>
              <a:ahLst/>
              <a:cxnLst/>
              <a:rect l="l" t="t" r="r" b="b"/>
              <a:pathLst>
                <a:path w="731520" h="731520">
                  <a:moveTo>
                    <a:pt x="0" y="0"/>
                  </a:moveTo>
                  <a:lnTo>
                    <a:pt x="731520" y="0"/>
                  </a:lnTo>
                  <a:lnTo>
                    <a:pt x="731520" y="731520"/>
                  </a:lnTo>
                  <a:lnTo>
                    <a:pt x="0" y="731520"/>
                  </a:lnTo>
                  <a:close/>
                </a:path>
              </a:pathLst>
            </a:custGeom>
            <a:blipFill>
              <a:blip r:embed="rId3">
                <a:alphaModFix amt="0"/>
              </a:blip>
              <a:stretch>
                <a:fillRect l="-78303" r="-78303"/>
              </a:stretch>
            </a:blipFill>
          </p:spPr>
          <p:txBody>
            <a:bodyPr/>
            <a:lstStyle/>
            <a:p>
              <a:endParaRPr lang="en-US"/>
            </a:p>
          </p:txBody>
        </p:sp>
        <p:sp>
          <p:nvSpPr>
            <p:cNvPr id="15" name="TextBox 15"/>
            <p:cNvSpPr txBox="1"/>
            <p:nvPr/>
          </p:nvSpPr>
          <p:spPr>
            <a:xfrm>
              <a:off x="0" y="-19050"/>
              <a:ext cx="731520" cy="750570"/>
            </a:xfrm>
            <a:prstGeom prst="rect">
              <a:avLst/>
            </a:prstGeom>
          </p:spPr>
          <p:txBody>
            <a:bodyPr lIns="0" tIns="0" rIns="0" bIns="0" rtlCol="0" anchor="ctr"/>
            <a:lstStyle/>
            <a:p>
              <a:pPr algn="ctr">
                <a:lnSpc>
                  <a:spcPts val="1872"/>
                </a:lnSpc>
              </a:pPr>
              <a:r>
                <a:rPr lang="en-US" sz="1560" b="1">
                  <a:solidFill>
                    <a:srgbClr val="FFFFFF"/>
                  </a:solidFill>
                  <a:latin typeface="Calibri (MS) Bold"/>
                  <a:ea typeface="Calibri (MS) Bold"/>
                  <a:cs typeface="Calibri (MS) Bold"/>
                  <a:sym typeface="Calibri (MS) Bold"/>
                </a:rPr>
                <a:t>•</a:t>
              </a:r>
            </a:p>
          </p:txBody>
        </p:sp>
      </p:grpSp>
      <p:grpSp>
        <p:nvGrpSpPr>
          <p:cNvPr id="16" name="Group 16"/>
          <p:cNvGrpSpPr/>
          <p:nvPr/>
        </p:nvGrpSpPr>
        <p:grpSpPr>
          <a:xfrm>
            <a:off x="1645920" y="4649724"/>
            <a:ext cx="7406640" cy="480060"/>
            <a:chOff x="0" y="0"/>
            <a:chExt cx="9875520" cy="640080"/>
          </a:xfrm>
        </p:grpSpPr>
        <p:sp>
          <p:nvSpPr>
            <p:cNvPr id="17" name="Freeform 17"/>
            <p:cNvSpPr/>
            <p:nvPr/>
          </p:nvSpPr>
          <p:spPr>
            <a:xfrm>
              <a:off x="0" y="0"/>
              <a:ext cx="9875520" cy="640080"/>
            </a:xfrm>
            <a:custGeom>
              <a:avLst/>
              <a:gdLst/>
              <a:ahLst/>
              <a:cxnLst/>
              <a:rect l="l" t="t" r="r" b="b"/>
              <a:pathLst>
                <a:path w="9875520" h="640080">
                  <a:moveTo>
                    <a:pt x="0" y="0"/>
                  </a:moveTo>
                  <a:lnTo>
                    <a:pt x="9875520" y="0"/>
                  </a:lnTo>
                  <a:lnTo>
                    <a:pt x="9875520" y="640080"/>
                  </a:lnTo>
                  <a:lnTo>
                    <a:pt x="0" y="640080"/>
                  </a:lnTo>
                  <a:close/>
                </a:path>
              </a:pathLst>
            </a:custGeom>
            <a:blipFill>
              <a:blip r:embed="rId3">
                <a:alphaModFix amt="0"/>
              </a:blip>
              <a:stretch>
                <a:fillRect t="-250626" b="-250626"/>
              </a:stretch>
            </a:blipFill>
          </p:spPr>
          <p:txBody>
            <a:bodyPr/>
            <a:lstStyle/>
            <a:p>
              <a:endParaRPr lang="en-US"/>
            </a:p>
          </p:txBody>
        </p:sp>
        <p:sp>
          <p:nvSpPr>
            <p:cNvPr id="18" name="TextBox 18"/>
            <p:cNvSpPr txBox="1"/>
            <p:nvPr/>
          </p:nvSpPr>
          <p:spPr>
            <a:xfrm>
              <a:off x="0" y="-38100"/>
              <a:ext cx="9875520" cy="678180"/>
            </a:xfrm>
            <a:prstGeom prst="rect">
              <a:avLst/>
            </a:prstGeom>
          </p:spPr>
          <p:txBody>
            <a:bodyPr lIns="0" tIns="0" rIns="0" bIns="0" rtlCol="0" anchor="ctr"/>
            <a:lstStyle/>
            <a:p>
              <a:pPr algn="l">
                <a:lnSpc>
                  <a:spcPts val="2430"/>
                </a:lnSpc>
              </a:pPr>
              <a:r>
                <a:rPr lang="en-US" sz="2025" b="1">
                  <a:solidFill>
                    <a:srgbClr val="0D1B2A"/>
                  </a:solidFill>
                  <a:latin typeface="Calibri (MS) Bold"/>
                  <a:ea typeface="Calibri (MS) Bold"/>
                  <a:cs typeface="Calibri (MS) Bold"/>
                  <a:sym typeface="Calibri (MS) Bold"/>
                </a:rPr>
                <a:t>Three live data sources</a:t>
              </a:r>
            </a:p>
          </p:txBody>
        </p:sp>
      </p:grpSp>
      <p:grpSp>
        <p:nvGrpSpPr>
          <p:cNvPr id="19" name="Group 19"/>
          <p:cNvGrpSpPr/>
          <p:nvPr/>
        </p:nvGrpSpPr>
        <p:grpSpPr>
          <a:xfrm>
            <a:off x="1645920" y="5116068"/>
            <a:ext cx="7543800" cy="685800"/>
            <a:chOff x="0" y="0"/>
            <a:chExt cx="10058400" cy="914400"/>
          </a:xfrm>
        </p:grpSpPr>
        <p:sp>
          <p:nvSpPr>
            <p:cNvPr id="20" name="Freeform 20"/>
            <p:cNvSpPr/>
            <p:nvPr/>
          </p:nvSpPr>
          <p:spPr>
            <a:xfrm>
              <a:off x="0" y="0"/>
              <a:ext cx="10058400" cy="914400"/>
            </a:xfrm>
            <a:custGeom>
              <a:avLst/>
              <a:gdLst/>
              <a:ahLst/>
              <a:cxnLst/>
              <a:rect l="l" t="t" r="r" b="b"/>
              <a:pathLst>
                <a:path w="10058400" h="914400">
                  <a:moveTo>
                    <a:pt x="0" y="0"/>
                  </a:moveTo>
                  <a:lnTo>
                    <a:pt x="10058400" y="0"/>
                  </a:lnTo>
                  <a:lnTo>
                    <a:pt x="10058400" y="914400"/>
                  </a:lnTo>
                  <a:lnTo>
                    <a:pt x="0" y="914400"/>
                  </a:lnTo>
                  <a:close/>
                </a:path>
              </a:pathLst>
            </a:custGeom>
            <a:blipFill>
              <a:blip r:embed="rId3">
                <a:alphaModFix amt="0"/>
              </a:blip>
              <a:stretch>
                <a:fillRect t="-164335" b="-164335"/>
              </a:stretch>
            </a:blipFill>
          </p:spPr>
          <p:txBody>
            <a:bodyPr/>
            <a:lstStyle/>
            <a:p>
              <a:endParaRPr lang="en-US"/>
            </a:p>
          </p:txBody>
        </p:sp>
        <p:sp>
          <p:nvSpPr>
            <p:cNvPr id="21" name="TextBox 21"/>
            <p:cNvSpPr txBox="1"/>
            <p:nvPr/>
          </p:nvSpPr>
          <p:spPr>
            <a:xfrm>
              <a:off x="0" y="-28575"/>
              <a:ext cx="10058400" cy="942975"/>
            </a:xfrm>
            <a:prstGeom prst="rect">
              <a:avLst/>
            </a:prstGeom>
          </p:spPr>
          <p:txBody>
            <a:bodyPr lIns="0" tIns="0" rIns="0" bIns="0" rtlCol="0" anchor="ctr"/>
            <a:lstStyle/>
            <a:p>
              <a:pPr algn="l">
                <a:lnSpc>
                  <a:spcPts val="1980"/>
                </a:lnSpc>
              </a:pPr>
              <a:r>
                <a:rPr lang="en-US" sz="1650">
                  <a:solidFill>
                    <a:srgbClr val="5B6B72"/>
                  </a:solidFill>
                  <a:latin typeface="Calibri (MS)"/>
                  <a:ea typeface="Calibri (MS)"/>
                  <a:cs typeface="Calibri (MS)"/>
                  <a:sym typeface="Calibri (MS)"/>
                </a:rPr>
                <a:t>Wind, Solar &amp; Weather telemetry unified in one pipeline</a:t>
              </a:r>
            </a:p>
          </p:txBody>
        </p:sp>
      </p:grpSp>
      <p:grpSp>
        <p:nvGrpSpPr>
          <p:cNvPr id="22" name="Group 22"/>
          <p:cNvGrpSpPr/>
          <p:nvPr/>
        </p:nvGrpSpPr>
        <p:grpSpPr>
          <a:xfrm>
            <a:off x="822960" y="5856732"/>
            <a:ext cx="548640" cy="548640"/>
            <a:chOff x="0" y="0"/>
            <a:chExt cx="731520" cy="731520"/>
          </a:xfrm>
        </p:grpSpPr>
        <p:sp>
          <p:nvSpPr>
            <p:cNvPr id="23" name="Freeform 23"/>
            <p:cNvSpPr/>
            <p:nvPr/>
          </p:nvSpPr>
          <p:spPr>
            <a:xfrm>
              <a:off x="0" y="0"/>
              <a:ext cx="731520" cy="731520"/>
            </a:xfrm>
            <a:custGeom>
              <a:avLst/>
              <a:gdLst/>
              <a:ahLst/>
              <a:cxnLst/>
              <a:rect l="l" t="t" r="r" b="b"/>
              <a:pathLst>
                <a:path w="731520" h="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40916C"/>
            </a:solidFill>
          </p:spPr>
          <p:txBody>
            <a:bodyPr/>
            <a:lstStyle/>
            <a:p>
              <a:endParaRPr lang="en-US"/>
            </a:p>
          </p:txBody>
        </p:sp>
      </p:grpSp>
      <p:grpSp>
        <p:nvGrpSpPr>
          <p:cNvPr id="24" name="Group 24"/>
          <p:cNvGrpSpPr/>
          <p:nvPr/>
        </p:nvGrpSpPr>
        <p:grpSpPr>
          <a:xfrm>
            <a:off x="822960" y="5856732"/>
            <a:ext cx="548640" cy="548640"/>
            <a:chOff x="0" y="0"/>
            <a:chExt cx="731520" cy="731520"/>
          </a:xfrm>
        </p:grpSpPr>
        <p:sp>
          <p:nvSpPr>
            <p:cNvPr id="25" name="Freeform 25"/>
            <p:cNvSpPr/>
            <p:nvPr/>
          </p:nvSpPr>
          <p:spPr>
            <a:xfrm>
              <a:off x="0" y="0"/>
              <a:ext cx="731520" cy="731520"/>
            </a:xfrm>
            <a:custGeom>
              <a:avLst/>
              <a:gdLst/>
              <a:ahLst/>
              <a:cxnLst/>
              <a:rect l="l" t="t" r="r" b="b"/>
              <a:pathLst>
                <a:path w="731520" h="731520">
                  <a:moveTo>
                    <a:pt x="0" y="0"/>
                  </a:moveTo>
                  <a:lnTo>
                    <a:pt x="731520" y="0"/>
                  </a:lnTo>
                  <a:lnTo>
                    <a:pt x="731520" y="731520"/>
                  </a:lnTo>
                  <a:lnTo>
                    <a:pt x="0" y="731520"/>
                  </a:lnTo>
                  <a:close/>
                </a:path>
              </a:pathLst>
            </a:custGeom>
            <a:blipFill>
              <a:blip r:embed="rId3">
                <a:alphaModFix amt="0"/>
              </a:blip>
              <a:stretch>
                <a:fillRect l="-78303" r="-78303"/>
              </a:stretch>
            </a:blipFill>
          </p:spPr>
          <p:txBody>
            <a:bodyPr/>
            <a:lstStyle/>
            <a:p>
              <a:endParaRPr lang="en-US"/>
            </a:p>
          </p:txBody>
        </p:sp>
        <p:sp>
          <p:nvSpPr>
            <p:cNvPr id="26" name="TextBox 26"/>
            <p:cNvSpPr txBox="1"/>
            <p:nvPr/>
          </p:nvSpPr>
          <p:spPr>
            <a:xfrm>
              <a:off x="0" y="-19050"/>
              <a:ext cx="731520" cy="750570"/>
            </a:xfrm>
            <a:prstGeom prst="rect">
              <a:avLst/>
            </a:prstGeom>
          </p:spPr>
          <p:txBody>
            <a:bodyPr lIns="0" tIns="0" rIns="0" bIns="0" rtlCol="0" anchor="ctr"/>
            <a:lstStyle/>
            <a:p>
              <a:pPr algn="ctr">
                <a:lnSpc>
                  <a:spcPts val="1872"/>
                </a:lnSpc>
              </a:pPr>
              <a:r>
                <a:rPr lang="en-US" sz="1560" b="1">
                  <a:solidFill>
                    <a:srgbClr val="FFFFFF"/>
                  </a:solidFill>
                  <a:latin typeface="Calibri (MS) Bold"/>
                  <a:ea typeface="Calibri (MS) Bold"/>
                  <a:cs typeface="Calibri (MS) Bold"/>
                  <a:sym typeface="Calibri (MS) Bold"/>
                </a:rPr>
                <a:t>•</a:t>
              </a:r>
            </a:p>
          </p:txBody>
        </p:sp>
      </p:grpSp>
      <p:grpSp>
        <p:nvGrpSpPr>
          <p:cNvPr id="27" name="Group 27"/>
          <p:cNvGrpSpPr/>
          <p:nvPr/>
        </p:nvGrpSpPr>
        <p:grpSpPr>
          <a:xfrm>
            <a:off x="1645920" y="5774436"/>
            <a:ext cx="7406640" cy="480060"/>
            <a:chOff x="0" y="0"/>
            <a:chExt cx="9875520" cy="640080"/>
          </a:xfrm>
        </p:grpSpPr>
        <p:sp>
          <p:nvSpPr>
            <p:cNvPr id="28" name="Freeform 28"/>
            <p:cNvSpPr/>
            <p:nvPr/>
          </p:nvSpPr>
          <p:spPr>
            <a:xfrm>
              <a:off x="0" y="0"/>
              <a:ext cx="9875520" cy="640080"/>
            </a:xfrm>
            <a:custGeom>
              <a:avLst/>
              <a:gdLst/>
              <a:ahLst/>
              <a:cxnLst/>
              <a:rect l="l" t="t" r="r" b="b"/>
              <a:pathLst>
                <a:path w="9875520" h="640080">
                  <a:moveTo>
                    <a:pt x="0" y="0"/>
                  </a:moveTo>
                  <a:lnTo>
                    <a:pt x="9875520" y="0"/>
                  </a:lnTo>
                  <a:lnTo>
                    <a:pt x="9875520" y="640080"/>
                  </a:lnTo>
                  <a:lnTo>
                    <a:pt x="0" y="640080"/>
                  </a:lnTo>
                  <a:close/>
                </a:path>
              </a:pathLst>
            </a:custGeom>
            <a:blipFill>
              <a:blip r:embed="rId3">
                <a:alphaModFix amt="0"/>
              </a:blip>
              <a:stretch>
                <a:fillRect t="-250626" b="-250626"/>
              </a:stretch>
            </a:blipFill>
          </p:spPr>
          <p:txBody>
            <a:bodyPr/>
            <a:lstStyle/>
            <a:p>
              <a:endParaRPr lang="en-US"/>
            </a:p>
          </p:txBody>
        </p:sp>
        <p:sp>
          <p:nvSpPr>
            <p:cNvPr id="29" name="TextBox 29"/>
            <p:cNvSpPr txBox="1"/>
            <p:nvPr/>
          </p:nvSpPr>
          <p:spPr>
            <a:xfrm>
              <a:off x="0" y="-38100"/>
              <a:ext cx="9875520" cy="678180"/>
            </a:xfrm>
            <a:prstGeom prst="rect">
              <a:avLst/>
            </a:prstGeom>
          </p:spPr>
          <p:txBody>
            <a:bodyPr lIns="0" tIns="0" rIns="0" bIns="0" rtlCol="0" anchor="ctr"/>
            <a:lstStyle/>
            <a:p>
              <a:pPr algn="l">
                <a:lnSpc>
                  <a:spcPts val="2430"/>
                </a:lnSpc>
              </a:pPr>
              <a:r>
                <a:rPr lang="en-US" sz="2025" b="1">
                  <a:solidFill>
                    <a:srgbClr val="0D1B2A"/>
                  </a:solidFill>
                  <a:latin typeface="Calibri (MS) Bold"/>
                  <a:ea typeface="Calibri (MS) Bold"/>
                  <a:cs typeface="Calibri (MS) Bold"/>
                  <a:sym typeface="Calibri (MS) Bold"/>
                </a:rPr>
                <a:t>Streaming + storage</a:t>
              </a:r>
            </a:p>
          </p:txBody>
        </p:sp>
      </p:grpSp>
      <p:grpSp>
        <p:nvGrpSpPr>
          <p:cNvPr id="30" name="Group 30"/>
          <p:cNvGrpSpPr/>
          <p:nvPr/>
        </p:nvGrpSpPr>
        <p:grpSpPr>
          <a:xfrm>
            <a:off x="1645920" y="6240780"/>
            <a:ext cx="7543800" cy="685800"/>
            <a:chOff x="0" y="0"/>
            <a:chExt cx="10058400" cy="914400"/>
          </a:xfrm>
        </p:grpSpPr>
        <p:sp>
          <p:nvSpPr>
            <p:cNvPr id="31" name="Freeform 31"/>
            <p:cNvSpPr/>
            <p:nvPr/>
          </p:nvSpPr>
          <p:spPr>
            <a:xfrm>
              <a:off x="0" y="0"/>
              <a:ext cx="10058400" cy="914400"/>
            </a:xfrm>
            <a:custGeom>
              <a:avLst/>
              <a:gdLst/>
              <a:ahLst/>
              <a:cxnLst/>
              <a:rect l="l" t="t" r="r" b="b"/>
              <a:pathLst>
                <a:path w="10058400" h="914400">
                  <a:moveTo>
                    <a:pt x="0" y="0"/>
                  </a:moveTo>
                  <a:lnTo>
                    <a:pt x="10058400" y="0"/>
                  </a:lnTo>
                  <a:lnTo>
                    <a:pt x="10058400" y="914400"/>
                  </a:lnTo>
                  <a:lnTo>
                    <a:pt x="0" y="914400"/>
                  </a:lnTo>
                  <a:close/>
                </a:path>
              </a:pathLst>
            </a:custGeom>
            <a:blipFill>
              <a:blip r:embed="rId3">
                <a:alphaModFix amt="0"/>
              </a:blip>
              <a:stretch>
                <a:fillRect t="-164335" b="-164335"/>
              </a:stretch>
            </a:blipFill>
          </p:spPr>
          <p:txBody>
            <a:bodyPr/>
            <a:lstStyle/>
            <a:p>
              <a:endParaRPr lang="en-US"/>
            </a:p>
          </p:txBody>
        </p:sp>
        <p:sp>
          <p:nvSpPr>
            <p:cNvPr id="32" name="TextBox 32"/>
            <p:cNvSpPr txBox="1"/>
            <p:nvPr/>
          </p:nvSpPr>
          <p:spPr>
            <a:xfrm>
              <a:off x="0" y="-28575"/>
              <a:ext cx="10058400" cy="942975"/>
            </a:xfrm>
            <a:prstGeom prst="rect">
              <a:avLst/>
            </a:prstGeom>
          </p:spPr>
          <p:txBody>
            <a:bodyPr lIns="0" tIns="0" rIns="0" bIns="0" rtlCol="0" anchor="ctr"/>
            <a:lstStyle/>
            <a:p>
              <a:pPr algn="l">
                <a:lnSpc>
                  <a:spcPts val="1980"/>
                </a:lnSpc>
              </a:pPr>
              <a:r>
                <a:rPr lang="en-US" sz="1650">
                  <a:solidFill>
                    <a:srgbClr val="5B6B72"/>
                  </a:solidFill>
                  <a:latin typeface="Calibri (MS)"/>
                  <a:ea typeface="Calibri (MS)"/>
                  <a:cs typeface="Calibri (MS)"/>
                  <a:sym typeface="Calibri (MS)"/>
                </a:rPr>
                <a:t>Kafka ingestion into TimescaleDB time-series tables</a:t>
              </a:r>
            </a:p>
          </p:txBody>
        </p:sp>
      </p:grpSp>
      <p:grpSp>
        <p:nvGrpSpPr>
          <p:cNvPr id="33" name="Group 33"/>
          <p:cNvGrpSpPr/>
          <p:nvPr/>
        </p:nvGrpSpPr>
        <p:grpSpPr>
          <a:xfrm>
            <a:off x="822960" y="6981444"/>
            <a:ext cx="548640" cy="548640"/>
            <a:chOff x="0" y="0"/>
            <a:chExt cx="731520" cy="731520"/>
          </a:xfrm>
        </p:grpSpPr>
        <p:sp>
          <p:nvSpPr>
            <p:cNvPr id="34" name="Freeform 34"/>
            <p:cNvSpPr/>
            <p:nvPr/>
          </p:nvSpPr>
          <p:spPr>
            <a:xfrm>
              <a:off x="0" y="0"/>
              <a:ext cx="731520" cy="731520"/>
            </a:xfrm>
            <a:custGeom>
              <a:avLst/>
              <a:gdLst/>
              <a:ahLst/>
              <a:cxnLst/>
              <a:rect l="l" t="t" r="r" b="b"/>
              <a:pathLst>
                <a:path w="731520" h="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40916C"/>
            </a:solidFill>
          </p:spPr>
          <p:txBody>
            <a:bodyPr/>
            <a:lstStyle/>
            <a:p>
              <a:endParaRPr lang="en-US"/>
            </a:p>
          </p:txBody>
        </p:sp>
      </p:grpSp>
      <p:grpSp>
        <p:nvGrpSpPr>
          <p:cNvPr id="35" name="Group 35"/>
          <p:cNvGrpSpPr/>
          <p:nvPr/>
        </p:nvGrpSpPr>
        <p:grpSpPr>
          <a:xfrm>
            <a:off x="822960" y="6981444"/>
            <a:ext cx="548640" cy="548640"/>
            <a:chOff x="0" y="0"/>
            <a:chExt cx="731520" cy="731520"/>
          </a:xfrm>
        </p:grpSpPr>
        <p:sp>
          <p:nvSpPr>
            <p:cNvPr id="36" name="Freeform 36"/>
            <p:cNvSpPr/>
            <p:nvPr/>
          </p:nvSpPr>
          <p:spPr>
            <a:xfrm>
              <a:off x="0" y="0"/>
              <a:ext cx="731520" cy="731520"/>
            </a:xfrm>
            <a:custGeom>
              <a:avLst/>
              <a:gdLst/>
              <a:ahLst/>
              <a:cxnLst/>
              <a:rect l="l" t="t" r="r" b="b"/>
              <a:pathLst>
                <a:path w="731520" h="731520">
                  <a:moveTo>
                    <a:pt x="0" y="0"/>
                  </a:moveTo>
                  <a:lnTo>
                    <a:pt x="731520" y="0"/>
                  </a:lnTo>
                  <a:lnTo>
                    <a:pt x="731520" y="731520"/>
                  </a:lnTo>
                  <a:lnTo>
                    <a:pt x="0" y="731520"/>
                  </a:lnTo>
                  <a:close/>
                </a:path>
              </a:pathLst>
            </a:custGeom>
            <a:blipFill>
              <a:blip r:embed="rId3">
                <a:alphaModFix amt="0"/>
              </a:blip>
              <a:stretch>
                <a:fillRect l="-78303" r="-78303"/>
              </a:stretch>
            </a:blipFill>
          </p:spPr>
          <p:txBody>
            <a:bodyPr/>
            <a:lstStyle/>
            <a:p>
              <a:endParaRPr lang="en-US"/>
            </a:p>
          </p:txBody>
        </p:sp>
        <p:sp>
          <p:nvSpPr>
            <p:cNvPr id="37" name="TextBox 37"/>
            <p:cNvSpPr txBox="1"/>
            <p:nvPr/>
          </p:nvSpPr>
          <p:spPr>
            <a:xfrm>
              <a:off x="0" y="-19050"/>
              <a:ext cx="731520" cy="750570"/>
            </a:xfrm>
            <a:prstGeom prst="rect">
              <a:avLst/>
            </a:prstGeom>
          </p:spPr>
          <p:txBody>
            <a:bodyPr lIns="0" tIns="0" rIns="0" bIns="0" rtlCol="0" anchor="ctr"/>
            <a:lstStyle/>
            <a:p>
              <a:pPr algn="ctr">
                <a:lnSpc>
                  <a:spcPts val="1872"/>
                </a:lnSpc>
              </a:pPr>
              <a:r>
                <a:rPr lang="en-US" sz="1560" b="1">
                  <a:solidFill>
                    <a:srgbClr val="FFFFFF"/>
                  </a:solidFill>
                  <a:latin typeface="Calibri (MS) Bold"/>
                  <a:ea typeface="Calibri (MS) Bold"/>
                  <a:cs typeface="Calibri (MS) Bold"/>
                  <a:sym typeface="Calibri (MS) Bold"/>
                </a:rPr>
                <a:t>•</a:t>
              </a:r>
            </a:p>
          </p:txBody>
        </p:sp>
      </p:grpSp>
      <p:grpSp>
        <p:nvGrpSpPr>
          <p:cNvPr id="38" name="Group 38"/>
          <p:cNvGrpSpPr/>
          <p:nvPr/>
        </p:nvGrpSpPr>
        <p:grpSpPr>
          <a:xfrm>
            <a:off x="1645920" y="6899148"/>
            <a:ext cx="7406640" cy="480060"/>
            <a:chOff x="0" y="0"/>
            <a:chExt cx="9875520" cy="640080"/>
          </a:xfrm>
        </p:grpSpPr>
        <p:sp>
          <p:nvSpPr>
            <p:cNvPr id="39" name="Freeform 39"/>
            <p:cNvSpPr/>
            <p:nvPr/>
          </p:nvSpPr>
          <p:spPr>
            <a:xfrm>
              <a:off x="0" y="0"/>
              <a:ext cx="9875520" cy="640080"/>
            </a:xfrm>
            <a:custGeom>
              <a:avLst/>
              <a:gdLst/>
              <a:ahLst/>
              <a:cxnLst/>
              <a:rect l="l" t="t" r="r" b="b"/>
              <a:pathLst>
                <a:path w="9875520" h="640080">
                  <a:moveTo>
                    <a:pt x="0" y="0"/>
                  </a:moveTo>
                  <a:lnTo>
                    <a:pt x="9875520" y="0"/>
                  </a:lnTo>
                  <a:lnTo>
                    <a:pt x="9875520" y="640080"/>
                  </a:lnTo>
                  <a:lnTo>
                    <a:pt x="0" y="640080"/>
                  </a:lnTo>
                  <a:close/>
                </a:path>
              </a:pathLst>
            </a:custGeom>
            <a:blipFill>
              <a:blip r:embed="rId3">
                <a:alphaModFix amt="0"/>
              </a:blip>
              <a:stretch>
                <a:fillRect t="-250626" b="-250626"/>
              </a:stretch>
            </a:blipFill>
          </p:spPr>
          <p:txBody>
            <a:bodyPr/>
            <a:lstStyle/>
            <a:p>
              <a:endParaRPr lang="en-US"/>
            </a:p>
          </p:txBody>
        </p:sp>
        <p:sp>
          <p:nvSpPr>
            <p:cNvPr id="40" name="TextBox 40"/>
            <p:cNvSpPr txBox="1"/>
            <p:nvPr/>
          </p:nvSpPr>
          <p:spPr>
            <a:xfrm>
              <a:off x="0" y="-38100"/>
              <a:ext cx="9875520" cy="678180"/>
            </a:xfrm>
            <a:prstGeom prst="rect">
              <a:avLst/>
            </a:prstGeom>
          </p:spPr>
          <p:txBody>
            <a:bodyPr lIns="0" tIns="0" rIns="0" bIns="0" rtlCol="0" anchor="ctr"/>
            <a:lstStyle/>
            <a:p>
              <a:pPr algn="l">
                <a:lnSpc>
                  <a:spcPts val="2430"/>
                </a:lnSpc>
              </a:pPr>
              <a:r>
                <a:rPr lang="en-US" sz="2025" b="1">
                  <a:solidFill>
                    <a:srgbClr val="0D1B2A"/>
                  </a:solidFill>
                  <a:latin typeface="Calibri (MS) Bold"/>
                  <a:ea typeface="Calibri (MS) Bold"/>
                  <a:cs typeface="Calibri (MS) Bold"/>
                  <a:sym typeface="Calibri (MS) Bold"/>
                </a:rPr>
                <a:t>Hybrid AI engine</a:t>
              </a:r>
            </a:p>
          </p:txBody>
        </p:sp>
      </p:grpSp>
      <p:grpSp>
        <p:nvGrpSpPr>
          <p:cNvPr id="41" name="Group 41"/>
          <p:cNvGrpSpPr/>
          <p:nvPr/>
        </p:nvGrpSpPr>
        <p:grpSpPr>
          <a:xfrm>
            <a:off x="1645920" y="7365492"/>
            <a:ext cx="7543800" cy="685800"/>
            <a:chOff x="0" y="0"/>
            <a:chExt cx="10058400" cy="914400"/>
          </a:xfrm>
        </p:grpSpPr>
        <p:sp>
          <p:nvSpPr>
            <p:cNvPr id="42" name="Freeform 42"/>
            <p:cNvSpPr/>
            <p:nvPr/>
          </p:nvSpPr>
          <p:spPr>
            <a:xfrm>
              <a:off x="0" y="0"/>
              <a:ext cx="10058400" cy="914400"/>
            </a:xfrm>
            <a:custGeom>
              <a:avLst/>
              <a:gdLst/>
              <a:ahLst/>
              <a:cxnLst/>
              <a:rect l="l" t="t" r="r" b="b"/>
              <a:pathLst>
                <a:path w="10058400" h="914400">
                  <a:moveTo>
                    <a:pt x="0" y="0"/>
                  </a:moveTo>
                  <a:lnTo>
                    <a:pt x="10058400" y="0"/>
                  </a:lnTo>
                  <a:lnTo>
                    <a:pt x="10058400" y="914400"/>
                  </a:lnTo>
                  <a:lnTo>
                    <a:pt x="0" y="914400"/>
                  </a:lnTo>
                  <a:close/>
                </a:path>
              </a:pathLst>
            </a:custGeom>
            <a:blipFill>
              <a:blip r:embed="rId3">
                <a:alphaModFix amt="0"/>
              </a:blip>
              <a:stretch>
                <a:fillRect t="-164335" b="-164335"/>
              </a:stretch>
            </a:blipFill>
          </p:spPr>
          <p:txBody>
            <a:bodyPr/>
            <a:lstStyle/>
            <a:p>
              <a:endParaRPr lang="en-US"/>
            </a:p>
          </p:txBody>
        </p:sp>
        <p:sp>
          <p:nvSpPr>
            <p:cNvPr id="43" name="TextBox 43"/>
            <p:cNvSpPr txBox="1"/>
            <p:nvPr/>
          </p:nvSpPr>
          <p:spPr>
            <a:xfrm>
              <a:off x="0" y="-28575"/>
              <a:ext cx="10058400" cy="942975"/>
            </a:xfrm>
            <a:prstGeom prst="rect">
              <a:avLst/>
            </a:prstGeom>
          </p:spPr>
          <p:txBody>
            <a:bodyPr lIns="0" tIns="0" rIns="0" bIns="0" rtlCol="0" anchor="ctr"/>
            <a:lstStyle/>
            <a:p>
              <a:pPr algn="l">
                <a:lnSpc>
                  <a:spcPts val="1980"/>
                </a:lnSpc>
              </a:pPr>
              <a:r>
                <a:rPr lang="en-US" sz="1650">
                  <a:solidFill>
                    <a:srgbClr val="5B6B72"/>
                  </a:solidFill>
                  <a:latin typeface="Calibri (MS)"/>
                  <a:ea typeface="Calibri (MS)"/>
                  <a:cs typeface="Calibri (MS)"/>
                  <a:sym typeface="Calibri (MS)"/>
                </a:rPr>
                <a:t>ONNX / scikit-learn forecasting and anomaly detection</a:t>
              </a:r>
            </a:p>
          </p:txBody>
        </p:sp>
      </p:grpSp>
      <p:grpSp>
        <p:nvGrpSpPr>
          <p:cNvPr id="44" name="Group 44"/>
          <p:cNvGrpSpPr/>
          <p:nvPr/>
        </p:nvGrpSpPr>
        <p:grpSpPr>
          <a:xfrm>
            <a:off x="822960" y="8106156"/>
            <a:ext cx="548640" cy="548640"/>
            <a:chOff x="0" y="0"/>
            <a:chExt cx="731520" cy="731520"/>
          </a:xfrm>
        </p:grpSpPr>
        <p:sp>
          <p:nvSpPr>
            <p:cNvPr id="45" name="Freeform 45"/>
            <p:cNvSpPr/>
            <p:nvPr/>
          </p:nvSpPr>
          <p:spPr>
            <a:xfrm>
              <a:off x="0" y="0"/>
              <a:ext cx="731520" cy="731520"/>
            </a:xfrm>
            <a:custGeom>
              <a:avLst/>
              <a:gdLst/>
              <a:ahLst/>
              <a:cxnLst/>
              <a:rect l="l" t="t" r="r" b="b"/>
              <a:pathLst>
                <a:path w="731520" h="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40916C"/>
            </a:solidFill>
          </p:spPr>
          <p:txBody>
            <a:bodyPr/>
            <a:lstStyle/>
            <a:p>
              <a:endParaRPr lang="en-US"/>
            </a:p>
          </p:txBody>
        </p:sp>
      </p:grpSp>
      <p:grpSp>
        <p:nvGrpSpPr>
          <p:cNvPr id="46" name="Group 46"/>
          <p:cNvGrpSpPr/>
          <p:nvPr/>
        </p:nvGrpSpPr>
        <p:grpSpPr>
          <a:xfrm>
            <a:off x="822960" y="8106156"/>
            <a:ext cx="548640" cy="548640"/>
            <a:chOff x="0" y="0"/>
            <a:chExt cx="731520" cy="731520"/>
          </a:xfrm>
        </p:grpSpPr>
        <p:sp>
          <p:nvSpPr>
            <p:cNvPr id="47" name="Freeform 47"/>
            <p:cNvSpPr/>
            <p:nvPr/>
          </p:nvSpPr>
          <p:spPr>
            <a:xfrm>
              <a:off x="0" y="0"/>
              <a:ext cx="731520" cy="731520"/>
            </a:xfrm>
            <a:custGeom>
              <a:avLst/>
              <a:gdLst/>
              <a:ahLst/>
              <a:cxnLst/>
              <a:rect l="l" t="t" r="r" b="b"/>
              <a:pathLst>
                <a:path w="731520" h="731520">
                  <a:moveTo>
                    <a:pt x="0" y="0"/>
                  </a:moveTo>
                  <a:lnTo>
                    <a:pt x="731520" y="0"/>
                  </a:lnTo>
                  <a:lnTo>
                    <a:pt x="731520" y="731520"/>
                  </a:lnTo>
                  <a:lnTo>
                    <a:pt x="0" y="731520"/>
                  </a:lnTo>
                  <a:close/>
                </a:path>
              </a:pathLst>
            </a:custGeom>
            <a:blipFill>
              <a:blip r:embed="rId3">
                <a:alphaModFix amt="0"/>
              </a:blip>
              <a:stretch>
                <a:fillRect l="-78303" r="-78303"/>
              </a:stretch>
            </a:blipFill>
          </p:spPr>
          <p:txBody>
            <a:bodyPr/>
            <a:lstStyle/>
            <a:p>
              <a:endParaRPr lang="en-US"/>
            </a:p>
          </p:txBody>
        </p:sp>
        <p:sp>
          <p:nvSpPr>
            <p:cNvPr id="48" name="TextBox 48"/>
            <p:cNvSpPr txBox="1"/>
            <p:nvPr/>
          </p:nvSpPr>
          <p:spPr>
            <a:xfrm>
              <a:off x="0" y="-19050"/>
              <a:ext cx="731520" cy="750570"/>
            </a:xfrm>
            <a:prstGeom prst="rect">
              <a:avLst/>
            </a:prstGeom>
          </p:spPr>
          <p:txBody>
            <a:bodyPr lIns="0" tIns="0" rIns="0" bIns="0" rtlCol="0" anchor="ctr"/>
            <a:lstStyle/>
            <a:p>
              <a:pPr algn="ctr">
                <a:lnSpc>
                  <a:spcPts val="1872"/>
                </a:lnSpc>
              </a:pPr>
              <a:r>
                <a:rPr lang="en-US" sz="1560" b="1">
                  <a:solidFill>
                    <a:srgbClr val="FFFFFF"/>
                  </a:solidFill>
                  <a:latin typeface="Calibri (MS) Bold"/>
                  <a:ea typeface="Calibri (MS) Bold"/>
                  <a:cs typeface="Calibri (MS) Bold"/>
                  <a:sym typeface="Calibri (MS) Bold"/>
                </a:rPr>
                <a:t>•</a:t>
              </a:r>
            </a:p>
          </p:txBody>
        </p:sp>
      </p:grpSp>
      <p:grpSp>
        <p:nvGrpSpPr>
          <p:cNvPr id="49" name="Group 49"/>
          <p:cNvGrpSpPr/>
          <p:nvPr/>
        </p:nvGrpSpPr>
        <p:grpSpPr>
          <a:xfrm>
            <a:off x="1645920" y="8023860"/>
            <a:ext cx="7406640" cy="480060"/>
            <a:chOff x="0" y="0"/>
            <a:chExt cx="9875520" cy="640080"/>
          </a:xfrm>
        </p:grpSpPr>
        <p:sp>
          <p:nvSpPr>
            <p:cNvPr id="50" name="Freeform 50"/>
            <p:cNvSpPr/>
            <p:nvPr/>
          </p:nvSpPr>
          <p:spPr>
            <a:xfrm>
              <a:off x="0" y="0"/>
              <a:ext cx="9875520" cy="640080"/>
            </a:xfrm>
            <a:custGeom>
              <a:avLst/>
              <a:gdLst/>
              <a:ahLst/>
              <a:cxnLst/>
              <a:rect l="l" t="t" r="r" b="b"/>
              <a:pathLst>
                <a:path w="9875520" h="640080">
                  <a:moveTo>
                    <a:pt x="0" y="0"/>
                  </a:moveTo>
                  <a:lnTo>
                    <a:pt x="9875520" y="0"/>
                  </a:lnTo>
                  <a:lnTo>
                    <a:pt x="9875520" y="640080"/>
                  </a:lnTo>
                  <a:lnTo>
                    <a:pt x="0" y="640080"/>
                  </a:lnTo>
                  <a:close/>
                </a:path>
              </a:pathLst>
            </a:custGeom>
            <a:blipFill>
              <a:blip r:embed="rId3">
                <a:alphaModFix amt="0"/>
              </a:blip>
              <a:stretch>
                <a:fillRect t="-250626" b="-250626"/>
              </a:stretch>
            </a:blipFill>
          </p:spPr>
          <p:txBody>
            <a:bodyPr/>
            <a:lstStyle/>
            <a:p>
              <a:endParaRPr lang="en-US"/>
            </a:p>
          </p:txBody>
        </p:sp>
        <p:sp>
          <p:nvSpPr>
            <p:cNvPr id="51" name="TextBox 51"/>
            <p:cNvSpPr txBox="1"/>
            <p:nvPr/>
          </p:nvSpPr>
          <p:spPr>
            <a:xfrm>
              <a:off x="0" y="-38100"/>
              <a:ext cx="9875520" cy="678180"/>
            </a:xfrm>
            <a:prstGeom prst="rect">
              <a:avLst/>
            </a:prstGeom>
          </p:spPr>
          <p:txBody>
            <a:bodyPr lIns="0" tIns="0" rIns="0" bIns="0" rtlCol="0" anchor="ctr"/>
            <a:lstStyle/>
            <a:p>
              <a:pPr algn="l">
                <a:lnSpc>
                  <a:spcPts val="2430"/>
                </a:lnSpc>
              </a:pPr>
              <a:r>
                <a:rPr lang="en-US" sz="2025" b="1">
                  <a:solidFill>
                    <a:srgbClr val="0D1B2A"/>
                  </a:solidFill>
                  <a:latin typeface="Calibri (MS) Bold"/>
                  <a:ea typeface="Calibri (MS) Bold"/>
                  <a:cs typeface="Calibri (MS) Bold"/>
                  <a:sym typeface="Calibri (MS) Bold"/>
                </a:rPr>
                <a:t>Generative diagnostics</a:t>
              </a:r>
            </a:p>
          </p:txBody>
        </p:sp>
      </p:grpSp>
      <p:grpSp>
        <p:nvGrpSpPr>
          <p:cNvPr id="52" name="Group 52"/>
          <p:cNvGrpSpPr/>
          <p:nvPr/>
        </p:nvGrpSpPr>
        <p:grpSpPr>
          <a:xfrm>
            <a:off x="1645920" y="8490204"/>
            <a:ext cx="7543800" cy="685800"/>
            <a:chOff x="0" y="0"/>
            <a:chExt cx="10058400" cy="914400"/>
          </a:xfrm>
        </p:grpSpPr>
        <p:sp>
          <p:nvSpPr>
            <p:cNvPr id="53" name="Freeform 53"/>
            <p:cNvSpPr/>
            <p:nvPr/>
          </p:nvSpPr>
          <p:spPr>
            <a:xfrm>
              <a:off x="0" y="0"/>
              <a:ext cx="10058400" cy="914400"/>
            </a:xfrm>
            <a:custGeom>
              <a:avLst/>
              <a:gdLst/>
              <a:ahLst/>
              <a:cxnLst/>
              <a:rect l="l" t="t" r="r" b="b"/>
              <a:pathLst>
                <a:path w="10058400" h="914400">
                  <a:moveTo>
                    <a:pt x="0" y="0"/>
                  </a:moveTo>
                  <a:lnTo>
                    <a:pt x="10058400" y="0"/>
                  </a:lnTo>
                  <a:lnTo>
                    <a:pt x="10058400" y="914400"/>
                  </a:lnTo>
                  <a:lnTo>
                    <a:pt x="0" y="914400"/>
                  </a:lnTo>
                  <a:close/>
                </a:path>
              </a:pathLst>
            </a:custGeom>
            <a:blipFill>
              <a:blip r:embed="rId3">
                <a:alphaModFix amt="0"/>
              </a:blip>
              <a:stretch>
                <a:fillRect t="-164335" b="-164335"/>
              </a:stretch>
            </a:blipFill>
          </p:spPr>
          <p:txBody>
            <a:bodyPr/>
            <a:lstStyle/>
            <a:p>
              <a:endParaRPr lang="en-US"/>
            </a:p>
          </p:txBody>
        </p:sp>
        <p:sp>
          <p:nvSpPr>
            <p:cNvPr id="54" name="TextBox 54"/>
            <p:cNvSpPr txBox="1"/>
            <p:nvPr/>
          </p:nvSpPr>
          <p:spPr>
            <a:xfrm>
              <a:off x="0" y="-28575"/>
              <a:ext cx="10058400" cy="942975"/>
            </a:xfrm>
            <a:prstGeom prst="rect">
              <a:avLst/>
            </a:prstGeom>
          </p:spPr>
          <p:txBody>
            <a:bodyPr lIns="0" tIns="0" rIns="0" bIns="0" rtlCol="0" anchor="ctr"/>
            <a:lstStyle/>
            <a:p>
              <a:pPr algn="l">
                <a:lnSpc>
                  <a:spcPts val="1980"/>
                </a:lnSpc>
              </a:pPr>
              <a:r>
                <a:rPr lang="en-US" sz="1650">
                  <a:solidFill>
                    <a:srgbClr val="5B6B72"/>
                  </a:solidFill>
                  <a:latin typeface="Calibri (MS)"/>
                  <a:ea typeface="Calibri (MS)"/>
                  <a:cs typeface="Calibri (MS)"/>
                  <a:sym typeface="Calibri (MS)"/>
                </a:rPr>
                <a:t>Gemini + FAISS RAG produces step-by-step repair blueprints</a:t>
              </a:r>
            </a:p>
          </p:txBody>
        </p:sp>
      </p:grpSp>
      <p:grpSp>
        <p:nvGrpSpPr>
          <p:cNvPr id="55" name="Group 55"/>
          <p:cNvGrpSpPr/>
          <p:nvPr/>
        </p:nvGrpSpPr>
        <p:grpSpPr>
          <a:xfrm>
            <a:off x="9669780" y="2125980"/>
            <a:ext cx="7749540" cy="7543800"/>
            <a:chOff x="0" y="0"/>
            <a:chExt cx="10332720" cy="10058400"/>
          </a:xfrm>
        </p:grpSpPr>
        <p:sp>
          <p:nvSpPr>
            <p:cNvPr id="56" name="Freeform 56"/>
            <p:cNvSpPr/>
            <p:nvPr/>
          </p:nvSpPr>
          <p:spPr>
            <a:xfrm>
              <a:off x="0" y="0"/>
              <a:ext cx="10332720" cy="10058400"/>
            </a:xfrm>
            <a:custGeom>
              <a:avLst/>
              <a:gdLst/>
              <a:ahLst/>
              <a:cxnLst/>
              <a:rect l="l" t="t" r="r" b="b"/>
              <a:pathLst>
                <a:path w="10332720" h="10058400">
                  <a:moveTo>
                    <a:pt x="0" y="182880"/>
                  </a:moveTo>
                  <a:cubicBezTo>
                    <a:pt x="0" y="81915"/>
                    <a:pt x="81915" y="0"/>
                    <a:pt x="182880" y="0"/>
                  </a:cubicBezTo>
                  <a:lnTo>
                    <a:pt x="10149840" y="0"/>
                  </a:lnTo>
                  <a:cubicBezTo>
                    <a:pt x="10250805" y="0"/>
                    <a:pt x="10332720" y="81915"/>
                    <a:pt x="10332720" y="182880"/>
                  </a:cubicBezTo>
                  <a:lnTo>
                    <a:pt x="10332720" y="9875520"/>
                  </a:lnTo>
                  <a:cubicBezTo>
                    <a:pt x="10332720" y="9976485"/>
                    <a:pt x="10250805" y="10058400"/>
                    <a:pt x="10149840" y="10058400"/>
                  </a:cubicBezTo>
                  <a:lnTo>
                    <a:pt x="182880" y="10058400"/>
                  </a:lnTo>
                  <a:cubicBezTo>
                    <a:pt x="81915" y="10058400"/>
                    <a:pt x="0" y="9976485"/>
                    <a:pt x="0" y="9875520"/>
                  </a:cubicBezTo>
                  <a:close/>
                </a:path>
              </a:pathLst>
            </a:custGeom>
            <a:solidFill>
              <a:srgbClr val="0D1B2A"/>
            </a:solidFill>
          </p:spPr>
          <p:txBody>
            <a:bodyPr/>
            <a:lstStyle/>
            <a:p>
              <a:endParaRPr lang="en-US"/>
            </a:p>
          </p:txBody>
        </p:sp>
      </p:grpSp>
      <p:grpSp>
        <p:nvGrpSpPr>
          <p:cNvPr id="57" name="Group 57"/>
          <p:cNvGrpSpPr/>
          <p:nvPr/>
        </p:nvGrpSpPr>
        <p:grpSpPr>
          <a:xfrm>
            <a:off x="10149840" y="2537460"/>
            <a:ext cx="6858000" cy="480060"/>
            <a:chOff x="0" y="0"/>
            <a:chExt cx="9144000" cy="640080"/>
          </a:xfrm>
        </p:grpSpPr>
        <p:sp>
          <p:nvSpPr>
            <p:cNvPr id="58" name="Freeform 58"/>
            <p:cNvSpPr/>
            <p:nvPr/>
          </p:nvSpPr>
          <p:spPr>
            <a:xfrm>
              <a:off x="0" y="0"/>
              <a:ext cx="9144000" cy="640080"/>
            </a:xfrm>
            <a:custGeom>
              <a:avLst/>
              <a:gdLst/>
              <a:ahLst/>
              <a:cxnLst/>
              <a:rect l="l" t="t" r="r" b="b"/>
              <a:pathLst>
                <a:path w="9144000" h="640080">
                  <a:moveTo>
                    <a:pt x="0" y="0"/>
                  </a:moveTo>
                  <a:lnTo>
                    <a:pt x="9144000" y="0"/>
                  </a:lnTo>
                  <a:lnTo>
                    <a:pt x="9144000" y="640080"/>
                  </a:lnTo>
                  <a:lnTo>
                    <a:pt x="0" y="640080"/>
                  </a:lnTo>
                  <a:close/>
                </a:path>
              </a:pathLst>
            </a:custGeom>
            <a:blipFill>
              <a:blip r:embed="rId3">
                <a:alphaModFix amt="0"/>
              </a:blip>
              <a:stretch>
                <a:fillRect t="-228357" b="-228357"/>
              </a:stretch>
            </a:blipFill>
          </p:spPr>
          <p:txBody>
            <a:bodyPr/>
            <a:lstStyle/>
            <a:p>
              <a:endParaRPr lang="en-US"/>
            </a:p>
          </p:txBody>
        </p:sp>
        <p:sp>
          <p:nvSpPr>
            <p:cNvPr id="59" name="TextBox 59"/>
            <p:cNvSpPr txBox="1"/>
            <p:nvPr/>
          </p:nvSpPr>
          <p:spPr>
            <a:xfrm>
              <a:off x="0" y="-38100"/>
              <a:ext cx="9144000" cy="678180"/>
            </a:xfrm>
            <a:prstGeom prst="rect">
              <a:avLst/>
            </a:prstGeom>
          </p:spPr>
          <p:txBody>
            <a:bodyPr lIns="0" tIns="0" rIns="0" bIns="0" rtlCol="0" anchor="ctr"/>
            <a:lstStyle/>
            <a:p>
              <a:pPr algn="l">
                <a:lnSpc>
                  <a:spcPts val="2070"/>
                </a:lnSpc>
              </a:pPr>
              <a:r>
                <a:rPr lang="en-US" sz="1725" b="1" spc="225">
                  <a:solidFill>
                    <a:srgbClr val="74C69D"/>
                  </a:solidFill>
                  <a:latin typeface="Calibri (MS) Bold"/>
                  <a:ea typeface="Calibri (MS) Bold"/>
                  <a:cs typeface="Calibri (MS) Bold"/>
                  <a:sym typeface="Calibri (MS) Bold"/>
                </a:rPr>
                <a:t>PLATFORM AT A GLANCE</a:t>
              </a:r>
            </a:p>
          </p:txBody>
        </p:sp>
      </p:grpSp>
      <p:grpSp>
        <p:nvGrpSpPr>
          <p:cNvPr id="60" name="Group 60"/>
          <p:cNvGrpSpPr/>
          <p:nvPr/>
        </p:nvGrpSpPr>
        <p:grpSpPr>
          <a:xfrm>
            <a:off x="10149840" y="3223260"/>
            <a:ext cx="6789420" cy="987552"/>
            <a:chOff x="0" y="0"/>
            <a:chExt cx="9052560" cy="1316736"/>
          </a:xfrm>
        </p:grpSpPr>
        <p:sp>
          <p:nvSpPr>
            <p:cNvPr id="61" name="Freeform 61"/>
            <p:cNvSpPr/>
            <p:nvPr/>
          </p:nvSpPr>
          <p:spPr>
            <a:xfrm>
              <a:off x="0" y="0"/>
              <a:ext cx="9052560" cy="1316736"/>
            </a:xfrm>
            <a:custGeom>
              <a:avLst/>
              <a:gdLst/>
              <a:ahLst/>
              <a:cxnLst/>
              <a:rect l="l" t="t" r="r" b="b"/>
              <a:pathLst>
                <a:path w="9052560" h="1316736">
                  <a:moveTo>
                    <a:pt x="0" y="109728"/>
                  </a:moveTo>
                  <a:cubicBezTo>
                    <a:pt x="0" y="49149"/>
                    <a:pt x="49149" y="0"/>
                    <a:pt x="109728" y="0"/>
                  </a:cubicBezTo>
                  <a:lnTo>
                    <a:pt x="8942832" y="0"/>
                  </a:lnTo>
                  <a:cubicBezTo>
                    <a:pt x="9003411" y="0"/>
                    <a:pt x="9052560" y="49149"/>
                    <a:pt x="9052560" y="109728"/>
                  </a:cubicBezTo>
                  <a:lnTo>
                    <a:pt x="9052560" y="1207008"/>
                  </a:lnTo>
                  <a:cubicBezTo>
                    <a:pt x="9052560" y="1267587"/>
                    <a:pt x="9003411" y="1316736"/>
                    <a:pt x="8942832" y="1316736"/>
                  </a:cubicBezTo>
                  <a:lnTo>
                    <a:pt x="109728" y="1316736"/>
                  </a:lnTo>
                  <a:cubicBezTo>
                    <a:pt x="49149" y="1316736"/>
                    <a:pt x="0" y="1267587"/>
                    <a:pt x="0" y="1207008"/>
                  </a:cubicBezTo>
                  <a:close/>
                </a:path>
              </a:pathLst>
            </a:custGeom>
            <a:solidFill>
              <a:srgbClr val="16273D"/>
            </a:solidFill>
          </p:spPr>
          <p:txBody>
            <a:bodyPr/>
            <a:lstStyle/>
            <a:p>
              <a:endParaRPr lang="en-US"/>
            </a:p>
          </p:txBody>
        </p:sp>
      </p:grpSp>
      <p:grpSp>
        <p:nvGrpSpPr>
          <p:cNvPr id="62" name="Group 62"/>
          <p:cNvGrpSpPr/>
          <p:nvPr/>
        </p:nvGrpSpPr>
        <p:grpSpPr>
          <a:xfrm>
            <a:off x="10355580" y="3223260"/>
            <a:ext cx="548640" cy="987552"/>
            <a:chOff x="0" y="0"/>
            <a:chExt cx="731520" cy="1316736"/>
          </a:xfrm>
        </p:grpSpPr>
        <p:sp>
          <p:nvSpPr>
            <p:cNvPr id="63" name="Freeform 63"/>
            <p:cNvSpPr/>
            <p:nvPr/>
          </p:nvSpPr>
          <p:spPr>
            <a:xfrm>
              <a:off x="0" y="0"/>
              <a:ext cx="731520" cy="1316736"/>
            </a:xfrm>
            <a:custGeom>
              <a:avLst/>
              <a:gdLst/>
              <a:ahLst/>
              <a:cxnLst/>
              <a:rect l="l" t="t" r="r" b="b"/>
              <a:pathLst>
                <a:path w="731520" h="1316736">
                  <a:moveTo>
                    <a:pt x="0" y="0"/>
                  </a:moveTo>
                  <a:lnTo>
                    <a:pt x="731520" y="0"/>
                  </a:lnTo>
                  <a:lnTo>
                    <a:pt x="731520" y="1316736"/>
                  </a:lnTo>
                  <a:lnTo>
                    <a:pt x="0" y="1316736"/>
                  </a:lnTo>
                  <a:close/>
                </a:path>
              </a:pathLst>
            </a:custGeom>
            <a:blipFill>
              <a:blip r:embed="rId3">
                <a:alphaModFix amt="0"/>
              </a:blip>
              <a:stretch>
                <a:fillRect l="-180946" r="-180946"/>
              </a:stretch>
            </a:blipFill>
          </p:spPr>
          <p:txBody>
            <a:bodyPr/>
            <a:lstStyle/>
            <a:p>
              <a:endParaRPr lang="en-US"/>
            </a:p>
          </p:txBody>
        </p:sp>
        <p:sp>
          <p:nvSpPr>
            <p:cNvPr id="64" name="TextBox 64"/>
            <p:cNvSpPr txBox="1"/>
            <p:nvPr/>
          </p:nvSpPr>
          <p:spPr>
            <a:xfrm>
              <a:off x="0" y="-19050"/>
              <a:ext cx="731520" cy="1335786"/>
            </a:xfrm>
            <a:prstGeom prst="rect">
              <a:avLst/>
            </a:prstGeom>
          </p:spPr>
          <p:txBody>
            <a:bodyPr lIns="0" tIns="0" rIns="0" bIns="0" rtlCol="0" anchor="ctr"/>
            <a:lstStyle/>
            <a:p>
              <a:pPr algn="ctr">
                <a:lnSpc>
                  <a:spcPts val="2700"/>
                </a:lnSpc>
              </a:pPr>
              <a:r>
                <a:rPr lang="en-US" sz="2250" b="1">
                  <a:solidFill>
                    <a:srgbClr val="FFB703"/>
                  </a:solidFill>
                  <a:latin typeface="Cambria Bold"/>
                  <a:ea typeface="Cambria Bold"/>
                  <a:cs typeface="Cambria Bold"/>
                  <a:sym typeface="Cambria Bold"/>
                </a:rPr>
                <a:t>1</a:t>
              </a:r>
            </a:p>
          </p:txBody>
        </p:sp>
      </p:grpSp>
      <p:grpSp>
        <p:nvGrpSpPr>
          <p:cNvPr id="65" name="Group 65"/>
          <p:cNvGrpSpPr/>
          <p:nvPr/>
        </p:nvGrpSpPr>
        <p:grpSpPr>
          <a:xfrm>
            <a:off x="11041380" y="3305556"/>
            <a:ext cx="5692140" cy="438912"/>
            <a:chOff x="0" y="0"/>
            <a:chExt cx="7589520" cy="585216"/>
          </a:xfrm>
        </p:grpSpPr>
        <p:sp>
          <p:nvSpPr>
            <p:cNvPr id="66" name="Freeform 66"/>
            <p:cNvSpPr/>
            <p:nvPr/>
          </p:nvSpPr>
          <p:spPr>
            <a:xfrm>
              <a:off x="0" y="0"/>
              <a:ext cx="7589520" cy="585216"/>
            </a:xfrm>
            <a:custGeom>
              <a:avLst/>
              <a:gdLst/>
              <a:ahLst/>
              <a:cxnLst/>
              <a:rect l="l" t="t" r="r" b="b"/>
              <a:pathLst>
                <a:path w="7589520" h="585216">
                  <a:moveTo>
                    <a:pt x="0" y="0"/>
                  </a:moveTo>
                  <a:lnTo>
                    <a:pt x="7589520" y="0"/>
                  </a:lnTo>
                  <a:lnTo>
                    <a:pt x="7589520" y="585216"/>
                  </a:lnTo>
                  <a:lnTo>
                    <a:pt x="0" y="585216"/>
                  </a:lnTo>
                  <a:close/>
                </a:path>
              </a:pathLst>
            </a:custGeom>
            <a:blipFill>
              <a:blip r:embed="rId3">
                <a:alphaModFix amt="0"/>
              </a:blip>
              <a:stretch>
                <a:fillRect t="-202696" b="-202696"/>
              </a:stretch>
            </a:blipFill>
          </p:spPr>
          <p:txBody>
            <a:bodyPr/>
            <a:lstStyle/>
            <a:p>
              <a:endParaRPr lang="en-US"/>
            </a:p>
          </p:txBody>
        </p:sp>
        <p:sp>
          <p:nvSpPr>
            <p:cNvPr id="67" name="TextBox 67"/>
            <p:cNvSpPr txBox="1"/>
            <p:nvPr/>
          </p:nvSpPr>
          <p:spPr>
            <a:xfrm>
              <a:off x="0" y="-38100"/>
              <a:ext cx="7589520" cy="623316"/>
            </a:xfrm>
            <a:prstGeom prst="rect">
              <a:avLst/>
            </a:prstGeom>
          </p:spPr>
          <p:txBody>
            <a:bodyPr lIns="0" tIns="0" rIns="0" bIns="0" rtlCol="0" anchor="ctr"/>
            <a:lstStyle/>
            <a:p>
              <a:pPr algn="l">
                <a:lnSpc>
                  <a:spcPts val="2250"/>
                </a:lnSpc>
              </a:pPr>
              <a:r>
                <a:rPr lang="en-US" sz="1875" b="1">
                  <a:solidFill>
                    <a:srgbClr val="FFFFFF"/>
                  </a:solidFill>
                  <a:latin typeface="Calibri (MS) Bold"/>
                  <a:ea typeface="Calibri (MS) Bold"/>
                  <a:cs typeface="Calibri (MS) Bold"/>
                  <a:sym typeface="Calibri (MS) Bold"/>
                </a:rPr>
                <a:t>Simulation / Kafka</a:t>
              </a:r>
            </a:p>
          </p:txBody>
        </p:sp>
      </p:grpSp>
      <p:grpSp>
        <p:nvGrpSpPr>
          <p:cNvPr id="68" name="Group 68"/>
          <p:cNvGrpSpPr/>
          <p:nvPr/>
        </p:nvGrpSpPr>
        <p:grpSpPr>
          <a:xfrm>
            <a:off x="11041380" y="3717036"/>
            <a:ext cx="5760720" cy="438912"/>
            <a:chOff x="0" y="0"/>
            <a:chExt cx="7680960" cy="585216"/>
          </a:xfrm>
        </p:grpSpPr>
        <p:sp>
          <p:nvSpPr>
            <p:cNvPr id="69" name="Freeform 69"/>
            <p:cNvSpPr/>
            <p:nvPr/>
          </p:nvSpPr>
          <p:spPr>
            <a:xfrm>
              <a:off x="0" y="0"/>
              <a:ext cx="7680960" cy="585216"/>
            </a:xfrm>
            <a:custGeom>
              <a:avLst/>
              <a:gdLst/>
              <a:ahLst/>
              <a:cxnLst/>
              <a:rect l="l" t="t" r="r" b="b"/>
              <a:pathLst>
                <a:path w="7680960" h="585216">
                  <a:moveTo>
                    <a:pt x="0" y="0"/>
                  </a:moveTo>
                  <a:lnTo>
                    <a:pt x="7680960" y="0"/>
                  </a:lnTo>
                  <a:lnTo>
                    <a:pt x="7680960" y="585216"/>
                  </a:lnTo>
                  <a:lnTo>
                    <a:pt x="0" y="585216"/>
                  </a:lnTo>
                  <a:close/>
                </a:path>
              </a:pathLst>
            </a:custGeom>
            <a:blipFill>
              <a:blip r:embed="rId3">
                <a:alphaModFix amt="0"/>
              </a:blip>
              <a:stretch>
                <a:fillRect t="-205741" b="-205741"/>
              </a:stretch>
            </a:blipFill>
          </p:spPr>
          <p:txBody>
            <a:bodyPr/>
            <a:lstStyle/>
            <a:p>
              <a:endParaRPr lang="en-US"/>
            </a:p>
          </p:txBody>
        </p:sp>
        <p:sp>
          <p:nvSpPr>
            <p:cNvPr id="70" name="TextBox 70"/>
            <p:cNvSpPr txBox="1"/>
            <p:nvPr/>
          </p:nvSpPr>
          <p:spPr>
            <a:xfrm>
              <a:off x="0" y="-38100"/>
              <a:ext cx="7680960" cy="623316"/>
            </a:xfrm>
            <a:prstGeom prst="rect">
              <a:avLst/>
            </a:prstGeom>
          </p:spPr>
          <p:txBody>
            <a:bodyPr lIns="0" tIns="0" rIns="0" bIns="0" rtlCol="0" anchor="ctr"/>
            <a:lstStyle/>
            <a:p>
              <a:pPr algn="l">
                <a:lnSpc>
                  <a:spcPts val="1709"/>
                </a:lnSpc>
              </a:pPr>
              <a:r>
                <a:rPr lang="en-US" sz="1425">
                  <a:solidFill>
                    <a:srgbClr val="AEBFB6"/>
                  </a:solidFill>
                  <a:latin typeface="Calibri (MS)"/>
                  <a:ea typeface="Calibri (MS)"/>
                  <a:cs typeface="Calibri (MS)"/>
                  <a:sym typeface="Calibri (MS)"/>
                </a:rPr>
                <a:t>Ingests synthetic sensor data</a:t>
              </a:r>
            </a:p>
          </p:txBody>
        </p:sp>
      </p:grpSp>
      <p:grpSp>
        <p:nvGrpSpPr>
          <p:cNvPr id="71" name="Group 71"/>
          <p:cNvGrpSpPr/>
          <p:nvPr/>
        </p:nvGrpSpPr>
        <p:grpSpPr>
          <a:xfrm>
            <a:off x="10149840" y="4347972"/>
            <a:ext cx="6789420" cy="987552"/>
            <a:chOff x="0" y="0"/>
            <a:chExt cx="9052560" cy="1316736"/>
          </a:xfrm>
        </p:grpSpPr>
        <p:sp>
          <p:nvSpPr>
            <p:cNvPr id="72" name="Freeform 72"/>
            <p:cNvSpPr/>
            <p:nvPr/>
          </p:nvSpPr>
          <p:spPr>
            <a:xfrm>
              <a:off x="0" y="0"/>
              <a:ext cx="9052560" cy="1316736"/>
            </a:xfrm>
            <a:custGeom>
              <a:avLst/>
              <a:gdLst/>
              <a:ahLst/>
              <a:cxnLst/>
              <a:rect l="l" t="t" r="r" b="b"/>
              <a:pathLst>
                <a:path w="9052560" h="1316736">
                  <a:moveTo>
                    <a:pt x="0" y="109728"/>
                  </a:moveTo>
                  <a:cubicBezTo>
                    <a:pt x="0" y="49149"/>
                    <a:pt x="49149" y="0"/>
                    <a:pt x="109728" y="0"/>
                  </a:cubicBezTo>
                  <a:lnTo>
                    <a:pt x="8942832" y="0"/>
                  </a:lnTo>
                  <a:cubicBezTo>
                    <a:pt x="9003411" y="0"/>
                    <a:pt x="9052560" y="49149"/>
                    <a:pt x="9052560" y="109728"/>
                  </a:cubicBezTo>
                  <a:lnTo>
                    <a:pt x="9052560" y="1207008"/>
                  </a:lnTo>
                  <a:cubicBezTo>
                    <a:pt x="9052560" y="1267587"/>
                    <a:pt x="9003411" y="1316736"/>
                    <a:pt x="8942832" y="1316736"/>
                  </a:cubicBezTo>
                  <a:lnTo>
                    <a:pt x="109728" y="1316736"/>
                  </a:lnTo>
                  <a:cubicBezTo>
                    <a:pt x="49149" y="1316736"/>
                    <a:pt x="0" y="1267587"/>
                    <a:pt x="0" y="1207008"/>
                  </a:cubicBezTo>
                  <a:close/>
                </a:path>
              </a:pathLst>
            </a:custGeom>
            <a:solidFill>
              <a:srgbClr val="16273D"/>
            </a:solidFill>
          </p:spPr>
          <p:txBody>
            <a:bodyPr/>
            <a:lstStyle/>
            <a:p>
              <a:endParaRPr lang="en-US"/>
            </a:p>
          </p:txBody>
        </p:sp>
      </p:grpSp>
      <p:grpSp>
        <p:nvGrpSpPr>
          <p:cNvPr id="73" name="Group 73"/>
          <p:cNvGrpSpPr/>
          <p:nvPr/>
        </p:nvGrpSpPr>
        <p:grpSpPr>
          <a:xfrm>
            <a:off x="10355580" y="4347972"/>
            <a:ext cx="548640" cy="987552"/>
            <a:chOff x="0" y="0"/>
            <a:chExt cx="731520" cy="1316736"/>
          </a:xfrm>
        </p:grpSpPr>
        <p:sp>
          <p:nvSpPr>
            <p:cNvPr id="74" name="Freeform 74"/>
            <p:cNvSpPr/>
            <p:nvPr/>
          </p:nvSpPr>
          <p:spPr>
            <a:xfrm>
              <a:off x="0" y="0"/>
              <a:ext cx="731520" cy="1316736"/>
            </a:xfrm>
            <a:custGeom>
              <a:avLst/>
              <a:gdLst/>
              <a:ahLst/>
              <a:cxnLst/>
              <a:rect l="l" t="t" r="r" b="b"/>
              <a:pathLst>
                <a:path w="731520" h="1316736">
                  <a:moveTo>
                    <a:pt x="0" y="0"/>
                  </a:moveTo>
                  <a:lnTo>
                    <a:pt x="731520" y="0"/>
                  </a:lnTo>
                  <a:lnTo>
                    <a:pt x="731520" y="1316736"/>
                  </a:lnTo>
                  <a:lnTo>
                    <a:pt x="0" y="1316736"/>
                  </a:lnTo>
                  <a:close/>
                </a:path>
              </a:pathLst>
            </a:custGeom>
            <a:blipFill>
              <a:blip r:embed="rId3">
                <a:alphaModFix amt="0"/>
              </a:blip>
              <a:stretch>
                <a:fillRect l="-180946" r="-180946"/>
              </a:stretch>
            </a:blipFill>
          </p:spPr>
          <p:txBody>
            <a:bodyPr/>
            <a:lstStyle/>
            <a:p>
              <a:endParaRPr lang="en-US"/>
            </a:p>
          </p:txBody>
        </p:sp>
        <p:sp>
          <p:nvSpPr>
            <p:cNvPr id="75" name="TextBox 75"/>
            <p:cNvSpPr txBox="1"/>
            <p:nvPr/>
          </p:nvSpPr>
          <p:spPr>
            <a:xfrm>
              <a:off x="0" y="-19050"/>
              <a:ext cx="731520" cy="1335786"/>
            </a:xfrm>
            <a:prstGeom prst="rect">
              <a:avLst/>
            </a:prstGeom>
          </p:spPr>
          <p:txBody>
            <a:bodyPr lIns="0" tIns="0" rIns="0" bIns="0" rtlCol="0" anchor="ctr"/>
            <a:lstStyle/>
            <a:p>
              <a:pPr algn="ctr">
                <a:lnSpc>
                  <a:spcPts val="2700"/>
                </a:lnSpc>
              </a:pPr>
              <a:r>
                <a:rPr lang="en-US" sz="2250" b="1">
                  <a:solidFill>
                    <a:srgbClr val="FFB703"/>
                  </a:solidFill>
                  <a:latin typeface="Cambria Bold"/>
                  <a:ea typeface="Cambria Bold"/>
                  <a:cs typeface="Cambria Bold"/>
                  <a:sym typeface="Cambria Bold"/>
                </a:rPr>
                <a:t>2</a:t>
              </a:r>
            </a:p>
          </p:txBody>
        </p:sp>
      </p:grpSp>
      <p:grpSp>
        <p:nvGrpSpPr>
          <p:cNvPr id="76" name="Group 76"/>
          <p:cNvGrpSpPr/>
          <p:nvPr/>
        </p:nvGrpSpPr>
        <p:grpSpPr>
          <a:xfrm>
            <a:off x="11041380" y="4430268"/>
            <a:ext cx="5692140" cy="438912"/>
            <a:chOff x="0" y="0"/>
            <a:chExt cx="7589520" cy="585216"/>
          </a:xfrm>
        </p:grpSpPr>
        <p:sp>
          <p:nvSpPr>
            <p:cNvPr id="77" name="Freeform 77"/>
            <p:cNvSpPr/>
            <p:nvPr/>
          </p:nvSpPr>
          <p:spPr>
            <a:xfrm>
              <a:off x="0" y="0"/>
              <a:ext cx="7589520" cy="585216"/>
            </a:xfrm>
            <a:custGeom>
              <a:avLst/>
              <a:gdLst/>
              <a:ahLst/>
              <a:cxnLst/>
              <a:rect l="l" t="t" r="r" b="b"/>
              <a:pathLst>
                <a:path w="7589520" h="585216">
                  <a:moveTo>
                    <a:pt x="0" y="0"/>
                  </a:moveTo>
                  <a:lnTo>
                    <a:pt x="7589520" y="0"/>
                  </a:lnTo>
                  <a:lnTo>
                    <a:pt x="7589520" y="585216"/>
                  </a:lnTo>
                  <a:lnTo>
                    <a:pt x="0" y="585216"/>
                  </a:lnTo>
                  <a:close/>
                </a:path>
              </a:pathLst>
            </a:custGeom>
            <a:blipFill>
              <a:blip r:embed="rId3">
                <a:alphaModFix amt="0"/>
              </a:blip>
              <a:stretch>
                <a:fillRect t="-202696" b="-202696"/>
              </a:stretch>
            </a:blipFill>
          </p:spPr>
          <p:txBody>
            <a:bodyPr/>
            <a:lstStyle/>
            <a:p>
              <a:endParaRPr lang="en-US"/>
            </a:p>
          </p:txBody>
        </p:sp>
        <p:sp>
          <p:nvSpPr>
            <p:cNvPr id="78" name="TextBox 78"/>
            <p:cNvSpPr txBox="1"/>
            <p:nvPr/>
          </p:nvSpPr>
          <p:spPr>
            <a:xfrm>
              <a:off x="0" y="-38100"/>
              <a:ext cx="7589520" cy="623316"/>
            </a:xfrm>
            <a:prstGeom prst="rect">
              <a:avLst/>
            </a:prstGeom>
          </p:spPr>
          <p:txBody>
            <a:bodyPr lIns="0" tIns="0" rIns="0" bIns="0" rtlCol="0" anchor="ctr"/>
            <a:lstStyle/>
            <a:p>
              <a:pPr algn="l">
                <a:lnSpc>
                  <a:spcPts val="2250"/>
                </a:lnSpc>
              </a:pPr>
              <a:r>
                <a:rPr lang="en-US" sz="1875" b="1">
                  <a:solidFill>
                    <a:srgbClr val="FFFFFF"/>
                  </a:solidFill>
                  <a:latin typeface="Calibri (MS) Bold"/>
                  <a:ea typeface="Calibri (MS) Bold"/>
                  <a:cs typeface="Calibri (MS) Bold"/>
                  <a:sym typeface="Calibri (MS) Bold"/>
                </a:rPr>
                <a:t>TimescaleDB</a:t>
              </a:r>
            </a:p>
          </p:txBody>
        </p:sp>
      </p:grpSp>
      <p:grpSp>
        <p:nvGrpSpPr>
          <p:cNvPr id="79" name="Group 79"/>
          <p:cNvGrpSpPr/>
          <p:nvPr/>
        </p:nvGrpSpPr>
        <p:grpSpPr>
          <a:xfrm>
            <a:off x="11041380" y="4841748"/>
            <a:ext cx="5760720" cy="438912"/>
            <a:chOff x="0" y="0"/>
            <a:chExt cx="7680960" cy="585216"/>
          </a:xfrm>
        </p:grpSpPr>
        <p:sp>
          <p:nvSpPr>
            <p:cNvPr id="80" name="Freeform 80"/>
            <p:cNvSpPr/>
            <p:nvPr/>
          </p:nvSpPr>
          <p:spPr>
            <a:xfrm>
              <a:off x="0" y="0"/>
              <a:ext cx="7680960" cy="585216"/>
            </a:xfrm>
            <a:custGeom>
              <a:avLst/>
              <a:gdLst/>
              <a:ahLst/>
              <a:cxnLst/>
              <a:rect l="l" t="t" r="r" b="b"/>
              <a:pathLst>
                <a:path w="7680960" h="585216">
                  <a:moveTo>
                    <a:pt x="0" y="0"/>
                  </a:moveTo>
                  <a:lnTo>
                    <a:pt x="7680960" y="0"/>
                  </a:lnTo>
                  <a:lnTo>
                    <a:pt x="7680960" y="585216"/>
                  </a:lnTo>
                  <a:lnTo>
                    <a:pt x="0" y="585216"/>
                  </a:lnTo>
                  <a:close/>
                </a:path>
              </a:pathLst>
            </a:custGeom>
            <a:blipFill>
              <a:blip r:embed="rId3">
                <a:alphaModFix amt="0"/>
              </a:blip>
              <a:stretch>
                <a:fillRect t="-205741" b="-205741"/>
              </a:stretch>
            </a:blipFill>
          </p:spPr>
          <p:txBody>
            <a:bodyPr/>
            <a:lstStyle/>
            <a:p>
              <a:endParaRPr lang="en-US"/>
            </a:p>
          </p:txBody>
        </p:sp>
        <p:sp>
          <p:nvSpPr>
            <p:cNvPr id="81" name="TextBox 81"/>
            <p:cNvSpPr txBox="1"/>
            <p:nvPr/>
          </p:nvSpPr>
          <p:spPr>
            <a:xfrm>
              <a:off x="0" y="-38100"/>
              <a:ext cx="7680960" cy="623316"/>
            </a:xfrm>
            <a:prstGeom prst="rect">
              <a:avLst/>
            </a:prstGeom>
          </p:spPr>
          <p:txBody>
            <a:bodyPr lIns="0" tIns="0" rIns="0" bIns="0" rtlCol="0" anchor="ctr"/>
            <a:lstStyle/>
            <a:p>
              <a:pPr algn="l">
                <a:lnSpc>
                  <a:spcPts val="1709"/>
                </a:lnSpc>
              </a:pPr>
              <a:r>
                <a:rPr lang="en-US" sz="1425">
                  <a:solidFill>
                    <a:srgbClr val="AEBFB6"/>
                  </a:solidFill>
                  <a:latin typeface="Calibri (MS)"/>
                  <a:ea typeface="Calibri (MS)"/>
                  <a:cs typeface="Calibri (MS)"/>
                  <a:sym typeface="Calibri (MS)"/>
                </a:rPr>
                <a:t>Stores time-series telemetry</a:t>
              </a:r>
            </a:p>
          </p:txBody>
        </p:sp>
      </p:grpSp>
      <p:grpSp>
        <p:nvGrpSpPr>
          <p:cNvPr id="82" name="Group 82"/>
          <p:cNvGrpSpPr/>
          <p:nvPr/>
        </p:nvGrpSpPr>
        <p:grpSpPr>
          <a:xfrm>
            <a:off x="10149840" y="5472684"/>
            <a:ext cx="6789420" cy="987552"/>
            <a:chOff x="0" y="0"/>
            <a:chExt cx="9052560" cy="1316736"/>
          </a:xfrm>
        </p:grpSpPr>
        <p:sp>
          <p:nvSpPr>
            <p:cNvPr id="83" name="Freeform 83"/>
            <p:cNvSpPr/>
            <p:nvPr/>
          </p:nvSpPr>
          <p:spPr>
            <a:xfrm>
              <a:off x="0" y="0"/>
              <a:ext cx="9052560" cy="1316736"/>
            </a:xfrm>
            <a:custGeom>
              <a:avLst/>
              <a:gdLst/>
              <a:ahLst/>
              <a:cxnLst/>
              <a:rect l="l" t="t" r="r" b="b"/>
              <a:pathLst>
                <a:path w="9052560" h="1316736">
                  <a:moveTo>
                    <a:pt x="0" y="109728"/>
                  </a:moveTo>
                  <a:cubicBezTo>
                    <a:pt x="0" y="49149"/>
                    <a:pt x="49149" y="0"/>
                    <a:pt x="109728" y="0"/>
                  </a:cubicBezTo>
                  <a:lnTo>
                    <a:pt x="8942832" y="0"/>
                  </a:lnTo>
                  <a:cubicBezTo>
                    <a:pt x="9003411" y="0"/>
                    <a:pt x="9052560" y="49149"/>
                    <a:pt x="9052560" y="109728"/>
                  </a:cubicBezTo>
                  <a:lnTo>
                    <a:pt x="9052560" y="1207008"/>
                  </a:lnTo>
                  <a:cubicBezTo>
                    <a:pt x="9052560" y="1267587"/>
                    <a:pt x="9003411" y="1316736"/>
                    <a:pt x="8942832" y="1316736"/>
                  </a:cubicBezTo>
                  <a:lnTo>
                    <a:pt x="109728" y="1316736"/>
                  </a:lnTo>
                  <a:cubicBezTo>
                    <a:pt x="49149" y="1316736"/>
                    <a:pt x="0" y="1267587"/>
                    <a:pt x="0" y="1207008"/>
                  </a:cubicBezTo>
                  <a:close/>
                </a:path>
              </a:pathLst>
            </a:custGeom>
            <a:solidFill>
              <a:srgbClr val="16273D"/>
            </a:solidFill>
          </p:spPr>
          <p:txBody>
            <a:bodyPr/>
            <a:lstStyle/>
            <a:p>
              <a:endParaRPr lang="en-US"/>
            </a:p>
          </p:txBody>
        </p:sp>
      </p:grpSp>
      <p:grpSp>
        <p:nvGrpSpPr>
          <p:cNvPr id="84" name="Group 84"/>
          <p:cNvGrpSpPr/>
          <p:nvPr/>
        </p:nvGrpSpPr>
        <p:grpSpPr>
          <a:xfrm>
            <a:off x="10355580" y="5472684"/>
            <a:ext cx="548640" cy="987552"/>
            <a:chOff x="0" y="0"/>
            <a:chExt cx="731520" cy="1316736"/>
          </a:xfrm>
        </p:grpSpPr>
        <p:sp>
          <p:nvSpPr>
            <p:cNvPr id="85" name="Freeform 85"/>
            <p:cNvSpPr/>
            <p:nvPr/>
          </p:nvSpPr>
          <p:spPr>
            <a:xfrm>
              <a:off x="0" y="0"/>
              <a:ext cx="731520" cy="1316736"/>
            </a:xfrm>
            <a:custGeom>
              <a:avLst/>
              <a:gdLst/>
              <a:ahLst/>
              <a:cxnLst/>
              <a:rect l="l" t="t" r="r" b="b"/>
              <a:pathLst>
                <a:path w="731520" h="1316736">
                  <a:moveTo>
                    <a:pt x="0" y="0"/>
                  </a:moveTo>
                  <a:lnTo>
                    <a:pt x="731520" y="0"/>
                  </a:lnTo>
                  <a:lnTo>
                    <a:pt x="731520" y="1316736"/>
                  </a:lnTo>
                  <a:lnTo>
                    <a:pt x="0" y="1316736"/>
                  </a:lnTo>
                  <a:close/>
                </a:path>
              </a:pathLst>
            </a:custGeom>
            <a:blipFill>
              <a:blip r:embed="rId3">
                <a:alphaModFix amt="0"/>
              </a:blip>
              <a:stretch>
                <a:fillRect l="-180946" r="-180946"/>
              </a:stretch>
            </a:blipFill>
          </p:spPr>
          <p:txBody>
            <a:bodyPr/>
            <a:lstStyle/>
            <a:p>
              <a:endParaRPr lang="en-US"/>
            </a:p>
          </p:txBody>
        </p:sp>
        <p:sp>
          <p:nvSpPr>
            <p:cNvPr id="86" name="TextBox 86"/>
            <p:cNvSpPr txBox="1"/>
            <p:nvPr/>
          </p:nvSpPr>
          <p:spPr>
            <a:xfrm>
              <a:off x="0" y="-19050"/>
              <a:ext cx="731520" cy="1335786"/>
            </a:xfrm>
            <a:prstGeom prst="rect">
              <a:avLst/>
            </a:prstGeom>
          </p:spPr>
          <p:txBody>
            <a:bodyPr lIns="0" tIns="0" rIns="0" bIns="0" rtlCol="0" anchor="ctr"/>
            <a:lstStyle/>
            <a:p>
              <a:pPr algn="ctr">
                <a:lnSpc>
                  <a:spcPts val="2700"/>
                </a:lnSpc>
              </a:pPr>
              <a:r>
                <a:rPr lang="en-US" sz="2250" b="1">
                  <a:solidFill>
                    <a:srgbClr val="FFB703"/>
                  </a:solidFill>
                  <a:latin typeface="Cambria Bold"/>
                  <a:ea typeface="Cambria Bold"/>
                  <a:cs typeface="Cambria Bold"/>
                  <a:sym typeface="Cambria Bold"/>
                </a:rPr>
                <a:t>3</a:t>
              </a:r>
            </a:p>
          </p:txBody>
        </p:sp>
      </p:grpSp>
      <p:grpSp>
        <p:nvGrpSpPr>
          <p:cNvPr id="87" name="Group 87"/>
          <p:cNvGrpSpPr/>
          <p:nvPr/>
        </p:nvGrpSpPr>
        <p:grpSpPr>
          <a:xfrm>
            <a:off x="11041380" y="5554980"/>
            <a:ext cx="5692140" cy="438912"/>
            <a:chOff x="0" y="0"/>
            <a:chExt cx="7589520" cy="585216"/>
          </a:xfrm>
        </p:grpSpPr>
        <p:sp>
          <p:nvSpPr>
            <p:cNvPr id="88" name="Freeform 88"/>
            <p:cNvSpPr/>
            <p:nvPr/>
          </p:nvSpPr>
          <p:spPr>
            <a:xfrm>
              <a:off x="0" y="0"/>
              <a:ext cx="7589520" cy="585216"/>
            </a:xfrm>
            <a:custGeom>
              <a:avLst/>
              <a:gdLst/>
              <a:ahLst/>
              <a:cxnLst/>
              <a:rect l="l" t="t" r="r" b="b"/>
              <a:pathLst>
                <a:path w="7589520" h="585216">
                  <a:moveTo>
                    <a:pt x="0" y="0"/>
                  </a:moveTo>
                  <a:lnTo>
                    <a:pt x="7589520" y="0"/>
                  </a:lnTo>
                  <a:lnTo>
                    <a:pt x="7589520" y="585216"/>
                  </a:lnTo>
                  <a:lnTo>
                    <a:pt x="0" y="585216"/>
                  </a:lnTo>
                  <a:close/>
                </a:path>
              </a:pathLst>
            </a:custGeom>
            <a:blipFill>
              <a:blip r:embed="rId3">
                <a:alphaModFix amt="0"/>
              </a:blip>
              <a:stretch>
                <a:fillRect t="-202696" b="-202696"/>
              </a:stretch>
            </a:blipFill>
          </p:spPr>
          <p:txBody>
            <a:bodyPr/>
            <a:lstStyle/>
            <a:p>
              <a:endParaRPr lang="en-US"/>
            </a:p>
          </p:txBody>
        </p:sp>
        <p:sp>
          <p:nvSpPr>
            <p:cNvPr id="89" name="TextBox 89"/>
            <p:cNvSpPr txBox="1"/>
            <p:nvPr/>
          </p:nvSpPr>
          <p:spPr>
            <a:xfrm>
              <a:off x="0" y="-38100"/>
              <a:ext cx="7589520" cy="623316"/>
            </a:xfrm>
            <a:prstGeom prst="rect">
              <a:avLst/>
            </a:prstGeom>
          </p:spPr>
          <p:txBody>
            <a:bodyPr lIns="0" tIns="0" rIns="0" bIns="0" rtlCol="0" anchor="ctr"/>
            <a:lstStyle/>
            <a:p>
              <a:pPr algn="l">
                <a:lnSpc>
                  <a:spcPts val="2250"/>
                </a:lnSpc>
              </a:pPr>
              <a:r>
                <a:rPr lang="en-US" sz="1875" b="1">
                  <a:solidFill>
                    <a:srgbClr val="FFFFFF"/>
                  </a:solidFill>
                  <a:latin typeface="Calibri (MS) Bold"/>
                  <a:ea typeface="Calibri (MS) Bold"/>
                  <a:cs typeface="Calibri (MS) Bold"/>
                  <a:sym typeface="Calibri (MS) Bold"/>
                </a:rPr>
                <a:t>FastAPI Orchestrator</a:t>
              </a:r>
            </a:p>
          </p:txBody>
        </p:sp>
      </p:grpSp>
      <p:grpSp>
        <p:nvGrpSpPr>
          <p:cNvPr id="90" name="Group 90"/>
          <p:cNvGrpSpPr/>
          <p:nvPr/>
        </p:nvGrpSpPr>
        <p:grpSpPr>
          <a:xfrm>
            <a:off x="11041380" y="5966460"/>
            <a:ext cx="5760720" cy="438912"/>
            <a:chOff x="0" y="0"/>
            <a:chExt cx="7680960" cy="585216"/>
          </a:xfrm>
        </p:grpSpPr>
        <p:sp>
          <p:nvSpPr>
            <p:cNvPr id="91" name="Freeform 91"/>
            <p:cNvSpPr/>
            <p:nvPr/>
          </p:nvSpPr>
          <p:spPr>
            <a:xfrm>
              <a:off x="0" y="0"/>
              <a:ext cx="7680960" cy="585216"/>
            </a:xfrm>
            <a:custGeom>
              <a:avLst/>
              <a:gdLst/>
              <a:ahLst/>
              <a:cxnLst/>
              <a:rect l="l" t="t" r="r" b="b"/>
              <a:pathLst>
                <a:path w="7680960" h="585216">
                  <a:moveTo>
                    <a:pt x="0" y="0"/>
                  </a:moveTo>
                  <a:lnTo>
                    <a:pt x="7680960" y="0"/>
                  </a:lnTo>
                  <a:lnTo>
                    <a:pt x="7680960" y="585216"/>
                  </a:lnTo>
                  <a:lnTo>
                    <a:pt x="0" y="585216"/>
                  </a:lnTo>
                  <a:close/>
                </a:path>
              </a:pathLst>
            </a:custGeom>
            <a:blipFill>
              <a:blip r:embed="rId3">
                <a:alphaModFix amt="0"/>
              </a:blip>
              <a:stretch>
                <a:fillRect t="-205741" b="-205741"/>
              </a:stretch>
            </a:blipFill>
          </p:spPr>
          <p:txBody>
            <a:bodyPr/>
            <a:lstStyle/>
            <a:p>
              <a:endParaRPr lang="en-US"/>
            </a:p>
          </p:txBody>
        </p:sp>
        <p:sp>
          <p:nvSpPr>
            <p:cNvPr id="92" name="TextBox 92"/>
            <p:cNvSpPr txBox="1"/>
            <p:nvPr/>
          </p:nvSpPr>
          <p:spPr>
            <a:xfrm>
              <a:off x="0" y="-38100"/>
              <a:ext cx="7680960" cy="623316"/>
            </a:xfrm>
            <a:prstGeom prst="rect">
              <a:avLst/>
            </a:prstGeom>
          </p:spPr>
          <p:txBody>
            <a:bodyPr lIns="0" tIns="0" rIns="0" bIns="0" rtlCol="0" anchor="ctr"/>
            <a:lstStyle/>
            <a:p>
              <a:pPr algn="l">
                <a:lnSpc>
                  <a:spcPts val="1709"/>
                </a:lnSpc>
              </a:pPr>
              <a:r>
                <a:rPr lang="en-US" sz="1425">
                  <a:solidFill>
                    <a:srgbClr val="AEBFB6"/>
                  </a:solidFill>
                  <a:latin typeface="Calibri (MS)"/>
                  <a:ea typeface="Calibri (MS)"/>
                  <a:cs typeface="Calibri (MS)"/>
                  <a:sym typeface="Calibri (MS)"/>
                </a:rPr>
                <a:t>REST endpoints for forecasts &amp; diagnostics</a:t>
              </a:r>
            </a:p>
          </p:txBody>
        </p:sp>
      </p:grpSp>
      <p:grpSp>
        <p:nvGrpSpPr>
          <p:cNvPr id="93" name="Group 93"/>
          <p:cNvGrpSpPr/>
          <p:nvPr/>
        </p:nvGrpSpPr>
        <p:grpSpPr>
          <a:xfrm>
            <a:off x="10149840" y="6597396"/>
            <a:ext cx="6789420" cy="987552"/>
            <a:chOff x="0" y="0"/>
            <a:chExt cx="9052560" cy="1316736"/>
          </a:xfrm>
        </p:grpSpPr>
        <p:sp>
          <p:nvSpPr>
            <p:cNvPr id="94" name="Freeform 94"/>
            <p:cNvSpPr/>
            <p:nvPr/>
          </p:nvSpPr>
          <p:spPr>
            <a:xfrm>
              <a:off x="0" y="0"/>
              <a:ext cx="9052560" cy="1316736"/>
            </a:xfrm>
            <a:custGeom>
              <a:avLst/>
              <a:gdLst/>
              <a:ahLst/>
              <a:cxnLst/>
              <a:rect l="l" t="t" r="r" b="b"/>
              <a:pathLst>
                <a:path w="9052560" h="1316736">
                  <a:moveTo>
                    <a:pt x="0" y="109728"/>
                  </a:moveTo>
                  <a:cubicBezTo>
                    <a:pt x="0" y="49149"/>
                    <a:pt x="49149" y="0"/>
                    <a:pt x="109728" y="0"/>
                  </a:cubicBezTo>
                  <a:lnTo>
                    <a:pt x="8942832" y="0"/>
                  </a:lnTo>
                  <a:cubicBezTo>
                    <a:pt x="9003411" y="0"/>
                    <a:pt x="9052560" y="49149"/>
                    <a:pt x="9052560" y="109728"/>
                  </a:cubicBezTo>
                  <a:lnTo>
                    <a:pt x="9052560" y="1207008"/>
                  </a:lnTo>
                  <a:cubicBezTo>
                    <a:pt x="9052560" y="1267587"/>
                    <a:pt x="9003411" y="1316736"/>
                    <a:pt x="8942832" y="1316736"/>
                  </a:cubicBezTo>
                  <a:lnTo>
                    <a:pt x="109728" y="1316736"/>
                  </a:lnTo>
                  <a:cubicBezTo>
                    <a:pt x="49149" y="1316736"/>
                    <a:pt x="0" y="1267587"/>
                    <a:pt x="0" y="1207008"/>
                  </a:cubicBezTo>
                  <a:close/>
                </a:path>
              </a:pathLst>
            </a:custGeom>
            <a:solidFill>
              <a:srgbClr val="16273D"/>
            </a:solidFill>
          </p:spPr>
          <p:txBody>
            <a:bodyPr/>
            <a:lstStyle/>
            <a:p>
              <a:endParaRPr lang="en-US"/>
            </a:p>
          </p:txBody>
        </p:sp>
      </p:grpSp>
      <p:grpSp>
        <p:nvGrpSpPr>
          <p:cNvPr id="95" name="Group 95"/>
          <p:cNvGrpSpPr/>
          <p:nvPr/>
        </p:nvGrpSpPr>
        <p:grpSpPr>
          <a:xfrm>
            <a:off x="10355580" y="6597396"/>
            <a:ext cx="548640" cy="987552"/>
            <a:chOff x="0" y="0"/>
            <a:chExt cx="731520" cy="1316736"/>
          </a:xfrm>
        </p:grpSpPr>
        <p:sp>
          <p:nvSpPr>
            <p:cNvPr id="96" name="Freeform 96"/>
            <p:cNvSpPr/>
            <p:nvPr/>
          </p:nvSpPr>
          <p:spPr>
            <a:xfrm>
              <a:off x="0" y="0"/>
              <a:ext cx="731520" cy="1316736"/>
            </a:xfrm>
            <a:custGeom>
              <a:avLst/>
              <a:gdLst/>
              <a:ahLst/>
              <a:cxnLst/>
              <a:rect l="l" t="t" r="r" b="b"/>
              <a:pathLst>
                <a:path w="731520" h="1316736">
                  <a:moveTo>
                    <a:pt x="0" y="0"/>
                  </a:moveTo>
                  <a:lnTo>
                    <a:pt x="731520" y="0"/>
                  </a:lnTo>
                  <a:lnTo>
                    <a:pt x="731520" y="1316736"/>
                  </a:lnTo>
                  <a:lnTo>
                    <a:pt x="0" y="1316736"/>
                  </a:lnTo>
                  <a:close/>
                </a:path>
              </a:pathLst>
            </a:custGeom>
            <a:blipFill>
              <a:blip r:embed="rId3">
                <a:alphaModFix amt="0"/>
              </a:blip>
              <a:stretch>
                <a:fillRect l="-180946" r="-180946"/>
              </a:stretch>
            </a:blipFill>
          </p:spPr>
          <p:txBody>
            <a:bodyPr/>
            <a:lstStyle/>
            <a:p>
              <a:endParaRPr lang="en-US"/>
            </a:p>
          </p:txBody>
        </p:sp>
        <p:sp>
          <p:nvSpPr>
            <p:cNvPr id="97" name="TextBox 97"/>
            <p:cNvSpPr txBox="1"/>
            <p:nvPr/>
          </p:nvSpPr>
          <p:spPr>
            <a:xfrm>
              <a:off x="0" y="-19050"/>
              <a:ext cx="731520" cy="1335786"/>
            </a:xfrm>
            <a:prstGeom prst="rect">
              <a:avLst/>
            </a:prstGeom>
          </p:spPr>
          <p:txBody>
            <a:bodyPr lIns="0" tIns="0" rIns="0" bIns="0" rtlCol="0" anchor="ctr"/>
            <a:lstStyle/>
            <a:p>
              <a:pPr algn="ctr">
                <a:lnSpc>
                  <a:spcPts val="2700"/>
                </a:lnSpc>
              </a:pPr>
              <a:r>
                <a:rPr lang="en-US" sz="2250" b="1">
                  <a:solidFill>
                    <a:srgbClr val="FFB703"/>
                  </a:solidFill>
                  <a:latin typeface="Cambria Bold"/>
                  <a:ea typeface="Cambria Bold"/>
                  <a:cs typeface="Cambria Bold"/>
                  <a:sym typeface="Cambria Bold"/>
                </a:rPr>
                <a:t>4</a:t>
              </a:r>
            </a:p>
          </p:txBody>
        </p:sp>
      </p:grpSp>
      <p:grpSp>
        <p:nvGrpSpPr>
          <p:cNvPr id="98" name="Group 98"/>
          <p:cNvGrpSpPr/>
          <p:nvPr/>
        </p:nvGrpSpPr>
        <p:grpSpPr>
          <a:xfrm>
            <a:off x="11041380" y="6679692"/>
            <a:ext cx="5692140" cy="438912"/>
            <a:chOff x="0" y="0"/>
            <a:chExt cx="7589520" cy="585216"/>
          </a:xfrm>
        </p:grpSpPr>
        <p:sp>
          <p:nvSpPr>
            <p:cNvPr id="99" name="Freeform 99"/>
            <p:cNvSpPr/>
            <p:nvPr/>
          </p:nvSpPr>
          <p:spPr>
            <a:xfrm>
              <a:off x="0" y="0"/>
              <a:ext cx="7589520" cy="585216"/>
            </a:xfrm>
            <a:custGeom>
              <a:avLst/>
              <a:gdLst/>
              <a:ahLst/>
              <a:cxnLst/>
              <a:rect l="l" t="t" r="r" b="b"/>
              <a:pathLst>
                <a:path w="7589520" h="585216">
                  <a:moveTo>
                    <a:pt x="0" y="0"/>
                  </a:moveTo>
                  <a:lnTo>
                    <a:pt x="7589520" y="0"/>
                  </a:lnTo>
                  <a:lnTo>
                    <a:pt x="7589520" y="585216"/>
                  </a:lnTo>
                  <a:lnTo>
                    <a:pt x="0" y="585216"/>
                  </a:lnTo>
                  <a:close/>
                </a:path>
              </a:pathLst>
            </a:custGeom>
            <a:blipFill>
              <a:blip r:embed="rId3">
                <a:alphaModFix amt="0"/>
              </a:blip>
              <a:stretch>
                <a:fillRect t="-202696" b="-202696"/>
              </a:stretch>
            </a:blipFill>
          </p:spPr>
          <p:txBody>
            <a:bodyPr/>
            <a:lstStyle/>
            <a:p>
              <a:endParaRPr lang="en-US"/>
            </a:p>
          </p:txBody>
        </p:sp>
        <p:sp>
          <p:nvSpPr>
            <p:cNvPr id="100" name="TextBox 100"/>
            <p:cNvSpPr txBox="1"/>
            <p:nvPr/>
          </p:nvSpPr>
          <p:spPr>
            <a:xfrm>
              <a:off x="0" y="-38100"/>
              <a:ext cx="7589520" cy="623316"/>
            </a:xfrm>
            <a:prstGeom prst="rect">
              <a:avLst/>
            </a:prstGeom>
          </p:spPr>
          <p:txBody>
            <a:bodyPr lIns="0" tIns="0" rIns="0" bIns="0" rtlCol="0" anchor="ctr"/>
            <a:lstStyle/>
            <a:p>
              <a:pPr algn="l">
                <a:lnSpc>
                  <a:spcPts val="2250"/>
                </a:lnSpc>
              </a:pPr>
              <a:r>
                <a:rPr lang="en-US" sz="1875" b="1">
                  <a:solidFill>
                    <a:srgbClr val="FFFFFF"/>
                  </a:solidFill>
                  <a:latin typeface="Calibri (MS) Bold"/>
                  <a:ea typeface="Calibri (MS) Bold"/>
                  <a:cs typeface="Calibri (MS) Bold"/>
                  <a:sym typeface="Calibri (MS) Bold"/>
                </a:rPr>
                <a:t>ONNX + scikit-learn</a:t>
              </a:r>
            </a:p>
          </p:txBody>
        </p:sp>
      </p:grpSp>
      <p:grpSp>
        <p:nvGrpSpPr>
          <p:cNvPr id="101" name="Group 101"/>
          <p:cNvGrpSpPr/>
          <p:nvPr/>
        </p:nvGrpSpPr>
        <p:grpSpPr>
          <a:xfrm>
            <a:off x="11041380" y="7091172"/>
            <a:ext cx="5760720" cy="438912"/>
            <a:chOff x="0" y="0"/>
            <a:chExt cx="7680960" cy="585216"/>
          </a:xfrm>
        </p:grpSpPr>
        <p:sp>
          <p:nvSpPr>
            <p:cNvPr id="102" name="Freeform 102"/>
            <p:cNvSpPr/>
            <p:nvPr/>
          </p:nvSpPr>
          <p:spPr>
            <a:xfrm>
              <a:off x="0" y="0"/>
              <a:ext cx="7680960" cy="585216"/>
            </a:xfrm>
            <a:custGeom>
              <a:avLst/>
              <a:gdLst/>
              <a:ahLst/>
              <a:cxnLst/>
              <a:rect l="l" t="t" r="r" b="b"/>
              <a:pathLst>
                <a:path w="7680960" h="585216">
                  <a:moveTo>
                    <a:pt x="0" y="0"/>
                  </a:moveTo>
                  <a:lnTo>
                    <a:pt x="7680960" y="0"/>
                  </a:lnTo>
                  <a:lnTo>
                    <a:pt x="7680960" y="585216"/>
                  </a:lnTo>
                  <a:lnTo>
                    <a:pt x="0" y="585216"/>
                  </a:lnTo>
                  <a:close/>
                </a:path>
              </a:pathLst>
            </a:custGeom>
            <a:blipFill>
              <a:blip r:embed="rId3">
                <a:alphaModFix amt="0"/>
              </a:blip>
              <a:stretch>
                <a:fillRect t="-205741" b="-205741"/>
              </a:stretch>
            </a:blipFill>
          </p:spPr>
          <p:txBody>
            <a:bodyPr/>
            <a:lstStyle/>
            <a:p>
              <a:endParaRPr lang="en-US"/>
            </a:p>
          </p:txBody>
        </p:sp>
        <p:sp>
          <p:nvSpPr>
            <p:cNvPr id="103" name="TextBox 103"/>
            <p:cNvSpPr txBox="1"/>
            <p:nvPr/>
          </p:nvSpPr>
          <p:spPr>
            <a:xfrm>
              <a:off x="0" y="-38100"/>
              <a:ext cx="7680960" cy="623316"/>
            </a:xfrm>
            <a:prstGeom prst="rect">
              <a:avLst/>
            </a:prstGeom>
          </p:spPr>
          <p:txBody>
            <a:bodyPr lIns="0" tIns="0" rIns="0" bIns="0" rtlCol="0" anchor="ctr"/>
            <a:lstStyle/>
            <a:p>
              <a:pPr algn="l">
                <a:lnSpc>
                  <a:spcPts val="1709"/>
                </a:lnSpc>
              </a:pPr>
              <a:r>
                <a:rPr lang="en-US" sz="1425">
                  <a:solidFill>
                    <a:srgbClr val="AEBFB6"/>
                  </a:solidFill>
                  <a:latin typeface="Calibri (MS)"/>
                  <a:ea typeface="Calibri (MS)"/>
                  <a:cs typeface="Calibri (MS)"/>
                  <a:sym typeface="Calibri (MS)"/>
                </a:rPr>
                <a:t>Power forecasting &amp; anomaly detection</a:t>
              </a:r>
            </a:p>
          </p:txBody>
        </p:sp>
      </p:grpSp>
      <p:grpSp>
        <p:nvGrpSpPr>
          <p:cNvPr id="104" name="Group 104"/>
          <p:cNvGrpSpPr/>
          <p:nvPr/>
        </p:nvGrpSpPr>
        <p:grpSpPr>
          <a:xfrm>
            <a:off x="10149840" y="7722108"/>
            <a:ext cx="6789420" cy="987552"/>
            <a:chOff x="0" y="0"/>
            <a:chExt cx="9052560" cy="1316736"/>
          </a:xfrm>
        </p:grpSpPr>
        <p:sp>
          <p:nvSpPr>
            <p:cNvPr id="105" name="Freeform 105"/>
            <p:cNvSpPr/>
            <p:nvPr/>
          </p:nvSpPr>
          <p:spPr>
            <a:xfrm>
              <a:off x="0" y="0"/>
              <a:ext cx="9052560" cy="1316736"/>
            </a:xfrm>
            <a:custGeom>
              <a:avLst/>
              <a:gdLst/>
              <a:ahLst/>
              <a:cxnLst/>
              <a:rect l="l" t="t" r="r" b="b"/>
              <a:pathLst>
                <a:path w="9052560" h="1316736">
                  <a:moveTo>
                    <a:pt x="0" y="109728"/>
                  </a:moveTo>
                  <a:cubicBezTo>
                    <a:pt x="0" y="49149"/>
                    <a:pt x="49149" y="0"/>
                    <a:pt x="109728" y="0"/>
                  </a:cubicBezTo>
                  <a:lnTo>
                    <a:pt x="8942832" y="0"/>
                  </a:lnTo>
                  <a:cubicBezTo>
                    <a:pt x="9003411" y="0"/>
                    <a:pt x="9052560" y="49149"/>
                    <a:pt x="9052560" y="109728"/>
                  </a:cubicBezTo>
                  <a:lnTo>
                    <a:pt x="9052560" y="1207008"/>
                  </a:lnTo>
                  <a:cubicBezTo>
                    <a:pt x="9052560" y="1267587"/>
                    <a:pt x="9003411" y="1316736"/>
                    <a:pt x="8942832" y="1316736"/>
                  </a:cubicBezTo>
                  <a:lnTo>
                    <a:pt x="109728" y="1316736"/>
                  </a:lnTo>
                  <a:cubicBezTo>
                    <a:pt x="49149" y="1316736"/>
                    <a:pt x="0" y="1267587"/>
                    <a:pt x="0" y="1207008"/>
                  </a:cubicBezTo>
                  <a:close/>
                </a:path>
              </a:pathLst>
            </a:custGeom>
            <a:solidFill>
              <a:srgbClr val="16273D"/>
            </a:solidFill>
          </p:spPr>
          <p:txBody>
            <a:bodyPr/>
            <a:lstStyle/>
            <a:p>
              <a:endParaRPr lang="en-US"/>
            </a:p>
          </p:txBody>
        </p:sp>
      </p:grpSp>
      <p:grpSp>
        <p:nvGrpSpPr>
          <p:cNvPr id="106" name="Group 106"/>
          <p:cNvGrpSpPr/>
          <p:nvPr/>
        </p:nvGrpSpPr>
        <p:grpSpPr>
          <a:xfrm>
            <a:off x="10355580" y="7722108"/>
            <a:ext cx="548640" cy="987552"/>
            <a:chOff x="0" y="0"/>
            <a:chExt cx="731520" cy="1316736"/>
          </a:xfrm>
        </p:grpSpPr>
        <p:sp>
          <p:nvSpPr>
            <p:cNvPr id="107" name="Freeform 107"/>
            <p:cNvSpPr/>
            <p:nvPr/>
          </p:nvSpPr>
          <p:spPr>
            <a:xfrm>
              <a:off x="0" y="0"/>
              <a:ext cx="731520" cy="1316736"/>
            </a:xfrm>
            <a:custGeom>
              <a:avLst/>
              <a:gdLst/>
              <a:ahLst/>
              <a:cxnLst/>
              <a:rect l="l" t="t" r="r" b="b"/>
              <a:pathLst>
                <a:path w="731520" h="1316736">
                  <a:moveTo>
                    <a:pt x="0" y="0"/>
                  </a:moveTo>
                  <a:lnTo>
                    <a:pt x="731520" y="0"/>
                  </a:lnTo>
                  <a:lnTo>
                    <a:pt x="731520" y="1316736"/>
                  </a:lnTo>
                  <a:lnTo>
                    <a:pt x="0" y="1316736"/>
                  </a:lnTo>
                  <a:close/>
                </a:path>
              </a:pathLst>
            </a:custGeom>
            <a:blipFill>
              <a:blip r:embed="rId3">
                <a:alphaModFix amt="0"/>
              </a:blip>
              <a:stretch>
                <a:fillRect l="-180946" r="-180946"/>
              </a:stretch>
            </a:blipFill>
          </p:spPr>
          <p:txBody>
            <a:bodyPr/>
            <a:lstStyle/>
            <a:p>
              <a:endParaRPr lang="en-US"/>
            </a:p>
          </p:txBody>
        </p:sp>
        <p:sp>
          <p:nvSpPr>
            <p:cNvPr id="108" name="TextBox 108"/>
            <p:cNvSpPr txBox="1"/>
            <p:nvPr/>
          </p:nvSpPr>
          <p:spPr>
            <a:xfrm>
              <a:off x="0" y="-19050"/>
              <a:ext cx="731520" cy="1335786"/>
            </a:xfrm>
            <a:prstGeom prst="rect">
              <a:avLst/>
            </a:prstGeom>
          </p:spPr>
          <p:txBody>
            <a:bodyPr lIns="0" tIns="0" rIns="0" bIns="0" rtlCol="0" anchor="ctr"/>
            <a:lstStyle/>
            <a:p>
              <a:pPr algn="ctr">
                <a:lnSpc>
                  <a:spcPts val="2700"/>
                </a:lnSpc>
              </a:pPr>
              <a:r>
                <a:rPr lang="en-US" sz="2250" b="1">
                  <a:solidFill>
                    <a:srgbClr val="FFB703"/>
                  </a:solidFill>
                  <a:latin typeface="Cambria Bold"/>
                  <a:ea typeface="Cambria Bold"/>
                  <a:cs typeface="Cambria Bold"/>
                  <a:sym typeface="Cambria Bold"/>
                </a:rPr>
                <a:t>5</a:t>
              </a:r>
            </a:p>
          </p:txBody>
        </p:sp>
      </p:grpSp>
      <p:grpSp>
        <p:nvGrpSpPr>
          <p:cNvPr id="109" name="Group 109"/>
          <p:cNvGrpSpPr/>
          <p:nvPr/>
        </p:nvGrpSpPr>
        <p:grpSpPr>
          <a:xfrm>
            <a:off x="11041380" y="7804404"/>
            <a:ext cx="5692140" cy="438912"/>
            <a:chOff x="0" y="0"/>
            <a:chExt cx="7589520" cy="585216"/>
          </a:xfrm>
        </p:grpSpPr>
        <p:sp>
          <p:nvSpPr>
            <p:cNvPr id="110" name="Freeform 110"/>
            <p:cNvSpPr/>
            <p:nvPr/>
          </p:nvSpPr>
          <p:spPr>
            <a:xfrm>
              <a:off x="0" y="0"/>
              <a:ext cx="7589520" cy="585216"/>
            </a:xfrm>
            <a:custGeom>
              <a:avLst/>
              <a:gdLst/>
              <a:ahLst/>
              <a:cxnLst/>
              <a:rect l="l" t="t" r="r" b="b"/>
              <a:pathLst>
                <a:path w="7589520" h="585216">
                  <a:moveTo>
                    <a:pt x="0" y="0"/>
                  </a:moveTo>
                  <a:lnTo>
                    <a:pt x="7589520" y="0"/>
                  </a:lnTo>
                  <a:lnTo>
                    <a:pt x="7589520" y="585216"/>
                  </a:lnTo>
                  <a:lnTo>
                    <a:pt x="0" y="585216"/>
                  </a:lnTo>
                  <a:close/>
                </a:path>
              </a:pathLst>
            </a:custGeom>
            <a:blipFill>
              <a:blip r:embed="rId3">
                <a:alphaModFix amt="0"/>
              </a:blip>
              <a:stretch>
                <a:fillRect t="-202696" b="-202696"/>
              </a:stretch>
            </a:blipFill>
          </p:spPr>
          <p:txBody>
            <a:bodyPr/>
            <a:lstStyle/>
            <a:p>
              <a:endParaRPr lang="en-US"/>
            </a:p>
          </p:txBody>
        </p:sp>
        <p:sp>
          <p:nvSpPr>
            <p:cNvPr id="111" name="TextBox 111"/>
            <p:cNvSpPr txBox="1"/>
            <p:nvPr/>
          </p:nvSpPr>
          <p:spPr>
            <a:xfrm>
              <a:off x="0" y="-38100"/>
              <a:ext cx="7589520" cy="623316"/>
            </a:xfrm>
            <a:prstGeom prst="rect">
              <a:avLst/>
            </a:prstGeom>
          </p:spPr>
          <p:txBody>
            <a:bodyPr lIns="0" tIns="0" rIns="0" bIns="0" rtlCol="0" anchor="ctr"/>
            <a:lstStyle/>
            <a:p>
              <a:pPr algn="l">
                <a:lnSpc>
                  <a:spcPts val="2250"/>
                </a:lnSpc>
              </a:pPr>
              <a:r>
                <a:rPr lang="en-US" sz="1875" b="1">
                  <a:solidFill>
                    <a:srgbClr val="FFFFFF"/>
                  </a:solidFill>
                  <a:latin typeface="Calibri (MS) Bold"/>
                  <a:ea typeface="Calibri (MS) Bold"/>
                  <a:cs typeface="Calibri (MS) Bold"/>
                  <a:sym typeface="Calibri (MS) Bold"/>
                </a:rPr>
                <a:t>Gemini + FAISS</a:t>
              </a:r>
            </a:p>
          </p:txBody>
        </p:sp>
      </p:grpSp>
      <p:grpSp>
        <p:nvGrpSpPr>
          <p:cNvPr id="112" name="Group 112"/>
          <p:cNvGrpSpPr/>
          <p:nvPr/>
        </p:nvGrpSpPr>
        <p:grpSpPr>
          <a:xfrm>
            <a:off x="11041380" y="8215884"/>
            <a:ext cx="5760720" cy="438912"/>
            <a:chOff x="0" y="0"/>
            <a:chExt cx="7680960" cy="585216"/>
          </a:xfrm>
        </p:grpSpPr>
        <p:sp>
          <p:nvSpPr>
            <p:cNvPr id="113" name="Freeform 113"/>
            <p:cNvSpPr/>
            <p:nvPr/>
          </p:nvSpPr>
          <p:spPr>
            <a:xfrm>
              <a:off x="0" y="0"/>
              <a:ext cx="7680960" cy="585216"/>
            </a:xfrm>
            <a:custGeom>
              <a:avLst/>
              <a:gdLst/>
              <a:ahLst/>
              <a:cxnLst/>
              <a:rect l="l" t="t" r="r" b="b"/>
              <a:pathLst>
                <a:path w="7680960" h="585216">
                  <a:moveTo>
                    <a:pt x="0" y="0"/>
                  </a:moveTo>
                  <a:lnTo>
                    <a:pt x="7680960" y="0"/>
                  </a:lnTo>
                  <a:lnTo>
                    <a:pt x="7680960" y="585216"/>
                  </a:lnTo>
                  <a:lnTo>
                    <a:pt x="0" y="585216"/>
                  </a:lnTo>
                  <a:close/>
                </a:path>
              </a:pathLst>
            </a:custGeom>
            <a:blipFill>
              <a:blip r:embed="rId3">
                <a:alphaModFix amt="0"/>
              </a:blip>
              <a:stretch>
                <a:fillRect t="-205741" b="-205741"/>
              </a:stretch>
            </a:blipFill>
          </p:spPr>
          <p:txBody>
            <a:bodyPr/>
            <a:lstStyle/>
            <a:p>
              <a:endParaRPr lang="en-US"/>
            </a:p>
          </p:txBody>
        </p:sp>
        <p:sp>
          <p:nvSpPr>
            <p:cNvPr id="114" name="TextBox 114"/>
            <p:cNvSpPr txBox="1"/>
            <p:nvPr/>
          </p:nvSpPr>
          <p:spPr>
            <a:xfrm>
              <a:off x="0" y="-38100"/>
              <a:ext cx="7680960" cy="623316"/>
            </a:xfrm>
            <a:prstGeom prst="rect">
              <a:avLst/>
            </a:prstGeom>
          </p:spPr>
          <p:txBody>
            <a:bodyPr lIns="0" tIns="0" rIns="0" bIns="0" rtlCol="0" anchor="ctr"/>
            <a:lstStyle/>
            <a:p>
              <a:pPr algn="l">
                <a:lnSpc>
                  <a:spcPts val="1709"/>
                </a:lnSpc>
              </a:pPr>
              <a:r>
                <a:rPr lang="en-US" sz="1425">
                  <a:solidFill>
                    <a:srgbClr val="AEBFB6"/>
                  </a:solidFill>
                  <a:latin typeface="Calibri (MS)"/>
                  <a:ea typeface="Calibri (MS)"/>
                  <a:cs typeface="Calibri (MS)"/>
                  <a:sym typeface="Calibri (MS)"/>
                </a:rPr>
                <a:t>RAG-generated repair blueprints</a:t>
              </a:r>
            </a:p>
          </p:txBody>
        </p:sp>
      </p:grpSp>
      <p:grpSp>
        <p:nvGrpSpPr>
          <p:cNvPr id="115" name="Group 115"/>
          <p:cNvGrpSpPr/>
          <p:nvPr/>
        </p:nvGrpSpPr>
        <p:grpSpPr>
          <a:xfrm>
            <a:off x="10149840" y="8846820"/>
            <a:ext cx="6789420" cy="987552"/>
            <a:chOff x="0" y="0"/>
            <a:chExt cx="9052560" cy="1316736"/>
          </a:xfrm>
        </p:grpSpPr>
        <p:sp>
          <p:nvSpPr>
            <p:cNvPr id="116" name="Freeform 116"/>
            <p:cNvSpPr/>
            <p:nvPr/>
          </p:nvSpPr>
          <p:spPr>
            <a:xfrm>
              <a:off x="0" y="0"/>
              <a:ext cx="9052560" cy="1316736"/>
            </a:xfrm>
            <a:custGeom>
              <a:avLst/>
              <a:gdLst/>
              <a:ahLst/>
              <a:cxnLst/>
              <a:rect l="l" t="t" r="r" b="b"/>
              <a:pathLst>
                <a:path w="9052560" h="1316736">
                  <a:moveTo>
                    <a:pt x="0" y="109728"/>
                  </a:moveTo>
                  <a:cubicBezTo>
                    <a:pt x="0" y="49149"/>
                    <a:pt x="49149" y="0"/>
                    <a:pt x="109728" y="0"/>
                  </a:cubicBezTo>
                  <a:lnTo>
                    <a:pt x="8942832" y="0"/>
                  </a:lnTo>
                  <a:cubicBezTo>
                    <a:pt x="9003411" y="0"/>
                    <a:pt x="9052560" y="49149"/>
                    <a:pt x="9052560" y="109728"/>
                  </a:cubicBezTo>
                  <a:lnTo>
                    <a:pt x="9052560" y="1207008"/>
                  </a:lnTo>
                  <a:cubicBezTo>
                    <a:pt x="9052560" y="1267587"/>
                    <a:pt x="9003411" y="1316736"/>
                    <a:pt x="8942832" y="1316736"/>
                  </a:cubicBezTo>
                  <a:lnTo>
                    <a:pt x="109728" y="1316736"/>
                  </a:lnTo>
                  <a:cubicBezTo>
                    <a:pt x="49149" y="1316736"/>
                    <a:pt x="0" y="1267587"/>
                    <a:pt x="0" y="1207008"/>
                  </a:cubicBezTo>
                  <a:close/>
                </a:path>
              </a:pathLst>
            </a:custGeom>
            <a:solidFill>
              <a:srgbClr val="16273D"/>
            </a:solidFill>
          </p:spPr>
          <p:txBody>
            <a:bodyPr/>
            <a:lstStyle/>
            <a:p>
              <a:endParaRPr lang="en-US"/>
            </a:p>
          </p:txBody>
        </p:sp>
      </p:grpSp>
      <p:grpSp>
        <p:nvGrpSpPr>
          <p:cNvPr id="117" name="Group 117"/>
          <p:cNvGrpSpPr/>
          <p:nvPr/>
        </p:nvGrpSpPr>
        <p:grpSpPr>
          <a:xfrm>
            <a:off x="10355580" y="8846820"/>
            <a:ext cx="548640" cy="987552"/>
            <a:chOff x="0" y="0"/>
            <a:chExt cx="731520" cy="1316736"/>
          </a:xfrm>
        </p:grpSpPr>
        <p:sp>
          <p:nvSpPr>
            <p:cNvPr id="118" name="Freeform 118"/>
            <p:cNvSpPr/>
            <p:nvPr/>
          </p:nvSpPr>
          <p:spPr>
            <a:xfrm>
              <a:off x="0" y="0"/>
              <a:ext cx="731520" cy="1316736"/>
            </a:xfrm>
            <a:custGeom>
              <a:avLst/>
              <a:gdLst/>
              <a:ahLst/>
              <a:cxnLst/>
              <a:rect l="l" t="t" r="r" b="b"/>
              <a:pathLst>
                <a:path w="731520" h="1316736">
                  <a:moveTo>
                    <a:pt x="0" y="0"/>
                  </a:moveTo>
                  <a:lnTo>
                    <a:pt x="731520" y="0"/>
                  </a:lnTo>
                  <a:lnTo>
                    <a:pt x="731520" y="1316736"/>
                  </a:lnTo>
                  <a:lnTo>
                    <a:pt x="0" y="1316736"/>
                  </a:lnTo>
                  <a:close/>
                </a:path>
              </a:pathLst>
            </a:custGeom>
            <a:blipFill>
              <a:blip r:embed="rId3">
                <a:alphaModFix amt="0"/>
              </a:blip>
              <a:stretch>
                <a:fillRect l="-180946" r="-180946"/>
              </a:stretch>
            </a:blipFill>
          </p:spPr>
          <p:txBody>
            <a:bodyPr/>
            <a:lstStyle/>
            <a:p>
              <a:endParaRPr lang="en-US"/>
            </a:p>
          </p:txBody>
        </p:sp>
        <p:sp>
          <p:nvSpPr>
            <p:cNvPr id="119" name="TextBox 119"/>
            <p:cNvSpPr txBox="1"/>
            <p:nvPr/>
          </p:nvSpPr>
          <p:spPr>
            <a:xfrm>
              <a:off x="0" y="-19050"/>
              <a:ext cx="731520" cy="1335786"/>
            </a:xfrm>
            <a:prstGeom prst="rect">
              <a:avLst/>
            </a:prstGeom>
          </p:spPr>
          <p:txBody>
            <a:bodyPr lIns="0" tIns="0" rIns="0" bIns="0" rtlCol="0" anchor="ctr"/>
            <a:lstStyle/>
            <a:p>
              <a:pPr algn="ctr">
                <a:lnSpc>
                  <a:spcPts val="2700"/>
                </a:lnSpc>
              </a:pPr>
              <a:r>
                <a:rPr lang="en-US" sz="2250" b="1">
                  <a:solidFill>
                    <a:srgbClr val="FFB703"/>
                  </a:solidFill>
                  <a:latin typeface="Cambria Bold"/>
                  <a:ea typeface="Cambria Bold"/>
                  <a:cs typeface="Cambria Bold"/>
                  <a:sym typeface="Cambria Bold"/>
                </a:rPr>
                <a:t>6</a:t>
              </a:r>
            </a:p>
          </p:txBody>
        </p:sp>
      </p:grpSp>
      <p:grpSp>
        <p:nvGrpSpPr>
          <p:cNvPr id="120" name="Group 120"/>
          <p:cNvGrpSpPr/>
          <p:nvPr/>
        </p:nvGrpSpPr>
        <p:grpSpPr>
          <a:xfrm>
            <a:off x="11041380" y="8929116"/>
            <a:ext cx="5692140" cy="438912"/>
            <a:chOff x="0" y="0"/>
            <a:chExt cx="7589520" cy="585216"/>
          </a:xfrm>
        </p:grpSpPr>
        <p:sp>
          <p:nvSpPr>
            <p:cNvPr id="121" name="Freeform 121"/>
            <p:cNvSpPr/>
            <p:nvPr/>
          </p:nvSpPr>
          <p:spPr>
            <a:xfrm>
              <a:off x="0" y="0"/>
              <a:ext cx="7589520" cy="585216"/>
            </a:xfrm>
            <a:custGeom>
              <a:avLst/>
              <a:gdLst/>
              <a:ahLst/>
              <a:cxnLst/>
              <a:rect l="l" t="t" r="r" b="b"/>
              <a:pathLst>
                <a:path w="7589520" h="585216">
                  <a:moveTo>
                    <a:pt x="0" y="0"/>
                  </a:moveTo>
                  <a:lnTo>
                    <a:pt x="7589520" y="0"/>
                  </a:lnTo>
                  <a:lnTo>
                    <a:pt x="7589520" y="585216"/>
                  </a:lnTo>
                  <a:lnTo>
                    <a:pt x="0" y="585216"/>
                  </a:lnTo>
                  <a:close/>
                </a:path>
              </a:pathLst>
            </a:custGeom>
            <a:blipFill>
              <a:blip r:embed="rId3">
                <a:alphaModFix amt="0"/>
              </a:blip>
              <a:stretch>
                <a:fillRect t="-202696" b="-202696"/>
              </a:stretch>
            </a:blipFill>
          </p:spPr>
          <p:txBody>
            <a:bodyPr/>
            <a:lstStyle/>
            <a:p>
              <a:endParaRPr lang="en-US"/>
            </a:p>
          </p:txBody>
        </p:sp>
        <p:sp>
          <p:nvSpPr>
            <p:cNvPr id="122" name="TextBox 122"/>
            <p:cNvSpPr txBox="1"/>
            <p:nvPr/>
          </p:nvSpPr>
          <p:spPr>
            <a:xfrm>
              <a:off x="0" y="-38100"/>
              <a:ext cx="7589520" cy="623316"/>
            </a:xfrm>
            <a:prstGeom prst="rect">
              <a:avLst/>
            </a:prstGeom>
          </p:spPr>
          <p:txBody>
            <a:bodyPr lIns="0" tIns="0" rIns="0" bIns="0" rtlCol="0" anchor="ctr"/>
            <a:lstStyle/>
            <a:p>
              <a:pPr algn="l">
                <a:lnSpc>
                  <a:spcPts val="2250"/>
                </a:lnSpc>
              </a:pPr>
              <a:r>
                <a:rPr lang="en-US" sz="1875" b="1">
                  <a:solidFill>
                    <a:srgbClr val="FFFFFF"/>
                  </a:solidFill>
                  <a:latin typeface="Calibri (MS) Bold"/>
                  <a:ea typeface="Calibri (MS) Bold"/>
                  <a:cs typeface="Calibri (MS) Bold"/>
                  <a:sym typeface="Calibri (MS) Bold"/>
                </a:rPr>
                <a:t>Streamlit Dashboard</a:t>
              </a:r>
            </a:p>
          </p:txBody>
        </p:sp>
      </p:grpSp>
      <p:grpSp>
        <p:nvGrpSpPr>
          <p:cNvPr id="123" name="Group 123"/>
          <p:cNvGrpSpPr/>
          <p:nvPr/>
        </p:nvGrpSpPr>
        <p:grpSpPr>
          <a:xfrm>
            <a:off x="11041380" y="9340596"/>
            <a:ext cx="5760720" cy="438912"/>
            <a:chOff x="0" y="0"/>
            <a:chExt cx="7680960" cy="585216"/>
          </a:xfrm>
        </p:grpSpPr>
        <p:sp>
          <p:nvSpPr>
            <p:cNvPr id="124" name="Freeform 124"/>
            <p:cNvSpPr/>
            <p:nvPr/>
          </p:nvSpPr>
          <p:spPr>
            <a:xfrm>
              <a:off x="0" y="0"/>
              <a:ext cx="7680960" cy="585216"/>
            </a:xfrm>
            <a:custGeom>
              <a:avLst/>
              <a:gdLst/>
              <a:ahLst/>
              <a:cxnLst/>
              <a:rect l="l" t="t" r="r" b="b"/>
              <a:pathLst>
                <a:path w="7680960" h="585216">
                  <a:moveTo>
                    <a:pt x="0" y="0"/>
                  </a:moveTo>
                  <a:lnTo>
                    <a:pt x="7680960" y="0"/>
                  </a:lnTo>
                  <a:lnTo>
                    <a:pt x="7680960" y="585216"/>
                  </a:lnTo>
                  <a:lnTo>
                    <a:pt x="0" y="585216"/>
                  </a:lnTo>
                  <a:close/>
                </a:path>
              </a:pathLst>
            </a:custGeom>
            <a:blipFill>
              <a:blip r:embed="rId3">
                <a:alphaModFix amt="0"/>
              </a:blip>
              <a:stretch>
                <a:fillRect t="-205741" b="-205741"/>
              </a:stretch>
            </a:blipFill>
          </p:spPr>
          <p:txBody>
            <a:bodyPr/>
            <a:lstStyle/>
            <a:p>
              <a:endParaRPr lang="en-US"/>
            </a:p>
          </p:txBody>
        </p:sp>
        <p:sp>
          <p:nvSpPr>
            <p:cNvPr id="125" name="TextBox 125"/>
            <p:cNvSpPr txBox="1"/>
            <p:nvPr/>
          </p:nvSpPr>
          <p:spPr>
            <a:xfrm>
              <a:off x="0" y="-38100"/>
              <a:ext cx="7680960" cy="623316"/>
            </a:xfrm>
            <a:prstGeom prst="rect">
              <a:avLst/>
            </a:prstGeom>
          </p:spPr>
          <p:txBody>
            <a:bodyPr lIns="0" tIns="0" rIns="0" bIns="0" rtlCol="0" anchor="ctr"/>
            <a:lstStyle/>
            <a:p>
              <a:pPr algn="l">
                <a:lnSpc>
                  <a:spcPts val="1709"/>
                </a:lnSpc>
              </a:pPr>
              <a:r>
                <a:rPr lang="en-US" sz="1425">
                  <a:solidFill>
                    <a:srgbClr val="AEBFB6"/>
                  </a:solidFill>
                  <a:latin typeface="Calibri (MS)"/>
                  <a:ea typeface="Calibri (MS)"/>
                  <a:cs typeface="Calibri (MS)"/>
                  <a:sym typeface="Calibri (MS)"/>
                </a:rPr>
                <a:t>Live grid balance &amp; explainable diagnostics</a:t>
              </a:r>
            </a:p>
          </p:txBody>
        </p:sp>
      </p:grpSp>
      <p:grpSp>
        <p:nvGrpSpPr>
          <p:cNvPr id="126" name="Group 126"/>
          <p:cNvGrpSpPr/>
          <p:nvPr/>
        </p:nvGrpSpPr>
        <p:grpSpPr>
          <a:xfrm>
            <a:off x="17282160" y="9710928"/>
            <a:ext cx="822960" cy="411480"/>
            <a:chOff x="0" y="0"/>
            <a:chExt cx="1097280" cy="548640"/>
          </a:xfrm>
        </p:grpSpPr>
        <p:sp>
          <p:nvSpPr>
            <p:cNvPr id="127" name="Freeform 127"/>
            <p:cNvSpPr/>
            <p:nvPr/>
          </p:nvSpPr>
          <p:spPr>
            <a:xfrm>
              <a:off x="0" y="0"/>
              <a:ext cx="1097280" cy="548640"/>
            </a:xfrm>
            <a:custGeom>
              <a:avLst/>
              <a:gdLst/>
              <a:ahLst/>
              <a:cxnLst/>
              <a:rect l="l" t="t" r="r" b="b"/>
              <a:pathLst>
                <a:path w="1097280" h="548640">
                  <a:moveTo>
                    <a:pt x="0" y="0"/>
                  </a:moveTo>
                  <a:lnTo>
                    <a:pt x="1097280" y="0"/>
                  </a:lnTo>
                  <a:lnTo>
                    <a:pt x="1097280" y="548640"/>
                  </a:lnTo>
                  <a:lnTo>
                    <a:pt x="0" y="548640"/>
                  </a:lnTo>
                  <a:close/>
                </a:path>
              </a:pathLst>
            </a:custGeom>
            <a:blipFill>
              <a:blip r:embed="rId3">
                <a:alphaModFix amt="0"/>
              </a:blip>
              <a:stretch>
                <a:fillRect l="-14151" r="-14151"/>
              </a:stretch>
            </a:blipFill>
          </p:spPr>
          <p:txBody>
            <a:bodyPr/>
            <a:lstStyle/>
            <a:p>
              <a:endParaRPr lang="en-US"/>
            </a:p>
          </p:txBody>
        </p:sp>
        <p:sp>
          <p:nvSpPr>
            <p:cNvPr id="128" name="TextBox 128"/>
            <p:cNvSpPr txBox="1"/>
            <p:nvPr/>
          </p:nvSpPr>
          <p:spPr>
            <a:xfrm>
              <a:off x="0" y="-38100"/>
              <a:ext cx="1097280" cy="586740"/>
            </a:xfrm>
            <a:prstGeom prst="rect">
              <a:avLst/>
            </a:prstGeom>
          </p:spPr>
          <p:txBody>
            <a:bodyPr lIns="0" tIns="0" rIns="0" bIns="0" rtlCol="0" anchor="ctr"/>
            <a:lstStyle/>
            <a:p>
              <a:pPr algn="r">
                <a:lnSpc>
                  <a:spcPts val="1800"/>
                </a:lnSpc>
              </a:pPr>
              <a:r>
                <a:rPr lang="en-US" sz="1500">
                  <a:solidFill>
                    <a:srgbClr val="5B6B72"/>
                  </a:solidFill>
                  <a:latin typeface="Calibri (MS)"/>
                  <a:ea typeface="Calibri (MS)"/>
                  <a:cs typeface="Calibri (MS)"/>
                  <a:sym typeface="Calibri (MS)"/>
                </a:rPr>
                <a:t>04</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8F6"/>
        </a:solidFill>
        <a:effectLst/>
      </p:bgPr>
    </p:bg>
    <p:spTree>
      <p:nvGrpSpPr>
        <p:cNvPr id="1" name=""/>
        <p:cNvGrpSpPr/>
        <p:nvPr/>
      </p:nvGrpSpPr>
      <p:grpSpPr>
        <a:xfrm>
          <a:off x="0" y="0"/>
          <a:ext cx="0" cy="0"/>
          <a:chOff x="0" y="0"/>
          <a:chExt cx="0" cy="0"/>
        </a:xfrm>
      </p:grpSpPr>
      <p:grpSp>
        <p:nvGrpSpPr>
          <p:cNvPr id="2" name="Group 2"/>
          <p:cNvGrpSpPr/>
          <p:nvPr/>
        </p:nvGrpSpPr>
        <p:grpSpPr>
          <a:xfrm>
            <a:off x="822960" y="576072"/>
            <a:ext cx="10972800" cy="480060"/>
            <a:chOff x="0" y="0"/>
            <a:chExt cx="14630400" cy="640080"/>
          </a:xfrm>
        </p:grpSpPr>
        <p:sp>
          <p:nvSpPr>
            <p:cNvPr id="3" name="Freeform 3"/>
            <p:cNvSpPr/>
            <p:nvPr/>
          </p:nvSpPr>
          <p:spPr>
            <a:xfrm>
              <a:off x="0" y="0"/>
              <a:ext cx="14630400" cy="640080"/>
            </a:xfrm>
            <a:custGeom>
              <a:avLst/>
              <a:gdLst/>
              <a:ahLst/>
              <a:cxnLst/>
              <a:rect l="l" t="t" r="r" b="b"/>
              <a:pathLst>
                <a:path w="14630400" h="640080">
                  <a:moveTo>
                    <a:pt x="0" y="0"/>
                  </a:moveTo>
                  <a:lnTo>
                    <a:pt x="14630400" y="0"/>
                  </a:lnTo>
                  <a:lnTo>
                    <a:pt x="14630400" y="640080"/>
                  </a:lnTo>
                  <a:lnTo>
                    <a:pt x="0" y="640080"/>
                  </a:lnTo>
                  <a:close/>
                </a:path>
              </a:pathLst>
            </a:custGeom>
            <a:blipFill>
              <a:blip r:embed="rId3">
                <a:alphaModFix amt="0"/>
              </a:blip>
              <a:stretch>
                <a:fillRect t="-395372" b="-395372"/>
              </a:stretch>
            </a:blipFill>
          </p:spPr>
          <p:txBody>
            <a:bodyPr/>
            <a:lstStyle/>
            <a:p>
              <a:endParaRPr lang="en-US"/>
            </a:p>
          </p:txBody>
        </p:sp>
        <p:sp>
          <p:nvSpPr>
            <p:cNvPr id="4" name="TextBox 4"/>
            <p:cNvSpPr txBox="1"/>
            <p:nvPr/>
          </p:nvSpPr>
          <p:spPr>
            <a:xfrm>
              <a:off x="0" y="-38100"/>
              <a:ext cx="14630400" cy="678180"/>
            </a:xfrm>
            <a:prstGeom prst="rect">
              <a:avLst/>
            </a:prstGeom>
          </p:spPr>
          <p:txBody>
            <a:bodyPr lIns="0" tIns="0" rIns="0" bIns="0" rtlCol="0" anchor="ctr"/>
            <a:lstStyle/>
            <a:p>
              <a:pPr algn="l">
                <a:lnSpc>
                  <a:spcPts val="2160"/>
                </a:lnSpc>
              </a:pPr>
              <a:r>
                <a:rPr lang="en-US" sz="1800" b="1" spc="299">
                  <a:solidFill>
                    <a:srgbClr val="40916C"/>
                  </a:solidFill>
                  <a:latin typeface="Calibri (MS) Bold"/>
                  <a:ea typeface="Calibri (MS) Bold"/>
                  <a:cs typeface="Calibri (MS) Bold"/>
                  <a:sym typeface="Calibri (MS) Bold"/>
                </a:rPr>
                <a:t>PART 01 · OVERVIEW</a:t>
              </a:r>
            </a:p>
          </p:txBody>
        </p:sp>
      </p:grpSp>
      <p:grpSp>
        <p:nvGrpSpPr>
          <p:cNvPr id="5" name="Group 5"/>
          <p:cNvGrpSpPr/>
          <p:nvPr/>
        </p:nvGrpSpPr>
        <p:grpSpPr>
          <a:xfrm>
            <a:off x="822960" y="987552"/>
            <a:ext cx="15773400" cy="1234440"/>
            <a:chOff x="0" y="0"/>
            <a:chExt cx="21031200" cy="1645920"/>
          </a:xfrm>
        </p:grpSpPr>
        <p:sp>
          <p:nvSpPr>
            <p:cNvPr id="6" name="Freeform 6"/>
            <p:cNvSpPr/>
            <p:nvPr/>
          </p:nvSpPr>
          <p:spPr>
            <a:xfrm>
              <a:off x="0" y="0"/>
              <a:ext cx="21031200" cy="1645920"/>
            </a:xfrm>
            <a:custGeom>
              <a:avLst/>
              <a:gdLst/>
              <a:ahLst/>
              <a:cxnLst/>
              <a:rect l="l" t="t" r="r" b="b"/>
              <a:pathLst>
                <a:path w="21031200" h="1645920">
                  <a:moveTo>
                    <a:pt x="0" y="0"/>
                  </a:moveTo>
                  <a:lnTo>
                    <a:pt x="21031200" y="0"/>
                  </a:lnTo>
                  <a:lnTo>
                    <a:pt x="21031200" y="1645920"/>
                  </a:lnTo>
                  <a:lnTo>
                    <a:pt x="0" y="1645920"/>
                  </a:lnTo>
                  <a:close/>
                </a:path>
              </a:pathLst>
            </a:custGeom>
            <a:blipFill>
              <a:blip r:embed="rId3">
                <a:alphaModFix amt="0"/>
              </a:blip>
              <a:stretch>
                <a:fillRect t="-198975" b="-198975"/>
              </a:stretch>
            </a:blipFill>
          </p:spPr>
          <p:txBody>
            <a:bodyPr/>
            <a:lstStyle/>
            <a:p>
              <a:endParaRPr lang="en-US"/>
            </a:p>
          </p:txBody>
        </p:sp>
        <p:sp>
          <p:nvSpPr>
            <p:cNvPr id="7" name="TextBox 7"/>
            <p:cNvSpPr txBox="1"/>
            <p:nvPr/>
          </p:nvSpPr>
          <p:spPr>
            <a:xfrm>
              <a:off x="0" y="-9525"/>
              <a:ext cx="21031200" cy="1655445"/>
            </a:xfrm>
            <a:prstGeom prst="rect">
              <a:avLst/>
            </a:prstGeom>
          </p:spPr>
          <p:txBody>
            <a:bodyPr lIns="0" tIns="0" rIns="0" bIns="0" rtlCol="0" anchor="ctr"/>
            <a:lstStyle/>
            <a:p>
              <a:pPr algn="l">
                <a:lnSpc>
                  <a:spcPts val="5759"/>
                </a:lnSpc>
              </a:pPr>
              <a:r>
                <a:rPr lang="en-US" sz="4800" b="1">
                  <a:solidFill>
                    <a:srgbClr val="0D1B2A"/>
                  </a:solidFill>
                  <a:latin typeface="Cambria Bold"/>
                  <a:ea typeface="Cambria Bold"/>
                  <a:cs typeface="Cambria Bold"/>
                  <a:sym typeface="Cambria Bold"/>
                </a:rPr>
                <a:t>Architecture at a Glance</a:t>
              </a:r>
            </a:p>
          </p:txBody>
        </p:sp>
      </p:grpSp>
      <p:grpSp>
        <p:nvGrpSpPr>
          <p:cNvPr id="8" name="Group 8"/>
          <p:cNvGrpSpPr/>
          <p:nvPr/>
        </p:nvGrpSpPr>
        <p:grpSpPr>
          <a:xfrm>
            <a:off x="808672" y="2248852"/>
            <a:ext cx="2908935" cy="782955"/>
            <a:chOff x="0" y="0"/>
            <a:chExt cx="3878580" cy="1043940"/>
          </a:xfrm>
        </p:grpSpPr>
        <p:sp>
          <p:nvSpPr>
            <p:cNvPr id="9" name="Freeform 9"/>
            <p:cNvSpPr/>
            <p:nvPr/>
          </p:nvSpPr>
          <p:spPr>
            <a:xfrm>
              <a:off x="0" y="0"/>
              <a:ext cx="3878580" cy="1043940"/>
            </a:xfrm>
            <a:custGeom>
              <a:avLst/>
              <a:gdLst/>
              <a:ahLst/>
              <a:cxnLst/>
              <a:rect l="l" t="t" r="r" b="b"/>
              <a:pathLst>
                <a:path w="3878580" h="1043940">
                  <a:moveTo>
                    <a:pt x="0" y="132842"/>
                  </a:moveTo>
                  <a:cubicBezTo>
                    <a:pt x="0" y="59436"/>
                    <a:pt x="59436" y="0"/>
                    <a:pt x="132842" y="0"/>
                  </a:cubicBezTo>
                  <a:lnTo>
                    <a:pt x="3745738" y="0"/>
                  </a:lnTo>
                  <a:cubicBezTo>
                    <a:pt x="3819144" y="0"/>
                    <a:pt x="3878580" y="59436"/>
                    <a:pt x="3878580" y="132842"/>
                  </a:cubicBezTo>
                  <a:lnTo>
                    <a:pt x="3878580" y="911098"/>
                  </a:lnTo>
                  <a:cubicBezTo>
                    <a:pt x="3878580" y="984504"/>
                    <a:pt x="3819144" y="1043940"/>
                    <a:pt x="3745738" y="1043940"/>
                  </a:cubicBezTo>
                  <a:lnTo>
                    <a:pt x="132842" y="1043940"/>
                  </a:lnTo>
                  <a:cubicBezTo>
                    <a:pt x="59436" y="1043940"/>
                    <a:pt x="0" y="984504"/>
                    <a:pt x="0" y="911098"/>
                  </a:cubicBezTo>
                  <a:close/>
                </a:path>
              </a:pathLst>
            </a:custGeom>
            <a:solidFill>
              <a:srgbClr val="FFFFFF"/>
            </a:solidFill>
            <a:ln w="28575" cap="sq">
              <a:solidFill>
                <a:srgbClr val="74C69D"/>
              </a:solidFill>
              <a:prstDash val="solid"/>
              <a:miter/>
            </a:ln>
          </p:spPr>
          <p:txBody>
            <a:bodyPr/>
            <a:lstStyle/>
            <a:p>
              <a:endParaRPr lang="en-US"/>
            </a:p>
          </p:txBody>
        </p:sp>
      </p:grpSp>
      <p:grpSp>
        <p:nvGrpSpPr>
          <p:cNvPr id="10" name="Group 10"/>
          <p:cNvGrpSpPr/>
          <p:nvPr/>
        </p:nvGrpSpPr>
        <p:grpSpPr>
          <a:xfrm>
            <a:off x="960120" y="2372868"/>
            <a:ext cx="2606040" cy="534924"/>
            <a:chOff x="0" y="0"/>
            <a:chExt cx="3474720" cy="713232"/>
          </a:xfrm>
        </p:grpSpPr>
        <p:sp>
          <p:nvSpPr>
            <p:cNvPr id="11" name="Freeform 11"/>
            <p:cNvSpPr/>
            <p:nvPr/>
          </p:nvSpPr>
          <p:spPr>
            <a:xfrm>
              <a:off x="0" y="0"/>
              <a:ext cx="3474720" cy="713232"/>
            </a:xfrm>
            <a:custGeom>
              <a:avLst/>
              <a:gdLst/>
              <a:ahLst/>
              <a:cxnLst/>
              <a:rect l="l" t="t" r="r" b="b"/>
              <a:pathLst>
                <a:path w="3474720" h="713232">
                  <a:moveTo>
                    <a:pt x="0" y="0"/>
                  </a:moveTo>
                  <a:lnTo>
                    <a:pt x="3474720" y="0"/>
                  </a:lnTo>
                  <a:lnTo>
                    <a:pt x="3474720" y="713232"/>
                  </a:lnTo>
                  <a:lnTo>
                    <a:pt x="0" y="713232"/>
                  </a:lnTo>
                  <a:close/>
                </a:path>
              </a:pathLst>
            </a:custGeom>
            <a:blipFill>
              <a:blip r:embed="rId3">
                <a:alphaModFix amt="0"/>
              </a:blip>
              <a:stretch>
                <a:fillRect t="-44927" b="-44927"/>
              </a:stretch>
            </a:blipFill>
          </p:spPr>
          <p:txBody>
            <a:bodyPr/>
            <a:lstStyle/>
            <a:p>
              <a:endParaRPr lang="en-US"/>
            </a:p>
          </p:txBody>
        </p:sp>
        <p:sp>
          <p:nvSpPr>
            <p:cNvPr id="12" name="TextBox 12"/>
            <p:cNvSpPr txBox="1"/>
            <p:nvPr/>
          </p:nvSpPr>
          <p:spPr>
            <a:xfrm>
              <a:off x="0" y="-38100"/>
              <a:ext cx="3474720" cy="751332"/>
            </a:xfrm>
            <a:prstGeom prst="rect">
              <a:avLst/>
            </a:prstGeom>
          </p:spPr>
          <p:txBody>
            <a:bodyPr lIns="0" tIns="0" rIns="0" bIns="0" rtlCol="0" anchor="ctr"/>
            <a:lstStyle/>
            <a:p>
              <a:pPr algn="ctr">
                <a:lnSpc>
                  <a:spcPts val="2160"/>
                </a:lnSpc>
              </a:pPr>
              <a:r>
                <a:rPr lang="en-US" sz="1800" b="1">
                  <a:solidFill>
                    <a:srgbClr val="0D1B2A"/>
                  </a:solidFill>
                  <a:latin typeface="Calibri (MS) Bold"/>
                  <a:ea typeface="Calibri (MS) Bold"/>
                  <a:cs typeface="Calibri (MS) Bold"/>
                  <a:sym typeface="Calibri (MS) Bold"/>
                </a:rPr>
                <a:t>CSV / Simulation</a:t>
              </a:r>
            </a:p>
          </p:txBody>
        </p:sp>
      </p:grpSp>
      <p:grpSp>
        <p:nvGrpSpPr>
          <p:cNvPr id="13" name="Group 13"/>
          <p:cNvGrpSpPr/>
          <p:nvPr/>
        </p:nvGrpSpPr>
        <p:grpSpPr>
          <a:xfrm>
            <a:off x="3684270" y="2621280"/>
            <a:ext cx="723900" cy="38100"/>
            <a:chOff x="0" y="0"/>
            <a:chExt cx="965200" cy="50800"/>
          </a:xfrm>
        </p:grpSpPr>
        <p:sp>
          <p:nvSpPr>
            <p:cNvPr id="14" name="Freeform 14"/>
            <p:cNvSpPr/>
            <p:nvPr/>
          </p:nvSpPr>
          <p:spPr>
            <a:xfrm>
              <a:off x="0" y="0"/>
              <a:ext cx="965200" cy="50800"/>
            </a:xfrm>
            <a:custGeom>
              <a:avLst/>
              <a:gdLst/>
              <a:ahLst/>
              <a:cxnLst/>
              <a:rect l="l" t="t" r="r" b="b"/>
              <a:pathLst>
                <a:path w="965200" h="50800">
                  <a:moveTo>
                    <a:pt x="0" y="0"/>
                  </a:moveTo>
                  <a:lnTo>
                    <a:pt x="965200" y="50800"/>
                  </a:lnTo>
                </a:path>
              </a:pathLst>
            </a:custGeom>
            <a:blipFill>
              <a:blip r:embed="rId3">
                <a:alphaModFix amt="0"/>
              </a:blip>
              <a:stretch>
                <a:fillRect t="-320215" b="-320215"/>
              </a:stretch>
            </a:blipFill>
            <a:ln w="38100" cap="sq">
              <a:solidFill>
                <a:srgbClr val="40916C"/>
              </a:solidFill>
              <a:prstDash val="solid"/>
              <a:miter/>
            </a:ln>
          </p:spPr>
          <p:txBody>
            <a:bodyPr/>
            <a:lstStyle/>
            <a:p>
              <a:endParaRPr lang="en-US"/>
            </a:p>
          </p:txBody>
        </p:sp>
      </p:grpSp>
      <p:grpSp>
        <p:nvGrpSpPr>
          <p:cNvPr id="15" name="Group 15"/>
          <p:cNvGrpSpPr/>
          <p:nvPr/>
        </p:nvGrpSpPr>
        <p:grpSpPr>
          <a:xfrm>
            <a:off x="4374832" y="2248852"/>
            <a:ext cx="2908935" cy="782955"/>
            <a:chOff x="0" y="0"/>
            <a:chExt cx="3878580" cy="1043940"/>
          </a:xfrm>
        </p:grpSpPr>
        <p:sp>
          <p:nvSpPr>
            <p:cNvPr id="16" name="Freeform 16"/>
            <p:cNvSpPr/>
            <p:nvPr/>
          </p:nvSpPr>
          <p:spPr>
            <a:xfrm>
              <a:off x="0" y="0"/>
              <a:ext cx="3878580" cy="1043940"/>
            </a:xfrm>
            <a:custGeom>
              <a:avLst/>
              <a:gdLst/>
              <a:ahLst/>
              <a:cxnLst/>
              <a:rect l="l" t="t" r="r" b="b"/>
              <a:pathLst>
                <a:path w="3878580" h="1043940">
                  <a:moveTo>
                    <a:pt x="0" y="132842"/>
                  </a:moveTo>
                  <a:cubicBezTo>
                    <a:pt x="0" y="59436"/>
                    <a:pt x="59436" y="0"/>
                    <a:pt x="132842" y="0"/>
                  </a:cubicBezTo>
                  <a:lnTo>
                    <a:pt x="3745738" y="0"/>
                  </a:lnTo>
                  <a:cubicBezTo>
                    <a:pt x="3819144" y="0"/>
                    <a:pt x="3878580" y="59436"/>
                    <a:pt x="3878580" y="132842"/>
                  </a:cubicBezTo>
                  <a:lnTo>
                    <a:pt x="3878580" y="911098"/>
                  </a:lnTo>
                  <a:cubicBezTo>
                    <a:pt x="3878580" y="984504"/>
                    <a:pt x="3819144" y="1043940"/>
                    <a:pt x="3745738" y="1043940"/>
                  </a:cubicBezTo>
                  <a:lnTo>
                    <a:pt x="132842" y="1043940"/>
                  </a:lnTo>
                  <a:cubicBezTo>
                    <a:pt x="59436" y="1043940"/>
                    <a:pt x="0" y="984504"/>
                    <a:pt x="0" y="911098"/>
                  </a:cubicBezTo>
                  <a:close/>
                </a:path>
              </a:pathLst>
            </a:custGeom>
            <a:solidFill>
              <a:srgbClr val="FFFFFF"/>
            </a:solidFill>
            <a:ln w="28575" cap="sq">
              <a:solidFill>
                <a:srgbClr val="74C69D"/>
              </a:solidFill>
              <a:prstDash val="solid"/>
              <a:miter/>
            </a:ln>
          </p:spPr>
          <p:txBody>
            <a:bodyPr/>
            <a:lstStyle/>
            <a:p>
              <a:endParaRPr lang="en-US"/>
            </a:p>
          </p:txBody>
        </p:sp>
      </p:grpSp>
      <p:grpSp>
        <p:nvGrpSpPr>
          <p:cNvPr id="17" name="Group 17"/>
          <p:cNvGrpSpPr/>
          <p:nvPr/>
        </p:nvGrpSpPr>
        <p:grpSpPr>
          <a:xfrm>
            <a:off x="4526280" y="2372868"/>
            <a:ext cx="2606040" cy="534924"/>
            <a:chOff x="0" y="0"/>
            <a:chExt cx="3474720" cy="713232"/>
          </a:xfrm>
        </p:grpSpPr>
        <p:sp>
          <p:nvSpPr>
            <p:cNvPr id="18" name="Freeform 18"/>
            <p:cNvSpPr/>
            <p:nvPr/>
          </p:nvSpPr>
          <p:spPr>
            <a:xfrm>
              <a:off x="0" y="0"/>
              <a:ext cx="3474720" cy="713232"/>
            </a:xfrm>
            <a:custGeom>
              <a:avLst/>
              <a:gdLst/>
              <a:ahLst/>
              <a:cxnLst/>
              <a:rect l="l" t="t" r="r" b="b"/>
              <a:pathLst>
                <a:path w="3474720" h="713232">
                  <a:moveTo>
                    <a:pt x="0" y="0"/>
                  </a:moveTo>
                  <a:lnTo>
                    <a:pt x="3474720" y="0"/>
                  </a:lnTo>
                  <a:lnTo>
                    <a:pt x="3474720" y="713232"/>
                  </a:lnTo>
                  <a:lnTo>
                    <a:pt x="0" y="713232"/>
                  </a:lnTo>
                  <a:close/>
                </a:path>
              </a:pathLst>
            </a:custGeom>
            <a:blipFill>
              <a:blip r:embed="rId3">
                <a:alphaModFix amt="0"/>
              </a:blip>
              <a:stretch>
                <a:fillRect t="-44927" b="-44927"/>
              </a:stretch>
            </a:blipFill>
          </p:spPr>
          <p:txBody>
            <a:bodyPr/>
            <a:lstStyle/>
            <a:p>
              <a:endParaRPr lang="en-US"/>
            </a:p>
          </p:txBody>
        </p:sp>
        <p:sp>
          <p:nvSpPr>
            <p:cNvPr id="19" name="TextBox 19"/>
            <p:cNvSpPr txBox="1"/>
            <p:nvPr/>
          </p:nvSpPr>
          <p:spPr>
            <a:xfrm>
              <a:off x="0" y="-38100"/>
              <a:ext cx="3474720" cy="751332"/>
            </a:xfrm>
            <a:prstGeom prst="rect">
              <a:avLst/>
            </a:prstGeom>
          </p:spPr>
          <p:txBody>
            <a:bodyPr lIns="0" tIns="0" rIns="0" bIns="0" rtlCol="0" anchor="ctr"/>
            <a:lstStyle/>
            <a:p>
              <a:pPr algn="ctr">
                <a:lnSpc>
                  <a:spcPts val="2160"/>
                </a:lnSpc>
              </a:pPr>
              <a:r>
                <a:rPr lang="en-US" sz="1800" b="1">
                  <a:solidFill>
                    <a:srgbClr val="0D1B2A"/>
                  </a:solidFill>
                  <a:latin typeface="Calibri (MS) Bold"/>
                  <a:ea typeface="Calibri (MS) Bold"/>
                  <a:cs typeface="Calibri (MS) Bold"/>
                  <a:sym typeface="Calibri (MS) Bold"/>
                </a:rPr>
                <a:t>Kafka Producer</a:t>
              </a:r>
            </a:p>
          </p:txBody>
        </p:sp>
      </p:grpSp>
      <p:grpSp>
        <p:nvGrpSpPr>
          <p:cNvPr id="20" name="Group 20"/>
          <p:cNvGrpSpPr/>
          <p:nvPr/>
        </p:nvGrpSpPr>
        <p:grpSpPr>
          <a:xfrm>
            <a:off x="7250430" y="2621280"/>
            <a:ext cx="723900" cy="38100"/>
            <a:chOff x="0" y="0"/>
            <a:chExt cx="965200" cy="50800"/>
          </a:xfrm>
        </p:grpSpPr>
        <p:sp>
          <p:nvSpPr>
            <p:cNvPr id="21" name="Freeform 21"/>
            <p:cNvSpPr/>
            <p:nvPr/>
          </p:nvSpPr>
          <p:spPr>
            <a:xfrm>
              <a:off x="0" y="0"/>
              <a:ext cx="965200" cy="50800"/>
            </a:xfrm>
            <a:custGeom>
              <a:avLst/>
              <a:gdLst/>
              <a:ahLst/>
              <a:cxnLst/>
              <a:rect l="l" t="t" r="r" b="b"/>
              <a:pathLst>
                <a:path w="965200" h="50800">
                  <a:moveTo>
                    <a:pt x="0" y="0"/>
                  </a:moveTo>
                  <a:lnTo>
                    <a:pt x="965200" y="50800"/>
                  </a:lnTo>
                </a:path>
              </a:pathLst>
            </a:custGeom>
            <a:blipFill>
              <a:blip r:embed="rId3">
                <a:alphaModFix amt="0"/>
              </a:blip>
              <a:stretch>
                <a:fillRect t="-320215" b="-320215"/>
              </a:stretch>
            </a:blipFill>
            <a:ln w="38100" cap="sq">
              <a:solidFill>
                <a:srgbClr val="40916C"/>
              </a:solidFill>
              <a:prstDash val="solid"/>
              <a:miter/>
            </a:ln>
          </p:spPr>
          <p:txBody>
            <a:bodyPr/>
            <a:lstStyle/>
            <a:p>
              <a:endParaRPr lang="en-US"/>
            </a:p>
          </p:txBody>
        </p:sp>
      </p:grpSp>
      <p:grpSp>
        <p:nvGrpSpPr>
          <p:cNvPr id="22" name="Group 22"/>
          <p:cNvGrpSpPr/>
          <p:nvPr/>
        </p:nvGrpSpPr>
        <p:grpSpPr>
          <a:xfrm>
            <a:off x="7940993" y="2248852"/>
            <a:ext cx="2908935" cy="782955"/>
            <a:chOff x="0" y="0"/>
            <a:chExt cx="3878580" cy="1043940"/>
          </a:xfrm>
        </p:grpSpPr>
        <p:sp>
          <p:nvSpPr>
            <p:cNvPr id="23" name="Freeform 23"/>
            <p:cNvSpPr/>
            <p:nvPr/>
          </p:nvSpPr>
          <p:spPr>
            <a:xfrm>
              <a:off x="0" y="0"/>
              <a:ext cx="3878580" cy="1043940"/>
            </a:xfrm>
            <a:custGeom>
              <a:avLst/>
              <a:gdLst/>
              <a:ahLst/>
              <a:cxnLst/>
              <a:rect l="l" t="t" r="r" b="b"/>
              <a:pathLst>
                <a:path w="3878580" h="1043940">
                  <a:moveTo>
                    <a:pt x="0" y="132842"/>
                  </a:moveTo>
                  <a:cubicBezTo>
                    <a:pt x="0" y="59436"/>
                    <a:pt x="59436" y="0"/>
                    <a:pt x="132842" y="0"/>
                  </a:cubicBezTo>
                  <a:lnTo>
                    <a:pt x="3745738" y="0"/>
                  </a:lnTo>
                  <a:cubicBezTo>
                    <a:pt x="3819144" y="0"/>
                    <a:pt x="3878580" y="59436"/>
                    <a:pt x="3878580" y="132842"/>
                  </a:cubicBezTo>
                  <a:lnTo>
                    <a:pt x="3878580" y="911098"/>
                  </a:lnTo>
                  <a:cubicBezTo>
                    <a:pt x="3878580" y="984504"/>
                    <a:pt x="3819144" y="1043940"/>
                    <a:pt x="3745738" y="1043940"/>
                  </a:cubicBezTo>
                  <a:lnTo>
                    <a:pt x="132842" y="1043940"/>
                  </a:lnTo>
                  <a:cubicBezTo>
                    <a:pt x="59436" y="1043940"/>
                    <a:pt x="0" y="984504"/>
                    <a:pt x="0" y="911098"/>
                  </a:cubicBezTo>
                  <a:close/>
                </a:path>
              </a:pathLst>
            </a:custGeom>
            <a:solidFill>
              <a:srgbClr val="FFFFFF"/>
            </a:solidFill>
            <a:ln w="28575" cap="sq">
              <a:solidFill>
                <a:srgbClr val="74C69D"/>
              </a:solidFill>
              <a:prstDash val="solid"/>
              <a:miter/>
            </a:ln>
          </p:spPr>
          <p:txBody>
            <a:bodyPr/>
            <a:lstStyle/>
            <a:p>
              <a:endParaRPr lang="en-US"/>
            </a:p>
          </p:txBody>
        </p:sp>
      </p:grpSp>
      <p:grpSp>
        <p:nvGrpSpPr>
          <p:cNvPr id="24" name="Group 24"/>
          <p:cNvGrpSpPr/>
          <p:nvPr/>
        </p:nvGrpSpPr>
        <p:grpSpPr>
          <a:xfrm>
            <a:off x="8092440" y="2372868"/>
            <a:ext cx="2606040" cy="205740"/>
            <a:chOff x="0" y="0"/>
            <a:chExt cx="3474720" cy="274320"/>
          </a:xfrm>
        </p:grpSpPr>
        <p:sp>
          <p:nvSpPr>
            <p:cNvPr id="25" name="Freeform 25"/>
            <p:cNvSpPr/>
            <p:nvPr/>
          </p:nvSpPr>
          <p:spPr>
            <a:xfrm>
              <a:off x="0" y="0"/>
              <a:ext cx="3474720" cy="274320"/>
            </a:xfrm>
            <a:custGeom>
              <a:avLst/>
              <a:gdLst/>
              <a:ahLst/>
              <a:cxnLst/>
              <a:rect l="l" t="t" r="r" b="b"/>
              <a:pathLst>
                <a:path w="3474720" h="274320">
                  <a:moveTo>
                    <a:pt x="0" y="0"/>
                  </a:moveTo>
                  <a:lnTo>
                    <a:pt x="3474720" y="0"/>
                  </a:lnTo>
                  <a:lnTo>
                    <a:pt x="3474720" y="274320"/>
                  </a:lnTo>
                  <a:lnTo>
                    <a:pt x="0" y="274320"/>
                  </a:lnTo>
                  <a:close/>
                </a:path>
              </a:pathLst>
            </a:custGeom>
            <a:blipFill>
              <a:blip r:embed="rId3">
                <a:alphaModFix amt="0"/>
              </a:blip>
              <a:stretch>
                <a:fillRect t="-196810" b="-196810"/>
              </a:stretch>
            </a:blipFill>
          </p:spPr>
          <p:txBody>
            <a:bodyPr/>
            <a:lstStyle/>
            <a:p>
              <a:endParaRPr lang="en-US"/>
            </a:p>
          </p:txBody>
        </p:sp>
        <p:sp>
          <p:nvSpPr>
            <p:cNvPr id="26" name="TextBox 26"/>
            <p:cNvSpPr txBox="1"/>
            <p:nvPr/>
          </p:nvSpPr>
          <p:spPr>
            <a:xfrm>
              <a:off x="0" y="-38100"/>
              <a:ext cx="3474720" cy="312420"/>
            </a:xfrm>
            <a:prstGeom prst="rect">
              <a:avLst/>
            </a:prstGeom>
          </p:spPr>
          <p:txBody>
            <a:bodyPr lIns="0" tIns="0" rIns="0" bIns="0" rtlCol="0" anchor="ctr"/>
            <a:lstStyle/>
            <a:p>
              <a:pPr algn="ctr">
                <a:lnSpc>
                  <a:spcPts val="2160"/>
                </a:lnSpc>
              </a:pPr>
              <a:r>
                <a:rPr lang="en-US" sz="1800" b="1">
                  <a:solidFill>
                    <a:srgbClr val="0D1B2A"/>
                  </a:solidFill>
                  <a:latin typeface="Calibri (MS) Bold"/>
                  <a:ea typeface="Calibri (MS) Bold"/>
                  <a:cs typeface="Calibri (MS) Bold"/>
                  <a:sym typeface="Calibri (MS) Bold"/>
                </a:rPr>
                <a:t>Kafka Topics</a:t>
              </a:r>
            </a:p>
          </p:txBody>
        </p:sp>
      </p:grpSp>
      <p:sp>
        <p:nvSpPr>
          <p:cNvPr id="27" name="TextBox 27"/>
          <p:cNvSpPr txBox="1"/>
          <p:nvPr/>
        </p:nvSpPr>
        <p:spPr>
          <a:xfrm>
            <a:off x="8183880" y="2595753"/>
            <a:ext cx="2423160" cy="321183"/>
          </a:xfrm>
          <a:prstGeom prst="rect">
            <a:avLst/>
          </a:prstGeom>
        </p:spPr>
        <p:txBody>
          <a:bodyPr lIns="0" tIns="0" rIns="0" bIns="0" rtlCol="0" anchor="t">
            <a:spAutoFit/>
          </a:bodyPr>
          <a:lstStyle/>
          <a:p>
            <a:pPr algn="ctr">
              <a:lnSpc>
                <a:spcPts val="1530"/>
              </a:lnSpc>
            </a:pPr>
            <a:r>
              <a:rPr lang="en-US" sz="1275">
                <a:solidFill>
                  <a:srgbClr val="5B6B72"/>
                </a:solidFill>
                <a:latin typeface="Calibri (MS)"/>
                <a:ea typeface="Calibri (MS)"/>
                <a:cs typeface="Calibri (MS)"/>
                <a:sym typeface="Calibri (MS)"/>
              </a:rPr>
              <a:t>wind · solar · weather</a:t>
            </a:r>
          </a:p>
        </p:txBody>
      </p:sp>
      <p:grpSp>
        <p:nvGrpSpPr>
          <p:cNvPr id="28" name="Group 28"/>
          <p:cNvGrpSpPr/>
          <p:nvPr/>
        </p:nvGrpSpPr>
        <p:grpSpPr>
          <a:xfrm>
            <a:off x="9376410" y="2998470"/>
            <a:ext cx="38100" cy="422148"/>
            <a:chOff x="0" y="0"/>
            <a:chExt cx="50800" cy="562864"/>
          </a:xfrm>
        </p:grpSpPr>
        <p:sp>
          <p:nvSpPr>
            <p:cNvPr id="29" name="Freeform 29"/>
            <p:cNvSpPr/>
            <p:nvPr/>
          </p:nvSpPr>
          <p:spPr>
            <a:xfrm>
              <a:off x="0" y="0"/>
              <a:ext cx="50800" cy="562864"/>
            </a:xfrm>
            <a:custGeom>
              <a:avLst/>
              <a:gdLst/>
              <a:ahLst/>
              <a:cxnLst/>
              <a:rect l="l" t="t" r="r" b="b"/>
              <a:pathLst>
                <a:path w="50800" h="562864">
                  <a:moveTo>
                    <a:pt x="0" y="0"/>
                  </a:moveTo>
                  <a:lnTo>
                    <a:pt x="50800" y="562864"/>
                  </a:lnTo>
                </a:path>
              </a:pathLst>
            </a:custGeom>
            <a:blipFill>
              <a:blip r:embed="rId3">
                <a:alphaModFix amt="0"/>
              </a:blip>
              <a:stretch>
                <a:fillRect l="-1371603" r="-1371603"/>
              </a:stretch>
            </a:blipFill>
            <a:ln w="38100" cap="sq">
              <a:solidFill>
                <a:srgbClr val="40916C"/>
              </a:solidFill>
              <a:prstDash val="solid"/>
              <a:miter/>
            </a:ln>
          </p:spPr>
          <p:txBody>
            <a:bodyPr/>
            <a:lstStyle/>
            <a:p>
              <a:endParaRPr lang="en-US"/>
            </a:p>
          </p:txBody>
        </p:sp>
      </p:grpSp>
      <p:grpSp>
        <p:nvGrpSpPr>
          <p:cNvPr id="30" name="Group 30"/>
          <p:cNvGrpSpPr/>
          <p:nvPr/>
        </p:nvGrpSpPr>
        <p:grpSpPr>
          <a:xfrm>
            <a:off x="7940993" y="3414712"/>
            <a:ext cx="2908935" cy="782955"/>
            <a:chOff x="0" y="0"/>
            <a:chExt cx="3878580" cy="1043940"/>
          </a:xfrm>
        </p:grpSpPr>
        <p:sp>
          <p:nvSpPr>
            <p:cNvPr id="31" name="Freeform 31"/>
            <p:cNvSpPr/>
            <p:nvPr/>
          </p:nvSpPr>
          <p:spPr>
            <a:xfrm>
              <a:off x="0" y="0"/>
              <a:ext cx="3878580" cy="1043940"/>
            </a:xfrm>
            <a:custGeom>
              <a:avLst/>
              <a:gdLst/>
              <a:ahLst/>
              <a:cxnLst/>
              <a:rect l="l" t="t" r="r" b="b"/>
              <a:pathLst>
                <a:path w="3878580" h="1043940">
                  <a:moveTo>
                    <a:pt x="0" y="132842"/>
                  </a:moveTo>
                  <a:cubicBezTo>
                    <a:pt x="0" y="59436"/>
                    <a:pt x="59436" y="0"/>
                    <a:pt x="132842" y="0"/>
                  </a:cubicBezTo>
                  <a:lnTo>
                    <a:pt x="3745738" y="0"/>
                  </a:lnTo>
                  <a:cubicBezTo>
                    <a:pt x="3819144" y="0"/>
                    <a:pt x="3878580" y="59436"/>
                    <a:pt x="3878580" y="132842"/>
                  </a:cubicBezTo>
                  <a:lnTo>
                    <a:pt x="3878580" y="911098"/>
                  </a:lnTo>
                  <a:cubicBezTo>
                    <a:pt x="3878580" y="984504"/>
                    <a:pt x="3819144" y="1043940"/>
                    <a:pt x="3745738" y="1043940"/>
                  </a:cubicBezTo>
                  <a:lnTo>
                    <a:pt x="132842" y="1043940"/>
                  </a:lnTo>
                  <a:cubicBezTo>
                    <a:pt x="59436" y="1043940"/>
                    <a:pt x="0" y="984504"/>
                    <a:pt x="0" y="911098"/>
                  </a:cubicBezTo>
                  <a:close/>
                </a:path>
              </a:pathLst>
            </a:custGeom>
            <a:solidFill>
              <a:srgbClr val="FFFFFF"/>
            </a:solidFill>
            <a:ln w="28575" cap="sq">
              <a:solidFill>
                <a:srgbClr val="40916C"/>
              </a:solidFill>
              <a:prstDash val="solid"/>
              <a:miter/>
            </a:ln>
          </p:spPr>
          <p:txBody>
            <a:bodyPr/>
            <a:lstStyle/>
            <a:p>
              <a:endParaRPr lang="en-US"/>
            </a:p>
          </p:txBody>
        </p:sp>
      </p:grpSp>
      <p:grpSp>
        <p:nvGrpSpPr>
          <p:cNvPr id="32" name="Group 32"/>
          <p:cNvGrpSpPr/>
          <p:nvPr/>
        </p:nvGrpSpPr>
        <p:grpSpPr>
          <a:xfrm>
            <a:off x="8092440" y="3538728"/>
            <a:ext cx="2606040" cy="534924"/>
            <a:chOff x="0" y="0"/>
            <a:chExt cx="3474720" cy="713232"/>
          </a:xfrm>
        </p:grpSpPr>
        <p:sp>
          <p:nvSpPr>
            <p:cNvPr id="33" name="Freeform 33"/>
            <p:cNvSpPr/>
            <p:nvPr/>
          </p:nvSpPr>
          <p:spPr>
            <a:xfrm>
              <a:off x="0" y="0"/>
              <a:ext cx="3474720" cy="713232"/>
            </a:xfrm>
            <a:custGeom>
              <a:avLst/>
              <a:gdLst/>
              <a:ahLst/>
              <a:cxnLst/>
              <a:rect l="l" t="t" r="r" b="b"/>
              <a:pathLst>
                <a:path w="3474720" h="713232">
                  <a:moveTo>
                    <a:pt x="0" y="0"/>
                  </a:moveTo>
                  <a:lnTo>
                    <a:pt x="3474720" y="0"/>
                  </a:lnTo>
                  <a:lnTo>
                    <a:pt x="3474720" y="713232"/>
                  </a:lnTo>
                  <a:lnTo>
                    <a:pt x="0" y="713232"/>
                  </a:lnTo>
                  <a:close/>
                </a:path>
              </a:pathLst>
            </a:custGeom>
            <a:blipFill>
              <a:blip r:embed="rId3">
                <a:alphaModFix amt="0"/>
              </a:blip>
              <a:stretch>
                <a:fillRect t="-44927" b="-44927"/>
              </a:stretch>
            </a:blipFill>
          </p:spPr>
          <p:txBody>
            <a:bodyPr/>
            <a:lstStyle/>
            <a:p>
              <a:endParaRPr lang="en-US"/>
            </a:p>
          </p:txBody>
        </p:sp>
        <p:sp>
          <p:nvSpPr>
            <p:cNvPr id="34" name="TextBox 34"/>
            <p:cNvSpPr txBox="1"/>
            <p:nvPr/>
          </p:nvSpPr>
          <p:spPr>
            <a:xfrm>
              <a:off x="0" y="-38100"/>
              <a:ext cx="3474720" cy="751332"/>
            </a:xfrm>
            <a:prstGeom prst="rect">
              <a:avLst/>
            </a:prstGeom>
          </p:spPr>
          <p:txBody>
            <a:bodyPr lIns="0" tIns="0" rIns="0" bIns="0" rtlCol="0" anchor="ctr"/>
            <a:lstStyle/>
            <a:p>
              <a:pPr algn="ctr">
                <a:lnSpc>
                  <a:spcPts val="2160"/>
                </a:lnSpc>
              </a:pPr>
              <a:r>
                <a:rPr lang="en-US" sz="1800" b="1">
                  <a:solidFill>
                    <a:srgbClr val="0D1B2A"/>
                  </a:solidFill>
                  <a:latin typeface="Calibri (MS) Bold"/>
                  <a:ea typeface="Calibri (MS) Bold"/>
                  <a:cs typeface="Calibri (MS) Bold"/>
                  <a:sym typeface="Calibri (MS) Bold"/>
                </a:rPr>
                <a:t>Kafka Consumer</a:t>
              </a:r>
            </a:p>
          </p:txBody>
        </p:sp>
      </p:grpSp>
      <p:grpSp>
        <p:nvGrpSpPr>
          <p:cNvPr id="35" name="Group 35"/>
          <p:cNvGrpSpPr/>
          <p:nvPr/>
        </p:nvGrpSpPr>
        <p:grpSpPr>
          <a:xfrm>
            <a:off x="10816590" y="3787140"/>
            <a:ext cx="723900" cy="38100"/>
            <a:chOff x="0" y="0"/>
            <a:chExt cx="965200" cy="50800"/>
          </a:xfrm>
        </p:grpSpPr>
        <p:sp>
          <p:nvSpPr>
            <p:cNvPr id="36" name="Freeform 36"/>
            <p:cNvSpPr/>
            <p:nvPr/>
          </p:nvSpPr>
          <p:spPr>
            <a:xfrm>
              <a:off x="0" y="0"/>
              <a:ext cx="965200" cy="50800"/>
            </a:xfrm>
            <a:custGeom>
              <a:avLst/>
              <a:gdLst/>
              <a:ahLst/>
              <a:cxnLst/>
              <a:rect l="l" t="t" r="r" b="b"/>
              <a:pathLst>
                <a:path w="965200" h="50800">
                  <a:moveTo>
                    <a:pt x="0" y="0"/>
                  </a:moveTo>
                  <a:lnTo>
                    <a:pt x="965200" y="50800"/>
                  </a:lnTo>
                </a:path>
              </a:pathLst>
            </a:custGeom>
            <a:blipFill>
              <a:blip r:embed="rId3">
                <a:alphaModFix amt="0"/>
              </a:blip>
              <a:stretch>
                <a:fillRect t="-320215" b="-320215"/>
              </a:stretch>
            </a:blipFill>
            <a:ln w="38100" cap="sq">
              <a:solidFill>
                <a:srgbClr val="40916C"/>
              </a:solidFill>
              <a:prstDash val="solid"/>
              <a:miter/>
            </a:ln>
          </p:spPr>
          <p:txBody>
            <a:bodyPr/>
            <a:lstStyle/>
            <a:p>
              <a:endParaRPr lang="en-US"/>
            </a:p>
          </p:txBody>
        </p:sp>
      </p:grpSp>
      <p:grpSp>
        <p:nvGrpSpPr>
          <p:cNvPr id="37" name="Group 37"/>
          <p:cNvGrpSpPr/>
          <p:nvPr/>
        </p:nvGrpSpPr>
        <p:grpSpPr>
          <a:xfrm>
            <a:off x="11507152" y="3414712"/>
            <a:ext cx="3320415" cy="782955"/>
            <a:chOff x="0" y="0"/>
            <a:chExt cx="4427220" cy="1043940"/>
          </a:xfrm>
        </p:grpSpPr>
        <p:sp>
          <p:nvSpPr>
            <p:cNvPr id="38" name="Freeform 38"/>
            <p:cNvSpPr/>
            <p:nvPr/>
          </p:nvSpPr>
          <p:spPr>
            <a:xfrm>
              <a:off x="0" y="0"/>
              <a:ext cx="4427220" cy="1043940"/>
            </a:xfrm>
            <a:custGeom>
              <a:avLst/>
              <a:gdLst/>
              <a:ahLst/>
              <a:cxnLst/>
              <a:rect l="l" t="t" r="r" b="b"/>
              <a:pathLst>
                <a:path w="4427220" h="1043940">
                  <a:moveTo>
                    <a:pt x="0" y="132842"/>
                  </a:moveTo>
                  <a:cubicBezTo>
                    <a:pt x="0" y="59436"/>
                    <a:pt x="59436" y="0"/>
                    <a:pt x="132842" y="0"/>
                  </a:cubicBezTo>
                  <a:lnTo>
                    <a:pt x="4294378" y="0"/>
                  </a:lnTo>
                  <a:cubicBezTo>
                    <a:pt x="4367784" y="0"/>
                    <a:pt x="4427220" y="59436"/>
                    <a:pt x="4427220" y="132842"/>
                  </a:cubicBezTo>
                  <a:lnTo>
                    <a:pt x="4427220" y="911098"/>
                  </a:lnTo>
                  <a:cubicBezTo>
                    <a:pt x="4427220" y="984504"/>
                    <a:pt x="4367784" y="1043940"/>
                    <a:pt x="4294378" y="1043940"/>
                  </a:cubicBezTo>
                  <a:lnTo>
                    <a:pt x="132842" y="1043940"/>
                  </a:lnTo>
                  <a:cubicBezTo>
                    <a:pt x="59436" y="1043940"/>
                    <a:pt x="0" y="984504"/>
                    <a:pt x="0" y="911098"/>
                  </a:cubicBezTo>
                  <a:close/>
                </a:path>
              </a:pathLst>
            </a:custGeom>
            <a:solidFill>
              <a:srgbClr val="FFFFFF"/>
            </a:solidFill>
            <a:ln w="28575" cap="sq">
              <a:solidFill>
                <a:srgbClr val="40916C"/>
              </a:solidFill>
              <a:prstDash val="solid"/>
              <a:miter/>
            </a:ln>
          </p:spPr>
          <p:txBody>
            <a:bodyPr/>
            <a:lstStyle/>
            <a:p>
              <a:endParaRPr lang="en-US"/>
            </a:p>
          </p:txBody>
        </p:sp>
      </p:grpSp>
      <p:grpSp>
        <p:nvGrpSpPr>
          <p:cNvPr id="39" name="Group 39"/>
          <p:cNvGrpSpPr/>
          <p:nvPr/>
        </p:nvGrpSpPr>
        <p:grpSpPr>
          <a:xfrm>
            <a:off x="11658600" y="3538728"/>
            <a:ext cx="3017520" cy="205740"/>
            <a:chOff x="0" y="0"/>
            <a:chExt cx="4023360" cy="274320"/>
          </a:xfrm>
        </p:grpSpPr>
        <p:sp>
          <p:nvSpPr>
            <p:cNvPr id="40" name="Freeform 40"/>
            <p:cNvSpPr/>
            <p:nvPr/>
          </p:nvSpPr>
          <p:spPr>
            <a:xfrm>
              <a:off x="0" y="0"/>
              <a:ext cx="4023360" cy="274320"/>
            </a:xfrm>
            <a:custGeom>
              <a:avLst/>
              <a:gdLst/>
              <a:ahLst/>
              <a:cxnLst/>
              <a:rect l="l" t="t" r="r" b="b"/>
              <a:pathLst>
                <a:path w="4023360" h="274320">
                  <a:moveTo>
                    <a:pt x="0" y="0"/>
                  </a:moveTo>
                  <a:lnTo>
                    <a:pt x="4023360" y="0"/>
                  </a:lnTo>
                  <a:lnTo>
                    <a:pt x="4023360" y="274320"/>
                  </a:lnTo>
                  <a:lnTo>
                    <a:pt x="0" y="274320"/>
                  </a:lnTo>
                  <a:close/>
                </a:path>
              </a:pathLst>
            </a:custGeom>
            <a:blipFill>
              <a:blip r:embed="rId3">
                <a:alphaModFix amt="0"/>
              </a:blip>
              <a:stretch>
                <a:fillRect t="-235780" b="-235780"/>
              </a:stretch>
            </a:blipFill>
          </p:spPr>
          <p:txBody>
            <a:bodyPr/>
            <a:lstStyle/>
            <a:p>
              <a:endParaRPr lang="en-US"/>
            </a:p>
          </p:txBody>
        </p:sp>
        <p:sp>
          <p:nvSpPr>
            <p:cNvPr id="41" name="TextBox 41"/>
            <p:cNvSpPr txBox="1"/>
            <p:nvPr/>
          </p:nvSpPr>
          <p:spPr>
            <a:xfrm>
              <a:off x="0" y="-38100"/>
              <a:ext cx="4023360" cy="312420"/>
            </a:xfrm>
            <a:prstGeom prst="rect">
              <a:avLst/>
            </a:prstGeom>
          </p:spPr>
          <p:txBody>
            <a:bodyPr lIns="0" tIns="0" rIns="0" bIns="0" rtlCol="0" anchor="ctr"/>
            <a:lstStyle/>
            <a:p>
              <a:pPr algn="ctr">
                <a:lnSpc>
                  <a:spcPts val="2160"/>
                </a:lnSpc>
              </a:pPr>
              <a:r>
                <a:rPr lang="en-US" sz="1800" b="1">
                  <a:solidFill>
                    <a:srgbClr val="0D1B2A"/>
                  </a:solidFill>
                  <a:latin typeface="Calibri (MS) Bold"/>
                  <a:ea typeface="Calibri (MS) Bold"/>
                  <a:cs typeface="Calibri (MS) Bold"/>
                  <a:sym typeface="Calibri (MS) Bold"/>
                </a:rPr>
                <a:t>TimescaleDB</a:t>
              </a:r>
            </a:p>
          </p:txBody>
        </p:sp>
      </p:grpSp>
      <p:sp>
        <p:nvSpPr>
          <p:cNvPr id="42" name="TextBox 42"/>
          <p:cNvSpPr txBox="1"/>
          <p:nvPr/>
        </p:nvSpPr>
        <p:spPr>
          <a:xfrm>
            <a:off x="11750040" y="3761613"/>
            <a:ext cx="2834640" cy="321183"/>
          </a:xfrm>
          <a:prstGeom prst="rect">
            <a:avLst/>
          </a:prstGeom>
        </p:spPr>
        <p:txBody>
          <a:bodyPr lIns="0" tIns="0" rIns="0" bIns="0" rtlCol="0" anchor="t">
            <a:spAutoFit/>
          </a:bodyPr>
          <a:lstStyle/>
          <a:p>
            <a:pPr algn="ctr">
              <a:lnSpc>
                <a:spcPts val="1530"/>
              </a:lnSpc>
            </a:pPr>
            <a:r>
              <a:rPr lang="en-US" sz="1275">
                <a:solidFill>
                  <a:srgbClr val="5B6B72"/>
                </a:solidFill>
                <a:latin typeface="Calibri (MS)"/>
                <a:ea typeface="Calibri (MS)"/>
                <a:cs typeface="Calibri (MS)"/>
                <a:sym typeface="Calibri (MS)"/>
              </a:rPr>
              <a:t>batched inserts</a:t>
            </a:r>
          </a:p>
        </p:txBody>
      </p:sp>
      <p:grpSp>
        <p:nvGrpSpPr>
          <p:cNvPr id="43" name="Group 43"/>
          <p:cNvGrpSpPr/>
          <p:nvPr/>
        </p:nvGrpSpPr>
        <p:grpSpPr>
          <a:xfrm>
            <a:off x="13148310" y="4164330"/>
            <a:ext cx="38100" cy="422148"/>
            <a:chOff x="0" y="0"/>
            <a:chExt cx="50800" cy="562864"/>
          </a:xfrm>
        </p:grpSpPr>
        <p:sp>
          <p:nvSpPr>
            <p:cNvPr id="44" name="Freeform 44"/>
            <p:cNvSpPr/>
            <p:nvPr/>
          </p:nvSpPr>
          <p:spPr>
            <a:xfrm>
              <a:off x="0" y="0"/>
              <a:ext cx="50800" cy="562864"/>
            </a:xfrm>
            <a:custGeom>
              <a:avLst/>
              <a:gdLst/>
              <a:ahLst/>
              <a:cxnLst/>
              <a:rect l="l" t="t" r="r" b="b"/>
              <a:pathLst>
                <a:path w="50800" h="562864">
                  <a:moveTo>
                    <a:pt x="0" y="0"/>
                  </a:moveTo>
                  <a:lnTo>
                    <a:pt x="50800" y="562864"/>
                  </a:lnTo>
                </a:path>
              </a:pathLst>
            </a:custGeom>
            <a:blipFill>
              <a:blip r:embed="rId3">
                <a:alphaModFix amt="0"/>
              </a:blip>
              <a:stretch>
                <a:fillRect l="-1371603" r="-1371603"/>
              </a:stretch>
            </a:blipFill>
            <a:ln w="38100" cap="sq">
              <a:solidFill>
                <a:srgbClr val="40916C"/>
              </a:solidFill>
              <a:prstDash val="solid"/>
              <a:miter/>
            </a:ln>
          </p:spPr>
          <p:txBody>
            <a:bodyPr/>
            <a:lstStyle/>
            <a:p>
              <a:endParaRPr lang="en-US"/>
            </a:p>
          </p:txBody>
        </p:sp>
      </p:grpSp>
      <p:grpSp>
        <p:nvGrpSpPr>
          <p:cNvPr id="45" name="Group 45"/>
          <p:cNvGrpSpPr/>
          <p:nvPr/>
        </p:nvGrpSpPr>
        <p:grpSpPr>
          <a:xfrm>
            <a:off x="10409872" y="4580572"/>
            <a:ext cx="5514975" cy="782955"/>
            <a:chOff x="0" y="0"/>
            <a:chExt cx="7353300" cy="1043940"/>
          </a:xfrm>
        </p:grpSpPr>
        <p:sp>
          <p:nvSpPr>
            <p:cNvPr id="46" name="Freeform 46"/>
            <p:cNvSpPr/>
            <p:nvPr/>
          </p:nvSpPr>
          <p:spPr>
            <a:xfrm>
              <a:off x="0" y="0"/>
              <a:ext cx="7353300" cy="1043940"/>
            </a:xfrm>
            <a:custGeom>
              <a:avLst/>
              <a:gdLst/>
              <a:ahLst/>
              <a:cxnLst/>
              <a:rect l="l" t="t" r="r" b="b"/>
              <a:pathLst>
                <a:path w="7353300" h="1043940">
                  <a:moveTo>
                    <a:pt x="0" y="132842"/>
                  </a:moveTo>
                  <a:cubicBezTo>
                    <a:pt x="0" y="59436"/>
                    <a:pt x="59436" y="0"/>
                    <a:pt x="132842" y="0"/>
                  </a:cubicBezTo>
                  <a:lnTo>
                    <a:pt x="7220458" y="0"/>
                  </a:lnTo>
                  <a:cubicBezTo>
                    <a:pt x="7293864" y="0"/>
                    <a:pt x="7353300" y="59436"/>
                    <a:pt x="7353300" y="132842"/>
                  </a:cubicBezTo>
                  <a:lnTo>
                    <a:pt x="7353300" y="911098"/>
                  </a:lnTo>
                  <a:cubicBezTo>
                    <a:pt x="7353300" y="984504"/>
                    <a:pt x="7293864" y="1043940"/>
                    <a:pt x="7220458" y="1043940"/>
                  </a:cubicBezTo>
                  <a:lnTo>
                    <a:pt x="132842" y="1043940"/>
                  </a:lnTo>
                  <a:cubicBezTo>
                    <a:pt x="59436" y="1043940"/>
                    <a:pt x="0" y="984504"/>
                    <a:pt x="0" y="911098"/>
                  </a:cubicBezTo>
                  <a:close/>
                </a:path>
              </a:pathLst>
            </a:custGeom>
            <a:solidFill>
              <a:srgbClr val="FFFFFF"/>
            </a:solidFill>
            <a:ln w="28575" cap="sq">
              <a:solidFill>
                <a:srgbClr val="40916C"/>
              </a:solidFill>
              <a:prstDash val="solid"/>
              <a:miter/>
            </a:ln>
          </p:spPr>
          <p:txBody>
            <a:bodyPr/>
            <a:lstStyle/>
            <a:p>
              <a:endParaRPr lang="en-US"/>
            </a:p>
          </p:txBody>
        </p:sp>
      </p:grpSp>
      <p:grpSp>
        <p:nvGrpSpPr>
          <p:cNvPr id="47" name="Group 47"/>
          <p:cNvGrpSpPr/>
          <p:nvPr/>
        </p:nvGrpSpPr>
        <p:grpSpPr>
          <a:xfrm>
            <a:off x="10561320" y="4704588"/>
            <a:ext cx="5212080" cy="534924"/>
            <a:chOff x="0" y="0"/>
            <a:chExt cx="6949440" cy="713232"/>
          </a:xfrm>
        </p:grpSpPr>
        <p:sp>
          <p:nvSpPr>
            <p:cNvPr id="48" name="Freeform 48"/>
            <p:cNvSpPr/>
            <p:nvPr/>
          </p:nvSpPr>
          <p:spPr>
            <a:xfrm>
              <a:off x="0" y="0"/>
              <a:ext cx="6949440" cy="713232"/>
            </a:xfrm>
            <a:custGeom>
              <a:avLst/>
              <a:gdLst/>
              <a:ahLst/>
              <a:cxnLst/>
              <a:rect l="l" t="t" r="r" b="b"/>
              <a:pathLst>
                <a:path w="6949440" h="713232">
                  <a:moveTo>
                    <a:pt x="0" y="0"/>
                  </a:moveTo>
                  <a:lnTo>
                    <a:pt x="6949440" y="0"/>
                  </a:lnTo>
                  <a:lnTo>
                    <a:pt x="6949440" y="713232"/>
                  </a:lnTo>
                  <a:lnTo>
                    <a:pt x="0" y="713232"/>
                  </a:lnTo>
                  <a:close/>
                </a:path>
              </a:pathLst>
            </a:custGeom>
            <a:blipFill>
              <a:blip r:embed="rId3">
                <a:alphaModFix amt="0"/>
              </a:blip>
              <a:stretch>
                <a:fillRect t="-139854" b="-139854"/>
              </a:stretch>
            </a:blipFill>
          </p:spPr>
          <p:txBody>
            <a:bodyPr/>
            <a:lstStyle/>
            <a:p>
              <a:endParaRPr lang="en-US"/>
            </a:p>
          </p:txBody>
        </p:sp>
        <p:sp>
          <p:nvSpPr>
            <p:cNvPr id="49" name="TextBox 49"/>
            <p:cNvSpPr txBox="1"/>
            <p:nvPr/>
          </p:nvSpPr>
          <p:spPr>
            <a:xfrm>
              <a:off x="0" y="-38100"/>
              <a:ext cx="6949440" cy="751332"/>
            </a:xfrm>
            <a:prstGeom prst="rect">
              <a:avLst/>
            </a:prstGeom>
          </p:spPr>
          <p:txBody>
            <a:bodyPr lIns="0" tIns="0" rIns="0" bIns="0" rtlCol="0" anchor="ctr"/>
            <a:lstStyle/>
            <a:p>
              <a:pPr algn="ctr">
                <a:lnSpc>
                  <a:spcPts val="2160"/>
                </a:lnSpc>
              </a:pPr>
              <a:r>
                <a:rPr lang="en-US" sz="1800" b="1">
                  <a:solidFill>
                    <a:srgbClr val="0D1B2A"/>
                  </a:solidFill>
                  <a:latin typeface="Calibri (MS) Bold"/>
                  <a:ea typeface="Calibri (MS) Bold"/>
                  <a:cs typeface="Calibri (MS) Bold"/>
                  <a:sym typeface="Calibri (MS) Bold"/>
                </a:rPr>
                <a:t>FastAPI Orchestrator</a:t>
              </a:r>
            </a:p>
          </p:txBody>
        </p:sp>
      </p:grpSp>
      <p:grpSp>
        <p:nvGrpSpPr>
          <p:cNvPr id="50" name="Group 50"/>
          <p:cNvGrpSpPr/>
          <p:nvPr/>
        </p:nvGrpSpPr>
        <p:grpSpPr>
          <a:xfrm>
            <a:off x="13148310" y="5330190"/>
            <a:ext cx="38100" cy="422148"/>
            <a:chOff x="0" y="0"/>
            <a:chExt cx="50800" cy="562864"/>
          </a:xfrm>
        </p:grpSpPr>
        <p:sp>
          <p:nvSpPr>
            <p:cNvPr id="51" name="Freeform 51"/>
            <p:cNvSpPr/>
            <p:nvPr/>
          </p:nvSpPr>
          <p:spPr>
            <a:xfrm>
              <a:off x="0" y="0"/>
              <a:ext cx="50800" cy="562864"/>
            </a:xfrm>
            <a:custGeom>
              <a:avLst/>
              <a:gdLst/>
              <a:ahLst/>
              <a:cxnLst/>
              <a:rect l="l" t="t" r="r" b="b"/>
              <a:pathLst>
                <a:path w="50800" h="562864">
                  <a:moveTo>
                    <a:pt x="0" y="0"/>
                  </a:moveTo>
                  <a:lnTo>
                    <a:pt x="50800" y="562864"/>
                  </a:lnTo>
                </a:path>
              </a:pathLst>
            </a:custGeom>
            <a:blipFill>
              <a:blip r:embed="rId3">
                <a:alphaModFix amt="0"/>
              </a:blip>
              <a:stretch>
                <a:fillRect l="-1371603" r="-1371603"/>
              </a:stretch>
            </a:blipFill>
            <a:ln w="38100" cap="sq">
              <a:solidFill>
                <a:srgbClr val="40916C"/>
              </a:solidFill>
              <a:prstDash val="solid"/>
              <a:miter/>
            </a:ln>
          </p:spPr>
          <p:txBody>
            <a:bodyPr/>
            <a:lstStyle/>
            <a:p>
              <a:endParaRPr lang="en-US"/>
            </a:p>
          </p:txBody>
        </p:sp>
      </p:grpSp>
      <p:grpSp>
        <p:nvGrpSpPr>
          <p:cNvPr id="52" name="Group 52"/>
          <p:cNvGrpSpPr/>
          <p:nvPr/>
        </p:nvGrpSpPr>
        <p:grpSpPr>
          <a:xfrm>
            <a:off x="7529512" y="5746432"/>
            <a:ext cx="3526155" cy="1057275"/>
            <a:chOff x="0" y="0"/>
            <a:chExt cx="4701540" cy="1409700"/>
          </a:xfrm>
        </p:grpSpPr>
        <p:sp>
          <p:nvSpPr>
            <p:cNvPr id="53" name="Freeform 53"/>
            <p:cNvSpPr/>
            <p:nvPr/>
          </p:nvSpPr>
          <p:spPr>
            <a:xfrm>
              <a:off x="0" y="0"/>
              <a:ext cx="4701540" cy="1409700"/>
            </a:xfrm>
            <a:custGeom>
              <a:avLst/>
              <a:gdLst/>
              <a:ahLst/>
              <a:cxnLst/>
              <a:rect l="l" t="t" r="r" b="b"/>
              <a:pathLst>
                <a:path w="4701540" h="1409700">
                  <a:moveTo>
                    <a:pt x="0" y="131572"/>
                  </a:moveTo>
                  <a:cubicBezTo>
                    <a:pt x="0" y="58928"/>
                    <a:pt x="58928" y="0"/>
                    <a:pt x="131572" y="0"/>
                  </a:cubicBezTo>
                  <a:lnTo>
                    <a:pt x="4569968" y="0"/>
                  </a:lnTo>
                  <a:cubicBezTo>
                    <a:pt x="4642612" y="0"/>
                    <a:pt x="4701540" y="58928"/>
                    <a:pt x="4701540" y="131572"/>
                  </a:cubicBezTo>
                  <a:lnTo>
                    <a:pt x="4701540" y="1278128"/>
                  </a:lnTo>
                  <a:cubicBezTo>
                    <a:pt x="4701540" y="1350772"/>
                    <a:pt x="4642612" y="1409700"/>
                    <a:pt x="4569968" y="1409700"/>
                  </a:cubicBezTo>
                  <a:lnTo>
                    <a:pt x="131572" y="1409700"/>
                  </a:lnTo>
                  <a:cubicBezTo>
                    <a:pt x="58928" y="1409700"/>
                    <a:pt x="0" y="1350772"/>
                    <a:pt x="0" y="1278128"/>
                  </a:cubicBezTo>
                  <a:close/>
                </a:path>
              </a:pathLst>
            </a:custGeom>
            <a:solidFill>
              <a:srgbClr val="FFFFFF"/>
            </a:solidFill>
            <a:ln w="28575" cap="sq">
              <a:solidFill>
                <a:srgbClr val="FFB703"/>
              </a:solidFill>
              <a:prstDash val="solid"/>
              <a:miter/>
            </a:ln>
          </p:spPr>
          <p:txBody>
            <a:bodyPr/>
            <a:lstStyle/>
            <a:p>
              <a:endParaRPr lang="en-US"/>
            </a:p>
          </p:txBody>
        </p:sp>
      </p:grpSp>
      <p:grpSp>
        <p:nvGrpSpPr>
          <p:cNvPr id="54" name="Group 54"/>
          <p:cNvGrpSpPr/>
          <p:nvPr/>
        </p:nvGrpSpPr>
        <p:grpSpPr>
          <a:xfrm>
            <a:off x="7680960" y="5870448"/>
            <a:ext cx="3223260" cy="480060"/>
            <a:chOff x="0" y="0"/>
            <a:chExt cx="4297680" cy="640080"/>
          </a:xfrm>
        </p:grpSpPr>
        <p:sp>
          <p:nvSpPr>
            <p:cNvPr id="55" name="Freeform 55"/>
            <p:cNvSpPr/>
            <p:nvPr/>
          </p:nvSpPr>
          <p:spPr>
            <a:xfrm>
              <a:off x="0" y="0"/>
              <a:ext cx="4297680" cy="640080"/>
            </a:xfrm>
            <a:custGeom>
              <a:avLst/>
              <a:gdLst/>
              <a:ahLst/>
              <a:cxnLst/>
              <a:rect l="l" t="t" r="r" b="b"/>
              <a:pathLst>
                <a:path w="4297680" h="640080">
                  <a:moveTo>
                    <a:pt x="0" y="0"/>
                  </a:moveTo>
                  <a:lnTo>
                    <a:pt x="4297680" y="0"/>
                  </a:lnTo>
                  <a:lnTo>
                    <a:pt x="4297680" y="640080"/>
                  </a:lnTo>
                  <a:lnTo>
                    <a:pt x="0" y="640080"/>
                  </a:lnTo>
                  <a:close/>
                </a:path>
              </a:pathLst>
            </a:custGeom>
            <a:blipFill>
              <a:blip r:embed="rId3">
                <a:alphaModFix amt="0"/>
              </a:blip>
              <a:stretch>
                <a:fillRect t="-80828" b="-80828"/>
              </a:stretch>
            </a:blipFill>
          </p:spPr>
          <p:txBody>
            <a:bodyPr/>
            <a:lstStyle/>
            <a:p>
              <a:endParaRPr lang="en-US"/>
            </a:p>
          </p:txBody>
        </p:sp>
        <p:sp>
          <p:nvSpPr>
            <p:cNvPr id="56" name="TextBox 56"/>
            <p:cNvSpPr txBox="1"/>
            <p:nvPr/>
          </p:nvSpPr>
          <p:spPr>
            <a:xfrm>
              <a:off x="0" y="-38100"/>
              <a:ext cx="4297680" cy="678180"/>
            </a:xfrm>
            <a:prstGeom prst="rect">
              <a:avLst/>
            </a:prstGeom>
          </p:spPr>
          <p:txBody>
            <a:bodyPr lIns="0" tIns="0" rIns="0" bIns="0" rtlCol="0" anchor="ctr"/>
            <a:lstStyle/>
            <a:p>
              <a:pPr algn="ctr">
                <a:lnSpc>
                  <a:spcPts val="2160"/>
                </a:lnSpc>
              </a:pPr>
              <a:r>
                <a:rPr lang="en-US" sz="1800" b="1">
                  <a:solidFill>
                    <a:srgbClr val="0D1B2A"/>
                  </a:solidFill>
                  <a:latin typeface="Calibri (MS) Bold"/>
                  <a:ea typeface="Calibri (MS) Bold"/>
                  <a:cs typeface="Calibri (MS) Bold"/>
                  <a:sym typeface="Calibri (MS) Bold"/>
                </a:rPr>
                <a:t>ONNX Forecasting</a:t>
              </a:r>
            </a:p>
          </p:txBody>
        </p:sp>
      </p:grpSp>
      <p:sp>
        <p:nvSpPr>
          <p:cNvPr id="57" name="TextBox 57"/>
          <p:cNvSpPr txBox="1"/>
          <p:nvPr/>
        </p:nvSpPr>
        <p:spPr>
          <a:xfrm>
            <a:off x="7772400" y="6367653"/>
            <a:ext cx="3040380" cy="321183"/>
          </a:xfrm>
          <a:prstGeom prst="rect">
            <a:avLst/>
          </a:prstGeom>
        </p:spPr>
        <p:txBody>
          <a:bodyPr lIns="0" tIns="0" rIns="0" bIns="0" rtlCol="0" anchor="t">
            <a:spAutoFit/>
          </a:bodyPr>
          <a:lstStyle/>
          <a:p>
            <a:pPr algn="ctr">
              <a:lnSpc>
                <a:spcPts val="1530"/>
              </a:lnSpc>
            </a:pPr>
            <a:r>
              <a:rPr lang="en-US" sz="1275">
                <a:solidFill>
                  <a:srgbClr val="5B6B72"/>
                </a:solidFill>
                <a:latin typeface="Calibri (MS)"/>
                <a:ea typeface="Calibri (MS)"/>
                <a:cs typeface="Calibri (MS)"/>
                <a:sym typeface="Calibri (MS)"/>
              </a:rPr>
              <a:t>wind / solar / demand</a:t>
            </a:r>
          </a:p>
        </p:txBody>
      </p:sp>
      <p:grpSp>
        <p:nvGrpSpPr>
          <p:cNvPr id="58" name="Group 58"/>
          <p:cNvGrpSpPr/>
          <p:nvPr/>
        </p:nvGrpSpPr>
        <p:grpSpPr>
          <a:xfrm>
            <a:off x="11301412" y="5746432"/>
            <a:ext cx="3526155" cy="1057275"/>
            <a:chOff x="0" y="0"/>
            <a:chExt cx="4701540" cy="1409700"/>
          </a:xfrm>
        </p:grpSpPr>
        <p:sp>
          <p:nvSpPr>
            <p:cNvPr id="59" name="Freeform 59"/>
            <p:cNvSpPr/>
            <p:nvPr/>
          </p:nvSpPr>
          <p:spPr>
            <a:xfrm>
              <a:off x="0" y="0"/>
              <a:ext cx="4701540" cy="1409700"/>
            </a:xfrm>
            <a:custGeom>
              <a:avLst/>
              <a:gdLst/>
              <a:ahLst/>
              <a:cxnLst/>
              <a:rect l="l" t="t" r="r" b="b"/>
              <a:pathLst>
                <a:path w="4701540" h="1409700">
                  <a:moveTo>
                    <a:pt x="0" y="131572"/>
                  </a:moveTo>
                  <a:cubicBezTo>
                    <a:pt x="0" y="58928"/>
                    <a:pt x="58928" y="0"/>
                    <a:pt x="131572" y="0"/>
                  </a:cubicBezTo>
                  <a:lnTo>
                    <a:pt x="4569968" y="0"/>
                  </a:lnTo>
                  <a:cubicBezTo>
                    <a:pt x="4642612" y="0"/>
                    <a:pt x="4701540" y="58928"/>
                    <a:pt x="4701540" y="131572"/>
                  </a:cubicBezTo>
                  <a:lnTo>
                    <a:pt x="4701540" y="1278128"/>
                  </a:lnTo>
                  <a:cubicBezTo>
                    <a:pt x="4701540" y="1350772"/>
                    <a:pt x="4642612" y="1409700"/>
                    <a:pt x="4569968" y="1409700"/>
                  </a:cubicBezTo>
                  <a:lnTo>
                    <a:pt x="131572" y="1409700"/>
                  </a:lnTo>
                  <a:cubicBezTo>
                    <a:pt x="58928" y="1409700"/>
                    <a:pt x="0" y="1350772"/>
                    <a:pt x="0" y="1278128"/>
                  </a:cubicBezTo>
                  <a:close/>
                </a:path>
              </a:pathLst>
            </a:custGeom>
            <a:solidFill>
              <a:srgbClr val="FFFFFF"/>
            </a:solidFill>
            <a:ln w="28575" cap="sq">
              <a:solidFill>
                <a:srgbClr val="FFB703"/>
              </a:solidFill>
              <a:prstDash val="solid"/>
              <a:miter/>
            </a:ln>
          </p:spPr>
          <p:txBody>
            <a:bodyPr/>
            <a:lstStyle/>
            <a:p>
              <a:endParaRPr lang="en-US"/>
            </a:p>
          </p:txBody>
        </p:sp>
      </p:grpSp>
      <p:grpSp>
        <p:nvGrpSpPr>
          <p:cNvPr id="60" name="Group 60"/>
          <p:cNvGrpSpPr/>
          <p:nvPr/>
        </p:nvGrpSpPr>
        <p:grpSpPr>
          <a:xfrm>
            <a:off x="11452860" y="5870448"/>
            <a:ext cx="3223260" cy="480060"/>
            <a:chOff x="0" y="0"/>
            <a:chExt cx="4297680" cy="640080"/>
          </a:xfrm>
        </p:grpSpPr>
        <p:sp>
          <p:nvSpPr>
            <p:cNvPr id="61" name="Freeform 61"/>
            <p:cNvSpPr/>
            <p:nvPr/>
          </p:nvSpPr>
          <p:spPr>
            <a:xfrm>
              <a:off x="0" y="0"/>
              <a:ext cx="4297680" cy="640080"/>
            </a:xfrm>
            <a:custGeom>
              <a:avLst/>
              <a:gdLst/>
              <a:ahLst/>
              <a:cxnLst/>
              <a:rect l="l" t="t" r="r" b="b"/>
              <a:pathLst>
                <a:path w="4297680" h="640080">
                  <a:moveTo>
                    <a:pt x="0" y="0"/>
                  </a:moveTo>
                  <a:lnTo>
                    <a:pt x="4297680" y="0"/>
                  </a:lnTo>
                  <a:lnTo>
                    <a:pt x="4297680" y="640080"/>
                  </a:lnTo>
                  <a:lnTo>
                    <a:pt x="0" y="640080"/>
                  </a:lnTo>
                  <a:close/>
                </a:path>
              </a:pathLst>
            </a:custGeom>
            <a:blipFill>
              <a:blip r:embed="rId3">
                <a:alphaModFix amt="0"/>
              </a:blip>
              <a:stretch>
                <a:fillRect t="-80828" b="-80828"/>
              </a:stretch>
            </a:blipFill>
          </p:spPr>
          <p:txBody>
            <a:bodyPr/>
            <a:lstStyle/>
            <a:p>
              <a:endParaRPr lang="en-US"/>
            </a:p>
          </p:txBody>
        </p:sp>
        <p:sp>
          <p:nvSpPr>
            <p:cNvPr id="62" name="TextBox 62"/>
            <p:cNvSpPr txBox="1"/>
            <p:nvPr/>
          </p:nvSpPr>
          <p:spPr>
            <a:xfrm>
              <a:off x="0" y="-38100"/>
              <a:ext cx="4297680" cy="678180"/>
            </a:xfrm>
            <a:prstGeom prst="rect">
              <a:avLst/>
            </a:prstGeom>
          </p:spPr>
          <p:txBody>
            <a:bodyPr lIns="0" tIns="0" rIns="0" bIns="0" rtlCol="0" anchor="ctr"/>
            <a:lstStyle/>
            <a:p>
              <a:pPr algn="ctr">
                <a:lnSpc>
                  <a:spcPts val="2160"/>
                </a:lnSpc>
              </a:pPr>
              <a:r>
                <a:rPr lang="en-US" sz="1800" b="1">
                  <a:solidFill>
                    <a:srgbClr val="0D1B2A"/>
                  </a:solidFill>
                  <a:latin typeface="Calibri (MS) Bold"/>
                  <a:ea typeface="Calibri (MS) Bold"/>
                  <a:cs typeface="Calibri (MS) Bold"/>
                  <a:sym typeface="Calibri (MS) Bold"/>
                </a:rPr>
                <a:t>Anomaly Detection</a:t>
              </a:r>
            </a:p>
          </p:txBody>
        </p:sp>
      </p:grpSp>
      <p:sp>
        <p:nvSpPr>
          <p:cNvPr id="63" name="TextBox 63"/>
          <p:cNvSpPr txBox="1"/>
          <p:nvPr/>
        </p:nvSpPr>
        <p:spPr>
          <a:xfrm>
            <a:off x="11544300" y="6367653"/>
            <a:ext cx="3040380" cy="321183"/>
          </a:xfrm>
          <a:prstGeom prst="rect">
            <a:avLst/>
          </a:prstGeom>
        </p:spPr>
        <p:txBody>
          <a:bodyPr lIns="0" tIns="0" rIns="0" bIns="0" rtlCol="0" anchor="t">
            <a:spAutoFit/>
          </a:bodyPr>
          <a:lstStyle/>
          <a:p>
            <a:pPr algn="ctr">
              <a:lnSpc>
                <a:spcPts val="1530"/>
              </a:lnSpc>
            </a:pPr>
            <a:r>
              <a:rPr lang="en-US" sz="1275">
                <a:solidFill>
                  <a:srgbClr val="5B6B72"/>
                </a:solidFill>
                <a:latin typeface="Calibri (MS)"/>
                <a:ea typeface="Calibri (MS)"/>
                <a:cs typeface="Calibri (MS)"/>
                <a:sym typeface="Calibri (MS)"/>
              </a:rPr>
              <a:t>Isolation Forest</a:t>
            </a:r>
          </a:p>
        </p:txBody>
      </p:sp>
      <p:grpSp>
        <p:nvGrpSpPr>
          <p:cNvPr id="64" name="Group 64"/>
          <p:cNvGrpSpPr/>
          <p:nvPr/>
        </p:nvGrpSpPr>
        <p:grpSpPr>
          <a:xfrm>
            <a:off x="15045880" y="5746432"/>
            <a:ext cx="2908935" cy="1057275"/>
            <a:chOff x="0" y="0"/>
            <a:chExt cx="3878580" cy="1409700"/>
          </a:xfrm>
        </p:grpSpPr>
        <p:sp>
          <p:nvSpPr>
            <p:cNvPr id="65" name="Freeform 65"/>
            <p:cNvSpPr/>
            <p:nvPr/>
          </p:nvSpPr>
          <p:spPr>
            <a:xfrm>
              <a:off x="0" y="0"/>
              <a:ext cx="3878580" cy="1409700"/>
            </a:xfrm>
            <a:custGeom>
              <a:avLst/>
              <a:gdLst/>
              <a:ahLst/>
              <a:cxnLst/>
              <a:rect l="l" t="t" r="r" b="b"/>
              <a:pathLst>
                <a:path w="3878580" h="1409700">
                  <a:moveTo>
                    <a:pt x="0" y="131572"/>
                  </a:moveTo>
                  <a:cubicBezTo>
                    <a:pt x="0" y="58928"/>
                    <a:pt x="58928" y="0"/>
                    <a:pt x="131572" y="0"/>
                  </a:cubicBezTo>
                  <a:lnTo>
                    <a:pt x="3747008" y="0"/>
                  </a:lnTo>
                  <a:cubicBezTo>
                    <a:pt x="3819652" y="0"/>
                    <a:pt x="3878580" y="58928"/>
                    <a:pt x="3878580" y="131572"/>
                  </a:cubicBezTo>
                  <a:lnTo>
                    <a:pt x="3878580" y="1278128"/>
                  </a:lnTo>
                  <a:cubicBezTo>
                    <a:pt x="3878580" y="1350772"/>
                    <a:pt x="3819652" y="1409700"/>
                    <a:pt x="3747008" y="1409700"/>
                  </a:cubicBezTo>
                  <a:lnTo>
                    <a:pt x="131572" y="1409700"/>
                  </a:lnTo>
                  <a:cubicBezTo>
                    <a:pt x="58928" y="1409700"/>
                    <a:pt x="0" y="1350772"/>
                    <a:pt x="0" y="1278128"/>
                  </a:cubicBezTo>
                  <a:close/>
                </a:path>
              </a:pathLst>
            </a:custGeom>
            <a:solidFill>
              <a:srgbClr val="FFFFFF"/>
            </a:solidFill>
            <a:ln w="28575" cap="sq">
              <a:solidFill>
                <a:srgbClr val="FFB703"/>
              </a:solidFill>
              <a:prstDash val="solid"/>
              <a:miter/>
            </a:ln>
          </p:spPr>
          <p:txBody>
            <a:bodyPr/>
            <a:lstStyle/>
            <a:p>
              <a:endParaRPr lang="en-US"/>
            </a:p>
          </p:txBody>
        </p:sp>
      </p:grpSp>
      <p:grpSp>
        <p:nvGrpSpPr>
          <p:cNvPr id="66" name="Group 66"/>
          <p:cNvGrpSpPr/>
          <p:nvPr/>
        </p:nvGrpSpPr>
        <p:grpSpPr>
          <a:xfrm>
            <a:off x="15197328" y="5870448"/>
            <a:ext cx="2606040" cy="480060"/>
            <a:chOff x="0" y="0"/>
            <a:chExt cx="3474720" cy="640080"/>
          </a:xfrm>
        </p:grpSpPr>
        <p:sp>
          <p:nvSpPr>
            <p:cNvPr id="67" name="Freeform 67"/>
            <p:cNvSpPr/>
            <p:nvPr/>
          </p:nvSpPr>
          <p:spPr>
            <a:xfrm>
              <a:off x="0" y="0"/>
              <a:ext cx="3474720" cy="640080"/>
            </a:xfrm>
            <a:custGeom>
              <a:avLst/>
              <a:gdLst/>
              <a:ahLst/>
              <a:cxnLst/>
              <a:rect l="l" t="t" r="r" b="b"/>
              <a:pathLst>
                <a:path w="3474720" h="640080">
                  <a:moveTo>
                    <a:pt x="0" y="0"/>
                  </a:moveTo>
                  <a:lnTo>
                    <a:pt x="3474720" y="0"/>
                  </a:lnTo>
                  <a:lnTo>
                    <a:pt x="3474720" y="640080"/>
                  </a:lnTo>
                  <a:lnTo>
                    <a:pt x="0" y="640080"/>
                  </a:lnTo>
                  <a:close/>
                </a:path>
              </a:pathLst>
            </a:custGeom>
            <a:blipFill>
              <a:blip r:embed="rId3">
                <a:alphaModFix amt="0"/>
              </a:blip>
              <a:stretch>
                <a:fillRect t="-55775" b="-55775"/>
              </a:stretch>
            </a:blipFill>
          </p:spPr>
          <p:txBody>
            <a:bodyPr/>
            <a:lstStyle/>
            <a:p>
              <a:endParaRPr lang="en-US"/>
            </a:p>
          </p:txBody>
        </p:sp>
        <p:sp>
          <p:nvSpPr>
            <p:cNvPr id="68" name="TextBox 68"/>
            <p:cNvSpPr txBox="1"/>
            <p:nvPr/>
          </p:nvSpPr>
          <p:spPr>
            <a:xfrm>
              <a:off x="0" y="-38100"/>
              <a:ext cx="3474720" cy="678180"/>
            </a:xfrm>
            <a:prstGeom prst="rect">
              <a:avLst/>
            </a:prstGeom>
          </p:spPr>
          <p:txBody>
            <a:bodyPr lIns="0" tIns="0" rIns="0" bIns="0" rtlCol="0" anchor="ctr"/>
            <a:lstStyle/>
            <a:p>
              <a:pPr algn="ctr">
                <a:lnSpc>
                  <a:spcPts val="2160"/>
                </a:lnSpc>
              </a:pPr>
              <a:r>
                <a:rPr lang="en-US" sz="1800" b="1">
                  <a:solidFill>
                    <a:srgbClr val="0D1B2A"/>
                  </a:solidFill>
                  <a:latin typeface="Calibri (MS) Bold"/>
                  <a:ea typeface="Calibri (MS) Bold"/>
                  <a:cs typeface="Calibri (MS) Bold"/>
                  <a:sym typeface="Calibri (MS) Bold"/>
                </a:rPr>
                <a:t>Gemini + FAISS</a:t>
              </a:r>
            </a:p>
          </p:txBody>
        </p:sp>
      </p:grpSp>
      <p:sp>
        <p:nvSpPr>
          <p:cNvPr id="69" name="TextBox 69"/>
          <p:cNvSpPr txBox="1"/>
          <p:nvPr/>
        </p:nvSpPr>
        <p:spPr>
          <a:xfrm>
            <a:off x="15288768" y="6367653"/>
            <a:ext cx="2423160" cy="321183"/>
          </a:xfrm>
          <a:prstGeom prst="rect">
            <a:avLst/>
          </a:prstGeom>
        </p:spPr>
        <p:txBody>
          <a:bodyPr lIns="0" tIns="0" rIns="0" bIns="0" rtlCol="0" anchor="t">
            <a:spAutoFit/>
          </a:bodyPr>
          <a:lstStyle/>
          <a:p>
            <a:pPr algn="ctr">
              <a:lnSpc>
                <a:spcPts val="1530"/>
              </a:lnSpc>
            </a:pPr>
            <a:r>
              <a:rPr lang="en-US" sz="1275">
                <a:solidFill>
                  <a:srgbClr val="5B6B72"/>
                </a:solidFill>
                <a:latin typeface="Calibri (MS)"/>
                <a:ea typeface="Calibri (MS)"/>
                <a:cs typeface="Calibri (MS)"/>
                <a:sym typeface="Calibri (MS)"/>
              </a:rPr>
              <a:t>RAG blueprints</a:t>
            </a:r>
          </a:p>
        </p:txBody>
      </p:sp>
      <p:grpSp>
        <p:nvGrpSpPr>
          <p:cNvPr id="70" name="Group 70"/>
          <p:cNvGrpSpPr/>
          <p:nvPr/>
        </p:nvGrpSpPr>
        <p:grpSpPr>
          <a:xfrm>
            <a:off x="9239250" y="6770370"/>
            <a:ext cx="38100" cy="422148"/>
            <a:chOff x="0" y="0"/>
            <a:chExt cx="50800" cy="562864"/>
          </a:xfrm>
        </p:grpSpPr>
        <p:sp>
          <p:nvSpPr>
            <p:cNvPr id="71" name="Freeform 71"/>
            <p:cNvSpPr/>
            <p:nvPr/>
          </p:nvSpPr>
          <p:spPr>
            <a:xfrm>
              <a:off x="0" y="0"/>
              <a:ext cx="50800" cy="562864"/>
            </a:xfrm>
            <a:custGeom>
              <a:avLst/>
              <a:gdLst/>
              <a:ahLst/>
              <a:cxnLst/>
              <a:rect l="l" t="t" r="r" b="b"/>
              <a:pathLst>
                <a:path w="50800" h="562864">
                  <a:moveTo>
                    <a:pt x="0" y="0"/>
                  </a:moveTo>
                  <a:lnTo>
                    <a:pt x="50800" y="562864"/>
                  </a:lnTo>
                </a:path>
              </a:pathLst>
            </a:custGeom>
            <a:blipFill>
              <a:blip r:embed="rId3">
                <a:alphaModFix amt="0"/>
              </a:blip>
              <a:stretch>
                <a:fillRect l="-1371603" r="-1371603"/>
              </a:stretch>
            </a:blipFill>
            <a:ln w="38100" cap="sq">
              <a:solidFill>
                <a:srgbClr val="40916C"/>
              </a:solidFill>
              <a:prstDash val="solid"/>
              <a:miter/>
            </a:ln>
          </p:spPr>
          <p:txBody>
            <a:bodyPr/>
            <a:lstStyle/>
            <a:p>
              <a:endParaRPr lang="en-US"/>
            </a:p>
          </p:txBody>
        </p:sp>
      </p:grpSp>
      <p:grpSp>
        <p:nvGrpSpPr>
          <p:cNvPr id="72" name="Group 72"/>
          <p:cNvGrpSpPr/>
          <p:nvPr/>
        </p:nvGrpSpPr>
        <p:grpSpPr>
          <a:xfrm>
            <a:off x="13011150" y="6770370"/>
            <a:ext cx="38100" cy="422148"/>
            <a:chOff x="0" y="0"/>
            <a:chExt cx="50800" cy="562864"/>
          </a:xfrm>
        </p:grpSpPr>
        <p:sp>
          <p:nvSpPr>
            <p:cNvPr id="73" name="Freeform 73"/>
            <p:cNvSpPr/>
            <p:nvPr/>
          </p:nvSpPr>
          <p:spPr>
            <a:xfrm>
              <a:off x="0" y="0"/>
              <a:ext cx="50800" cy="562864"/>
            </a:xfrm>
            <a:custGeom>
              <a:avLst/>
              <a:gdLst/>
              <a:ahLst/>
              <a:cxnLst/>
              <a:rect l="l" t="t" r="r" b="b"/>
              <a:pathLst>
                <a:path w="50800" h="562864">
                  <a:moveTo>
                    <a:pt x="0" y="0"/>
                  </a:moveTo>
                  <a:lnTo>
                    <a:pt x="50800" y="562864"/>
                  </a:lnTo>
                </a:path>
              </a:pathLst>
            </a:custGeom>
            <a:blipFill>
              <a:blip r:embed="rId3">
                <a:alphaModFix amt="0"/>
              </a:blip>
              <a:stretch>
                <a:fillRect l="-1371603" r="-1371603"/>
              </a:stretch>
            </a:blipFill>
            <a:ln w="38100" cap="sq">
              <a:solidFill>
                <a:srgbClr val="40916C"/>
              </a:solidFill>
              <a:prstDash val="solid"/>
              <a:miter/>
            </a:ln>
          </p:spPr>
          <p:txBody>
            <a:bodyPr/>
            <a:lstStyle/>
            <a:p>
              <a:endParaRPr lang="en-US"/>
            </a:p>
          </p:txBody>
        </p:sp>
      </p:grpSp>
      <p:grpSp>
        <p:nvGrpSpPr>
          <p:cNvPr id="74" name="Group 74"/>
          <p:cNvGrpSpPr/>
          <p:nvPr/>
        </p:nvGrpSpPr>
        <p:grpSpPr>
          <a:xfrm>
            <a:off x="16440150" y="6770370"/>
            <a:ext cx="38100" cy="422148"/>
            <a:chOff x="0" y="0"/>
            <a:chExt cx="50800" cy="562864"/>
          </a:xfrm>
        </p:grpSpPr>
        <p:sp>
          <p:nvSpPr>
            <p:cNvPr id="75" name="Freeform 75"/>
            <p:cNvSpPr/>
            <p:nvPr/>
          </p:nvSpPr>
          <p:spPr>
            <a:xfrm>
              <a:off x="0" y="0"/>
              <a:ext cx="50800" cy="562864"/>
            </a:xfrm>
            <a:custGeom>
              <a:avLst/>
              <a:gdLst/>
              <a:ahLst/>
              <a:cxnLst/>
              <a:rect l="l" t="t" r="r" b="b"/>
              <a:pathLst>
                <a:path w="50800" h="562864">
                  <a:moveTo>
                    <a:pt x="0" y="0"/>
                  </a:moveTo>
                  <a:lnTo>
                    <a:pt x="50800" y="562864"/>
                  </a:lnTo>
                </a:path>
              </a:pathLst>
            </a:custGeom>
            <a:blipFill>
              <a:blip r:embed="rId3">
                <a:alphaModFix amt="0"/>
              </a:blip>
              <a:stretch>
                <a:fillRect l="-1371603" r="-1371603"/>
              </a:stretch>
            </a:blipFill>
            <a:ln w="38100" cap="sq">
              <a:solidFill>
                <a:srgbClr val="40916C"/>
              </a:solidFill>
              <a:prstDash val="solid"/>
              <a:miter/>
            </a:ln>
          </p:spPr>
          <p:txBody>
            <a:bodyPr/>
            <a:lstStyle/>
            <a:p>
              <a:endParaRPr lang="en-US"/>
            </a:p>
          </p:txBody>
        </p:sp>
      </p:grpSp>
      <p:grpSp>
        <p:nvGrpSpPr>
          <p:cNvPr id="76" name="Group 76"/>
          <p:cNvGrpSpPr/>
          <p:nvPr/>
        </p:nvGrpSpPr>
        <p:grpSpPr>
          <a:xfrm>
            <a:off x="9038272" y="7186612"/>
            <a:ext cx="8395335" cy="851535"/>
            <a:chOff x="0" y="0"/>
            <a:chExt cx="11193780" cy="1135380"/>
          </a:xfrm>
        </p:grpSpPr>
        <p:sp>
          <p:nvSpPr>
            <p:cNvPr id="77" name="Freeform 77"/>
            <p:cNvSpPr/>
            <p:nvPr/>
          </p:nvSpPr>
          <p:spPr>
            <a:xfrm>
              <a:off x="0" y="0"/>
              <a:ext cx="11193780" cy="1135380"/>
            </a:xfrm>
            <a:custGeom>
              <a:avLst/>
              <a:gdLst/>
              <a:ahLst/>
              <a:cxnLst/>
              <a:rect l="l" t="t" r="r" b="b"/>
              <a:pathLst>
                <a:path w="11193780" h="1135380">
                  <a:moveTo>
                    <a:pt x="0" y="132461"/>
                  </a:moveTo>
                  <a:cubicBezTo>
                    <a:pt x="0" y="59309"/>
                    <a:pt x="59309" y="0"/>
                    <a:pt x="132461" y="0"/>
                  </a:cubicBezTo>
                  <a:lnTo>
                    <a:pt x="11061319" y="0"/>
                  </a:lnTo>
                  <a:cubicBezTo>
                    <a:pt x="11134471" y="0"/>
                    <a:pt x="11193780" y="59309"/>
                    <a:pt x="11193780" y="132461"/>
                  </a:cubicBezTo>
                  <a:lnTo>
                    <a:pt x="11193780" y="1002919"/>
                  </a:lnTo>
                  <a:cubicBezTo>
                    <a:pt x="11193780" y="1076071"/>
                    <a:pt x="11134471" y="1135380"/>
                    <a:pt x="11061319" y="1135380"/>
                  </a:cubicBezTo>
                  <a:lnTo>
                    <a:pt x="132461" y="1135380"/>
                  </a:lnTo>
                  <a:cubicBezTo>
                    <a:pt x="59309" y="1135380"/>
                    <a:pt x="0" y="1076071"/>
                    <a:pt x="0" y="1002919"/>
                  </a:cubicBezTo>
                  <a:close/>
                </a:path>
              </a:pathLst>
            </a:custGeom>
            <a:solidFill>
              <a:srgbClr val="FFFFFF"/>
            </a:solidFill>
            <a:ln w="28575" cap="sq">
              <a:solidFill>
                <a:srgbClr val="40916C"/>
              </a:solidFill>
              <a:prstDash val="solid"/>
              <a:miter/>
            </a:ln>
          </p:spPr>
          <p:txBody>
            <a:bodyPr/>
            <a:lstStyle/>
            <a:p>
              <a:endParaRPr lang="en-US"/>
            </a:p>
          </p:txBody>
        </p:sp>
      </p:grpSp>
      <p:grpSp>
        <p:nvGrpSpPr>
          <p:cNvPr id="78" name="Group 78"/>
          <p:cNvGrpSpPr/>
          <p:nvPr/>
        </p:nvGrpSpPr>
        <p:grpSpPr>
          <a:xfrm>
            <a:off x="9189720" y="7310628"/>
            <a:ext cx="8092440" cy="274320"/>
            <a:chOff x="0" y="0"/>
            <a:chExt cx="10789920" cy="365760"/>
          </a:xfrm>
        </p:grpSpPr>
        <p:sp>
          <p:nvSpPr>
            <p:cNvPr id="79" name="Freeform 79"/>
            <p:cNvSpPr/>
            <p:nvPr/>
          </p:nvSpPr>
          <p:spPr>
            <a:xfrm>
              <a:off x="0" y="0"/>
              <a:ext cx="10789920" cy="365760"/>
            </a:xfrm>
            <a:custGeom>
              <a:avLst/>
              <a:gdLst/>
              <a:ahLst/>
              <a:cxnLst/>
              <a:rect l="l" t="t" r="r" b="b"/>
              <a:pathLst>
                <a:path w="10789920" h="365760">
                  <a:moveTo>
                    <a:pt x="0" y="0"/>
                  </a:moveTo>
                  <a:lnTo>
                    <a:pt x="10789920" y="0"/>
                  </a:lnTo>
                  <a:lnTo>
                    <a:pt x="10789920" y="365760"/>
                  </a:lnTo>
                  <a:lnTo>
                    <a:pt x="0" y="365760"/>
                  </a:lnTo>
                  <a:close/>
                </a:path>
              </a:pathLst>
            </a:custGeom>
            <a:blipFill>
              <a:blip r:embed="rId3">
                <a:alphaModFix amt="0"/>
              </a:blip>
              <a:stretch>
                <a:fillRect t="-524808" b="-524808"/>
              </a:stretch>
            </a:blipFill>
          </p:spPr>
          <p:txBody>
            <a:bodyPr/>
            <a:lstStyle/>
            <a:p>
              <a:endParaRPr lang="en-US"/>
            </a:p>
          </p:txBody>
        </p:sp>
        <p:sp>
          <p:nvSpPr>
            <p:cNvPr id="80" name="TextBox 80"/>
            <p:cNvSpPr txBox="1"/>
            <p:nvPr/>
          </p:nvSpPr>
          <p:spPr>
            <a:xfrm>
              <a:off x="0" y="-38100"/>
              <a:ext cx="10789920" cy="403860"/>
            </a:xfrm>
            <a:prstGeom prst="rect">
              <a:avLst/>
            </a:prstGeom>
          </p:spPr>
          <p:txBody>
            <a:bodyPr lIns="0" tIns="0" rIns="0" bIns="0" rtlCol="0" anchor="ctr"/>
            <a:lstStyle/>
            <a:p>
              <a:pPr algn="ctr">
                <a:lnSpc>
                  <a:spcPts val="2160"/>
                </a:lnSpc>
              </a:pPr>
              <a:r>
                <a:rPr lang="en-US" sz="1800" b="1">
                  <a:solidFill>
                    <a:srgbClr val="0D1B2A"/>
                  </a:solidFill>
                  <a:latin typeface="Calibri (MS) Bold"/>
                  <a:ea typeface="Calibri (MS) Bold"/>
                  <a:cs typeface="Calibri (MS) Bold"/>
                  <a:sym typeface="Calibri (MS) Bold"/>
                </a:rPr>
                <a:t>Streamlit Dashboard</a:t>
              </a:r>
            </a:p>
          </p:txBody>
        </p:sp>
      </p:grpSp>
      <p:sp>
        <p:nvSpPr>
          <p:cNvPr id="81" name="TextBox 81"/>
          <p:cNvSpPr txBox="1"/>
          <p:nvPr/>
        </p:nvSpPr>
        <p:spPr>
          <a:xfrm>
            <a:off x="9281160" y="7602093"/>
            <a:ext cx="7909560" cy="321183"/>
          </a:xfrm>
          <a:prstGeom prst="rect">
            <a:avLst/>
          </a:prstGeom>
        </p:spPr>
        <p:txBody>
          <a:bodyPr lIns="0" tIns="0" rIns="0" bIns="0" rtlCol="0" anchor="t">
            <a:spAutoFit/>
          </a:bodyPr>
          <a:lstStyle/>
          <a:p>
            <a:pPr algn="ctr">
              <a:lnSpc>
                <a:spcPts val="1530"/>
              </a:lnSpc>
            </a:pPr>
            <a:r>
              <a:rPr lang="en-US" sz="1275">
                <a:solidFill>
                  <a:srgbClr val="5B6B72"/>
                </a:solidFill>
                <a:latin typeface="Calibri (MS)"/>
                <a:ea typeface="Calibri (MS)"/>
                <a:cs typeface="Calibri (MS)"/>
                <a:sym typeface="Calibri (MS)"/>
              </a:rPr>
              <a:t>grid balance · AI forecasts · explainable diagnostics</a:t>
            </a:r>
          </a:p>
        </p:txBody>
      </p:sp>
      <p:grpSp>
        <p:nvGrpSpPr>
          <p:cNvPr id="82" name="Group 82"/>
          <p:cNvGrpSpPr/>
          <p:nvPr/>
        </p:nvGrpSpPr>
        <p:grpSpPr>
          <a:xfrm>
            <a:off x="822960" y="5692140"/>
            <a:ext cx="6309360" cy="3909060"/>
            <a:chOff x="0" y="0"/>
            <a:chExt cx="8412480" cy="5212080"/>
          </a:xfrm>
        </p:grpSpPr>
        <p:sp>
          <p:nvSpPr>
            <p:cNvPr id="83" name="Freeform 83"/>
            <p:cNvSpPr/>
            <p:nvPr/>
          </p:nvSpPr>
          <p:spPr>
            <a:xfrm>
              <a:off x="0" y="0"/>
              <a:ext cx="8412480" cy="5212080"/>
            </a:xfrm>
            <a:custGeom>
              <a:avLst/>
              <a:gdLst/>
              <a:ahLst/>
              <a:cxnLst/>
              <a:rect l="l" t="t" r="r" b="b"/>
              <a:pathLst>
                <a:path w="8412480" h="5212080">
                  <a:moveTo>
                    <a:pt x="0" y="146304"/>
                  </a:moveTo>
                  <a:cubicBezTo>
                    <a:pt x="0" y="65532"/>
                    <a:pt x="65532" y="0"/>
                    <a:pt x="146304" y="0"/>
                  </a:cubicBezTo>
                  <a:lnTo>
                    <a:pt x="8266176" y="0"/>
                  </a:lnTo>
                  <a:cubicBezTo>
                    <a:pt x="8346948" y="0"/>
                    <a:pt x="8412480" y="65532"/>
                    <a:pt x="8412480" y="146304"/>
                  </a:cubicBezTo>
                  <a:lnTo>
                    <a:pt x="8412480" y="5065776"/>
                  </a:lnTo>
                  <a:cubicBezTo>
                    <a:pt x="8412480" y="5146548"/>
                    <a:pt x="8346948" y="5212080"/>
                    <a:pt x="8266176" y="5212080"/>
                  </a:cubicBezTo>
                  <a:lnTo>
                    <a:pt x="146304" y="5212080"/>
                  </a:lnTo>
                  <a:cubicBezTo>
                    <a:pt x="65532" y="5212080"/>
                    <a:pt x="0" y="5146548"/>
                    <a:pt x="0" y="5065776"/>
                  </a:cubicBezTo>
                  <a:close/>
                </a:path>
              </a:pathLst>
            </a:custGeom>
            <a:solidFill>
              <a:srgbClr val="0D1B2A"/>
            </a:solidFill>
          </p:spPr>
          <p:txBody>
            <a:bodyPr/>
            <a:lstStyle/>
            <a:p>
              <a:endParaRPr lang="en-US"/>
            </a:p>
          </p:txBody>
        </p:sp>
      </p:grpSp>
      <p:grpSp>
        <p:nvGrpSpPr>
          <p:cNvPr id="84" name="Group 84"/>
          <p:cNvGrpSpPr/>
          <p:nvPr/>
        </p:nvGrpSpPr>
        <p:grpSpPr>
          <a:xfrm>
            <a:off x="1234440" y="5966460"/>
            <a:ext cx="5486400" cy="411480"/>
            <a:chOff x="0" y="0"/>
            <a:chExt cx="7315200" cy="548640"/>
          </a:xfrm>
        </p:grpSpPr>
        <p:sp>
          <p:nvSpPr>
            <p:cNvPr id="85" name="Freeform 85"/>
            <p:cNvSpPr/>
            <p:nvPr/>
          </p:nvSpPr>
          <p:spPr>
            <a:xfrm>
              <a:off x="0" y="0"/>
              <a:ext cx="7315200" cy="548640"/>
            </a:xfrm>
            <a:custGeom>
              <a:avLst/>
              <a:gdLst/>
              <a:ahLst/>
              <a:cxnLst/>
              <a:rect l="l" t="t" r="r" b="b"/>
              <a:pathLst>
                <a:path w="7315200" h="548640">
                  <a:moveTo>
                    <a:pt x="0" y="0"/>
                  </a:moveTo>
                  <a:lnTo>
                    <a:pt x="7315200" y="0"/>
                  </a:lnTo>
                  <a:lnTo>
                    <a:pt x="7315200" y="548640"/>
                  </a:lnTo>
                  <a:lnTo>
                    <a:pt x="0" y="548640"/>
                  </a:lnTo>
                  <a:close/>
                </a:path>
              </a:pathLst>
            </a:custGeom>
            <a:blipFill>
              <a:blip r:embed="rId3">
                <a:alphaModFix amt="0"/>
              </a:blip>
              <a:stretch>
                <a:fillRect t="-209800" b="-209800"/>
              </a:stretch>
            </a:blipFill>
          </p:spPr>
          <p:txBody>
            <a:bodyPr/>
            <a:lstStyle/>
            <a:p>
              <a:endParaRPr lang="en-US"/>
            </a:p>
          </p:txBody>
        </p:sp>
        <p:sp>
          <p:nvSpPr>
            <p:cNvPr id="86" name="TextBox 86"/>
            <p:cNvSpPr txBox="1"/>
            <p:nvPr/>
          </p:nvSpPr>
          <p:spPr>
            <a:xfrm>
              <a:off x="0" y="-28575"/>
              <a:ext cx="7315200" cy="577215"/>
            </a:xfrm>
            <a:prstGeom prst="rect">
              <a:avLst/>
            </a:prstGeom>
          </p:spPr>
          <p:txBody>
            <a:bodyPr lIns="0" tIns="0" rIns="0" bIns="0" rtlCol="0" anchor="ctr"/>
            <a:lstStyle/>
            <a:p>
              <a:pPr algn="l">
                <a:lnSpc>
                  <a:spcPts val="1980"/>
                </a:lnSpc>
              </a:pPr>
              <a:r>
                <a:rPr lang="en-US" sz="1650" b="1" spc="225">
                  <a:solidFill>
                    <a:srgbClr val="74C69D"/>
                  </a:solidFill>
                  <a:latin typeface="Calibri (MS) Bold"/>
                  <a:ea typeface="Calibri (MS) Bold"/>
                  <a:cs typeface="Calibri (MS) Bold"/>
                  <a:sym typeface="Calibri (MS) Bold"/>
                </a:rPr>
                <a:t>WHY THIS SHAPE</a:t>
              </a:r>
            </a:p>
          </p:txBody>
        </p:sp>
      </p:grpSp>
      <p:grpSp>
        <p:nvGrpSpPr>
          <p:cNvPr id="87" name="Group 87"/>
          <p:cNvGrpSpPr/>
          <p:nvPr/>
        </p:nvGrpSpPr>
        <p:grpSpPr>
          <a:xfrm>
            <a:off x="1234440" y="6473952"/>
            <a:ext cx="5486400" cy="2948940"/>
            <a:chOff x="0" y="0"/>
            <a:chExt cx="7315200" cy="3931920"/>
          </a:xfrm>
        </p:grpSpPr>
        <p:sp>
          <p:nvSpPr>
            <p:cNvPr id="88" name="Freeform 88"/>
            <p:cNvSpPr/>
            <p:nvPr/>
          </p:nvSpPr>
          <p:spPr>
            <a:xfrm>
              <a:off x="0" y="0"/>
              <a:ext cx="7315200" cy="3931920"/>
            </a:xfrm>
            <a:custGeom>
              <a:avLst/>
              <a:gdLst/>
              <a:ahLst/>
              <a:cxnLst/>
              <a:rect l="l" t="t" r="r" b="b"/>
              <a:pathLst>
                <a:path w="7315200" h="3931920">
                  <a:moveTo>
                    <a:pt x="0" y="0"/>
                  </a:moveTo>
                  <a:lnTo>
                    <a:pt x="7315200" y="0"/>
                  </a:lnTo>
                  <a:lnTo>
                    <a:pt x="7315200" y="3931920"/>
                  </a:lnTo>
                  <a:lnTo>
                    <a:pt x="0" y="3931920"/>
                  </a:lnTo>
                  <a:close/>
                </a:path>
              </a:pathLst>
            </a:custGeom>
            <a:blipFill>
              <a:blip r:embed="rId3">
                <a:alphaModFix amt="0"/>
              </a:blip>
              <a:stretch>
                <a:fillRect l="-18963" r="-18963"/>
              </a:stretch>
            </a:blipFill>
          </p:spPr>
          <p:txBody>
            <a:bodyPr/>
            <a:lstStyle/>
            <a:p>
              <a:endParaRPr lang="en-US"/>
            </a:p>
          </p:txBody>
        </p:sp>
        <p:sp>
          <p:nvSpPr>
            <p:cNvPr id="89" name="TextBox 89"/>
            <p:cNvSpPr txBox="1"/>
            <p:nvPr/>
          </p:nvSpPr>
          <p:spPr>
            <a:xfrm>
              <a:off x="0" y="-85725"/>
              <a:ext cx="7315200" cy="4017645"/>
            </a:xfrm>
            <a:prstGeom prst="rect">
              <a:avLst/>
            </a:prstGeom>
          </p:spPr>
          <p:txBody>
            <a:bodyPr lIns="0" tIns="0" rIns="0" bIns="0" rtlCol="0" anchor="ctr"/>
            <a:lstStyle/>
            <a:p>
              <a:pPr algn="l">
                <a:lnSpc>
                  <a:spcPts val="2574"/>
                </a:lnSpc>
              </a:pPr>
              <a:r>
                <a:rPr lang="en-US" sz="1650">
                  <a:solidFill>
                    <a:srgbClr val="C9D6CE"/>
                  </a:solidFill>
                  <a:latin typeface="Calibri (MS)"/>
                  <a:ea typeface="Calibri (MS)"/>
                  <a:cs typeface="Calibri (MS)"/>
                  <a:sym typeface="Calibri (MS)"/>
                </a:rPr>
                <a:t>Ingestion and persistence run independently of the API layer, so the FastAPI orchestrator only ever reads from TimescaleDB. This decouples streaming cadence from request latency, and lets forecasting, anomaly detection, and RAG diagnostics execute as parallel branches off a single source of truth.</a:t>
              </a:r>
            </a:p>
          </p:txBody>
        </p:sp>
      </p:grpSp>
      <p:grpSp>
        <p:nvGrpSpPr>
          <p:cNvPr id="90" name="Group 90"/>
          <p:cNvGrpSpPr/>
          <p:nvPr/>
        </p:nvGrpSpPr>
        <p:grpSpPr>
          <a:xfrm>
            <a:off x="17282160" y="9710928"/>
            <a:ext cx="822960" cy="411480"/>
            <a:chOff x="0" y="0"/>
            <a:chExt cx="1097280" cy="548640"/>
          </a:xfrm>
        </p:grpSpPr>
        <p:sp>
          <p:nvSpPr>
            <p:cNvPr id="91" name="Freeform 91"/>
            <p:cNvSpPr/>
            <p:nvPr/>
          </p:nvSpPr>
          <p:spPr>
            <a:xfrm>
              <a:off x="0" y="0"/>
              <a:ext cx="1097280" cy="548640"/>
            </a:xfrm>
            <a:custGeom>
              <a:avLst/>
              <a:gdLst/>
              <a:ahLst/>
              <a:cxnLst/>
              <a:rect l="l" t="t" r="r" b="b"/>
              <a:pathLst>
                <a:path w="1097280" h="548640">
                  <a:moveTo>
                    <a:pt x="0" y="0"/>
                  </a:moveTo>
                  <a:lnTo>
                    <a:pt x="1097280" y="0"/>
                  </a:lnTo>
                  <a:lnTo>
                    <a:pt x="1097280" y="548640"/>
                  </a:lnTo>
                  <a:lnTo>
                    <a:pt x="0" y="548640"/>
                  </a:lnTo>
                  <a:close/>
                </a:path>
              </a:pathLst>
            </a:custGeom>
            <a:blipFill>
              <a:blip r:embed="rId3">
                <a:alphaModFix amt="0"/>
              </a:blip>
              <a:stretch>
                <a:fillRect l="-14151" r="-14151"/>
              </a:stretch>
            </a:blipFill>
          </p:spPr>
          <p:txBody>
            <a:bodyPr/>
            <a:lstStyle/>
            <a:p>
              <a:endParaRPr lang="en-US"/>
            </a:p>
          </p:txBody>
        </p:sp>
        <p:sp>
          <p:nvSpPr>
            <p:cNvPr id="92" name="TextBox 92"/>
            <p:cNvSpPr txBox="1"/>
            <p:nvPr/>
          </p:nvSpPr>
          <p:spPr>
            <a:xfrm>
              <a:off x="0" y="-38100"/>
              <a:ext cx="1097280" cy="586740"/>
            </a:xfrm>
            <a:prstGeom prst="rect">
              <a:avLst/>
            </a:prstGeom>
          </p:spPr>
          <p:txBody>
            <a:bodyPr lIns="0" tIns="0" rIns="0" bIns="0" rtlCol="0" anchor="ctr"/>
            <a:lstStyle/>
            <a:p>
              <a:pPr algn="r">
                <a:lnSpc>
                  <a:spcPts val="1800"/>
                </a:lnSpc>
              </a:pPr>
              <a:r>
                <a:rPr lang="en-US" sz="1500">
                  <a:solidFill>
                    <a:srgbClr val="5B6B72"/>
                  </a:solidFill>
                  <a:latin typeface="Calibri (MS)"/>
                  <a:ea typeface="Calibri (MS)"/>
                  <a:cs typeface="Calibri (MS)"/>
                  <a:sym typeface="Calibri (MS)"/>
                </a:rPr>
                <a:t>05</a:t>
              </a: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grpSp>
        <p:nvGrpSpPr>
          <p:cNvPr id="2" name="Group 2"/>
          <p:cNvGrpSpPr/>
          <p:nvPr/>
        </p:nvGrpSpPr>
        <p:grpSpPr>
          <a:xfrm>
            <a:off x="813435" y="-9525"/>
            <a:ext cx="19050" cy="10306050"/>
            <a:chOff x="0" y="0"/>
            <a:chExt cx="25400" cy="13741400"/>
          </a:xfrm>
        </p:grpSpPr>
        <p:sp>
          <p:nvSpPr>
            <p:cNvPr id="3" name="Freeform 3"/>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4" name="Group 4"/>
          <p:cNvGrpSpPr/>
          <p:nvPr/>
        </p:nvGrpSpPr>
        <p:grpSpPr>
          <a:xfrm>
            <a:off x="2253615" y="-9525"/>
            <a:ext cx="19050" cy="10306050"/>
            <a:chOff x="0" y="0"/>
            <a:chExt cx="25400" cy="13741400"/>
          </a:xfrm>
        </p:grpSpPr>
        <p:sp>
          <p:nvSpPr>
            <p:cNvPr id="5" name="Freeform 5"/>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6" name="Group 6"/>
          <p:cNvGrpSpPr/>
          <p:nvPr/>
        </p:nvGrpSpPr>
        <p:grpSpPr>
          <a:xfrm>
            <a:off x="3693795" y="-9525"/>
            <a:ext cx="19050" cy="10306050"/>
            <a:chOff x="0" y="0"/>
            <a:chExt cx="25400" cy="13741400"/>
          </a:xfrm>
        </p:grpSpPr>
        <p:sp>
          <p:nvSpPr>
            <p:cNvPr id="7" name="Freeform 7"/>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8" name="Group 8"/>
          <p:cNvGrpSpPr/>
          <p:nvPr/>
        </p:nvGrpSpPr>
        <p:grpSpPr>
          <a:xfrm>
            <a:off x="5133975" y="-9525"/>
            <a:ext cx="19050" cy="10306050"/>
            <a:chOff x="0" y="0"/>
            <a:chExt cx="25400" cy="13741400"/>
          </a:xfrm>
        </p:grpSpPr>
        <p:sp>
          <p:nvSpPr>
            <p:cNvPr id="9" name="Freeform 9"/>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10" name="Group 10"/>
          <p:cNvGrpSpPr/>
          <p:nvPr/>
        </p:nvGrpSpPr>
        <p:grpSpPr>
          <a:xfrm>
            <a:off x="6574155" y="-9525"/>
            <a:ext cx="19050" cy="10306050"/>
            <a:chOff x="0" y="0"/>
            <a:chExt cx="25400" cy="13741400"/>
          </a:xfrm>
        </p:grpSpPr>
        <p:sp>
          <p:nvSpPr>
            <p:cNvPr id="11" name="Freeform 11"/>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12" name="Group 12"/>
          <p:cNvGrpSpPr/>
          <p:nvPr/>
        </p:nvGrpSpPr>
        <p:grpSpPr>
          <a:xfrm>
            <a:off x="8014335" y="-9525"/>
            <a:ext cx="19050" cy="10306050"/>
            <a:chOff x="0" y="0"/>
            <a:chExt cx="25400" cy="13741400"/>
          </a:xfrm>
        </p:grpSpPr>
        <p:sp>
          <p:nvSpPr>
            <p:cNvPr id="13" name="Freeform 13"/>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14" name="Group 14"/>
          <p:cNvGrpSpPr/>
          <p:nvPr/>
        </p:nvGrpSpPr>
        <p:grpSpPr>
          <a:xfrm>
            <a:off x="9454515" y="-9525"/>
            <a:ext cx="19050" cy="10306050"/>
            <a:chOff x="0" y="0"/>
            <a:chExt cx="25400" cy="13741400"/>
          </a:xfrm>
        </p:grpSpPr>
        <p:sp>
          <p:nvSpPr>
            <p:cNvPr id="15" name="Freeform 15"/>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16" name="Group 16"/>
          <p:cNvGrpSpPr/>
          <p:nvPr/>
        </p:nvGrpSpPr>
        <p:grpSpPr>
          <a:xfrm>
            <a:off x="10894695" y="-9525"/>
            <a:ext cx="19050" cy="10306050"/>
            <a:chOff x="0" y="0"/>
            <a:chExt cx="25400" cy="13741400"/>
          </a:xfrm>
        </p:grpSpPr>
        <p:sp>
          <p:nvSpPr>
            <p:cNvPr id="17" name="Freeform 17"/>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18" name="Group 18"/>
          <p:cNvGrpSpPr/>
          <p:nvPr/>
        </p:nvGrpSpPr>
        <p:grpSpPr>
          <a:xfrm>
            <a:off x="12334875" y="-9525"/>
            <a:ext cx="19050" cy="10306050"/>
            <a:chOff x="0" y="0"/>
            <a:chExt cx="25400" cy="13741400"/>
          </a:xfrm>
        </p:grpSpPr>
        <p:sp>
          <p:nvSpPr>
            <p:cNvPr id="19" name="Freeform 19"/>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20" name="Group 20"/>
          <p:cNvGrpSpPr/>
          <p:nvPr/>
        </p:nvGrpSpPr>
        <p:grpSpPr>
          <a:xfrm>
            <a:off x="13775055" y="-9525"/>
            <a:ext cx="19050" cy="10306050"/>
            <a:chOff x="0" y="0"/>
            <a:chExt cx="25400" cy="13741400"/>
          </a:xfrm>
        </p:grpSpPr>
        <p:sp>
          <p:nvSpPr>
            <p:cNvPr id="21" name="Freeform 21"/>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22" name="Group 22"/>
          <p:cNvGrpSpPr/>
          <p:nvPr/>
        </p:nvGrpSpPr>
        <p:grpSpPr>
          <a:xfrm>
            <a:off x="15215235" y="-9525"/>
            <a:ext cx="19050" cy="10306050"/>
            <a:chOff x="0" y="0"/>
            <a:chExt cx="25400" cy="13741400"/>
          </a:xfrm>
        </p:grpSpPr>
        <p:sp>
          <p:nvSpPr>
            <p:cNvPr id="23" name="Freeform 23"/>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24" name="Group 24"/>
          <p:cNvGrpSpPr/>
          <p:nvPr/>
        </p:nvGrpSpPr>
        <p:grpSpPr>
          <a:xfrm>
            <a:off x="16655415" y="-9525"/>
            <a:ext cx="19050" cy="10306050"/>
            <a:chOff x="0" y="0"/>
            <a:chExt cx="25400" cy="13741400"/>
          </a:xfrm>
        </p:grpSpPr>
        <p:sp>
          <p:nvSpPr>
            <p:cNvPr id="25" name="Freeform 25"/>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26" name="Group 26"/>
          <p:cNvGrpSpPr/>
          <p:nvPr/>
        </p:nvGrpSpPr>
        <p:grpSpPr>
          <a:xfrm>
            <a:off x="960120" y="2057400"/>
            <a:ext cx="6172200" cy="3017520"/>
            <a:chOff x="0" y="0"/>
            <a:chExt cx="8229600" cy="4023360"/>
          </a:xfrm>
        </p:grpSpPr>
        <p:sp>
          <p:nvSpPr>
            <p:cNvPr id="27" name="Freeform 27"/>
            <p:cNvSpPr/>
            <p:nvPr/>
          </p:nvSpPr>
          <p:spPr>
            <a:xfrm>
              <a:off x="0" y="0"/>
              <a:ext cx="8229600" cy="4023360"/>
            </a:xfrm>
            <a:custGeom>
              <a:avLst/>
              <a:gdLst/>
              <a:ahLst/>
              <a:cxnLst/>
              <a:rect l="l" t="t" r="r" b="b"/>
              <a:pathLst>
                <a:path w="8229600" h="4023360">
                  <a:moveTo>
                    <a:pt x="0" y="0"/>
                  </a:moveTo>
                  <a:lnTo>
                    <a:pt x="8229600" y="0"/>
                  </a:lnTo>
                  <a:lnTo>
                    <a:pt x="8229600" y="4023360"/>
                  </a:lnTo>
                  <a:lnTo>
                    <a:pt x="0" y="4023360"/>
                  </a:lnTo>
                  <a:close/>
                </a:path>
              </a:pathLst>
            </a:custGeom>
            <a:blipFill>
              <a:blip r:embed="rId3">
                <a:alphaModFix amt="0"/>
              </a:blip>
              <a:stretch>
                <a:fillRect l="-12726" r="-12726"/>
              </a:stretch>
            </a:blipFill>
          </p:spPr>
          <p:txBody>
            <a:bodyPr/>
            <a:lstStyle/>
            <a:p>
              <a:endParaRPr lang="en-US"/>
            </a:p>
          </p:txBody>
        </p:sp>
        <p:sp>
          <p:nvSpPr>
            <p:cNvPr id="28" name="TextBox 28"/>
            <p:cNvSpPr txBox="1"/>
            <p:nvPr/>
          </p:nvSpPr>
          <p:spPr>
            <a:xfrm>
              <a:off x="0" y="-9525"/>
              <a:ext cx="8229600" cy="4032885"/>
            </a:xfrm>
            <a:prstGeom prst="rect">
              <a:avLst/>
            </a:prstGeom>
          </p:spPr>
          <p:txBody>
            <a:bodyPr lIns="0" tIns="0" rIns="0" bIns="0" rtlCol="0" anchor="ctr"/>
            <a:lstStyle/>
            <a:p>
              <a:pPr algn="l">
                <a:lnSpc>
                  <a:spcPts val="23400"/>
                </a:lnSpc>
              </a:pPr>
              <a:r>
                <a:rPr lang="en-US" sz="19500" b="1">
                  <a:solidFill>
                    <a:srgbClr val="74C69D"/>
                  </a:solidFill>
                  <a:latin typeface="Cambria Bold"/>
                  <a:ea typeface="Cambria Bold"/>
                  <a:cs typeface="Cambria Bold"/>
                  <a:sym typeface="Cambria Bold"/>
                </a:rPr>
                <a:t>02</a:t>
              </a:r>
            </a:p>
          </p:txBody>
        </p:sp>
      </p:grpSp>
      <p:grpSp>
        <p:nvGrpSpPr>
          <p:cNvPr id="29" name="Group 29"/>
          <p:cNvGrpSpPr/>
          <p:nvPr/>
        </p:nvGrpSpPr>
        <p:grpSpPr>
          <a:xfrm>
            <a:off x="1234440" y="4869180"/>
            <a:ext cx="12344400" cy="548640"/>
            <a:chOff x="0" y="0"/>
            <a:chExt cx="16459200" cy="731520"/>
          </a:xfrm>
        </p:grpSpPr>
        <p:sp>
          <p:nvSpPr>
            <p:cNvPr id="30" name="Freeform 30"/>
            <p:cNvSpPr/>
            <p:nvPr/>
          </p:nvSpPr>
          <p:spPr>
            <a:xfrm>
              <a:off x="0" y="0"/>
              <a:ext cx="16459200" cy="731520"/>
            </a:xfrm>
            <a:custGeom>
              <a:avLst/>
              <a:gdLst/>
              <a:ahLst/>
              <a:cxnLst/>
              <a:rect l="l" t="t" r="r" b="b"/>
              <a:pathLst>
                <a:path w="16459200" h="731520">
                  <a:moveTo>
                    <a:pt x="0" y="0"/>
                  </a:moveTo>
                  <a:lnTo>
                    <a:pt x="16459200" y="0"/>
                  </a:lnTo>
                  <a:lnTo>
                    <a:pt x="16459200" y="731520"/>
                  </a:lnTo>
                  <a:lnTo>
                    <a:pt x="0" y="731520"/>
                  </a:lnTo>
                  <a:close/>
                </a:path>
              </a:pathLst>
            </a:custGeom>
            <a:blipFill>
              <a:blip r:embed="rId3">
                <a:alphaModFix amt="0"/>
              </a:blip>
              <a:stretch>
                <a:fillRect t="-388413" b="-388413"/>
              </a:stretch>
            </a:blipFill>
          </p:spPr>
          <p:txBody>
            <a:bodyPr/>
            <a:lstStyle/>
            <a:p>
              <a:endParaRPr lang="en-US"/>
            </a:p>
          </p:txBody>
        </p:sp>
        <p:sp>
          <p:nvSpPr>
            <p:cNvPr id="31" name="TextBox 31"/>
            <p:cNvSpPr txBox="1"/>
            <p:nvPr/>
          </p:nvSpPr>
          <p:spPr>
            <a:xfrm>
              <a:off x="0" y="-47625"/>
              <a:ext cx="16459200" cy="779145"/>
            </a:xfrm>
            <a:prstGeom prst="rect">
              <a:avLst/>
            </a:prstGeom>
          </p:spPr>
          <p:txBody>
            <a:bodyPr lIns="0" tIns="0" rIns="0" bIns="0" rtlCol="0" anchor="ctr"/>
            <a:lstStyle/>
            <a:p>
              <a:pPr algn="l">
                <a:lnSpc>
                  <a:spcPts val="2340"/>
                </a:lnSpc>
              </a:pPr>
              <a:r>
                <a:rPr lang="en-US" sz="1950" b="1" spc="300">
                  <a:solidFill>
                    <a:srgbClr val="74C69D"/>
                  </a:solidFill>
                  <a:latin typeface="Calibri (MS) Bold"/>
                  <a:ea typeface="Calibri (MS) Bold"/>
                  <a:cs typeface="Calibri (MS) Bold"/>
                  <a:sym typeface="Calibri (MS) Bold"/>
                </a:rPr>
                <a:t>PART TWO</a:t>
              </a:r>
            </a:p>
          </p:txBody>
        </p:sp>
      </p:grpSp>
      <p:grpSp>
        <p:nvGrpSpPr>
          <p:cNvPr id="32" name="Group 32"/>
          <p:cNvGrpSpPr/>
          <p:nvPr/>
        </p:nvGrpSpPr>
        <p:grpSpPr>
          <a:xfrm>
            <a:off x="1165860" y="5417820"/>
            <a:ext cx="14813280" cy="1783080"/>
            <a:chOff x="0" y="0"/>
            <a:chExt cx="19751040" cy="2377440"/>
          </a:xfrm>
        </p:grpSpPr>
        <p:sp>
          <p:nvSpPr>
            <p:cNvPr id="33" name="Freeform 33"/>
            <p:cNvSpPr/>
            <p:nvPr/>
          </p:nvSpPr>
          <p:spPr>
            <a:xfrm>
              <a:off x="0" y="0"/>
              <a:ext cx="19751039" cy="2377440"/>
            </a:xfrm>
            <a:custGeom>
              <a:avLst/>
              <a:gdLst/>
              <a:ahLst/>
              <a:cxnLst/>
              <a:rect l="l" t="t" r="r" b="b"/>
              <a:pathLst>
                <a:path w="19751039" h="2377440">
                  <a:moveTo>
                    <a:pt x="0" y="0"/>
                  </a:moveTo>
                  <a:lnTo>
                    <a:pt x="19751039" y="0"/>
                  </a:lnTo>
                  <a:lnTo>
                    <a:pt x="19751039" y="2377440"/>
                  </a:lnTo>
                  <a:lnTo>
                    <a:pt x="0" y="2377440"/>
                  </a:lnTo>
                  <a:close/>
                </a:path>
              </a:pathLst>
            </a:custGeom>
            <a:blipFill>
              <a:blip r:embed="rId3">
                <a:alphaModFix amt="0"/>
              </a:blip>
              <a:stretch>
                <a:fillRect t="-111875" b="-111875"/>
              </a:stretch>
            </a:blipFill>
          </p:spPr>
          <p:txBody>
            <a:bodyPr/>
            <a:lstStyle/>
            <a:p>
              <a:endParaRPr lang="en-US"/>
            </a:p>
          </p:txBody>
        </p:sp>
        <p:sp>
          <p:nvSpPr>
            <p:cNvPr id="34" name="TextBox 34"/>
            <p:cNvSpPr txBox="1"/>
            <p:nvPr/>
          </p:nvSpPr>
          <p:spPr>
            <a:xfrm>
              <a:off x="0" y="-19050"/>
              <a:ext cx="19751040" cy="2396490"/>
            </a:xfrm>
            <a:prstGeom prst="rect">
              <a:avLst/>
            </a:prstGeom>
          </p:spPr>
          <p:txBody>
            <a:bodyPr lIns="0" tIns="0" rIns="0" bIns="0" rtlCol="0" anchor="ctr"/>
            <a:lstStyle/>
            <a:p>
              <a:pPr algn="l">
                <a:lnSpc>
                  <a:spcPts val="7559"/>
                </a:lnSpc>
              </a:pPr>
              <a:r>
                <a:rPr lang="en-US" sz="6300" b="1">
                  <a:solidFill>
                    <a:srgbClr val="FFFFFF"/>
                  </a:solidFill>
                  <a:latin typeface="Cambria Bold"/>
                  <a:ea typeface="Cambria Bold"/>
                  <a:cs typeface="Cambria Bold"/>
                  <a:sym typeface="Cambria Bold"/>
                </a:rPr>
                <a:t>The Data Pipeline</a:t>
              </a:r>
            </a:p>
          </p:txBody>
        </p:sp>
      </p:grpSp>
      <p:grpSp>
        <p:nvGrpSpPr>
          <p:cNvPr id="35" name="Group 35"/>
          <p:cNvGrpSpPr/>
          <p:nvPr/>
        </p:nvGrpSpPr>
        <p:grpSpPr>
          <a:xfrm>
            <a:off x="1205865" y="7172325"/>
            <a:ext cx="3623310" cy="57150"/>
            <a:chOff x="0" y="0"/>
            <a:chExt cx="4831080" cy="76200"/>
          </a:xfrm>
        </p:grpSpPr>
        <p:sp>
          <p:nvSpPr>
            <p:cNvPr id="36" name="Freeform 36"/>
            <p:cNvSpPr/>
            <p:nvPr/>
          </p:nvSpPr>
          <p:spPr>
            <a:xfrm>
              <a:off x="0" y="0"/>
              <a:ext cx="4831080" cy="76200"/>
            </a:xfrm>
            <a:custGeom>
              <a:avLst/>
              <a:gdLst/>
              <a:ahLst/>
              <a:cxnLst/>
              <a:rect l="l" t="t" r="r" b="b"/>
              <a:pathLst>
                <a:path w="4831080" h="76200">
                  <a:moveTo>
                    <a:pt x="0" y="0"/>
                  </a:moveTo>
                  <a:lnTo>
                    <a:pt x="4831080" y="76200"/>
                  </a:lnTo>
                </a:path>
              </a:pathLst>
            </a:custGeom>
            <a:blipFill>
              <a:blip r:embed="rId3">
                <a:alphaModFix amt="0"/>
              </a:blip>
              <a:stretch>
                <a:fillRect t="-1185351" b="-1185351"/>
              </a:stretch>
            </a:blipFill>
            <a:ln w="57150" cap="sq">
              <a:solidFill>
                <a:srgbClr val="40916C"/>
              </a:solidFill>
              <a:prstDash val="solid"/>
              <a:miter/>
            </a:ln>
          </p:spPr>
          <p:txBody>
            <a:bodyPr/>
            <a:lstStyle/>
            <a:p>
              <a:endParaRPr lang="en-US"/>
            </a:p>
          </p:txBody>
        </p:sp>
      </p:grpSp>
      <p:grpSp>
        <p:nvGrpSpPr>
          <p:cNvPr id="37" name="Group 37"/>
          <p:cNvGrpSpPr/>
          <p:nvPr/>
        </p:nvGrpSpPr>
        <p:grpSpPr>
          <a:xfrm>
            <a:off x="1234440" y="7475220"/>
            <a:ext cx="13030200" cy="822960"/>
            <a:chOff x="0" y="0"/>
            <a:chExt cx="17373600" cy="1097280"/>
          </a:xfrm>
        </p:grpSpPr>
        <p:sp>
          <p:nvSpPr>
            <p:cNvPr id="38" name="Freeform 38"/>
            <p:cNvSpPr/>
            <p:nvPr/>
          </p:nvSpPr>
          <p:spPr>
            <a:xfrm>
              <a:off x="0" y="0"/>
              <a:ext cx="17373600" cy="1097280"/>
            </a:xfrm>
            <a:custGeom>
              <a:avLst/>
              <a:gdLst/>
              <a:ahLst/>
              <a:cxnLst/>
              <a:rect l="l" t="t" r="r" b="b"/>
              <a:pathLst>
                <a:path w="17373600" h="1097280">
                  <a:moveTo>
                    <a:pt x="0" y="0"/>
                  </a:moveTo>
                  <a:lnTo>
                    <a:pt x="17373600" y="0"/>
                  </a:lnTo>
                  <a:lnTo>
                    <a:pt x="17373600" y="1097280"/>
                  </a:lnTo>
                  <a:lnTo>
                    <a:pt x="0" y="1097280"/>
                  </a:lnTo>
                  <a:close/>
                </a:path>
              </a:pathLst>
            </a:custGeom>
            <a:blipFill>
              <a:blip r:embed="rId3">
                <a:alphaModFix amt="0"/>
              </a:blip>
              <a:stretch>
                <a:fillRect t="-258513" b="-258513"/>
              </a:stretch>
            </a:blipFill>
          </p:spPr>
          <p:txBody>
            <a:bodyPr/>
            <a:lstStyle/>
            <a:p>
              <a:endParaRPr lang="en-US"/>
            </a:p>
          </p:txBody>
        </p:sp>
        <p:sp>
          <p:nvSpPr>
            <p:cNvPr id="39" name="TextBox 39"/>
            <p:cNvSpPr txBox="1"/>
            <p:nvPr/>
          </p:nvSpPr>
          <p:spPr>
            <a:xfrm>
              <a:off x="0" y="-47625"/>
              <a:ext cx="17373600" cy="1144905"/>
            </a:xfrm>
            <a:prstGeom prst="rect">
              <a:avLst/>
            </a:prstGeom>
          </p:spPr>
          <p:txBody>
            <a:bodyPr lIns="0" tIns="0" rIns="0" bIns="0" rtlCol="0" anchor="ctr"/>
            <a:lstStyle/>
            <a:p>
              <a:pPr algn="l">
                <a:lnSpc>
                  <a:spcPts val="2520"/>
                </a:lnSpc>
              </a:pPr>
              <a:r>
                <a:rPr lang="en-US" sz="2100">
                  <a:solidFill>
                    <a:srgbClr val="C9D6CE"/>
                  </a:solidFill>
                  <a:latin typeface="Calibri (MS)"/>
                  <a:ea typeface="Calibri (MS)"/>
                  <a:cs typeface="Calibri (MS)"/>
                  <a:sym typeface="Calibri (MS)"/>
                </a:rPr>
                <a:t>How synthetic telemetry is generated, streamed, and persisted at scale.</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8F6"/>
        </a:solidFill>
        <a:effectLst/>
      </p:bgPr>
    </p:bg>
    <p:spTree>
      <p:nvGrpSpPr>
        <p:cNvPr id="1" name=""/>
        <p:cNvGrpSpPr/>
        <p:nvPr/>
      </p:nvGrpSpPr>
      <p:grpSpPr>
        <a:xfrm>
          <a:off x="0" y="0"/>
          <a:ext cx="0" cy="0"/>
          <a:chOff x="0" y="0"/>
          <a:chExt cx="0" cy="0"/>
        </a:xfrm>
      </p:grpSpPr>
      <p:grpSp>
        <p:nvGrpSpPr>
          <p:cNvPr id="2" name="Group 2"/>
          <p:cNvGrpSpPr/>
          <p:nvPr/>
        </p:nvGrpSpPr>
        <p:grpSpPr>
          <a:xfrm>
            <a:off x="822960" y="576072"/>
            <a:ext cx="10972800" cy="480060"/>
            <a:chOff x="0" y="0"/>
            <a:chExt cx="14630400" cy="640080"/>
          </a:xfrm>
        </p:grpSpPr>
        <p:sp>
          <p:nvSpPr>
            <p:cNvPr id="3" name="Freeform 3"/>
            <p:cNvSpPr/>
            <p:nvPr/>
          </p:nvSpPr>
          <p:spPr>
            <a:xfrm>
              <a:off x="0" y="0"/>
              <a:ext cx="14630400" cy="640080"/>
            </a:xfrm>
            <a:custGeom>
              <a:avLst/>
              <a:gdLst/>
              <a:ahLst/>
              <a:cxnLst/>
              <a:rect l="l" t="t" r="r" b="b"/>
              <a:pathLst>
                <a:path w="14630400" h="640080">
                  <a:moveTo>
                    <a:pt x="0" y="0"/>
                  </a:moveTo>
                  <a:lnTo>
                    <a:pt x="14630400" y="0"/>
                  </a:lnTo>
                  <a:lnTo>
                    <a:pt x="14630400" y="640080"/>
                  </a:lnTo>
                  <a:lnTo>
                    <a:pt x="0" y="640080"/>
                  </a:lnTo>
                  <a:close/>
                </a:path>
              </a:pathLst>
            </a:custGeom>
            <a:blipFill>
              <a:blip r:embed="rId3">
                <a:alphaModFix amt="0"/>
              </a:blip>
              <a:stretch>
                <a:fillRect t="-395372" b="-395372"/>
              </a:stretch>
            </a:blipFill>
          </p:spPr>
          <p:txBody>
            <a:bodyPr/>
            <a:lstStyle/>
            <a:p>
              <a:endParaRPr lang="en-US"/>
            </a:p>
          </p:txBody>
        </p:sp>
        <p:sp>
          <p:nvSpPr>
            <p:cNvPr id="4" name="TextBox 4"/>
            <p:cNvSpPr txBox="1"/>
            <p:nvPr/>
          </p:nvSpPr>
          <p:spPr>
            <a:xfrm>
              <a:off x="0" y="-38100"/>
              <a:ext cx="14630400" cy="678180"/>
            </a:xfrm>
            <a:prstGeom prst="rect">
              <a:avLst/>
            </a:prstGeom>
          </p:spPr>
          <p:txBody>
            <a:bodyPr lIns="0" tIns="0" rIns="0" bIns="0" rtlCol="0" anchor="ctr"/>
            <a:lstStyle/>
            <a:p>
              <a:pPr algn="l">
                <a:lnSpc>
                  <a:spcPts val="2160"/>
                </a:lnSpc>
              </a:pPr>
              <a:r>
                <a:rPr lang="en-US" sz="1800" b="1" spc="299">
                  <a:solidFill>
                    <a:srgbClr val="40916C"/>
                  </a:solidFill>
                  <a:latin typeface="Calibri (MS) Bold"/>
                  <a:ea typeface="Calibri (MS) Bold"/>
                  <a:cs typeface="Calibri (MS) Bold"/>
                  <a:sym typeface="Calibri (MS) Bold"/>
                </a:rPr>
                <a:t>PART 02 · DATA PIPELINE</a:t>
              </a:r>
            </a:p>
          </p:txBody>
        </p:sp>
      </p:grpSp>
      <p:grpSp>
        <p:nvGrpSpPr>
          <p:cNvPr id="5" name="Group 5"/>
          <p:cNvGrpSpPr/>
          <p:nvPr/>
        </p:nvGrpSpPr>
        <p:grpSpPr>
          <a:xfrm>
            <a:off x="822960" y="987552"/>
            <a:ext cx="15773400" cy="1234440"/>
            <a:chOff x="0" y="0"/>
            <a:chExt cx="21031200" cy="1645920"/>
          </a:xfrm>
        </p:grpSpPr>
        <p:sp>
          <p:nvSpPr>
            <p:cNvPr id="6" name="Freeform 6"/>
            <p:cNvSpPr/>
            <p:nvPr/>
          </p:nvSpPr>
          <p:spPr>
            <a:xfrm>
              <a:off x="0" y="0"/>
              <a:ext cx="21031200" cy="1645920"/>
            </a:xfrm>
            <a:custGeom>
              <a:avLst/>
              <a:gdLst/>
              <a:ahLst/>
              <a:cxnLst/>
              <a:rect l="l" t="t" r="r" b="b"/>
              <a:pathLst>
                <a:path w="21031200" h="1645920">
                  <a:moveTo>
                    <a:pt x="0" y="0"/>
                  </a:moveTo>
                  <a:lnTo>
                    <a:pt x="21031200" y="0"/>
                  </a:lnTo>
                  <a:lnTo>
                    <a:pt x="21031200" y="1645920"/>
                  </a:lnTo>
                  <a:lnTo>
                    <a:pt x="0" y="1645920"/>
                  </a:lnTo>
                  <a:close/>
                </a:path>
              </a:pathLst>
            </a:custGeom>
            <a:blipFill>
              <a:blip r:embed="rId3">
                <a:alphaModFix amt="0"/>
              </a:blip>
              <a:stretch>
                <a:fillRect t="-198975" b="-198975"/>
              </a:stretch>
            </a:blipFill>
          </p:spPr>
          <p:txBody>
            <a:bodyPr/>
            <a:lstStyle/>
            <a:p>
              <a:endParaRPr lang="en-US"/>
            </a:p>
          </p:txBody>
        </p:sp>
        <p:sp>
          <p:nvSpPr>
            <p:cNvPr id="7" name="TextBox 7"/>
            <p:cNvSpPr txBox="1"/>
            <p:nvPr/>
          </p:nvSpPr>
          <p:spPr>
            <a:xfrm>
              <a:off x="0" y="-9525"/>
              <a:ext cx="21031200" cy="1655445"/>
            </a:xfrm>
            <a:prstGeom prst="rect">
              <a:avLst/>
            </a:prstGeom>
          </p:spPr>
          <p:txBody>
            <a:bodyPr lIns="0" tIns="0" rIns="0" bIns="0" rtlCol="0" anchor="ctr"/>
            <a:lstStyle/>
            <a:p>
              <a:pPr algn="l">
                <a:lnSpc>
                  <a:spcPts val="5759"/>
                </a:lnSpc>
              </a:pPr>
              <a:r>
                <a:rPr lang="en-US" sz="4800" b="1">
                  <a:solidFill>
                    <a:srgbClr val="0D1B2A"/>
                  </a:solidFill>
                  <a:latin typeface="Cambria Bold"/>
                  <a:ea typeface="Cambria Bold"/>
                  <a:cs typeface="Cambria Bold"/>
                  <a:sym typeface="Cambria Bold"/>
                </a:rPr>
                <a:t>Ingestion: Two Ways In</a:t>
              </a:r>
            </a:p>
          </p:txBody>
        </p:sp>
      </p:grpSp>
      <p:grpSp>
        <p:nvGrpSpPr>
          <p:cNvPr id="8" name="Group 8"/>
          <p:cNvGrpSpPr/>
          <p:nvPr/>
        </p:nvGrpSpPr>
        <p:grpSpPr>
          <a:xfrm>
            <a:off x="813435" y="2253615"/>
            <a:ext cx="8111490" cy="7082790"/>
            <a:chOff x="0" y="0"/>
            <a:chExt cx="10815320" cy="9443720"/>
          </a:xfrm>
        </p:grpSpPr>
        <p:sp>
          <p:nvSpPr>
            <p:cNvPr id="9" name="Freeform 9"/>
            <p:cNvSpPr/>
            <p:nvPr/>
          </p:nvSpPr>
          <p:spPr>
            <a:xfrm>
              <a:off x="0" y="0"/>
              <a:ext cx="10815320" cy="9443720"/>
            </a:xfrm>
            <a:custGeom>
              <a:avLst/>
              <a:gdLst/>
              <a:ahLst/>
              <a:cxnLst/>
              <a:rect l="l" t="t" r="r" b="b"/>
              <a:pathLst>
                <a:path w="10815320" h="9443720">
                  <a:moveTo>
                    <a:pt x="0" y="183388"/>
                  </a:moveTo>
                  <a:cubicBezTo>
                    <a:pt x="0" y="82169"/>
                    <a:pt x="82169" y="0"/>
                    <a:pt x="183388" y="0"/>
                  </a:cubicBezTo>
                  <a:lnTo>
                    <a:pt x="10631932" y="0"/>
                  </a:lnTo>
                  <a:cubicBezTo>
                    <a:pt x="10733277" y="0"/>
                    <a:pt x="10815320" y="82169"/>
                    <a:pt x="10815320" y="183388"/>
                  </a:cubicBezTo>
                  <a:lnTo>
                    <a:pt x="10815320" y="9260332"/>
                  </a:lnTo>
                  <a:cubicBezTo>
                    <a:pt x="10815320" y="9361677"/>
                    <a:pt x="10733150" y="9443720"/>
                    <a:pt x="10631932" y="9443720"/>
                  </a:cubicBezTo>
                  <a:lnTo>
                    <a:pt x="183388" y="9443720"/>
                  </a:lnTo>
                  <a:cubicBezTo>
                    <a:pt x="82169" y="9443720"/>
                    <a:pt x="0" y="9361551"/>
                    <a:pt x="0" y="9260332"/>
                  </a:cubicBezTo>
                  <a:close/>
                </a:path>
              </a:pathLst>
            </a:custGeom>
            <a:solidFill>
              <a:srgbClr val="FFFFFF"/>
            </a:solidFill>
            <a:ln w="19050" cap="sq">
              <a:solidFill>
                <a:srgbClr val="DCE7E0"/>
              </a:solidFill>
              <a:prstDash val="solid"/>
              <a:miter/>
            </a:ln>
          </p:spPr>
          <p:txBody>
            <a:bodyPr/>
            <a:lstStyle/>
            <a:p>
              <a:endParaRPr lang="en-US"/>
            </a:p>
          </p:txBody>
        </p:sp>
      </p:grpSp>
      <p:grpSp>
        <p:nvGrpSpPr>
          <p:cNvPr id="10" name="Group 10"/>
          <p:cNvGrpSpPr/>
          <p:nvPr/>
        </p:nvGrpSpPr>
        <p:grpSpPr>
          <a:xfrm>
            <a:off x="1234440" y="2674620"/>
            <a:ext cx="3566160" cy="548640"/>
            <a:chOff x="0" y="0"/>
            <a:chExt cx="4754880" cy="731520"/>
          </a:xfrm>
        </p:grpSpPr>
        <p:sp>
          <p:nvSpPr>
            <p:cNvPr id="11" name="Freeform 11"/>
            <p:cNvSpPr/>
            <p:nvPr/>
          </p:nvSpPr>
          <p:spPr>
            <a:xfrm>
              <a:off x="0" y="0"/>
              <a:ext cx="4754880" cy="731520"/>
            </a:xfrm>
            <a:custGeom>
              <a:avLst/>
              <a:gdLst/>
              <a:ahLst/>
              <a:cxnLst/>
              <a:rect l="l" t="t" r="r" b="b"/>
              <a:pathLst>
                <a:path w="4754880" h="731520">
                  <a:moveTo>
                    <a:pt x="0" y="365760"/>
                  </a:moveTo>
                  <a:cubicBezTo>
                    <a:pt x="0" y="163703"/>
                    <a:pt x="163703" y="0"/>
                    <a:pt x="365760" y="0"/>
                  </a:cubicBezTo>
                  <a:lnTo>
                    <a:pt x="4389120" y="0"/>
                  </a:lnTo>
                  <a:cubicBezTo>
                    <a:pt x="4591177" y="0"/>
                    <a:pt x="4754880" y="163703"/>
                    <a:pt x="4754880" y="365760"/>
                  </a:cubicBezTo>
                  <a:cubicBezTo>
                    <a:pt x="4754880" y="567817"/>
                    <a:pt x="4591177" y="731520"/>
                    <a:pt x="4389120" y="731520"/>
                  </a:cubicBezTo>
                  <a:lnTo>
                    <a:pt x="365760" y="731520"/>
                  </a:lnTo>
                  <a:cubicBezTo>
                    <a:pt x="163703" y="731520"/>
                    <a:pt x="0" y="567817"/>
                    <a:pt x="0" y="365760"/>
                  </a:cubicBezTo>
                  <a:close/>
                </a:path>
              </a:pathLst>
            </a:custGeom>
            <a:solidFill>
              <a:srgbClr val="40916C"/>
            </a:solidFill>
          </p:spPr>
          <p:txBody>
            <a:bodyPr/>
            <a:lstStyle/>
            <a:p>
              <a:endParaRPr lang="en-US"/>
            </a:p>
          </p:txBody>
        </p:sp>
      </p:grpSp>
      <p:grpSp>
        <p:nvGrpSpPr>
          <p:cNvPr id="12" name="Group 12"/>
          <p:cNvGrpSpPr/>
          <p:nvPr/>
        </p:nvGrpSpPr>
        <p:grpSpPr>
          <a:xfrm>
            <a:off x="1234440" y="2674620"/>
            <a:ext cx="3566160" cy="548640"/>
            <a:chOff x="0" y="0"/>
            <a:chExt cx="4754880" cy="731520"/>
          </a:xfrm>
        </p:grpSpPr>
        <p:sp>
          <p:nvSpPr>
            <p:cNvPr id="13" name="Freeform 13"/>
            <p:cNvSpPr/>
            <p:nvPr/>
          </p:nvSpPr>
          <p:spPr>
            <a:xfrm>
              <a:off x="0" y="0"/>
              <a:ext cx="4754880" cy="731520"/>
            </a:xfrm>
            <a:custGeom>
              <a:avLst/>
              <a:gdLst/>
              <a:ahLst/>
              <a:cxnLst/>
              <a:rect l="l" t="t" r="r" b="b"/>
              <a:pathLst>
                <a:path w="4754880" h="731520">
                  <a:moveTo>
                    <a:pt x="0" y="0"/>
                  </a:moveTo>
                  <a:lnTo>
                    <a:pt x="4754880" y="0"/>
                  </a:lnTo>
                  <a:lnTo>
                    <a:pt x="4754880" y="731520"/>
                  </a:lnTo>
                  <a:lnTo>
                    <a:pt x="0" y="731520"/>
                  </a:lnTo>
                  <a:close/>
                </a:path>
              </a:pathLst>
            </a:custGeom>
            <a:blipFill>
              <a:blip r:embed="rId3">
                <a:alphaModFix amt="0"/>
              </a:blip>
              <a:stretch>
                <a:fillRect t="-76652" b="-76652"/>
              </a:stretch>
            </a:blipFill>
          </p:spPr>
          <p:txBody>
            <a:bodyPr/>
            <a:lstStyle/>
            <a:p>
              <a:endParaRPr lang="en-US"/>
            </a:p>
          </p:txBody>
        </p:sp>
        <p:sp>
          <p:nvSpPr>
            <p:cNvPr id="14" name="TextBox 14"/>
            <p:cNvSpPr txBox="1"/>
            <p:nvPr/>
          </p:nvSpPr>
          <p:spPr>
            <a:xfrm>
              <a:off x="0" y="-38100"/>
              <a:ext cx="4754880" cy="769620"/>
            </a:xfrm>
            <a:prstGeom prst="rect">
              <a:avLst/>
            </a:prstGeom>
          </p:spPr>
          <p:txBody>
            <a:bodyPr lIns="0" tIns="0" rIns="0" bIns="0" rtlCol="0" anchor="ctr"/>
            <a:lstStyle/>
            <a:p>
              <a:pPr algn="ctr">
                <a:lnSpc>
                  <a:spcPts val="2160"/>
                </a:lnSpc>
              </a:pPr>
              <a:r>
                <a:rPr lang="en-US" sz="1800" b="1">
                  <a:solidFill>
                    <a:srgbClr val="FFFFFF"/>
                  </a:solidFill>
                  <a:latin typeface="Calibri (MS) Bold"/>
                  <a:ea typeface="Calibri (MS) Bold"/>
                  <a:cs typeface="Calibri (MS) Bold"/>
                  <a:sym typeface="Calibri (MS) Bold"/>
                </a:rPr>
                <a:t>sender.py</a:t>
              </a:r>
            </a:p>
          </p:txBody>
        </p:sp>
      </p:grpSp>
      <p:grpSp>
        <p:nvGrpSpPr>
          <p:cNvPr id="15" name="Group 15"/>
          <p:cNvGrpSpPr/>
          <p:nvPr/>
        </p:nvGrpSpPr>
        <p:grpSpPr>
          <a:xfrm>
            <a:off x="1234440" y="3429000"/>
            <a:ext cx="7269480" cy="548640"/>
            <a:chOff x="0" y="0"/>
            <a:chExt cx="9692640" cy="731520"/>
          </a:xfrm>
        </p:grpSpPr>
        <p:sp>
          <p:nvSpPr>
            <p:cNvPr id="16" name="Freeform 16"/>
            <p:cNvSpPr/>
            <p:nvPr/>
          </p:nvSpPr>
          <p:spPr>
            <a:xfrm>
              <a:off x="0" y="0"/>
              <a:ext cx="9692640" cy="731520"/>
            </a:xfrm>
            <a:custGeom>
              <a:avLst/>
              <a:gdLst/>
              <a:ahLst/>
              <a:cxnLst/>
              <a:rect l="l" t="t" r="r" b="b"/>
              <a:pathLst>
                <a:path w="9692640" h="731520">
                  <a:moveTo>
                    <a:pt x="0" y="0"/>
                  </a:moveTo>
                  <a:lnTo>
                    <a:pt x="9692640" y="0"/>
                  </a:lnTo>
                  <a:lnTo>
                    <a:pt x="9692640" y="731520"/>
                  </a:lnTo>
                  <a:lnTo>
                    <a:pt x="0" y="731520"/>
                  </a:lnTo>
                  <a:close/>
                </a:path>
              </a:pathLst>
            </a:custGeom>
            <a:blipFill>
              <a:blip r:embed="rId3">
                <a:alphaModFix amt="0"/>
              </a:blip>
              <a:stretch>
                <a:fillRect t="-208176" b="-208176"/>
              </a:stretch>
            </a:blipFill>
          </p:spPr>
          <p:txBody>
            <a:bodyPr/>
            <a:lstStyle/>
            <a:p>
              <a:endParaRPr lang="en-US"/>
            </a:p>
          </p:txBody>
        </p:sp>
        <p:sp>
          <p:nvSpPr>
            <p:cNvPr id="17" name="TextBox 17"/>
            <p:cNvSpPr txBox="1"/>
            <p:nvPr/>
          </p:nvSpPr>
          <p:spPr>
            <a:xfrm>
              <a:off x="0" y="-9525"/>
              <a:ext cx="9692640" cy="741045"/>
            </a:xfrm>
            <a:prstGeom prst="rect">
              <a:avLst/>
            </a:prstGeom>
          </p:spPr>
          <p:txBody>
            <a:bodyPr lIns="0" tIns="0" rIns="0" bIns="0" rtlCol="0" anchor="ctr"/>
            <a:lstStyle/>
            <a:p>
              <a:pPr algn="l">
                <a:lnSpc>
                  <a:spcPts val="3060"/>
                </a:lnSpc>
              </a:pPr>
              <a:r>
                <a:rPr lang="en-US" sz="2550" b="1">
                  <a:solidFill>
                    <a:srgbClr val="0D1B2A"/>
                  </a:solidFill>
                  <a:latin typeface="Cambria Bold"/>
                  <a:ea typeface="Cambria Bold"/>
                  <a:cs typeface="Cambria Bold"/>
                  <a:sym typeface="Cambria Bold"/>
                </a:rPr>
                <a:t>Tri-Stream Kafka Producer</a:t>
              </a:r>
            </a:p>
          </p:txBody>
        </p:sp>
      </p:grpSp>
      <p:grpSp>
        <p:nvGrpSpPr>
          <p:cNvPr id="18" name="Group 18"/>
          <p:cNvGrpSpPr/>
          <p:nvPr/>
        </p:nvGrpSpPr>
        <p:grpSpPr>
          <a:xfrm>
            <a:off x="1234440" y="4005072"/>
            <a:ext cx="7269480" cy="1165860"/>
            <a:chOff x="0" y="0"/>
            <a:chExt cx="9692640" cy="1554480"/>
          </a:xfrm>
        </p:grpSpPr>
        <p:sp>
          <p:nvSpPr>
            <p:cNvPr id="19" name="Freeform 19"/>
            <p:cNvSpPr/>
            <p:nvPr/>
          </p:nvSpPr>
          <p:spPr>
            <a:xfrm>
              <a:off x="0" y="0"/>
              <a:ext cx="9692640" cy="1554480"/>
            </a:xfrm>
            <a:custGeom>
              <a:avLst/>
              <a:gdLst/>
              <a:ahLst/>
              <a:cxnLst/>
              <a:rect l="l" t="t" r="r" b="b"/>
              <a:pathLst>
                <a:path w="9692640" h="1554480">
                  <a:moveTo>
                    <a:pt x="0" y="0"/>
                  </a:moveTo>
                  <a:lnTo>
                    <a:pt x="9692640" y="0"/>
                  </a:lnTo>
                  <a:lnTo>
                    <a:pt x="9692640" y="1554480"/>
                  </a:lnTo>
                  <a:lnTo>
                    <a:pt x="0" y="1554480"/>
                  </a:lnTo>
                  <a:close/>
                </a:path>
              </a:pathLst>
            </a:custGeom>
            <a:blipFill>
              <a:blip r:embed="rId3">
                <a:alphaModFix amt="0"/>
              </a:blip>
              <a:stretch>
                <a:fillRect t="-71494" b="-71494"/>
              </a:stretch>
            </a:blipFill>
          </p:spPr>
          <p:txBody>
            <a:bodyPr/>
            <a:lstStyle/>
            <a:p>
              <a:endParaRPr lang="en-US"/>
            </a:p>
          </p:txBody>
        </p:sp>
        <p:sp>
          <p:nvSpPr>
            <p:cNvPr id="20" name="TextBox 20"/>
            <p:cNvSpPr txBox="1"/>
            <p:nvPr/>
          </p:nvSpPr>
          <p:spPr>
            <a:xfrm>
              <a:off x="0" y="-76200"/>
              <a:ext cx="9692640" cy="1630680"/>
            </a:xfrm>
            <a:prstGeom prst="rect">
              <a:avLst/>
            </a:prstGeom>
          </p:spPr>
          <p:txBody>
            <a:bodyPr lIns="0" tIns="0" rIns="0" bIns="0" rtlCol="0" anchor="ctr"/>
            <a:lstStyle/>
            <a:p>
              <a:pPr algn="l">
                <a:lnSpc>
                  <a:spcPts val="2475"/>
                </a:lnSpc>
              </a:pPr>
              <a:r>
                <a:rPr lang="en-US" sz="1650">
                  <a:solidFill>
                    <a:srgbClr val="5B6B72"/>
                  </a:solidFill>
                  <a:latin typeface="Calibri (MS)"/>
                  <a:ea typeface="Calibri (MS)"/>
                  <a:cs typeface="Calibri (MS)"/>
                  <a:sym typeface="Calibri (MS)"/>
                </a:rPr>
                <a:t>Reads three simulation CSVs (Wind, Solar, Weather) in parallel threads and streams each row to its Kafka topic with a live UTC timestamp.</a:t>
              </a:r>
            </a:p>
          </p:txBody>
        </p:sp>
      </p:grpSp>
      <p:grpSp>
        <p:nvGrpSpPr>
          <p:cNvPr id="21" name="Group 21"/>
          <p:cNvGrpSpPr/>
          <p:nvPr/>
        </p:nvGrpSpPr>
        <p:grpSpPr>
          <a:xfrm>
            <a:off x="1303020" y="5431536"/>
            <a:ext cx="123444" cy="123444"/>
            <a:chOff x="0" y="0"/>
            <a:chExt cx="164592" cy="164592"/>
          </a:xfrm>
        </p:grpSpPr>
        <p:sp>
          <p:nvSpPr>
            <p:cNvPr id="22" name="Freeform 22"/>
            <p:cNvSpPr/>
            <p:nvPr/>
          </p:nvSpPr>
          <p:spPr>
            <a:xfrm>
              <a:off x="0" y="0"/>
              <a:ext cx="164592" cy="164592"/>
            </a:xfrm>
            <a:custGeom>
              <a:avLst/>
              <a:gdLst/>
              <a:ahLst/>
              <a:cxnLst/>
              <a:rect l="l" t="t" r="r" b="b"/>
              <a:pathLst>
                <a:path w="164592" h="164592">
                  <a:moveTo>
                    <a:pt x="0" y="82296"/>
                  </a:moveTo>
                  <a:cubicBezTo>
                    <a:pt x="0" y="36830"/>
                    <a:pt x="36830" y="0"/>
                    <a:pt x="82296" y="0"/>
                  </a:cubicBezTo>
                  <a:cubicBezTo>
                    <a:pt x="127762" y="0"/>
                    <a:pt x="164592" y="36830"/>
                    <a:pt x="164592" y="82296"/>
                  </a:cubicBezTo>
                  <a:cubicBezTo>
                    <a:pt x="164592" y="127762"/>
                    <a:pt x="127762" y="164592"/>
                    <a:pt x="82296" y="164592"/>
                  </a:cubicBezTo>
                  <a:cubicBezTo>
                    <a:pt x="36830" y="164592"/>
                    <a:pt x="0" y="127762"/>
                    <a:pt x="0" y="82296"/>
                  </a:cubicBezTo>
                  <a:close/>
                </a:path>
              </a:pathLst>
            </a:custGeom>
            <a:solidFill>
              <a:srgbClr val="40916C"/>
            </a:solidFill>
          </p:spPr>
          <p:txBody>
            <a:bodyPr/>
            <a:lstStyle/>
            <a:p>
              <a:endParaRPr lang="en-US"/>
            </a:p>
          </p:txBody>
        </p:sp>
      </p:grpSp>
      <p:sp>
        <p:nvSpPr>
          <p:cNvPr id="23" name="TextBox 23"/>
          <p:cNvSpPr txBox="1"/>
          <p:nvPr/>
        </p:nvSpPr>
        <p:spPr>
          <a:xfrm>
            <a:off x="1737360" y="5266182"/>
            <a:ext cx="6675120" cy="503682"/>
          </a:xfrm>
          <a:prstGeom prst="rect">
            <a:avLst/>
          </a:prstGeom>
        </p:spPr>
        <p:txBody>
          <a:bodyPr lIns="0" tIns="0" rIns="0" bIns="0" rtlCol="0" anchor="t">
            <a:spAutoFit/>
          </a:bodyPr>
          <a:lstStyle/>
          <a:p>
            <a:pPr algn="l">
              <a:lnSpc>
                <a:spcPts val="1889"/>
              </a:lnSpc>
            </a:pPr>
            <a:r>
              <a:rPr lang="en-US" sz="1575">
                <a:solidFill>
                  <a:srgbClr val="0D1B2A"/>
                </a:solidFill>
                <a:latin typeface="Calibri (MS)"/>
                <a:ea typeface="Calibri (MS)"/>
                <a:cs typeface="Calibri (MS)"/>
                <a:sym typeface="Calibri (MS)"/>
              </a:rPr>
              <a:t>start_multi_sender() launches 3 daemon threads — one per telemetry stream — and joins them</a:t>
            </a:r>
          </a:p>
        </p:txBody>
      </p:sp>
      <p:grpSp>
        <p:nvGrpSpPr>
          <p:cNvPr id="24" name="Group 24"/>
          <p:cNvGrpSpPr/>
          <p:nvPr/>
        </p:nvGrpSpPr>
        <p:grpSpPr>
          <a:xfrm>
            <a:off x="1303020" y="6117336"/>
            <a:ext cx="123444" cy="123444"/>
            <a:chOff x="0" y="0"/>
            <a:chExt cx="164592" cy="164592"/>
          </a:xfrm>
        </p:grpSpPr>
        <p:sp>
          <p:nvSpPr>
            <p:cNvPr id="25" name="Freeform 25"/>
            <p:cNvSpPr/>
            <p:nvPr/>
          </p:nvSpPr>
          <p:spPr>
            <a:xfrm>
              <a:off x="0" y="0"/>
              <a:ext cx="164592" cy="164592"/>
            </a:xfrm>
            <a:custGeom>
              <a:avLst/>
              <a:gdLst/>
              <a:ahLst/>
              <a:cxnLst/>
              <a:rect l="l" t="t" r="r" b="b"/>
              <a:pathLst>
                <a:path w="164592" h="164592">
                  <a:moveTo>
                    <a:pt x="0" y="82296"/>
                  </a:moveTo>
                  <a:cubicBezTo>
                    <a:pt x="0" y="36830"/>
                    <a:pt x="36830" y="0"/>
                    <a:pt x="82296" y="0"/>
                  </a:cubicBezTo>
                  <a:cubicBezTo>
                    <a:pt x="127762" y="0"/>
                    <a:pt x="164592" y="36830"/>
                    <a:pt x="164592" y="82296"/>
                  </a:cubicBezTo>
                  <a:cubicBezTo>
                    <a:pt x="164592" y="127762"/>
                    <a:pt x="127762" y="164592"/>
                    <a:pt x="82296" y="164592"/>
                  </a:cubicBezTo>
                  <a:cubicBezTo>
                    <a:pt x="36830" y="164592"/>
                    <a:pt x="0" y="127762"/>
                    <a:pt x="0" y="82296"/>
                  </a:cubicBezTo>
                  <a:close/>
                </a:path>
              </a:pathLst>
            </a:custGeom>
            <a:solidFill>
              <a:srgbClr val="40916C"/>
            </a:solidFill>
          </p:spPr>
          <p:txBody>
            <a:bodyPr/>
            <a:lstStyle/>
            <a:p>
              <a:endParaRPr lang="en-US"/>
            </a:p>
          </p:txBody>
        </p:sp>
      </p:grpSp>
      <p:sp>
        <p:nvSpPr>
          <p:cNvPr id="26" name="TextBox 26"/>
          <p:cNvSpPr txBox="1"/>
          <p:nvPr/>
        </p:nvSpPr>
        <p:spPr>
          <a:xfrm>
            <a:off x="1737360" y="5951982"/>
            <a:ext cx="6675120" cy="503682"/>
          </a:xfrm>
          <a:prstGeom prst="rect">
            <a:avLst/>
          </a:prstGeom>
        </p:spPr>
        <p:txBody>
          <a:bodyPr lIns="0" tIns="0" rIns="0" bIns="0" rtlCol="0" anchor="t">
            <a:spAutoFit/>
          </a:bodyPr>
          <a:lstStyle/>
          <a:p>
            <a:pPr algn="l">
              <a:lnSpc>
                <a:spcPts val="1889"/>
              </a:lnSpc>
            </a:pPr>
            <a:r>
              <a:rPr lang="en-US" sz="1575">
                <a:solidFill>
                  <a:srgbClr val="0D1B2A"/>
                </a:solidFill>
                <a:latin typeface="Calibri (MS)"/>
                <a:ea typeface="Calibri (MS)"/>
                <a:cs typeface="Calibri (MS)"/>
                <a:sym typeface="Calibri (MS)"/>
              </a:rPr>
              <a:t>stream_data() injects a live ts field and produces JSON keyed for partitioning</a:t>
            </a:r>
          </a:p>
        </p:txBody>
      </p:sp>
      <p:grpSp>
        <p:nvGrpSpPr>
          <p:cNvPr id="27" name="Group 27"/>
          <p:cNvGrpSpPr/>
          <p:nvPr/>
        </p:nvGrpSpPr>
        <p:grpSpPr>
          <a:xfrm>
            <a:off x="1303020" y="6803136"/>
            <a:ext cx="123444" cy="123444"/>
            <a:chOff x="0" y="0"/>
            <a:chExt cx="164592" cy="164592"/>
          </a:xfrm>
        </p:grpSpPr>
        <p:sp>
          <p:nvSpPr>
            <p:cNvPr id="28" name="Freeform 28"/>
            <p:cNvSpPr/>
            <p:nvPr/>
          </p:nvSpPr>
          <p:spPr>
            <a:xfrm>
              <a:off x="0" y="0"/>
              <a:ext cx="164592" cy="164592"/>
            </a:xfrm>
            <a:custGeom>
              <a:avLst/>
              <a:gdLst/>
              <a:ahLst/>
              <a:cxnLst/>
              <a:rect l="l" t="t" r="r" b="b"/>
              <a:pathLst>
                <a:path w="164592" h="164592">
                  <a:moveTo>
                    <a:pt x="0" y="82296"/>
                  </a:moveTo>
                  <a:cubicBezTo>
                    <a:pt x="0" y="36830"/>
                    <a:pt x="36830" y="0"/>
                    <a:pt x="82296" y="0"/>
                  </a:cubicBezTo>
                  <a:cubicBezTo>
                    <a:pt x="127762" y="0"/>
                    <a:pt x="164592" y="36830"/>
                    <a:pt x="164592" y="82296"/>
                  </a:cubicBezTo>
                  <a:cubicBezTo>
                    <a:pt x="164592" y="127762"/>
                    <a:pt x="127762" y="164592"/>
                    <a:pt x="82296" y="164592"/>
                  </a:cubicBezTo>
                  <a:cubicBezTo>
                    <a:pt x="36830" y="164592"/>
                    <a:pt x="0" y="127762"/>
                    <a:pt x="0" y="82296"/>
                  </a:cubicBezTo>
                  <a:close/>
                </a:path>
              </a:pathLst>
            </a:custGeom>
            <a:solidFill>
              <a:srgbClr val="40916C"/>
            </a:solidFill>
          </p:spPr>
          <p:txBody>
            <a:bodyPr/>
            <a:lstStyle/>
            <a:p>
              <a:endParaRPr lang="en-US"/>
            </a:p>
          </p:txBody>
        </p:sp>
      </p:grpSp>
      <p:sp>
        <p:nvSpPr>
          <p:cNvPr id="29" name="TextBox 29"/>
          <p:cNvSpPr txBox="1"/>
          <p:nvPr/>
        </p:nvSpPr>
        <p:spPr>
          <a:xfrm>
            <a:off x="1737360" y="6637782"/>
            <a:ext cx="6675120" cy="503682"/>
          </a:xfrm>
          <a:prstGeom prst="rect">
            <a:avLst/>
          </a:prstGeom>
        </p:spPr>
        <p:txBody>
          <a:bodyPr lIns="0" tIns="0" rIns="0" bIns="0" rtlCol="0" anchor="t">
            <a:spAutoFit/>
          </a:bodyPr>
          <a:lstStyle/>
          <a:p>
            <a:pPr algn="l">
              <a:lnSpc>
                <a:spcPts val="1889"/>
              </a:lnSpc>
            </a:pPr>
            <a:r>
              <a:rPr lang="en-US" sz="1575">
                <a:solidFill>
                  <a:srgbClr val="0D1B2A"/>
                </a:solidFill>
                <a:latin typeface="Calibri (MS)"/>
                <a:ea typeface="Calibri (MS)"/>
                <a:cs typeface="Calibri (MS)"/>
                <a:sym typeface="Calibri (MS)"/>
              </a:rPr>
              <a:t>SIMULATION_SPEED controls emission cadence between rows</a:t>
            </a:r>
          </a:p>
        </p:txBody>
      </p:sp>
      <p:grpSp>
        <p:nvGrpSpPr>
          <p:cNvPr id="30" name="Group 30"/>
          <p:cNvGrpSpPr/>
          <p:nvPr/>
        </p:nvGrpSpPr>
        <p:grpSpPr>
          <a:xfrm>
            <a:off x="1303020" y="7488936"/>
            <a:ext cx="123444" cy="123444"/>
            <a:chOff x="0" y="0"/>
            <a:chExt cx="164592" cy="164592"/>
          </a:xfrm>
        </p:grpSpPr>
        <p:sp>
          <p:nvSpPr>
            <p:cNvPr id="31" name="Freeform 31"/>
            <p:cNvSpPr/>
            <p:nvPr/>
          </p:nvSpPr>
          <p:spPr>
            <a:xfrm>
              <a:off x="0" y="0"/>
              <a:ext cx="164592" cy="164592"/>
            </a:xfrm>
            <a:custGeom>
              <a:avLst/>
              <a:gdLst/>
              <a:ahLst/>
              <a:cxnLst/>
              <a:rect l="l" t="t" r="r" b="b"/>
              <a:pathLst>
                <a:path w="164592" h="164592">
                  <a:moveTo>
                    <a:pt x="0" y="82296"/>
                  </a:moveTo>
                  <a:cubicBezTo>
                    <a:pt x="0" y="36830"/>
                    <a:pt x="36830" y="0"/>
                    <a:pt x="82296" y="0"/>
                  </a:cubicBezTo>
                  <a:cubicBezTo>
                    <a:pt x="127762" y="0"/>
                    <a:pt x="164592" y="36830"/>
                    <a:pt x="164592" y="82296"/>
                  </a:cubicBezTo>
                  <a:cubicBezTo>
                    <a:pt x="164592" y="127762"/>
                    <a:pt x="127762" y="164592"/>
                    <a:pt x="82296" y="164592"/>
                  </a:cubicBezTo>
                  <a:cubicBezTo>
                    <a:pt x="36830" y="164592"/>
                    <a:pt x="0" y="127762"/>
                    <a:pt x="0" y="82296"/>
                  </a:cubicBezTo>
                  <a:close/>
                </a:path>
              </a:pathLst>
            </a:custGeom>
            <a:solidFill>
              <a:srgbClr val="40916C"/>
            </a:solidFill>
          </p:spPr>
          <p:txBody>
            <a:bodyPr/>
            <a:lstStyle/>
            <a:p>
              <a:endParaRPr lang="en-US"/>
            </a:p>
          </p:txBody>
        </p:sp>
      </p:grpSp>
      <p:sp>
        <p:nvSpPr>
          <p:cNvPr id="32" name="TextBox 32"/>
          <p:cNvSpPr txBox="1"/>
          <p:nvPr/>
        </p:nvSpPr>
        <p:spPr>
          <a:xfrm>
            <a:off x="1737360" y="7323582"/>
            <a:ext cx="6675120" cy="503682"/>
          </a:xfrm>
          <a:prstGeom prst="rect">
            <a:avLst/>
          </a:prstGeom>
        </p:spPr>
        <p:txBody>
          <a:bodyPr lIns="0" tIns="0" rIns="0" bIns="0" rtlCol="0" anchor="t">
            <a:spAutoFit/>
          </a:bodyPr>
          <a:lstStyle/>
          <a:p>
            <a:pPr algn="l">
              <a:lnSpc>
                <a:spcPts val="1889"/>
              </a:lnSpc>
            </a:pPr>
            <a:r>
              <a:rPr lang="en-US" sz="1575">
                <a:solidFill>
                  <a:srgbClr val="0D1B2A"/>
                </a:solidFill>
                <a:latin typeface="Calibri (MS)"/>
                <a:ea typeface="Calibri (MS)"/>
                <a:cs typeface="Calibri (MS)"/>
                <a:sym typeface="Calibri (MS)"/>
              </a:rPr>
              <a:t>delivery_report() logs Kafka delivery failures</a:t>
            </a:r>
          </a:p>
        </p:txBody>
      </p:sp>
      <p:grpSp>
        <p:nvGrpSpPr>
          <p:cNvPr id="33" name="Group 33"/>
          <p:cNvGrpSpPr/>
          <p:nvPr/>
        </p:nvGrpSpPr>
        <p:grpSpPr>
          <a:xfrm>
            <a:off x="9317355" y="2253615"/>
            <a:ext cx="8111490" cy="7082790"/>
            <a:chOff x="0" y="0"/>
            <a:chExt cx="10815320" cy="9443720"/>
          </a:xfrm>
        </p:grpSpPr>
        <p:sp>
          <p:nvSpPr>
            <p:cNvPr id="34" name="Freeform 34"/>
            <p:cNvSpPr/>
            <p:nvPr/>
          </p:nvSpPr>
          <p:spPr>
            <a:xfrm>
              <a:off x="0" y="0"/>
              <a:ext cx="10815320" cy="9443720"/>
            </a:xfrm>
            <a:custGeom>
              <a:avLst/>
              <a:gdLst/>
              <a:ahLst/>
              <a:cxnLst/>
              <a:rect l="l" t="t" r="r" b="b"/>
              <a:pathLst>
                <a:path w="10815320" h="9443720">
                  <a:moveTo>
                    <a:pt x="0" y="183388"/>
                  </a:moveTo>
                  <a:cubicBezTo>
                    <a:pt x="0" y="82169"/>
                    <a:pt x="82169" y="0"/>
                    <a:pt x="183388" y="0"/>
                  </a:cubicBezTo>
                  <a:lnTo>
                    <a:pt x="10631932" y="0"/>
                  </a:lnTo>
                  <a:cubicBezTo>
                    <a:pt x="10733277" y="0"/>
                    <a:pt x="10815320" y="82169"/>
                    <a:pt x="10815320" y="183388"/>
                  </a:cubicBezTo>
                  <a:lnTo>
                    <a:pt x="10815320" y="9260332"/>
                  </a:lnTo>
                  <a:cubicBezTo>
                    <a:pt x="10815320" y="9361677"/>
                    <a:pt x="10733150" y="9443720"/>
                    <a:pt x="10631932" y="9443720"/>
                  </a:cubicBezTo>
                  <a:lnTo>
                    <a:pt x="183388" y="9443720"/>
                  </a:lnTo>
                  <a:cubicBezTo>
                    <a:pt x="82169" y="9443720"/>
                    <a:pt x="0" y="9361551"/>
                    <a:pt x="0" y="9260332"/>
                  </a:cubicBezTo>
                  <a:close/>
                </a:path>
              </a:pathLst>
            </a:custGeom>
            <a:solidFill>
              <a:srgbClr val="FFFFFF"/>
            </a:solidFill>
            <a:ln w="19050" cap="sq">
              <a:solidFill>
                <a:srgbClr val="DCE7E0"/>
              </a:solidFill>
              <a:prstDash val="solid"/>
              <a:miter/>
            </a:ln>
          </p:spPr>
          <p:txBody>
            <a:bodyPr/>
            <a:lstStyle/>
            <a:p>
              <a:endParaRPr lang="en-US"/>
            </a:p>
          </p:txBody>
        </p:sp>
      </p:grpSp>
      <p:grpSp>
        <p:nvGrpSpPr>
          <p:cNvPr id="35" name="Group 35"/>
          <p:cNvGrpSpPr/>
          <p:nvPr/>
        </p:nvGrpSpPr>
        <p:grpSpPr>
          <a:xfrm>
            <a:off x="9738360" y="2674620"/>
            <a:ext cx="4663440" cy="548640"/>
            <a:chOff x="0" y="0"/>
            <a:chExt cx="6217920" cy="731520"/>
          </a:xfrm>
        </p:grpSpPr>
        <p:sp>
          <p:nvSpPr>
            <p:cNvPr id="36" name="Freeform 36"/>
            <p:cNvSpPr/>
            <p:nvPr/>
          </p:nvSpPr>
          <p:spPr>
            <a:xfrm>
              <a:off x="0" y="0"/>
              <a:ext cx="6217920" cy="731520"/>
            </a:xfrm>
            <a:custGeom>
              <a:avLst/>
              <a:gdLst/>
              <a:ahLst/>
              <a:cxnLst/>
              <a:rect l="l" t="t" r="r" b="b"/>
              <a:pathLst>
                <a:path w="6217920" h="731520">
                  <a:moveTo>
                    <a:pt x="0" y="365760"/>
                  </a:moveTo>
                  <a:cubicBezTo>
                    <a:pt x="0" y="163703"/>
                    <a:pt x="163703" y="0"/>
                    <a:pt x="365760" y="0"/>
                  </a:cubicBezTo>
                  <a:lnTo>
                    <a:pt x="5852160" y="0"/>
                  </a:lnTo>
                  <a:cubicBezTo>
                    <a:pt x="6054217" y="0"/>
                    <a:pt x="6217920" y="163703"/>
                    <a:pt x="6217920" y="365760"/>
                  </a:cubicBezTo>
                  <a:cubicBezTo>
                    <a:pt x="6217920" y="567817"/>
                    <a:pt x="6054217" y="731520"/>
                    <a:pt x="5852160" y="731520"/>
                  </a:cubicBezTo>
                  <a:lnTo>
                    <a:pt x="365760" y="731520"/>
                  </a:lnTo>
                  <a:cubicBezTo>
                    <a:pt x="163703" y="731520"/>
                    <a:pt x="0" y="567817"/>
                    <a:pt x="0" y="365760"/>
                  </a:cubicBezTo>
                  <a:close/>
                </a:path>
              </a:pathLst>
            </a:custGeom>
            <a:solidFill>
              <a:srgbClr val="FFB703"/>
            </a:solidFill>
          </p:spPr>
          <p:txBody>
            <a:bodyPr/>
            <a:lstStyle/>
            <a:p>
              <a:endParaRPr lang="en-US"/>
            </a:p>
          </p:txBody>
        </p:sp>
      </p:grpSp>
      <p:grpSp>
        <p:nvGrpSpPr>
          <p:cNvPr id="37" name="Group 37"/>
          <p:cNvGrpSpPr/>
          <p:nvPr/>
        </p:nvGrpSpPr>
        <p:grpSpPr>
          <a:xfrm>
            <a:off x="9738360" y="2674620"/>
            <a:ext cx="4663440" cy="548640"/>
            <a:chOff x="0" y="0"/>
            <a:chExt cx="6217920" cy="731520"/>
          </a:xfrm>
        </p:grpSpPr>
        <p:sp>
          <p:nvSpPr>
            <p:cNvPr id="38" name="Freeform 38"/>
            <p:cNvSpPr/>
            <p:nvPr/>
          </p:nvSpPr>
          <p:spPr>
            <a:xfrm>
              <a:off x="0" y="0"/>
              <a:ext cx="6217920" cy="731520"/>
            </a:xfrm>
            <a:custGeom>
              <a:avLst/>
              <a:gdLst/>
              <a:ahLst/>
              <a:cxnLst/>
              <a:rect l="l" t="t" r="r" b="b"/>
              <a:pathLst>
                <a:path w="6217920" h="731520">
                  <a:moveTo>
                    <a:pt x="0" y="0"/>
                  </a:moveTo>
                  <a:lnTo>
                    <a:pt x="6217920" y="0"/>
                  </a:lnTo>
                  <a:lnTo>
                    <a:pt x="6217920" y="731520"/>
                  </a:lnTo>
                  <a:lnTo>
                    <a:pt x="0" y="731520"/>
                  </a:lnTo>
                  <a:close/>
                </a:path>
              </a:pathLst>
            </a:custGeom>
            <a:blipFill>
              <a:blip r:embed="rId3">
                <a:alphaModFix amt="0"/>
              </a:blip>
              <a:stretch>
                <a:fillRect t="-115622" b="-115622"/>
              </a:stretch>
            </a:blipFill>
          </p:spPr>
          <p:txBody>
            <a:bodyPr/>
            <a:lstStyle/>
            <a:p>
              <a:endParaRPr lang="en-US"/>
            </a:p>
          </p:txBody>
        </p:sp>
        <p:sp>
          <p:nvSpPr>
            <p:cNvPr id="39" name="TextBox 39"/>
            <p:cNvSpPr txBox="1"/>
            <p:nvPr/>
          </p:nvSpPr>
          <p:spPr>
            <a:xfrm>
              <a:off x="0" y="-38100"/>
              <a:ext cx="6217920" cy="769620"/>
            </a:xfrm>
            <a:prstGeom prst="rect">
              <a:avLst/>
            </a:prstGeom>
          </p:spPr>
          <p:txBody>
            <a:bodyPr lIns="0" tIns="0" rIns="0" bIns="0" rtlCol="0" anchor="ctr"/>
            <a:lstStyle/>
            <a:p>
              <a:pPr algn="ctr">
                <a:lnSpc>
                  <a:spcPts val="2160"/>
                </a:lnSpc>
              </a:pPr>
              <a:r>
                <a:rPr lang="en-US" sz="1800" b="1">
                  <a:solidFill>
                    <a:srgbClr val="0D1B2A"/>
                  </a:solidFill>
                  <a:latin typeface="Calibri (MS) Bold"/>
                  <a:ea typeface="Calibri (MS) Bold"/>
                  <a:cs typeface="Calibri (MS) Bold"/>
                  <a:sym typeface="Calibri (MS) Bold"/>
                </a:rPr>
                <a:t>simulation.py</a:t>
              </a:r>
            </a:p>
          </p:txBody>
        </p:sp>
      </p:grpSp>
      <p:grpSp>
        <p:nvGrpSpPr>
          <p:cNvPr id="40" name="Group 40"/>
          <p:cNvGrpSpPr/>
          <p:nvPr/>
        </p:nvGrpSpPr>
        <p:grpSpPr>
          <a:xfrm>
            <a:off x="9738360" y="3429000"/>
            <a:ext cx="7269480" cy="548640"/>
            <a:chOff x="0" y="0"/>
            <a:chExt cx="9692640" cy="731520"/>
          </a:xfrm>
        </p:grpSpPr>
        <p:sp>
          <p:nvSpPr>
            <p:cNvPr id="41" name="Freeform 41"/>
            <p:cNvSpPr/>
            <p:nvPr/>
          </p:nvSpPr>
          <p:spPr>
            <a:xfrm>
              <a:off x="0" y="0"/>
              <a:ext cx="9692640" cy="731520"/>
            </a:xfrm>
            <a:custGeom>
              <a:avLst/>
              <a:gdLst/>
              <a:ahLst/>
              <a:cxnLst/>
              <a:rect l="l" t="t" r="r" b="b"/>
              <a:pathLst>
                <a:path w="9692640" h="731520">
                  <a:moveTo>
                    <a:pt x="0" y="0"/>
                  </a:moveTo>
                  <a:lnTo>
                    <a:pt x="9692640" y="0"/>
                  </a:lnTo>
                  <a:lnTo>
                    <a:pt x="9692640" y="731520"/>
                  </a:lnTo>
                  <a:lnTo>
                    <a:pt x="0" y="731520"/>
                  </a:lnTo>
                  <a:close/>
                </a:path>
              </a:pathLst>
            </a:custGeom>
            <a:blipFill>
              <a:blip r:embed="rId3">
                <a:alphaModFix amt="0"/>
              </a:blip>
              <a:stretch>
                <a:fillRect t="-208176" b="-208176"/>
              </a:stretch>
            </a:blipFill>
          </p:spPr>
          <p:txBody>
            <a:bodyPr/>
            <a:lstStyle/>
            <a:p>
              <a:endParaRPr lang="en-US"/>
            </a:p>
          </p:txBody>
        </p:sp>
        <p:sp>
          <p:nvSpPr>
            <p:cNvPr id="42" name="TextBox 42"/>
            <p:cNvSpPr txBox="1"/>
            <p:nvPr/>
          </p:nvSpPr>
          <p:spPr>
            <a:xfrm>
              <a:off x="0" y="-9525"/>
              <a:ext cx="9692640" cy="741045"/>
            </a:xfrm>
            <a:prstGeom prst="rect">
              <a:avLst/>
            </a:prstGeom>
          </p:spPr>
          <p:txBody>
            <a:bodyPr lIns="0" tIns="0" rIns="0" bIns="0" rtlCol="0" anchor="ctr"/>
            <a:lstStyle/>
            <a:p>
              <a:pPr algn="l">
                <a:lnSpc>
                  <a:spcPts val="3060"/>
                </a:lnSpc>
              </a:pPr>
              <a:r>
                <a:rPr lang="en-US" sz="2550" b="1">
                  <a:solidFill>
                    <a:srgbClr val="0D1B2A"/>
                  </a:solidFill>
                  <a:latin typeface="Cambria Bold"/>
                  <a:ea typeface="Cambria Bold"/>
                  <a:cs typeface="Cambria Bold"/>
                  <a:sym typeface="Cambria Bold"/>
                </a:rPr>
                <a:t>Direct-to-DB Fallback Generator</a:t>
              </a:r>
            </a:p>
          </p:txBody>
        </p:sp>
      </p:grpSp>
      <p:grpSp>
        <p:nvGrpSpPr>
          <p:cNvPr id="43" name="Group 43"/>
          <p:cNvGrpSpPr/>
          <p:nvPr/>
        </p:nvGrpSpPr>
        <p:grpSpPr>
          <a:xfrm>
            <a:off x="9738360" y="4005072"/>
            <a:ext cx="7269480" cy="1165860"/>
            <a:chOff x="0" y="0"/>
            <a:chExt cx="9692640" cy="1554480"/>
          </a:xfrm>
        </p:grpSpPr>
        <p:sp>
          <p:nvSpPr>
            <p:cNvPr id="44" name="Freeform 44"/>
            <p:cNvSpPr/>
            <p:nvPr/>
          </p:nvSpPr>
          <p:spPr>
            <a:xfrm>
              <a:off x="0" y="0"/>
              <a:ext cx="9692640" cy="1554480"/>
            </a:xfrm>
            <a:custGeom>
              <a:avLst/>
              <a:gdLst/>
              <a:ahLst/>
              <a:cxnLst/>
              <a:rect l="l" t="t" r="r" b="b"/>
              <a:pathLst>
                <a:path w="9692640" h="1554480">
                  <a:moveTo>
                    <a:pt x="0" y="0"/>
                  </a:moveTo>
                  <a:lnTo>
                    <a:pt x="9692640" y="0"/>
                  </a:lnTo>
                  <a:lnTo>
                    <a:pt x="9692640" y="1554480"/>
                  </a:lnTo>
                  <a:lnTo>
                    <a:pt x="0" y="1554480"/>
                  </a:lnTo>
                  <a:close/>
                </a:path>
              </a:pathLst>
            </a:custGeom>
            <a:blipFill>
              <a:blip r:embed="rId3">
                <a:alphaModFix amt="0"/>
              </a:blip>
              <a:stretch>
                <a:fillRect t="-71494" b="-71494"/>
              </a:stretch>
            </a:blipFill>
          </p:spPr>
          <p:txBody>
            <a:bodyPr/>
            <a:lstStyle/>
            <a:p>
              <a:endParaRPr lang="en-US"/>
            </a:p>
          </p:txBody>
        </p:sp>
        <p:sp>
          <p:nvSpPr>
            <p:cNvPr id="45" name="TextBox 45"/>
            <p:cNvSpPr txBox="1"/>
            <p:nvPr/>
          </p:nvSpPr>
          <p:spPr>
            <a:xfrm>
              <a:off x="0" y="-76200"/>
              <a:ext cx="9692640" cy="1630680"/>
            </a:xfrm>
            <a:prstGeom prst="rect">
              <a:avLst/>
            </a:prstGeom>
          </p:spPr>
          <p:txBody>
            <a:bodyPr lIns="0" tIns="0" rIns="0" bIns="0" rtlCol="0" anchor="ctr"/>
            <a:lstStyle/>
            <a:p>
              <a:pPr algn="l">
                <a:lnSpc>
                  <a:spcPts val="2475"/>
                </a:lnSpc>
              </a:pPr>
              <a:r>
                <a:rPr lang="en-US" sz="1650">
                  <a:solidFill>
                    <a:srgbClr val="5B6B72"/>
                  </a:solidFill>
                  <a:latin typeface="Calibri (MS)"/>
                  <a:ea typeface="Calibri (MS)"/>
                  <a:cs typeface="Calibri (MS)"/>
                  <a:sym typeface="Calibri (MS)"/>
                </a:rPr>
                <a:t>A standalone simulator that bypasses Kafka entirely and writes synthetic telemetry directly into TimescaleDB every 10 seconds — ideal for quick local testing.</a:t>
              </a:r>
            </a:p>
          </p:txBody>
        </p:sp>
      </p:grpSp>
      <p:grpSp>
        <p:nvGrpSpPr>
          <p:cNvPr id="46" name="Group 46"/>
          <p:cNvGrpSpPr/>
          <p:nvPr/>
        </p:nvGrpSpPr>
        <p:grpSpPr>
          <a:xfrm>
            <a:off x="9806940" y="5431536"/>
            <a:ext cx="123444" cy="123444"/>
            <a:chOff x="0" y="0"/>
            <a:chExt cx="164592" cy="164592"/>
          </a:xfrm>
        </p:grpSpPr>
        <p:sp>
          <p:nvSpPr>
            <p:cNvPr id="47" name="Freeform 47"/>
            <p:cNvSpPr/>
            <p:nvPr/>
          </p:nvSpPr>
          <p:spPr>
            <a:xfrm>
              <a:off x="0" y="0"/>
              <a:ext cx="164592" cy="164592"/>
            </a:xfrm>
            <a:custGeom>
              <a:avLst/>
              <a:gdLst/>
              <a:ahLst/>
              <a:cxnLst/>
              <a:rect l="l" t="t" r="r" b="b"/>
              <a:pathLst>
                <a:path w="164592" h="164592">
                  <a:moveTo>
                    <a:pt x="0" y="82296"/>
                  </a:moveTo>
                  <a:cubicBezTo>
                    <a:pt x="0" y="36830"/>
                    <a:pt x="36830" y="0"/>
                    <a:pt x="82296" y="0"/>
                  </a:cubicBezTo>
                  <a:cubicBezTo>
                    <a:pt x="127762" y="0"/>
                    <a:pt x="164592" y="36830"/>
                    <a:pt x="164592" y="82296"/>
                  </a:cubicBezTo>
                  <a:cubicBezTo>
                    <a:pt x="164592" y="127762"/>
                    <a:pt x="127762" y="164592"/>
                    <a:pt x="82296" y="164592"/>
                  </a:cubicBezTo>
                  <a:cubicBezTo>
                    <a:pt x="36830" y="164592"/>
                    <a:pt x="0" y="127762"/>
                    <a:pt x="0" y="82296"/>
                  </a:cubicBezTo>
                  <a:close/>
                </a:path>
              </a:pathLst>
            </a:custGeom>
            <a:solidFill>
              <a:srgbClr val="FFB703"/>
            </a:solidFill>
          </p:spPr>
          <p:txBody>
            <a:bodyPr/>
            <a:lstStyle/>
            <a:p>
              <a:endParaRPr lang="en-US"/>
            </a:p>
          </p:txBody>
        </p:sp>
      </p:grpSp>
      <p:sp>
        <p:nvSpPr>
          <p:cNvPr id="48" name="TextBox 48"/>
          <p:cNvSpPr txBox="1"/>
          <p:nvPr/>
        </p:nvSpPr>
        <p:spPr>
          <a:xfrm>
            <a:off x="10241280" y="5266182"/>
            <a:ext cx="6880860" cy="503682"/>
          </a:xfrm>
          <a:prstGeom prst="rect">
            <a:avLst/>
          </a:prstGeom>
        </p:spPr>
        <p:txBody>
          <a:bodyPr lIns="0" tIns="0" rIns="0" bIns="0" rtlCol="0" anchor="t">
            <a:spAutoFit/>
          </a:bodyPr>
          <a:lstStyle/>
          <a:p>
            <a:pPr algn="l">
              <a:lnSpc>
                <a:spcPts val="1889"/>
              </a:lnSpc>
            </a:pPr>
            <a:r>
              <a:rPr lang="en-US" sz="1575">
                <a:solidFill>
                  <a:srgbClr val="0D1B2A"/>
                </a:solidFill>
                <a:latin typeface="Calibri (MS)"/>
                <a:ea typeface="Calibri (MS)"/>
                <a:cs typeface="Calibri (MS)"/>
                <a:sym typeface="Calibri (MS)"/>
              </a:rPr>
              <a:t>get_solar_irradiance(hour): bell-curve profile peaking at solar noon — zero outside 06:00–18:00</a:t>
            </a:r>
          </a:p>
        </p:txBody>
      </p:sp>
      <p:grpSp>
        <p:nvGrpSpPr>
          <p:cNvPr id="49" name="Group 49"/>
          <p:cNvGrpSpPr/>
          <p:nvPr/>
        </p:nvGrpSpPr>
        <p:grpSpPr>
          <a:xfrm>
            <a:off x="9806940" y="6117336"/>
            <a:ext cx="123444" cy="123444"/>
            <a:chOff x="0" y="0"/>
            <a:chExt cx="164592" cy="164592"/>
          </a:xfrm>
        </p:grpSpPr>
        <p:sp>
          <p:nvSpPr>
            <p:cNvPr id="50" name="Freeform 50"/>
            <p:cNvSpPr/>
            <p:nvPr/>
          </p:nvSpPr>
          <p:spPr>
            <a:xfrm>
              <a:off x="0" y="0"/>
              <a:ext cx="164592" cy="164592"/>
            </a:xfrm>
            <a:custGeom>
              <a:avLst/>
              <a:gdLst/>
              <a:ahLst/>
              <a:cxnLst/>
              <a:rect l="l" t="t" r="r" b="b"/>
              <a:pathLst>
                <a:path w="164592" h="164592">
                  <a:moveTo>
                    <a:pt x="0" y="82296"/>
                  </a:moveTo>
                  <a:cubicBezTo>
                    <a:pt x="0" y="36830"/>
                    <a:pt x="36830" y="0"/>
                    <a:pt x="82296" y="0"/>
                  </a:cubicBezTo>
                  <a:cubicBezTo>
                    <a:pt x="127762" y="0"/>
                    <a:pt x="164592" y="36830"/>
                    <a:pt x="164592" y="82296"/>
                  </a:cubicBezTo>
                  <a:cubicBezTo>
                    <a:pt x="164592" y="127762"/>
                    <a:pt x="127762" y="164592"/>
                    <a:pt x="82296" y="164592"/>
                  </a:cubicBezTo>
                  <a:cubicBezTo>
                    <a:pt x="36830" y="164592"/>
                    <a:pt x="0" y="127762"/>
                    <a:pt x="0" y="82296"/>
                  </a:cubicBezTo>
                  <a:close/>
                </a:path>
              </a:pathLst>
            </a:custGeom>
            <a:solidFill>
              <a:srgbClr val="FFB703"/>
            </a:solidFill>
          </p:spPr>
          <p:txBody>
            <a:bodyPr/>
            <a:lstStyle/>
            <a:p>
              <a:endParaRPr lang="en-US"/>
            </a:p>
          </p:txBody>
        </p:sp>
      </p:grpSp>
      <p:sp>
        <p:nvSpPr>
          <p:cNvPr id="51" name="TextBox 51"/>
          <p:cNvSpPr txBox="1"/>
          <p:nvPr/>
        </p:nvSpPr>
        <p:spPr>
          <a:xfrm>
            <a:off x="10241280" y="5951982"/>
            <a:ext cx="6880860" cy="503682"/>
          </a:xfrm>
          <a:prstGeom prst="rect">
            <a:avLst/>
          </a:prstGeom>
        </p:spPr>
        <p:txBody>
          <a:bodyPr lIns="0" tIns="0" rIns="0" bIns="0" rtlCol="0" anchor="t">
            <a:spAutoFit/>
          </a:bodyPr>
          <a:lstStyle/>
          <a:p>
            <a:pPr algn="l">
              <a:lnSpc>
                <a:spcPts val="1889"/>
              </a:lnSpc>
            </a:pPr>
            <a:r>
              <a:rPr lang="en-US" sz="1575">
                <a:solidFill>
                  <a:srgbClr val="0D1B2A"/>
                </a:solidFill>
                <a:latin typeface="Calibri (MS)"/>
                <a:ea typeface="Calibri (MS)"/>
                <a:cs typeface="Calibri (MS)"/>
                <a:sym typeface="Calibri (MS)"/>
              </a:rPr>
              <a:t>Formula: 1000 × sin((hour−6)×π/12) with ±50 W/m² noise</a:t>
            </a:r>
          </a:p>
        </p:txBody>
      </p:sp>
      <p:grpSp>
        <p:nvGrpSpPr>
          <p:cNvPr id="52" name="Group 52"/>
          <p:cNvGrpSpPr/>
          <p:nvPr/>
        </p:nvGrpSpPr>
        <p:grpSpPr>
          <a:xfrm>
            <a:off x="9806940" y="6803136"/>
            <a:ext cx="123444" cy="123444"/>
            <a:chOff x="0" y="0"/>
            <a:chExt cx="164592" cy="164592"/>
          </a:xfrm>
        </p:grpSpPr>
        <p:sp>
          <p:nvSpPr>
            <p:cNvPr id="53" name="Freeform 53"/>
            <p:cNvSpPr/>
            <p:nvPr/>
          </p:nvSpPr>
          <p:spPr>
            <a:xfrm>
              <a:off x="0" y="0"/>
              <a:ext cx="164592" cy="164592"/>
            </a:xfrm>
            <a:custGeom>
              <a:avLst/>
              <a:gdLst/>
              <a:ahLst/>
              <a:cxnLst/>
              <a:rect l="l" t="t" r="r" b="b"/>
              <a:pathLst>
                <a:path w="164592" h="164592">
                  <a:moveTo>
                    <a:pt x="0" y="82296"/>
                  </a:moveTo>
                  <a:cubicBezTo>
                    <a:pt x="0" y="36830"/>
                    <a:pt x="36830" y="0"/>
                    <a:pt x="82296" y="0"/>
                  </a:cubicBezTo>
                  <a:cubicBezTo>
                    <a:pt x="127762" y="0"/>
                    <a:pt x="164592" y="36830"/>
                    <a:pt x="164592" y="82296"/>
                  </a:cubicBezTo>
                  <a:cubicBezTo>
                    <a:pt x="164592" y="127762"/>
                    <a:pt x="127762" y="164592"/>
                    <a:pt x="82296" y="164592"/>
                  </a:cubicBezTo>
                  <a:cubicBezTo>
                    <a:pt x="36830" y="164592"/>
                    <a:pt x="0" y="127762"/>
                    <a:pt x="0" y="82296"/>
                  </a:cubicBezTo>
                  <a:close/>
                </a:path>
              </a:pathLst>
            </a:custGeom>
            <a:solidFill>
              <a:srgbClr val="FFB703"/>
            </a:solidFill>
          </p:spPr>
          <p:txBody>
            <a:bodyPr/>
            <a:lstStyle/>
            <a:p>
              <a:endParaRPr lang="en-US"/>
            </a:p>
          </p:txBody>
        </p:sp>
      </p:grpSp>
      <p:sp>
        <p:nvSpPr>
          <p:cNvPr id="54" name="TextBox 54"/>
          <p:cNvSpPr txBox="1"/>
          <p:nvPr/>
        </p:nvSpPr>
        <p:spPr>
          <a:xfrm>
            <a:off x="10241280" y="6637782"/>
            <a:ext cx="6880860" cy="503682"/>
          </a:xfrm>
          <a:prstGeom prst="rect">
            <a:avLst/>
          </a:prstGeom>
        </p:spPr>
        <p:txBody>
          <a:bodyPr lIns="0" tIns="0" rIns="0" bIns="0" rtlCol="0" anchor="t">
            <a:spAutoFit/>
          </a:bodyPr>
          <a:lstStyle/>
          <a:p>
            <a:pPr algn="l">
              <a:lnSpc>
                <a:spcPts val="1889"/>
              </a:lnSpc>
            </a:pPr>
            <a:r>
              <a:rPr lang="en-US" sz="1575">
                <a:solidFill>
                  <a:srgbClr val="0D1B2A"/>
                </a:solidFill>
                <a:latin typeface="Calibri (MS)"/>
                <a:ea typeface="Calibri (MS)"/>
                <a:cs typeface="Calibri (MS)"/>
                <a:sym typeface="Calibri (MS)"/>
              </a:rPr>
              <a:t>simulate_and_insert() writes one synchronized Wind + Solar + Weather snapshot per transaction</a:t>
            </a:r>
          </a:p>
        </p:txBody>
      </p:sp>
      <p:grpSp>
        <p:nvGrpSpPr>
          <p:cNvPr id="55" name="Group 55"/>
          <p:cNvGrpSpPr/>
          <p:nvPr/>
        </p:nvGrpSpPr>
        <p:grpSpPr>
          <a:xfrm>
            <a:off x="9806940" y="7488936"/>
            <a:ext cx="123444" cy="123444"/>
            <a:chOff x="0" y="0"/>
            <a:chExt cx="164592" cy="164592"/>
          </a:xfrm>
        </p:grpSpPr>
        <p:sp>
          <p:nvSpPr>
            <p:cNvPr id="56" name="Freeform 56"/>
            <p:cNvSpPr/>
            <p:nvPr/>
          </p:nvSpPr>
          <p:spPr>
            <a:xfrm>
              <a:off x="0" y="0"/>
              <a:ext cx="164592" cy="164592"/>
            </a:xfrm>
            <a:custGeom>
              <a:avLst/>
              <a:gdLst/>
              <a:ahLst/>
              <a:cxnLst/>
              <a:rect l="l" t="t" r="r" b="b"/>
              <a:pathLst>
                <a:path w="164592" h="164592">
                  <a:moveTo>
                    <a:pt x="0" y="82296"/>
                  </a:moveTo>
                  <a:cubicBezTo>
                    <a:pt x="0" y="36830"/>
                    <a:pt x="36830" y="0"/>
                    <a:pt x="82296" y="0"/>
                  </a:cubicBezTo>
                  <a:cubicBezTo>
                    <a:pt x="127762" y="0"/>
                    <a:pt x="164592" y="36830"/>
                    <a:pt x="164592" y="82296"/>
                  </a:cubicBezTo>
                  <a:cubicBezTo>
                    <a:pt x="164592" y="127762"/>
                    <a:pt x="127762" y="164592"/>
                    <a:pt x="82296" y="164592"/>
                  </a:cubicBezTo>
                  <a:cubicBezTo>
                    <a:pt x="36830" y="164592"/>
                    <a:pt x="0" y="127762"/>
                    <a:pt x="0" y="82296"/>
                  </a:cubicBezTo>
                  <a:close/>
                </a:path>
              </a:pathLst>
            </a:custGeom>
            <a:solidFill>
              <a:srgbClr val="FFB703"/>
            </a:solidFill>
          </p:spPr>
          <p:txBody>
            <a:bodyPr/>
            <a:lstStyle/>
            <a:p>
              <a:endParaRPr lang="en-US"/>
            </a:p>
          </p:txBody>
        </p:sp>
      </p:grpSp>
      <p:sp>
        <p:nvSpPr>
          <p:cNvPr id="57" name="TextBox 57"/>
          <p:cNvSpPr txBox="1"/>
          <p:nvPr/>
        </p:nvSpPr>
        <p:spPr>
          <a:xfrm>
            <a:off x="10241280" y="7323582"/>
            <a:ext cx="6880860" cy="503682"/>
          </a:xfrm>
          <a:prstGeom prst="rect">
            <a:avLst/>
          </a:prstGeom>
        </p:spPr>
        <p:txBody>
          <a:bodyPr lIns="0" tIns="0" rIns="0" bIns="0" rtlCol="0" anchor="t">
            <a:spAutoFit/>
          </a:bodyPr>
          <a:lstStyle/>
          <a:p>
            <a:pPr algn="l">
              <a:lnSpc>
                <a:spcPts val="1889"/>
              </a:lnSpc>
            </a:pPr>
            <a:r>
              <a:rPr lang="en-US" sz="1575">
                <a:solidFill>
                  <a:srgbClr val="0D1B2A"/>
                </a:solidFill>
                <a:latin typeface="Calibri (MS)"/>
                <a:ea typeface="Calibri (MS)"/>
                <a:cs typeface="Calibri (MS)"/>
                <a:sym typeface="Calibri (MS)"/>
              </a:rPr>
              <a:t>Runs indefinitely, once every 10 seconds</a:t>
            </a:r>
          </a:p>
        </p:txBody>
      </p:sp>
      <p:grpSp>
        <p:nvGrpSpPr>
          <p:cNvPr id="58" name="Group 58"/>
          <p:cNvGrpSpPr/>
          <p:nvPr/>
        </p:nvGrpSpPr>
        <p:grpSpPr>
          <a:xfrm>
            <a:off x="17282160" y="9710928"/>
            <a:ext cx="822960" cy="411480"/>
            <a:chOff x="0" y="0"/>
            <a:chExt cx="1097280" cy="548640"/>
          </a:xfrm>
        </p:grpSpPr>
        <p:sp>
          <p:nvSpPr>
            <p:cNvPr id="59" name="Freeform 59"/>
            <p:cNvSpPr/>
            <p:nvPr/>
          </p:nvSpPr>
          <p:spPr>
            <a:xfrm>
              <a:off x="0" y="0"/>
              <a:ext cx="1097280" cy="548640"/>
            </a:xfrm>
            <a:custGeom>
              <a:avLst/>
              <a:gdLst/>
              <a:ahLst/>
              <a:cxnLst/>
              <a:rect l="l" t="t" r="r" b="b"/>
              <a:pathLst>
                <a:path w="1097280" h="548640">
                  <a:moveTo>
                    <a:pt x="0" y="0"/>
                  </a:moveTo>
                  <a:lnTo>
                    <a:pt x="1097280" y="0"/>
                  </a:lnTo>
                  <a:lnTo>
                    <a:pt x="1097280" y="548640"/>
                  </a:lnTo>
                  <a:lnTo>
                    <a:pt x="0" y="548640"/>
                  </a:lnTo>
                  <a:close/>
                </a:path>
              </a:pathLst>
            </a:custGeom>
            <a:blipFill>
              <a:blip r:embed="rId3">
                <a:alphaModFix amt="0"/>
              </a:blip>
              <a:stretch>
                <a:fillRect l="-14151" r="-14151"/>
              </a:stretch>
            </a:blipFill>
          </p:spPr>
          <p:txBody>
            <a:bodyPr/>
            <a:lstStyle/>
            <a:p>
              <a:endParaRPr lang="en-US"/>
            </a:p>
          </p:txBody>
        </p:sp>
        <p:sp>
          <p:nvSpPr>
            <p:cNvPr id="60" name="TextBox 60"/>
            <p:cNvSpPr txBox="1"/>
            <p:nvPr/>
          </p:nvSpPr>
          <p:spPr>
            <a:xfrm>
              <a:off x="0" y="-38100"/>
              <a:ext cx="1097280" cy="586740"/>
            </a:xfrm>
            <a:prstGeom prst="rect">
              <a:avLst/>
            </a:prstGeom>
          </p:spPr>
          <p:txBody>
            <a:bodyPr lIns="0" tIns="0" rIns="0" bIns="0" rtlCol="0" anchor="ctr"/>
            <a:lstStyle/>
            <a:p>
              <a:pPr algn="r">
                <a:lnSpc>
                  <a:spcPts val="1800"/>
                </a:lnSpc>
              </a:pPr>
              <a:r>
                <a:rPr lang="en-US" sz="1500">
                  <a:solidFill>
                    <a:srgbClr val="5B6B72"/>
                  </a:solidFill>
                  <a:latin typeface="Calibri (MS)"/>
                  <a:ea typeface="Calibri (MS)"/>
                  <a:cs typeface="Calibri (MS)"/>
                  <a:sym typeface="Calibri (MS)"/>
                </a:rPr>
                <a:t>07</a:t>
              </a: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8F6"/>
        </a:solidFill>
        <a:effectLst/>
      </p:bgPr>
    </p:bg>
    <p:spTree>
      <p:nvGrpSpPr>
        <p:cNvPr id="1" name=""/>
        <p:cNvGrpSpPr/>
        <p:nvPr/>
      </p:nvGrpSpPr>
      <p:grpSpPr>
        <a:xfrm>
          <a:off x="0" y="0"/>
          <a:ext cx="0" cy="0"/>
          <a:chOff x="0" y="0"/>
          <a:chExt cx="0" cy="0"/>
        </a:xfrm>
      </p:grpSpPr>
      <p:grpSp>
        <p:nvGrpSpPr>
          <p:cNvPr id="2" name="Group 2"/>
          <p:cNvGrpSpPr/>
          <p:nvPr/>
        </p:nvGrpSpPr>
        <p:grpSpPr>
          <a:xfrm>
            <a:off x="822960" y="576072"/>
            <a:ext cx="10972800" cy="480060"/>
            <a:chOff x="0" y="0"/>
            <a:chExt cx="14630400" cy="640080"/>
          </a:xfrm>
        </p:grpSpPr>
        <p:sp>
          <p:nvSpPr>
            <p:cNvPr id="3" name="Freeform 3"/>
            <p:cNvSpPr/>
            <p:nvPr/>
          </p:nvSpPr>
          <p:spPr>
            <a:xfrm>
              <a:off x="0" y="0"/>
              <a:ext cx="14630400" cy="640080"/>
            </a:xfrm>
            <a:custGeom>
              <a:avLst/>
              <a:gdLst/>
              <a:ahLst/>
              <a:cxnLst/>
              <a:rect l="l" t="t" r="r" b="b"/>
              <a:pathLst>
                <a:path w="14630400" h="640080">
                  <a:moveTo>
                    <a:pt x="0" y="0"/>
                  </a:moveTo>
                  <a:lnTo>
                    <a:pt x="14630400" y="0"/>
                  </a:lnTo>
                  <a:lnTo>
                    <a:pt x="14630400" y="640080"/>
                  </a:lnTo>
                  <a:lnTo>
                    <a:pt x="0" y="640080"/>
                  </a:lnTo>
                  <a:close/>
                </a:path>
              </a:pathLst>
            </a:custGeom>
            <a:blipFill>
              <a:blip r:embed="rId3">
                <a:alphaModFix amt="0"/>
              </a:blip>
              <a:stretch>
                <a:fillRect t="-395372" b="-395372"/>
              </a:stretch>
            </a:blipFill>
          </p:spPr>
          <p:txBody>
            <a:bodyPr/>
            <a:lstStyle/>
            <a:p>
              <a:endParaRPr lang="en-US"/>
            </a:p>
          </p:txBody>
        </p:sp>
        <p:sp>
          <p:nvSpPr>
            <p:cNvPr id="4" name="TextBox 4"/>
            <p:cNvSpPr txBox="1"/>
            <p:nvPr/>
          </p:nvSpPr>
          <p:spPr>
            <a:xfrm>
              <a:off x="0" y="-38100"/>
              <a:ext cx="14630400" cy="678180"/>
            </a:xfrm>
            <a:prstGeom prst="rect">
              <a:avLst/>
            </a:prstGeom>
          </p:spPr>
          <p:txBody>
            <a:bodyPr lIns="0" tIns="0" rIns="0" bIns="0" rtlCol="0" anchor="ctr"/>
            <a:lstStyle/>
            <a:p>
              <a:pPr algn="l">
                <a:lnSpc>
                  <a:spcPts val="2160"/>
                </a:lnSpc>
              </a:pPr>
              <a:r>
                <a:rPr lang="en-US" sz="1800" b="1" spc="299">
                  <a:solidFill>
                    <a:srgbClr val="40916C"/>
                  </a:solidFill>
                  <a:latin typeface="Calibri (MS) Bold"/>
                  <a:ea typeface="Calibri (MS) Bold"/>
                  <a:cs typeface="Calibri (MS) Bold"/>
                  <a:sym typeface="Calibri (MS) Bold"/>
                </a:rPr>
                <a:t>PART 02 · DATA PIPELINE</a:t>
              </a:r>
            </a:p>
          </p:txBody>
        </p:sp>
      </p:grpSp>
      <p:grpSp>
        <p:nvGrpSpPr>
          <p:cNvPr id="5" name="Group 5"/>
          <p:cNvGrpSpPr/>
          <p:nvPr/>
        </p:nvGrpSpPr>
        <p:grpSpPr>
          <a:xfrm>
            <a:off x="822960" y="987552"/>
            <a:ext cx="15773400" cy="1234440"/>
            <a:chOff x="0" y="0"/>
            <a:chExt cx="21031200" cy="1645920"/>
          </a:xfrm>
        </p:grpSpPr>
        <p:sp>
          <p:nvSpPr>
            <p:cNvPr id="6" name="Freeform 6"/>
            <p:cNvSpPr/>
            <p:nvPr/>
          </p:nvSpPr>
          <p:spPr>
            <a:xfrm>
              <a:off x="0" y="0"/>
              <a:ext cx="21031200" cy="1645920"/>
            </a:xfrm>
            <a:custGeom>
              <a:avLst/>
              <a:gdLst/>
              <a:ahLst/>
              <a:cxnLst/>
              <a:rect l="l" t="t" r="r" b="b"/>
              <a:pathLst>
                <a:path w="21031200" h="1645920">
                  <a:moveTo>
                    <a:pt x="0" y="0"/>
                  </a:moveTo>
                  <a:lnTo>
                    <a:pt x="21031200" y="0"/>
                  </a:lnTo>
                  <a:lnTo>
                    <a:pt x="21031200" y="1645920"/>
                  </a:lnTo>
                  <a:lnTo>
                    <a:pt x="0" y="1645920"/>
                  </a:lnTo>
                  <a:close/>
                </a:path>
              </a:pathLst>
            </a:custGeom>
            <a:blipFill>
              <a:blip r:embed="rId3">
                <a:alphaModFix amt="0"/>
              </a:blip>
              <a:stretch>
                <a:fillRect t="-198975" b="-198975"/>
              </a:stretch>
            </a:blipFill>
          </p:spPr>
          <p:txBody>
            <a:bodyPr/>
            <a:lstStyle/>
            <a:p>
              <a:endParaRPr lang="en-US"/>
            </a:p>
          </p:txBody>
        </p:sp>
        <p:sp>
          <p:nvSpPr>
            <p:cNvPr id="7" name="TextBox 7"/>
            <p:cNvSpPr txBox="1"/>
            <p:nvPr/>
          </p:nvSpPr>
          <p:spPr>
            <a:xfrm>
              <a:off x="0" y="-9525"/>
              <a:ext cx="21031200" cy="1655445"/>
            </a:xfrm>
            <a:prstGeom prst="rect">
              <a:avLst/>
            </a:prstGeom>
          </p:spPr>
          <p:txBody>
            <a:bodyPr lIns="0" tIns="0" rIns="0" bIns="0" rtlCol="0" anchor="ctr"/>
            <a:lstStyle/>
            <a:p>
              <a:pPr algn="l">
                <a:lnSpc>
                  <a:spcPts val="5759"/>
                </a:lnSpc>
              </a:pPr>
              <a:r>
                <a:rPr lang="en-US" sz="4800" b="1">
                  <a:solidFill>
                    <a:srgbClr val="0D1B2A"/>
                  </a:solidFill>
                  <a:latin typeface="Cambria Bold"/>
                  <a:ea typeface="Cambria Bold"/>
                  <a:cs typeface="Cambria Bold"/>
                  <a:sym typeface="Cambria Bold"/>
                </a:rPr>
                <a:t>Persistence &amp; Resource Constraints</a:t>
              </a:r>
            </a:p>
          </p:txBody>
        </p:sp>
      </p:grpSp>
      <p:grpSp>
        <p:nvGrpSpPr>
          <p:cNvPr id="8" name="Group 8"/>
          <p:cNvGrpSpPr/>
          <p:nvPr/>
        </p:nvGrpSpPr>
        <p:grpSpPr>
          <a:xfrm>
            <a:off x="822960" y="2194560"/>
            <a:ext cx="9806940" cy="3497580"/>
            <a:chOff x="0" y="0"/>
            <a:chExt cx="13075920" cy="4663440"/>
          </a:xfrm>
        </p:grpSpPr>
        <p:sp>
          <p:nvSpPr>
            <p:cNvPr id="9" name="Freeform 9"/>
            <p:cNvSpPr/>
            <p:nvPr/>
          </p:nvSpPr>
          <p:spPr>
            <a:xfrm>
              <a:off x="0" y="0"/>
              <a:ext cx="13075920" cy="4663440"/>
            </a:xfrm>
            <a:custGeom>
              <a:avLst/>
              <a:gdLst/>
              <a:ahLst/>
              <a:cxnLst/>
              <a:rect l="l" t="t" r="r" b="b"/>
              <a:pathLst>
                <a:path w="13075920" h="4663440">
                  <a:moveTo>
                    <a:pt x="0" y="182880"/>
                  </a:moveTo>
                  <a:cubicBezTo>
                    <a:pt x="0" y="81915"/>
                    <a:pt x="81915" y="0"/>
                    <a:pt x="182880" y="0"/>
                  </a:cubicBezTo>
                  <a:lnTo>
                    <a:pt x="12893040" y="0"/>
                  </a:lnTo>
                  <a:cubicBezTo>
                    <a:pt x="12994005" y="0"/>
                    <a:pt x="13075920" y="81915"/>
                    <a:pt x="13075920" y="182880"/>
                  </a:cubicBezTo>
                  <a:lnTo>
                    <a:pt x="13075920" y="4480560"/>
                  </a:lnTo>
                  <a:cubicBezTo>
                    <a:pt x="13075920" y="4581525"/>
                    <a:pt x="12994005" y="4663440"/>
                    <a:pt x="12893040" y="4663440"/>
                  </a:cubicBezTo>
                  <a:lnTo>
                    <a:pt x="182880" y="4663440"/>
                  </a:lnTo>
                  <a:cubicBezTo>
                    <a:pt x="81915" y="4663440"/>
                    <a:pt x="0" y="4581525"/>
                    <a:pt x="0" y="4480560"/>
                  </a:cubicBezTo>
                  <a:close/>
                </a:path>
              </a:pathLst>
            </a:custGeom>
            <a:solidFill>
              <a:srgbClr val="0D1B2A"/>
            </a:solidFill>
          </p:spPr>
          <p:txBody>
            <a:bodyPr/>
            <a:lstStyle/>
            <a:p>
              <a:endParaRPr lang="en-US"/>
            </a:p>
          </p:txBody>
        </p:sp>
      </p:grpSp>
      <p:grpSp>
        <p:nvGrpSpPr>
          <p:cNvPr id="10" name="Group 10"/>
          <p:cNvGrpSpPr/>
          <p:nvPr/>
        </p:nvGrpSpPr>
        <p:grpSpPr>
          <a:xfrm>
            <a:off x="1234440" y="2468880"/>
            <a:ext cx="4114800" cy="480060"/>
            <a:chOff x="0" y="0"/>
            <a:chExt cx="5486400" cy="640080"/>
          </a:xfrm>
        </p:grpSpPr>
        <p:sp>
          <p:nvSpPr>
            <p:cNvPr id="11" name="Freeform 11"/>
            <p:cNvSpPr/>
            <p:nvPr/>
          </p:nvSpPr>
          <p:spPr>
            <a:xfrm>
              <a:off x="0" y="0"/>
              <a:ext cx="5486400" cy="640080"/>
            </a:xfrm>
            <a:custGeom>
              <a:avLst/>
              <a:gdLst/>
              <a:ahLst/>
              <a:cxnLst/>
              <a:rect l="l" t="t" r="r" b="b"/>
              <a:pathLst>
                <a:path w="5486400" h="640080">
                  <a:moveTo>
                    <a:pt x="0" y="0"/>
                  </a:moveTo>
                  <a:lnTo>
                    <a:pt x="5486400" y="0"/>
                  </a:lnTo>
                  <a:lnTo>
                    <a:pt x="5486400" y="640080"/>
                  </a:lnTo>
                  <a:lnTo>
                    <a:pt x="0" y="640080"/>
                  </a:lnTo>
                  <a:close/>
                </a:path>
              </a:pathLst>
            </a:custGeom>
            <a:blipFill>
              <a:blip r:embed="rId3">
                <a:alphaModFix amt="0"/>
              </a:blip>
              <a:stretch>
                <a:fillRect t="-117014" b="-117014"/>
              </a:stretch>
            </a:blipFill>
          </p:spPr>
          <p:txBody>
            <a:bodyPr/>
            <a:lstStyle/>
            <a:p>
              <a:endParaRPr lang="en-US"/>
            </a:p>
          </p:txBody>
        </p:sp>
        <p:sp>
          <p:nvSpPr>
            <p:cNvPr id="12" name="TextBox 12"/>
            <p:cNvSpPr txBox="1"/>
            <p:nvPr/>
          </p:nvSpPr>
          <p:spPr>
            <a:xfrm>
              <a:off x="0" y="-38100"/>
              <a:ext cx="5486400" cy="678180"/>
            </a:xfrm>
            <a:prstGeom prst="rect">
              <a:avLst/>
            </a:prstGeom>
          </p:spPr>
          <p:txBody>
            <a:bodyPr lIns="0" tIns="0" rIns="0" bIns="0" rtlCol="0" anchor="ctr"/>
            <a:lstStyle/>
            <a:p>
              <a:pPr algn="l">
                <a:lnSpc>
                  <a:spcPts val="2160"/>
                </a:lnSpc>
              </a:pPr>
              <a:r>
                <a:rPr lang="en-US" sz="1800" b="1" spc="149">
                  <a:solidFill>
                    <a:srgbClr val="74C69D"/>
                  </a:solidFill>
                  <a:latin typeface="Calibri (MS) Bold"/>
                  <a:ea typeface="Calibri (MS) Bold"/>
                  <a:cs typeface="Calibri (MS) Bold"/>
                  <a:sym typeface="Calibri (MS) Bold"/>
                </a:rPr>
                <a:t>receiver.py</a:t>
              </a:r>
            </a:p>
          </p:txBody>
        </p:sp>
      </p:grpSp>
      <p:grpSp>
        <p:nvGrpSpPr>
          <p:cNvPr id="13" name="Group 13"/>
          <p:cNvGrpSpPr/>
          <p:nvPr/>
        </p:nvGrpSpPr>
        <p:grpSpPr>
          <a:xfrm>
            <a:off x="1234440" y="2921508"/>
            <a:ext cx="9052560" cy="548640"/>
            <a:chOff x="0" y="0"/>
            <a:chExt cx="12070080" cy="731520"/>
          </a:xfrm>
        </p:grpSpPr>
        <p:sp>
          <p:nvSpPr>
            <p:cNvPr id="14" name="Freeform 14"/>
            <p:cNvSpPr/>
            <p:nvPr/>
          </p:nvSpPr>
          <p:spPr>
            <a:xfrm>
              <a:off x="0" y="0"/>
              <a:ext cx="12070080" cy="731520"/>
            </a:xfrm>
            <a:custGeom>
              <a:avLst/>
              <a:gdLst/>
              <a:ahLst/>
              <a:cxnLst/>
              <a:rect l="l" t="t" r="r" b="b"/>
              <a:pathLst>
                <a:path w="12070080" h="731520">
                  <a:moveTo>
                    <a:pt x="0" y="0"/>
                  </a:moveTo>
                  <a:lnTo>
                    <a:pt x="12070080" y="0"/>
                  </a:lnTo>
                  <a:lnTo>
                    <a:pt x="12070080" y="731520"/>
                  </a:lnTo>
                  <a:lnTo>
                    <a:pt x="0" y="731520"/>
                  </a:lnTo>
                  <a:close/>
                </a:path>
              </a:pathLst>
            </a:custGeom>
            <a:blipFill>
              <a:blip r:embed="rId3">
                <a:alphaModFix amt="0"/>
              </a:blip>
              <a:stretch>
                <a:fillRect t="-271503" b="-271503"/>
              </a:stretch>
            </a:blipFill>
          </p:spPr>
          <p:txBody>
            <a:bodyPr/>
            <a:lstStyle/>
            <a:p>
              <a:endParaRPr lang="en-US"/>
            </a:p>
          </p:txBody>
        </p:sp>
        <p:sp>
          <p:nvSpPr>
            <p:cNvPr id="15" name="TextBox 15"/>
            <p:cNvSpPr txBox="1"/>
            <p:nvPr/>
          </p:nvSpPr>
          <p:spPr>
            <a:xfrm>
              <a:off x="0" y="-9525"/>
              <a:ext cx="12070080" cy="741045"/>
            </a:xfrm>
            <a:prstGeom prst="rect">
              <a:avLst/>
            </a:prstGeom>
          </p:spPr>
          <p:txBody>
            <a:bodyPr lIns="0" tIns="0" rIns="0" bIns="0" rtlCol="0" anchor="ctr"/>
            <a:lstStyle/>
            <a:p>
              <a:pPr algn="l">
                <a:lnSpc>
                  <a:spcPts val="2879"/>
                </a:lnSpc>
              </a:pPr>
              <a:r>
                <a:rPr lang="en-US" sz="2400" b="1">
                  <a:solidFill>
                    <a:srgbClr val="FFFFFF"/>
                  </a:solidFill>
                  <a:latin typeface="Cambria Bold"/>
                  <a:ea typeface="Cambria Bold"/>
                  <a:cs typeface="Cambria Bold"/>
                  <a:sym typeface="Cambria Bold"/>
                </a:rPr>
                <a:t>Kafka Consumer → TimescaleDB Writer</a:t>
              </a:r>
            </a:p>
          </p:txBody>
        </p:sp>
      </p:grpSp>
      <p:grpSp>
        <p:nvGrpSpPr>
          <p:cNvPr id="16" name="Group 16"/>
          <p:cNvGrpSpPr/>
          <p:nvPr/>
        </p:nvGrpSpPr>
        <p:grpSpPr>
          <a:xfrm>
            <a:off x="1234440" y="3538728"/>
            <a:ext cx="9052560" cy="2057400"/>
            <a:chOff x="0" y="0"/>
            <a:chExt cx="12070080" cy="2743200"/>
          </a:xfrm>
        </p:grpSpPr>
        <p:sp>
          <p:nvSpPr>
            <p:cNvPr id="17" name="Freeform 17"/>
            <p:cNvSpPr/>
            <p:nvPr/>
          </p:nvSpPr>
          <p:spPr>
            <a:xfrm>
              <a:off x="0" y="0"/>
              <a:ext cx="12070080" cy="2743200"/>
            </a:xfrm>
            <a:custGeom>
              <a:avLst/>
              <a:gdLst/>
              <a:ahLst/>
              <a:cxnLst/>
              <a:rect l="l" t="t" r="r" b="b"/>
              <a:pathLst>
                <a:path w="12070080" h="2743200">
                  <a:moveTo>
                    <a:pt x="0" y="0"/>
                  </a:moveTo>
                  <a:lnTo>
                    <a:pt x="12070080" y="0"/>
                  </a:lnTo>
                  <a:lnTo>
                    <a:pt x="12070080" y="2743200"/>
                  </a:lnTo>
                  <a:lnTo>
                    <a:pt x="0" y="2743200"/>
                  </a:lnTo>
                  <a:close/>
                </a:path>
              </a:pathLst>
            </a:custGeom>
            <a:blipFill>
              <a:blip r:embed="rId3">
                <a:alphaModFix amt="0"/>
              </a:blip>
              <a:stretch>
                <a:fillRect t="-35734" b="-35734"/>
              </a:stretch>
            </a:blipFill>
          </p:spPr>
          <p:txBody>
            <a:bodyPr/>
            <a:lstStyle/>
            <a:p>
              <a:endParaRPr lang="en-US"/>
            </a:p>
          </p:txBody>
        </p:sp>
        <p:sp>
          <p:nvSpPr>
            <p:cNvPr id="18" name="TextBox 18"/>
            <p:cNvSpPr txBox="1"/>
            <p:nvPr/>
          </p:nvSpPr>
          <p:spPr>
            <a:xfrm>
              <a:off x="0" y="-95250"/>
              <a:ext cx="12070080" cy="2838450"/>
            </a:xfrm>
            <a:prstGeom prst="rect">
              <a:avLst/>
            </a:prstGeom>
          </p:spPr>
          <p:txBody>
            <a:bodyPr lIns="0" tIns="0" rIns="0" bIns="0" rtlCol="0" anchor="ctr"/>
            <a:lstStyle/>
            <a:p>
              <a:pPr algn="l">
                <a:lnSpc>
                  <a:spcPts val="2691"/>
                </a:lnSpc>
              </a:pPr>
              <a:r>
                <a:rPr lang="en-US" sz="1725">
                  <a:solidFill>
                    <a:srgbClr val="C9D6CE"/>
                  </a:solidFill>
                  <a:latin typeface="Calibri (MS)"/>
                  <a:ea typeface="Calibri (MS)"/>
                  <a:cs typeface="Calibri (MS)"/>
                  <a:sym typeface="Calibri (MS)"/>
                </a:rPr>
                <a:t>Subscribes to all three telemetry topics with a manual-commit consumer (auto.offset.reset='earliest'). Records are buffered per topic; once a buffer reaches BATCH_SIZE, they're bulk-inserted with execute_values, the DB transaction commits, then the Kafka offset commits synchronously — giving at-least-once delivery semantics.</a:t>
              </a:r>
            </a:p>
          </p:txBody>
        </p:sp>
      </p:grpSp>
      <p:grpSp>
        <p:nvGrpSpPr>
          <p:cNvPr id="19" name="Group 19"/>
          <p:cNvGrpSpPr/>
          <p:nvPr/>
        </p:nvGrpSpPr>
        <p:grpSpPr>
          <a:xfrm>
            <a:off x="10963275" y="2185035"/>
            <a:ext cx="6465570" cy="1637538"/>
            <a:chOff x="0" y="0"/>
            <a:chExt cx="8620760" cy="2183384"/>
          </a:xfrm>
        </p:grpSpPr>
        <p:sp>
          <p:nvSpPr>
            <p:cNvPr id="20" name="Freeform 20"/>
            <p:cNvSpPr/>
            <p:nvPr/>
          </p:nvSpPr>
          <p:spPr>
            <a:xfrm>
              <a:off x="0" y="0"/>
              <a:ext cx="8620760" cy="2183384"/>
            </a:xfrm>
            <a:custGeom>
              <a:avLst/>
              <a:gdLst/>
              <a:ahLst/>
              <a:cxnLst/>
              <a:rect l="l" t="t" r="r" b="b"/>
              <a:pathLst>
                <a:path w="8620760" h="2183384">
                  <a:moveTo>
                    <a:pt x="0" y="148082"/>
                  </a:moveTo>
                  <a:cubicBezTo>
                    <a:pt x="0" y="66294"/>
                    <a:pt x="66294" y="0"/>
                    <a:pt x="148082" y="0"/>
                  </a:cubicBezTo>
                  <a:lnTo>
                    <a:pt x="8472678" y="0"/>
                  </a:lnTo>
                  <a:cubicBezTo>
                    <a:pt x="8554466" y="0"/>
                    <a:pt x="8620760" y="66294"/>
                    <a:pt x="8620760" y="148082"/>
                  </a:cubicBezTo>
                  <a:lnTo>
                    <a:pt x="8620760" y="2035302"/>
                  </a:lnTo>
                  <a:cubicBezTo>
                    <a:pt x="8620760" y="2117090"/>
                    <a:pt x="8554466" y="2183384"/>
                    <a:pt x="8472678" y="2183384"/>
                  </a:cubicBezTo>
                  <a:lnTo>
                    <a:pt x="148082" y="2183384"/>
                  </a:lnTo>
                  <a:cubicBezTo>
                    <a:pt x="66294" y="2183384"/>
                    <a:pt x="0" y="2117090"/>
                    <a:pt x="0" y="2035302"/>
                  </a:cubicBezTo>
                  <a:close/>
                </a:path>
              </a:pathLst>
            </a:custGeom>
            <a:solidFill>
              <a:srgbClr val="FFFFFF"/>
            </a:solidFill>
            <a:ln w="19050" cap="sq">
              <a:solidFill>
                <a:srgbClr val="DCE7E0"/>
              </a:solidFill>
              <a:prstDash val="solid"/>
              <a:miter/>
            </a:ln>
          </p:spPr>
          <p:txBody>
            <a:bodyPr/>
            <a:lstStyle/>
            <a:p>
              <a:endParaRPr lang="en-US"/>
            </a:p>
          </p:txBody>
        </p:sp>
      </p:grpSp>
      <p:grpSp>
        <p:nvGrpSpPr>
          <p:cNvPr id="21" name="Group 21"/>
          <p:cNvGrpSpPr/>
          <p:nvPr/>
        </p:nvGrpSpPr>
        <p:grpSpPr>
          <a:xfrm>
            <a:off x="11315700" y="2331720"/>
            <a:ext cx="5760720" cy="685800"/>
            <a:chOff x="0" y="0"/>
            <a:chExt cx="7680960" cy="914400"/>
          </a:xfrm>
        </p:grpSpPr>
        <p:sp>
          <p:nvSpPr>
            <p:cNvPr id="22" name="Freeform 22"/>
            <p:cNvSpPr/>
            <p:nvPr/>
          </p:nvSpPr>
          <p:spPr>
            <a:xfrm>
              <a:off x="0" y="0"/>
              <a:ext cx="7680960" cy="914400"/>
            </a:xfrm>
            <a:custGeom>
              <a:avLst/>
              <a:gdLst/>
              <a:ahLst/>
              <a:cxnLst/>
              <a:rect l="l" t="t" r="r" b="b"/>
              <a:pathLst>
                <a:path w="7680960" h="914400">
                  <a:moveTo>
                    <a:pt x="0" y="0"/>
                  </a:moveTo>
                  <a:lnTo>
                    <a:pt x="7680960" y="0"/>
                  </a:lnTo>
                  <a:lnTo>
                    <a:pt x="7680960" y="914400"/>
                  </a:lnTo>
                  <a:lnTo>
                    <a:pt x="0" y="914400"/>
                  </a:lnTo>
                  <a:close/>
                </a:path>
              </a:pathLst>
            </a:custGeom>
            <a:blipFill>
              <a:blip r:embed="rId3">
                <a:alphaModFix amt="0"/>
              </a:blip>
              <a:stretch>
                <a:fillRect t="-113674" b="-113674"/>
              </a:stretch>
            </a:blipFill>
          </p:spPr>
          <p:txBody>
            <a:bodyPr/>
            <a:lstStyle/>
            <a:p>
              <a:endParaRPr lang="en-US"/>
            </a:p>
          </p:txBody>
        </p:sp>
        <p:sp>
          <p:nvSpPr>
            <p:cNvPr id="23" name="TextBox 23"/>
            <p:cNvSpPr txBox="1"/>
            <p:nvPr/>
          </p:nvSpPr>
          <p:spPr>
            <a:xfrm>
              <a:off x="0" y="-19050"/>
              <a:ext cx="7680960" cy="933450"/>
            </a:xfrm>
            <a:prstGeom prst="rect">
              <a:avLst/>
            </a:prstGeom>
          </p:spPr>
          <p:txBody>
            <a:bodyPr lIns="0" tIns="0" rIns="0" bIns="0" rtlCol="0" anchor="ctr"/>
            <a:lstStyle/>
            <a:p>
              <a:pPr algn="l">
                <a:lnSpc>
                  <a:spcPts val="4320"/>
                </a:lnSpc>
              </a:pPr>
              <a:r>
                <a:rPr lang="en-US" sz="3600" b="1">
                  <a:solidFill>
                    <a:srgbClr val="40916C"/>
                  </a:solidFill>
                  <a:latin typeface="Cambria Bold"/>
                  <a:ea typeface="Cambria Bold"/>
                  <a:cs typeface="Cambria Bold"/>
                  <a:sym typeface="Cambria Bold"/>
                </a:rPr>
                <a:t>4GB</a:t>
              </a:r>
            </a:p>
          </p:txBody>
        </p:sp>
      </p:grpSp>
      <p:grpSp>
        <p:nvGrpSpPr>
          <p:cNvPr id="24" name="Group 24"/>
          <p:cNvGrpSpPr/>
          <p:nvPr/>
        </p:nvGrpSpPr>
        <p:grpSpPr>
          <a:xfrm>
            <a:off x="11315700" y="3017520"/>
            <a:ext cx="5760720" cy="685800"/>
            <a:chOff x="0" y="0"/>
            <a:chExt cx="7680960" cy="914400"/>
          </a:xfrm>
        </p:grpSpPr>
        <p:sp>
          <p:nvSpPr>
            <p:cNvPr id="25" name="Freeform 25"/>
            <p:cNvSpPr/>
            <p:nvPr/>
          </p:nvSpPr>
          <p:spPr>
            <a:xfrm>
              <a:off x="0" y="0"/>
              <a:ext cx="7680960" cy="914400"/>
            </a:xfrm>
            <a:custGeom>
              <a:avLst/>
              <a:gdLst/>
              <a:ahLst/>
              <a:cxnLst/>
              <a:rect l="l" t="t" r="r" b="b"/>
              <a:pathLst>
                <a:path w="7680960" h="914400">
                  <a:moveTo>
                    <a:pt x="0" y="0"/>
                  </a:moveTo>
                  <a:lnTo>
                    <a:pt x="7680960" y="0"/>
                  </a:lnTo>
                  <a:lnTo>
                    <a:pt x="7680960" y="914400"/>
                  </a:lnTo>
                  <a:lnTo>
                    <a:pt x="0" y="914400"/>
                  </a:lnTo>
                  <a:close/>
                </a:path>
              </a:pathLst>
            </a:custGeom>
            <a:blipFill>
              <a:blip r:embed="rId3">
                <a:alphaModFix amt="0"/>
              </a:blip>
              <a:stretch>
                <a:fillRect t="-113674" b="-113674"/>
              </a:stretch>
            </a:blipFill>
          </p:spPr>
          <p:txBody>
            <a:bodyPr/>
            <a:lstStyle/>
            <a:p>
              <a:endParaRPr lang="en-US"/>
            </a:p>
          </p:txBody>
        </p:sp>
        <p:sp>
          <p:nvSpPr>
            <p:cNvPr id="26" name="TextBox 26"/>
            <p:cNvSpPr txBox="1"/>
            <p:nvPr/>
          </p:nvSpPr>
          <p:spPr>
            <a:xfrm>
              <a:off x="0" y="-19050"/>
              <a:ext cx="7680960" cy="933450"/>
            </a:xfrm>
            <a:prstGeom prst="rect">
              <a:avLst/>
            </a:prstGeom>
          </p:spPr>
          <p:txBody>
            <a:bodyPr lIns="0" tIns="0" rIns="0" bIns="0" rtlCol="0" anchor="ctr"/>
            <a:lstStyle/>
            <a:p>
              <a:pPr algn="l">
                <a:lnSpc>
                  <a:spcPts val="1889"/>
                </a:lnSpc>
              </a:pPr>
              <a:r>
                <a:rPr lang="en-US" sz="1575">
                  <a:solidFill>
                    <a:srgbClr val="5B6B72"/>
                  </a:solidFill>
                  <a:latin typeface="Calibri (MS)"/>
                  <a:ea typeface="Calibri (MS)"/>
                  <a:cs typeface="Calibri (MS)"/>
                  <a:sym typeface="Calibri (MS)"/>
                </a:rPr>
                <a:t>WSL2 RAM cap — architecture tuned to stay within it</a:t>
              </a:r>
            </a:p>
          </p:txBody>
        </p:sp>
      </p:grpSp>
      <p:grpSp>
        <p:nvGrpSpPr>
          <p:cNvPr id="27" name="Group 27"/>
          <p:cNvGrpSpPr/>
          <p:nvPr/>
        </p:nvGrpSpPr>
        <p:grpSpPr>
          <a:xfrm>
            <a:off x="10963275" y="2185035"/>
            <a:ext cx="6465570" cy="1637538"/>
            <a:chOff x="0" y="0"/>
            <a:chExt cx="8620760" cy="2183384"/>
          </a:xfrm>
        </p:grpSpPr>
        <p:sp>
          <p:nvSpPr>
            <p:cNvPr id="28" name="Freeform 28"/>
            <p:cNvSpPr/>
            <p:nvPr/>
          </p:nvSpPr>
          <p:spPr>
            <a:xfrm>
              <a:off x="0" y="0"/>
              <a:ext cx="8620760" cy="2183384"/>
            </a:xfrm>
            <a:custGeom>
              <a:avLst/>
              <a:gdLst/>
              <a:ahLst/>
              <a:cxnLst/>
              <a:rect l="l" t="t" r="r" b="b"/>
              <a:pathLst>
                <a:path w="8620760" h="2183384">
                  <a:moveTo>
                    <a:pt x="0" y="148082"/>
                  </a:moveTo>
                  <a:cubicBezTo>
                    <a:pt x="0" y="66294"/>
                    <a:pt x="66294" y="0"/>
                    <a:pt x="148082" y="0"/>
                  </a:cubicBezTo>
                  <a:lnTo>
                    <a:pt x="8472678" y="0"/>
                  </a:lnTo>
                  <a:cubicBezTo>
                    <a:pt x="8554466" y="0"/>
                    <a:pt x="8620760" y="66294"/>
                    <a:pt x="8620760" y="148082"/>
                  </a:cubicBezTo>
                  <a:lnTo>
                    <a:pt x="8620760" y="2035302"/>
                  </a:lnTo>
                  <a:cubicBezTo>
                    <a:pt x="8620760" y="2117090"/>
                    <a:pt x="8554466" y="2183384"/>
                    <a:pt x="8472678" y="2183384"/>
                  </a:cubicBezTo>
                  <a:lnTo>
                    <a:pt x="148082" y="2183384"/>
                  </a:lnTo>
                  <a:cubicBezTo>
                    <a:pt x="66294" y="2183384"/>
                    <a:pt x="0" y="2117090"/>
                    <a:pt x="0" y="2035302"/>
                  </a:cubicBezTo>
                  <a:close/>
                </a:path>
              </a:pathLst>
            </a:custGeom>
            <a:solidFill>
              <a:srgbClr val="FFFFFF"/>
            </a:solidFill>
            <a:ln w="19050" cap="sq">
              <a:solidFill>
                <a:srgbClr val="DCE7E0"/>
              </a:solidFill>
              <a:prstDash val="solid"/>
              <a:miter/>
            </a:ln>
          </p:spPr>
          <p:txBody>
            <a:bodyPr/>
            <a:lstStyle/>
            <a:p>
              <a:endParaRPr lang="en-US"/>
            </a:p>
          </p:txBody>
        </p:sp>
      </p:grpSp>
      <p:grpSp>
        <p:nvGrpSpPr>
          <p:cNvPr id="29" name="Group 29"/>
          <p:cNvGrpSpPr/>
          <p:nvPr/>
        </p:nvGrpSpPr>
        <p:grpSpPr>
          <a:xfrm>
            <a:off x="11315700" y="2331720"/>
            <a:ext cx="5760720" cy="685800"/>
            <a:chOff x="0" y="0"/>
            <a:chExt cx="7680960" cy="914400"/>
          </a:xfrm>
        </p:grpSpPr>
        <p:sp>
          <p:nvSpPr>
            <p:cNvPr id="30" name="Freeform 30"/>
            <p:cNvSpPr/>
            <p:nvPr/>
          </p:nvSpPr>
          <p:spPr>
            <a:xfrm>
              <a:off x="0" y="0"/>
              <a:ext cx="7680960" cy="914400"/>
            </a:xfrm>
            <a:custGeom>
              <a:avLst/>
              <a:gdLst/>
              <a:ahLst/>
              <a:cxnLst/>
              <a:rect l="l" t="t" r="r" b="b"/>
              <a:pathLst>
                <a:path w="7680960" h="914400">
                  <a:moveTo>
                    <a:pt x="0" y="0"/>
                  </a:moveTo>
                  <a:lnTo>
                    <a:pt x="7680960" y="0"/>
                  </a:lnTo>
                  <a:lnTo>
                    <a:pt x="7680960" y="914400"/>
                  </a:lnTo>
                  <a:lnTo>
                    <a:pt x="0" y="914400"/>
                  </a:lnTo>
                  <a:close/>
                </a:path>
              </a:pathLst>
            </a:custGeom>
            <a:blipFill>
              <a:blip r:embed="rId3">
                <a:alphaModFix amt="0"/>
              </a:blip>
              <a:stretch>
                <a:fillRect t="-113674" b="-113674"/>
              </a:stretch>
            </a:blipFill>
          </p:spPr>
          <p:txBody>
            <a:bodyPr/>
            <a:lstStyle/>
            <a:p>
              <a:endParaRPr lang="en-US"/>
            </a:p>
          </p:txBody>
        </p:sp>
        <p:sp>
          <p:nvSpPr>
            <p:cNvPr id="31" name="TextBox 31"/>
            <p:cNvSpPr txBox="1"/>
            <p:nvPr/>
          </p:nvSpPr>
          <p:spPr>
            <a:xfrm>
              <a:off x="0" y="-19050"/>
              <a:ext cx="7680960" cy="933450"/>
            </a:xfrm>
            <a:prstGeom prst="rect">
              <a:avLst/>
            </a:prstGeom>
          </p:spPr>
          <p:txBody>
            <a:bodyPr lIns="0" tIns="0" rIns="0" bIns="0" rtlCol="0" anchor="ctr"/>
            <a:lstStyle/>
            <a:p>
              <a:pPr algn="l">
                <a:lnSpc>
                  <a:spcPts val="4320"/>
                </a:lnSpc>
              </a:pPr>
              <a:r>
                <a:rPr lang="en-US" sz="3600" b="1">
                  <a:solidFill>
                    <a:srgbClr val="40916C"/>
                  </a:solidFill>
                  <a:latin typeface="Cambria Bold"/>
                  <a:ea typeface="Cambria Bold"/>
                  <a:cs typeface="Cambria Bold"/>
                  <a:sym typeface="Cambria Bold"/>
                </a:rPr>
                <a:t>Batches of 5</a:t>
              </a:r>
            </a:p>
          </p:txBody>
        </p:sp>
      </p:grpSp>
      <p:grpSp>
        <p:nvGrpSpPr>
          <p:cNvPr id="32" name="Group 32"/>
          <p:cNvGrpSpPr/>
          <p:nvPr/>
        </p:nvGrpSpPr>
        <p:grpSpPr>
          <a:xfrm>
            <a:off x="11315700" y="3017520"/>
            <a:ext cx="5760720" cy="685800"/>
            <a:chOff x="0" y="0"/>
            <a:chExt cx="7680960" cy="914400"/>
          </a:xfrm>
        </p:grpSpPr>
        <p:sp>
          <p:nvSpPr>
            <p:cNvPr id="33" name="Freeform 33"/>
            <p:cNvSpPr/>
            <p:nvPr/>
          </p:nvSpPr>
          <p:spPr>
            <a:xfrm>
              <a:off x="0" y="0"/>
              <a:ext cx="7680960" cy="914400"/>
            </a:xfrm>
            <a:custGeom>
              <a:avLst/>
              <a:gdLst/>
              <a:ahLst/>
              <a:cxnLst/>
              <a:rect l="l" t="t" r="r" b="b"/>
              <a:pathLst>
                <a:path w="7680960" h="914400">
                  <a:moveTo>
                    <a:pt x="0" y="0"/>
                  </a:moveTo>
                  <a:lnTo>
                    <a:pt x="7680960" y="0"/>
                  </a:lnTo>
                  <a:lnTo>
                    <a:pt x="7680960" y="914400"/>
                  </a:lnTo>
                  <a:lnTo>
                    <a:pt x="0" y="914400"/>
                  </a:lnTo>
                  <a:close/>
                </a:path>
              </a:pathLst>
            </a:custGeom>
            <a:blipFill>
              <a:blip r:embed="rId3">
                <a:alphaModFix amt="0"/>
              </a:blip>
              <a:stretch>
                <a:fillRect t="-113674" b="-113674"/>
              </a:stretch>
            </a:blipFill>
          </p:spPr>
          <p:txBody>
            <a:bodyPr/>
            <a:lstStyle/>
            <a:p>
              <a:endParaRPr lang="en-US"/>
            </a:p>
          </p:txBody>
        </p:sp>
        <p:sp>
          <p:nvSpPr>
            <p:cNvPr id="34" name="TextBox 34"/>
            <p:cNvSpPr txBox="1"/>
            <p:nvPr/>
          </p:nvSpPr>
          <p:spPr>
            <a:xfrm>
              <a:off x="0" y="-19050"/>
              <a:ext cx="7680960" cy="933450"/>
            </a:xfrm>
            <a:prstGeom prst="rect">
              <a:avLst/>
            </a:prstGeom>
          </p:spPr>
          <p:txBody>
            <a:bodyPr lIns="0" tIns="0" rIns="0" bIns="0" rtlCol="0" anchor="ctr"/>
            <a:lstStyle/>
            <a:p>
              <a:pPr algn="l">
                <a:lnSpc>
                  <a:spcPts val="1889"/>
                </a:lnSpc>
              </a:pPr>
              <a:r>
                <a:rPr lang="en-US" sz="1575">
                  <a:solidFill>
                    <a:srgbClr val="5B6B72"/>
                  </a:solidFill>
                  <a:latin typeface="Calibri (MS)"/>
                  <a:ea typeface="Calibri (MS)"/>
                  <a:cs typeface="Calibri (MS)"/>
                  <a:sym typeface="Calibri (MS)"/>
                </a:rPr>
                <a:t>receiver.py commit size — prevents memory spikes</a:t>
              </a:r>
            </a:p>
          </p:txBody>
        </p:sp>
      </p:grpSp>
      <p:grpSp>
        <p:nvGrpSpPr>
          <p:cNvPr id="35" name="Group 35"/>
          <p:cNvGrpSpPr/>
          <p:nvPr/>
        </p:nvGrpSpPr>
        <p:grpSpPr>
          <a:xfrm>
            <a:off x="10963275" y="3968115"/>
            <a:ext cx="6465570" cy="1733550"/>
            <a:chOff x="0" y="0"/>
            <a:chExt cx="8620760" cy="2311400"/>
          </a:xfrm>
        </p:grpSpPr>
        <p:sp>
          <p:nvSpPr>
            <p:cNvPr id="36" name="Freeform 36"/>
            <p:cNvSpPr/>
            <p:nvPr/>
          </p:nvSpPr>
          <p:spPr>
            <a:xfrm>
              <a:off x="0" y="0"/>
              <a:ext cx="8620760" cy="2311400"/>
            </a:xfrm>
            <a:custGeom>
              <a:avLst/>
              <a:gdLst/>
              <a:ahLst/>
              <a:cxnLst/>
              <a:rect l="l" t="t" r="r" b="b"/>
              <a:pathLst>
                <a:path w="8620760" h="2311400">
                  <a:moveTo>
                    <a:pt x="0" y="147955"/>
                  </a:moveTo>
                  <a:cubicBezTo>
                    <a:pt x="0" y="66167"/>
                    <a:pt x="66167" y="0"/>
                    <a:pt x="147955" y="0"/>
                  </a:cubicBezTo>
                  <a:lnTo>
                    <a:pt x="8472805" y="0"/>
                  </a:lnTo>
                  <a:cubicBezTo>
                    <a:pt x="8554466" y="0"/>
                    <a:pt x="8620760" y="66167"/>
                    <a:pt x="8620760" y="147955"/>
                  </a:cubicBezTo>
                  <a:lnTo>
                    <a:pt x="8620760" y="2163445"/>
                  </a:lnTo>
                  <a:cubicBezTo>
                    <a:pt x="8620760" y="2245106"/>
                    <a:pt x="8554593" y="2311400"/>
                    <a:pt x="8472805" y="2311400"/>
                  </a:cubicBezTo>
                  <a:lnTo>
                    <a:pt x="147955" y="2311400"/>
                  </a:lnTo>
                  <a:cubicBezTo>
                    <a:pt x="66167" y="2311400"/>
                    <a:pt x="0" y="2245233"/>
                    <a:pt x="0" y="2163445"/>
                  </a:cubicBezTo>
                  <a:close/>
                </a:path>
              </a:pathLst>
            </a:custGeom>
            <a:solidFill>
              <a:srgbClr val="FFFFFF"/>
            </a:solidFill>
            <a:ln w="19050" cap="sq">
              <a:solidFill>
                <a:srgbClr val="DCE7E0"/>
              </a:solidFill>
              <a:prstDash val="solid"/>
              <a:miter/>
            </a:ln>
          </p:spPr>
          <p:txBody>
            <a:bodyPr/>
            <a:lstStyle/>
            <a:p>
              <a:endParaRPr lang="en-US"/>
            </a:p>
          </p:txBody>
        </p:sp>
      </p:grpSp>
      <p:grpSp>
        <p:nvGrpSpPr>
          <p:cNvPr id="37" name="Group 37"/>
          <p:cNvGrpSpPr/>
          <p:nvPr/>
        </p:nvGrpSpPr>
        <p:grpSpPr>
          <a:xfrm>
            <a:off x="11315700" y="4114800"/>
            <a:ext cx="5760720" cy="685800"/>
            <a:chOff x="0" y="0"/>
            <a:chExt cx="7680960" cy="914400"/>
          </a:xfrm>
        </p:grpSpPr>
        <p:sp>
          <p:nvSpPr>
            <p:cNvPr id="38" name="Freeform 38"/>
            <p:cNvSpPr/>
            <p:nvPr/>
          </p:nvSpPr>
          <p:spPr>
            <a:xfrm>
              <a:off x="0" y="0"/>
              <a:ext cx="7680960" cy="914400"/>
            </a:xfrm>
            <a:custGeom>
              <a:avLst/>
              <a:gdLst/>
              <a:ahLst/>
              <a:cxnLst/>
              <a:rect l="l" t="t" r="r" b="b"/>
              <a:pathLst>
                <a:path w="7680960" h="914400">
                  <a:moveTo>
                    <a:pt x="0" y="0"/>
                  </a:moveTo>
                  <a:lnTo>
                    <a:pt x="7680960" y="0"/>
                  </a:lnTo>
                  <a:lnTo>
                    <a:pt x="7680960" y="914400"/>
                  </a:lnTo>
                  <a:lnTo>
                    <a:pt x="0" y="914400"/>
                  </a:lnTo>
                  <a:close/>
                </a:path>
              </a:pathLst>
            </a:custGeom>
            <a:blipFill>
              <a:blip r:embed="rId3">
                <a:alphaModFix amt="0"/>
              </a:blip>
              <a:stretch>
                <a:fillRect t="-113674" b="-113674"/>
              </a:stretch>
            </a:blipFill>
          </p:spPr>
          <p:txBody>
            <a:bodyPr/>
            <a:lstStyle/>
            <a:p>
              <a:endParaRPr lang="en-US"/>
            </a:p>
          </p:txBody>
        </p:sp>
        <p:sp>
          <p:nvSpPr>
            <p:cNvPr id="39" name="TextBox 39"/>
            <p:cNvSpPr txBox="1"/>
            <p:nvPr/>
          </p:nvSpPr>
          <p:spPr>
            <a:xfrm>
              <a:off x="0" y="-19050"/>
              <a:ext cx="7680960" cy="933450"/>
            </a:xfrm>
            <a:prstGeom prst="rect">
              <a:avLst/>
            </a:prstGeom>
          </p:spPr>
          <p:txBody>
            <a:bodyPr lIns="0" tIns="0" rIns="0" bIns="0" rtlCol="0" anchor="ctr"/>
            <a:lstStyle/>
            <a:p>
              <a:pPr algn="l">
                <a:lnSpc>
                  <a:spcPts val="4320"/>
                </a:lnSpc>
              </a:pPr>
              <a:r>
                <a:rPr lang="en-US" sz="3600" b="1">
                  <a:solidFill>
                    <a:srgbClr val="FFB703"/>
                  </a:solidFill>
                  <a:latin typeface="Cambria Bold"/>
                  <a:ea typeface="Cambria Bold"/>
                  <a:cs typeface="Cambria Bold"/>
                  <a:sym typeface="Cambria Bold"/>
                </a:rPr>
                <a:t>30 days</a:t>
              </a:r>
            </a:p>
          </p:txBody>
        </p:sp>
      </p:grpSp>
      <p:grpSp>
        <p:nvGrpSpPr>
          <p:cNvPr id="40" name="Group 40"/>
          <p:cNvGrpSpPr/>
          <p:nvPr/>
        </p:nvGrpSpPr>
        <p:grpSpPr>
          <a:xfrm>
            <a:off x="11315700" y="4828032"/>
            <a:ext cx="5760720" cy="754380"/>
            <a:chOff x="0" y="0"/>
            <a:chExt cx="7680960" cy="1005840"/>
          </a:xfrm>
        </p:grpSpPr>
        <p:sp>
          <p:nvSpPr>
            <p:cNvPr id="41" name="Freeform 41"/>
            <p:cNvSpPr/>
            <p:nvPr/>
          </p:nvSpPr>
          <p:spPr>
            <a:xfrm>
              <a:off x="0" y="0"/>
              <a:ext cx="7680960" cy="1005840"/>
            </a:xfrm>
            <a:custGeom>
              <a:avLst/>
              <a:gdLst/>
              <a:ahLst/>
              <a:cxnLst/>
              <a:rect l="l" t="t" r="r" b="b"/>
              <a:pathLst>
                <a:path w="7680960" h="1005840">
                  <a:moveTo>
                    <a:pt x="0" y="0"/>
                  </a:moveTo>
                  <a:lnTo>
                    <a:pt x="7680960" y="0"/>
                  </a:lnTo>
                  <a:lnTo>
                    <a:pt x="7680960" y="1005840"/>
                  </a:lnTo>
                  <a:lnTo>
                    <a:pt x="0" y="1005840"/>
                  </a:lnTo>
                  <a:close/>
                </a:path>
              </a:pathLst>
            </a:custGeom>
            <a:blipFill>
              <a:blip r:embed="rId3">
                <a:alphaModFix amt="0"/>
              </a:blip>
              <a:stretch>
                <a:fillRect t="-98794" b="-98794"/>
              </a:stretch>
            </a:blipFill>
          </p:spPr>
          <p:txBody>
            <a:bodyPr/>
            <a:lstStyle/>
            <a:p>
              <a:endParaRPr lang="en-US"/>
            </a:p>
          </p:txBody>
        </p:sp>
        <p:sp>
          <p:nvSpPr>
            <p:cNvPr id="42" name="TextBox 42"/>
            <p:cNvSpPr txBox="1"/>
            <p:nvPr/>
          </p:nvSpPr>
          <p:spPr>
            <a:xfrm>
              <a:off x="0" y="-19050"/>
              <a:ext cx="7680960" cy="1024890"/>
            </a:xfrm>
            <a:prstGeom prst="rect">
              <a:avLst/>
            </a:prstGeom>
          </p:spPr>
          <p:txBody>
            <a:bodyPr lIns="0" tIns="0" rIns="0" bIns="0" rtlCol="0" anchor="ctr"/>
            <a:lstStyle/>
            <a:p>
              <a:pPr algn="l">
                <a:lnSpc>
                  <a:spcPts val="1889"/>
                </a:lnSpc>
              </a:pPr>
              <a:r>
                <a:rPr lang="en-US" sz="1575">
                  <a:solidFill>
                    <a:srgbClr val="5B6B72"/>
                  </a:solidFill>
                  <a:latin typeface="Calibri (MS)"/>
                  <a:ea typeface="Calibri (MS)"/>
                  <a:cs typeface="Calibri (MS)"/>
                  <a:sym typeface="Calibri (MS)"/>
                </a:rPr>
                <a:t>TimescaleDB retention — raw hypertables auto-discard older telemetry</a:t>
              </a:r>
            </a:p>
          </p:txBody>
        </p:sp>
      </p:grpSp>
      <p:grpSp>
        <p:nvGrpSpPr>
          <p:cNvPr id="43" name="Group 43"/>
          <p:cNvGrpSpPr/>
          <p:nvPr/>
        </p:nvGrpSpPr>
        <p:grpSpPr>
          <a:xfrm>
            <a:off x="822960" y="5966460"/>
            <a:ext cx="16596360" cy="3223260"/>
            <a:chOff x="0" y="0"/>
            <a:chExt cx="22128480" cy="4297680"/>
          </a:xfrm>
        </p:grpSpPr>
        <p:sp>
          <p:nvSpPr>
            <p:cNvPr id="44" name="Freeform 44"/>
            <p:cNvSpPr/>
            <p:nvPr/>
          </p:nvSpPr>
          <p:spPr>
            <a:xfrm>
              <a:off x="0" y="0"/>
              <a:ext cx="22128480" cy="4297680"/>
            </a:xfrm>
            <a:custGeom>
              <a:avLst/>
              <a:gdLst/>
              <a:ahLst/>
              <a:cxnLst/>
              <a:rect l="l" t="t" r="r" b="b"/>
              <a:pathLst>
                <a:path w="22128480" h="4297680">
                  <a:moveTo>
                    <a:pt x="0" y="182880"/>
                  </a:moveTo>
                  <a:cubicBezTo>
                    <a:pt x="0" y="81915"/>
                    <a:pt x="81915" y="0"/>
                    <a:pt x="182880" y="0"/>
                  </a:cubicBezTo>
                  <a:lnTo>
                    <a:pt x="21945600" y="0"/>
                  </a:lnTo>
                  <a:cubicBezTo>
                    <a:pt x="22046564" y="0"/>
                    <a:pt x="22128480" y="81915"/>
                    <a:pt x="22128480" y="182880"/>
                  </a:cubicBezTo>
                  <a:lnTo>
                    <a:pt x="22128480" y="4114800"/>
                  </a:lnTo>
                  <a:cubicBezTo>
                    <a:pt x="22128480" y="4215765"/>
                    <a:pt x="22046564" y="4297680"/>
                    <a:pt x="21945600" y="4297680"/>
                  </a:cubicBezTo>
                  <a:lnTo>
                    <a:pt x="182880" y="4297680"/>
                  </a:lnTo>
                  <a:cubicBezTo>
                    <a:pt x="81915" y="4297680"/>
                    <a:pt x="0" y="4215765"/>
                    <a:pt x="0" y="4114800"/>
                  </a:cubicBezTo>
                  <a:close/>
                </a:path>
              </a:pathLst>
            </a:custGeom>
            <a:solidFill>
              <a:srgbClr val="EAF2ED"/>
            </a:solidFill>
          </p:spPr>
          <p:txBody>
            <a:bodyPr/>
            <a:lstStyle/>
            <a:p>
              <a:endParaRPr lang="en-US"/>
            </a:p>
          </p:txBody>
        </p:sp>
      </p:grpSp>
      <p:grpSp>
        <p:nvGrpSpPr>
          <p:cNvPr id="45" name="Group 45"/>
          <p:cNvGrpSpPr/>
          <p:nvPr/>
        </p:nvGrpSpPr>
        <p:grpSpPr>
          <a:xfrm>
            <a:off x="1234440" y="6309360"/>
            <a:ext cx="8229600" cy="480060"/>
            <a:chOff x="0" y="0"/>
            <a:chExt cx="10972800" cy="640080"/>
          </a:xfrm>
        </p:grpSpPr>
        <p:sp>
          <p:nvSpPr>
            <p:cNvPr id="46" name="Freeform 46"/>
            <p:cNvSpPr/>
            <p:nvPr/>
          </p:nvSpPr>
          <p:spPr>
            <a:xfrm>
              <a:off x="0" y="0"/>
              <a:ext cx="10972800" cy="640080"/>
            </a:xfrm>
            <a:custGeom>
              <a:avLst/>
              <a:gdLst/>
              <a:ahLst/>
              <a:cxnLst/>
              <a:rect l="l" t="t" r="r" b="b"/>
              <a:pathLst>
                <a:path w="10972800" h="640080">
                  <a:moveTo>
                    <a:pt x="0" y="0"/>
                  </a:moveTo>
                  <a:lnTo>
                    <a:pt x="10972800" y="0"/>
                  </a:lnTo>
                  <a:lnTo>
                    <a:pt x="10972800" y="640080"/>
                  </a:lnTo>
                  <a:lnTo>
                    <a:pt x="0" y="640080"/>
                  </a:lnTo>
                  <a:close/>
                </a:path>
              </a:pathLst>
            </a:custGeom>
            <a:blipFill>
              <a:blip r:embed="rId3">
                <a:alphaModFix amt="0"/>
              </a:blip>
              <a:stretch>
                <a:fillRect t="-284029" b="-284029"/>
              </a:stretch>
            </a:blipFill>
          </p:spPr>
          <p:txBody>
            <a:bodyPr/>
            <a:lstStyle/>
            <a:p>
              <a:endParaRPr lang="en-US"/>
            </a:p>
          </p:txBody>
        </p:sp>
        <p:sp>
          <p:nvSpPr>
            <p:cNvPr id="47" name="TextBox 47"/>
            <p:cNvSpPr txBox="1"/>
            <p:nvPr/>
          </p:nvSpPr>
          <p:spPr>
            <a:xfrm>
              <a:off x="0" y="-38100"/>
              <a:ext cx="10972800" cy="678180"/>
            </a:xfrm>
            <a:prstGeom prst="rect">
              <a:avLst/>
            </a:prstGeom>
          </p:spPr>
          <p:txBody>
            <a:bodyPr lIns="0" tIns="0" rIns="0" bIns="0" rtlCol="0" anchor="ctr"/>
            <a:lstStyle/>
            <a:p>
              <a:pPr algn="l">
                <a:lnSpc>
                  <a:spcPts val="2070"/>
                </a:lnSpc>
              </a:pPr>
              <a:r>
                <a:rPr lang="en-US" sz="1725" b="1" spc="225">
                  <a:solidFill>
                    <a:srgbClr val="40916C"/>
                  </a:solidFill>
                  <a:latin typeface="Calibri (MS) Bold"/>
                  <a:ea typeface="Calibri (MS) Bold"/>
                  <a:cs typeface="Calibri (MS) Bold"/>
                  <a:sym typeface="Calibri (MS) Bold"/>
                </a:rPr>
                <a:t>CONTINUOUS AGGREGATES</a:t>
              </a:r>
            </a:p>
          </p:txBody>
        </p:sp>
      </p:grpSp>
      <p:grpSp>
        <p:nvGrpSpPr>
          <p:cNvPr id="48" name="Group 48"/>
          <p:cNvGrpSpPr/>
          <p:nvPr/>
        </p:nvGrpSpPr>
        <p:grpSpPr>
          <a:xfrm>
            <a:off x="1234440" y="6830568"/>
            <a:ext cx="10972800" cy="548640"/>
            <a:chOff x="0" y="0"/>
            <a:chExt cx="14630400" cy="731520"/>
          </a:xfrm>
        </p:grpSpPr>
        <p:sp>
          <p:nvSpPr>
            <p:cNvPr id="49" name="Freeform 49"/>
            <p:cNvSpPr/>
            <p:nvPr/>
          </p:nvSpPr>
          <p:spPr>
            <a:xfrm>
              <a:off x="0" y="0"/>
              <a:ext cx="14630400" cy="731520"/>
            </a:xfrm>
            <a:custGeom>
              <a:avLst/>
              <a:gdLst/>
              <a:ahLst/>
              <a:cxnLst/>
              <a:rect l="l" t="t" r="r" b="b"/>
              <a:pathLst>
                <a:path w="14630400" h="731520">
                  <a:moveTo>
                    <a:pt x="0" y="0"/>
                  </a:moveTo>
                  <a:lnTo>
                    <a:pt x="14630400" y="0"/>
                  </a:lnTo>
                  <a:lnTo>
                    <a:pt x="14630400" y="731520"/>
                  </a:lnTo>
                  <a:lnTo>
                    <a:pt x="0" y="731520"/>
                  </a:lnTo>
                  <a:close/>
                </a:path>
              </a:pathLst>
            </a:custGeom>
            <a:blipFill>
              <a:blip r:embed="rId3">
                <a:alphaModFix amt="0"/>
              </a:blip>
              <a:stretch>
                <a:fillRect t="-339700" b="-339700"/>
              </a:stretch>
            </a:blipFill>
          </p:spPr>
          <p:txBody>
            <a:bodyPr/>
            <a:lstStyle/>
            <a:p>
              <a:endParaRPr lang="en-US"/>
            </a:p>
          </p:txBody>
        </p:sp>
        <p:sp>
          <p:nvSpPr>
            <p:cNvPr id="50" name="TextBox 50"/>
            <p:cNvSpPr txBox="1"/>
            <p:nvPr/>
          </p:nvSpPr>
          <p:spPr>
            <a:xfrm>
              <a:off x="0" y="-38100"/>
              <a:ext cx="14630400" cy="769620"/>
            </a:xfrm>
            <a:prstGeom prst="rect">
              <a:avLst/>
            </a:prstGeom>
          </p:spPr>
          <p:txBody>
            <a:bodyPr lIns="0" tIns="0" rIns="0" bIns="0" rtlCol="0" anchor="ctr"/>
            <a:lstStyle/>
            <a:p>
              <a:pPr algn="l">
                <a:lnSpc>
                  <a:spcPts val="2070"/>
                </a:lnSpc>
              </a:pPr>
              <a:r>
                <a:rPr lang="en-US" sz="1725">
                  <a:solidFill>
                    <a:srgbClr val="0D1B2A"/>
                  </a:solidFill>
                  <a:latin typeface="Calibri (MS)"/>
                  <a:ea typeface="Calibri (MS)"/>
                  <a:cs typeface="Calibri (MS)"/>
                  <a:sym typeface="Calibri (MS)"/>
                </a:rPr>
                <a:t>Materialized views reduce query load for ML models by pre-compiling rollups:</a:t>
              </a:r>
            </a:p>
          </p:txBody>
        </p:sp>
      </p:grpSp>
      <p:grpSp>
        <p:nvGrpSpPr>
          <p:cNvPr id="51" name="Group 51"/>
          <p:cNvGrpSpPr/>
          <p:nvPr/>
        </p:nvGrpSpPr>
        <p:grpSpPr>
          <a:xfrm>
            <a:off x="1234440" y="7612380"/>
            <a:ext cx="7680960" cy="1303020"/>
            <a:chOff x="0" y="0"/>
            <a:chExt cx="10241280" cy="1737360"/>
          </a:xfrm>
        </p:grpSpPr>
        <p:sp>
          <p:nvSpPr>
            <p:cNvPr id="52" name="Freeform 52"/>
            <p:cNvSpPr/>
            <p:nvPr/>
          </p:nvSpPr>
          <p:spPr>
            <a:xfrm>
              <a:off x="0" y="0"/>
              <a:ext cx="10241280" cy="1737360"/>
            </a:xfrm>
            <a:custGeom>
              <a:avLst/>
              <a:gdLst/>
              <a:ahLst/>
              <a:cxnLst/>
              <a:rect l="l" t="t" r="r" b="b"/>
              <a:pathLst>
                <a:path w="10241280" h="1737360">
                  <a:moveTo>
                    <a:pt x="0" y="146304"/>
                  </a:moveTo>
                  <a:cubicBezTo>
                    <a:pt x="0" y="65532"/>
                    <a:pt x="65532" y="0"/>
                    <a:pt x="146304" y="0"/>
                  </a:cubicBezTo>
                  <a:lnTo>
                    <a:pt x="10094976" y="0"/>
                  </a:lnTo>
                  <a:cubicBezTo>
                    <a:pt x="10175748" y="0"/>
                    <a:pt x="10241280" y="65532"/>
                    <a:pt x="10241280" y="146304"/>
                  </a:cubicBezTo>
                  <a:lnTo>
                    <a:pt x="10241280" y="1591056"/>
                  </a:lnTo>
                  <a:cubicBezTo>
                    <a:pt x="10241280" y="1671828"/>
                    <a:pt x="10175748" y="1737360"/>
                    <a:pt x="10094976" y="1737360"/>
                  </a:cubicBezTo>
                  <a:lnTo>
                    <a:pt x="146304" y="1737360"/>
                  </a:lnTo>
                  <a:cubicBezTo>
                    <a:pt x="65532" y="1737360"/>
                    <a:pt x="0" y="1671828"/>
                    <a:pt x="0" y="1591056"/>
                  </a:cubicBezTo>
                  <a:close/>
                </a:path>
              </a:pathLst>
            </a:custGeom>
            <a:solidFill>
              <a:srgbClr val="FFFFFF"/>
            </a:solidFill>
          </p:spPr>
          <p:txBody>
            <a:bodyPr/>
            <a:lstStyle/>
            <a:p>
              <a:endParaRPr lang="en-US"/>
            </a:p>
          </p:txBody>
        </p:sp>
      </p:grpSp>
      <p:grpSp>
        <p:nvGrpSpPr>
          <p:cNvPr id="53" name="Group 53"/>
          <p:cNvGrpSpPr/>
          <p:nvPr/>
        </p:nvGrpSpPr>
        <p:grpSpPr>
          <a:xfrm>
            <a:off x="1577340" y="7749540"/>
            <a:ext cx="6858000" cy="438912"/>
            <a:chOff x="0" y="0"/>
            <a:chExt cx="9144000" cy="585216"/>
          </a:xfrm>
        </p:grpSpPr>
        <p:sp>
          <p:nvSpPr>
            <p:cNvPr id="54" name="Freeform 54"/>
            <p:cNvSpPr/>
            <p:nvPr/>
          </p:nvSpPr>
          <p:spPr>
            <a:xfrm>
              <a:off x="0" y="0"/>
              <a:ext cx="9144000" cy="585216"/>
            </a:xfrm>
            <a:custGeom>
              <a:avLst/>
              <a:gdLst/>
              <a:ahLst/>
              <a:cxnLst/>
              <a:rect l="l" t="t" r="r" b="b"/>
              <a:pathLst>
                <a:path w="9144000" h="585216">
                  <a:moveTo>
                    <a:pt x="0" y="0"/>
                  </a:moveTo>
                  <a:lnTo>
                    <a:pt x="9144000" y="0"/>
                  </a:lnTo>
                  <a:lnTo>
                    <a:pt x="9144000" y="585216"/>
                  </a:lnTo>
                  <a:lnTo>
                    <a:pt x="0" y="585216"/>
                  </a:lnTo>
                  <a:close/>
                </a:path>
              </a:pathLst>
            </a:custGeom>
            <a:blipFill>
              <a:blip r:embed="rId3">
                <a:alphaModFix amt="0"/>
              </a:blip>
              <a:stretch>
                <a:fillRect t="-254453" b="-254453"/>
              </a:stretch>
            </a:blipFill>
          </p:spPr>
          <p:txBody>
            <a:bodyPr/>
            <a:lstStyle/>
            <a:p>
              <a:endParaRPr lang="en-US"/>
            </a:p>
          </p:txBody>
        </p:sp>
        <p:sp>
          <p:nvSpPr>
            <p:cNvPr id="55" name="TextBox 55"/>
            <p:cNvSpPr txBox="1"/>
            <p:nvPr/>
          </p:nvSpPr>
          <p:spPr>
            <a:xfrm>
              <a:off x="0" y="-38100"/>
              <a:ext cx="9144000" cy="623316"/>
            </a:xfrm>
            <a:prstGeom prst="rect">
              <a:avLst/>
            </a:prstGeom>
          </p:spPr>
          <p:txBody>
            <a:bodyPr lIns="0" tIns="0" rIns="0" bIns="0" rtlCol="0" anchor="ctr"/>
            <a:lstStyle/>
            <a:p>
              <a:pPr algn="l">
                <a:lnSpc>
                  <a:spcPts val="2250"/>
                </a:lnSpc>
              </a:pPr>
              <a:r>
                <a:rPr lang="en-US" sz="1875" b="1">
                  <a:solidFill>
                    <a:srgbClr val="0D1B2A"/>
                  </a:solidFill>
                  <a:latin typeface="Calibri (MS) Bold"/>
                  <a:ea typeface="Calibri (MS) Bold"/>
                  <a:cs typeface="Calibri (MS) Bold"/>
                  <a:sym typeface="Calibri (MS) Bold"/>
                </a:rPr>
                <a:t>Solar metrics</a:t>
              </a:r>
            </a:p>
          </p:txBody>
        </p:sp>
      </p:grpSp>
      <p:grpSp>
        <p:nvGrpSpPr>
          <p:cNvPr id="56" name="Group 56"/>
          <p:cNvGrpSpPr/>
          <p:nvPr/>
        </p:nvGrpSpPr>
        <p:grpSpPr>
          <a:xfrm>
            <a:off x="1577340" y="8202168"/>
            <a:ext cx="6858000" cy="480060"/>
            <a:chOff x="0" y="0"/>
            <a:chExt cx="9144000" cy="640080"/>
          </a:xfrm>
        </p:grpSpPr>
        <p:sp>
          <p:nvSpPr>
            <p:cNvPr id="57" name="Freeform 57"/>
            <p:cNvSpPr/>
            <p:nvPr/>
          </p:nvSpPr>
          <p:spPr>
            <a:xfrm>
              <a:off x="0" y="0"/>
              <a:ext cx="9144000" cy="640080"/>
            </a:xfrm>
            <a:custGeom>
              <a:avLst/>
              <a:gdLst/>
              <a:ahLst/>
              <a:cxnLst/>
              <a:rect l="l" t="t" r="r" b="b"/>
              <a:pathLst>
                <a:path w="9144000" h="640080">
                  <a:moveTo>
                    <a:pt x="0" y="0"/>
                  </a:moveTo>
                  <a:lnTo>
                    <a:pt x="9144000" y="0"/>
                  </a:lnTo>
                  <a:lnTo>
                    <a:pt x="9144000" y="640080"/>
                  </a:lnTo>
                  <a:lnTo>
                    <a:pt x="0" y="640080"/>
                  </a:lnTo>
                  <a:close/>
                </a:path>
              </a:pathLst>
            </a:custGeom>
            <a:blipFill>
              <a:blip r:embed="rId3">
                <a:alphaModFix amt="0"/>
              </a:blip>
              <a:stretch>
                <a:fillRect t="-228357" b="-228357"/>
              </a:stretch>
            </a:blipFill>
          </p:spPr>
          <p:txBody>
            <a:bodyPr/>
            <a:lstStyle/>
            <a:p>
              <a:endParaRPr lang="en-US"/>
            </a:p>
          </p:txBody>
        </p:sp>
        <p:sp>
          <p:nvSpPr>
            <p:cNvPr id="58" name="TextBox 58"/>
            <p:cNvSpPr txBox="1"/>
            <p:nvPr/>
          </p:nvSpPr>
          <p:spPr>
            <a:xfrm>
              <a:off x="0" y="-28575"/>
              <a:ext cx="9144000" cy="668655"/>
            </a:xfrm>
            <a:prstGeom prst="rect">
              <a:avLst/>
            </a:prstGeom>
          </p:spPr>
          <p:txBody>
            <a:bodyPr lIns="0" tIns="0" rIns="0" bIns="0" rtlCol="0" anchor="ctr"/>
            <a:lstStyle/>
            <a:p>
              <a:pPr algn="l">
                <a:lnSpc>
                  <a:spcPts val="1980"/>
                </a:lnSpc>
              </a:pPr>
              <a:r>
                <a:rPr lang="en-US" sz="1650">
                  <a:solidFill>
                    <a:srgbClr val="5B6B72"/>
                  </a:solidFill>
                  <a:latin typeface="Calibri (MS)"/>
                  <a:ea typeface="Calibri (MS)"/>
                  <a:cs typeface="Calibri (MS)"/>
                  <a:sym typeface="Calibri (MS)"/>
                </a:rPr>
                <a:t>15-minute rollups</a:t>
              </a:r>
            </a:p>
          </p:txBody>
        </p:sp>
      </p:grpSp>
      <p:grpSp>
        <p:nvGrpSpPr>
          <p:cNvPr id="59" name="Group 59"/>
          <p:cNvGrpSpPr/>
          <p:nvPr/>
        </p:nvGrpSpPr>
        <p:grpSpPr>
          <a:xfrm>
            <a:off x="9258300" y="7612380"/>
            <a:ext cx="7680960" cy="1303020"/>
            <a:chOff x="0" y="0"/>
            <a:chExt cx="10241280" cy="1737360"/>
          </a:xfrm>
        </p:grpSpPr>
        <p:sp>
          <p:nvSpPr>
            <p:cNvPr id="60" name="Freeform 60"/>
            <p:cNvSpPr/>
            <p:nvPr/>
          </p:nvSpPr>
          <p:spPr>
            <a:xfrm>
              <a:off x="0" y="0"/>
              <a:ext cx="10241280" cy="1737360"/>
            </a:xfrm>
            <a:custGeom>
              <a:avLst/>
              <a:gdLst/>
              <a:ahLst/>
              <a:cxnLst/>
              <a:rect l="l" t="t" r="r" b="b"/>
              <a:pathLst>
                <a:path w="10241280" h="1737360">
                  <a:moveTo>
                    <a:pt x="0" y="146304"/>
                  </a:moveTo>
                  <a:cubicBezTo>
                    <a:pt x="0" y="65532"/>
                    <a:pt x="65532" y="0"/>
                    <a:pt x="146304" y="0"/>
                  </a:cubicBezTo>
                  <a:lnTo>
                    <a:pt x="10094976" y="0"/>
                  </a:lnTo>
                  <a:cubicBezTo>
                    <a:pt x="10175748" y="0"/>
                    <a:pt x="10241280" y="65532"/>
                    <a:pt x="10241280" y="146304"/>
                  </a:cubicBezTo>
                  <a:lnTo>
                    <a:pt x="10241280" y="1591056"/>
                  </a:lnTo>
                  <a:cubicBezTo>
                    <a:pt x="10241280" y="1671828"/>
                    <a:pt x="10175748" y="1737360"/>
                    <a:pt x="10094976" y="1737360"/>
                  </a:cubicBezTo>
                  <a:lnTo>
                    <a:pt x="146304" y="1737360"/>
                  </a:lnTo>
                  <a:cubicBezTo>
                    <a:pt x="65532" y="1737360"/>
                    <a:pt x="0" y="1671828"/>
                    <a:pt x="0" y="1591056"/>
                  </a:cubicBezTo>
                  <a:close/>
                </a:path>
              </a:pathLst>
            </a:custGeom>
            <a:solidFill>
              <a:srgbClr val="FFFFFF"/>
            </a:solidFill>
          </p:spPr>
          <p:txBody>
            <a:bodyPr/>
            <a:lstStyle/>
            <a:p>
              <a:endParaRPr lang="en-US"/>
            </a:p>
          </p:txBody>
        </p:sp>
      </p:grpSp>
      <p:grpSp>
        <p:nvGrpSpPr>
          <p:cNvPr id="61" name="Group 61"/>
          <p:cNvGrpSpPr/>
          <p:nvPr/>
        </p:nvGrpSpPr>
        <p:grpSpPr>
          <a:xfrm>
            <a:off x="9601200" y="7749540"/>
            <a:ext cx="6858000" cy="438912"/>
            <a:chOff x="0" y="0"/>
            <a:chExt cx="9144000" cy="585216"/>
          </a:xfrm>
        </p:grpSpPr>
        <p:sp>
          <p:nvSpPr>
            <p:cNvPr id="62" name="Freeform 62"/>
            <p:cNvSpPr/>
            <p:nvPr/>
          </p:nvSpPr>
          <p:spPr>
            <a:xfrm>
              <a:off x="0" y="0"/>
              <a:ext cx="9144000" cy="585216"/>
            </a:xfrm>
            <a:custGeom>
              <a:avLst/>
              <a:gdLst/>
              <a:ahLst/>
              <a:cxnLst/>
              <a:rect l="l" t="t" r="r" b="b"/>
              <a:pathLst>
                <a:path w="9144000" h="585216">
                  <a:moveTo>
                    <a:pt x="0" y="0"/>
                  </a:moveTo>
                  <a:lnTo>
                    <a:pt x="9144000" y="0"/>
                  </a:lnTo>
                  <a:lnTo>
                    <a:pt x="9144000" y="585216"/>
                  </a:lnTo>
                  <a:lnTo>
                    <a:pt x="0" y="585216"/>
                  </a:lnTo>
                  <a:close/>
                </a:path>
              </a:pathLst>
            </a:custGeom>
            <a:blipFill>
              <a:blip r:embed="rId3">
                <a:alphaModFix amt="0"/>
              </a:blip>
              <a:stretch>
                <a:fillRect t="-254453" b="-254453"/>
              </a:stretch>
            </a:blipFill>
          </p:spPr>
          <p:txBody>
            <a:bodyPr/>
            <a:lstStyle/>
            <a:p>
              <a:endParaRPr lang="en-US"/>
            </a:p>
          </p:txBody>
        </p:sp>
        <p:sp>
          <p:nvSpPr>
            <p:cNvPr id="63" name="TextBox 63"/>
            <p:cNvSpPr txBox="1"/>
            <p:nvPr/>
          </p:nvSpPr>
          <p:spPr>
            <a:xfrm>
              <a:off x="0" y="-38100"/>
              <a:ext cx="9144000" cy="623316"/>
            </a:xfrm>
            <a:prstGeom prst="rect">
              <a:avLst/>
            </a:prstGeom>
          </p:spPr>
          <p:txBody>
            <a:bodyPr lIns="0" tIns="0" rIns="0" bIns="0" rtlCol="0" anchor="ctr"/>
            <a:lstStyle/>
            <a:p>
              <a:pPr algn="l">
                <a:lnSpc>
                  <a:spcPts val="2250"/>
                </a:lnSpc>
              </a:pPr>
              <a:r>
                <a:rPr lang="en-US" sz="1875" b="1">
                  <a:solidFill>
                    <a:srgbClr val="0D1B2A"/>
                  </a:solidFill>
                  <a:latin typeface="Calibri (MS) Bold"/>
                  <a:ea typeface="Calibri (MS) Bold"/>
                  <a:cs typeface="Calibri (MS) Bold"/>
                  <a:sym typeface="Calibri (MS) Bold"/>
                </a:rPr>
                <a:t>Wind metrics</a:t>
              </a:r>
            </a:p>
          </p:txBody>
        </p:sp>
      </p:grpSp>
      <p:grpSp>
        <p:nvGrpSpPr>
          <p:cNvPr id="64" name="Group 64"/>
          <p:cNvGrpSpPr/>
          <p:nvPr/>
        </p:nvGrpSpPr>
        <p:grpSpPr>
          <a:xfrm>
            <a:off x="9601200" y="8202168"/>
            <a:ext cx="6858000" cy="480060"/>
            <a:chOff x="0" y="0"/>
            <a:chExt cx="9144000" cy="640080"/>
          </a:xfrm>
        </p:grpSpPr>
        <p:sp>
          <p:nvSpPr>
            <p:cNvPr id="65" name="Freeform 65"/>
            <p:cNvSpPr/>
            <p:nvPr/>
          </p:nvSpPr>
          <p:spPr>
            <a:xfrm>
              <a:off x="0" y="0"/>
              <a:ext cx="9144000" cy="640080"/>
            </a:xfrm>
            <a:custGeom>
              <a:avLst/>
              <a:gdLst/>
              <a:ahLst/>
              <a:cxnLst/>
              <a:rect l="l" t="t" r="r" b="b"/>
              <a:pathLst>
                <a:path w="9144000" h="640080">
                  <a:moveTo>
                    <a:pt x="0" y="0"/>
                  </a:moveTo>
                  <a:lnTo>
                    <a:pt x="9144000" y="0"/>
                  </a:lnTo>
                  <a:lnTo>
                    <a:pt x="9144000" y="640080"/>
                  </a:lnTo>
                  <a:lnTo>
                    <a:pt x="0" y="640080"/>
                  </a:lnTo>
                  <a:close/>
                </a:path>
              </a:pathLst>
            </a:custGeom>
            <a:blipFill>
              <a:blip r:embed="rId3">
                <a:alphaModFix amt="0"/>
              </a:blip>
              <a:stretch>
                <a:fillRect t="-228357" b="-228357"/>
              </a:stretch>
            </a:blipFill>
          </p:spPr>
          <p:txBody>
            <a:bodyPr/>
            <a:lstStyle/>
            <a:p>
              <a:endParaRPr lang="en-US"/>
            </a:p>
          </p:txBody>
        </p:sp>
        <p:sp>
          <p:nvSpPr>
            <p:cNvPr id="66" name="TextBox 66"/>
            <p:cNvSpPr txBox="1"/>
            <p:nvPr/>
          </p:nvSpPr>
          <p:spPr>
            <a:xfrm>
              <a:off x="0" y="-28575"/>
              <a:ext cx="9144000" cy="668655"/>
            </a:xfrm>
            <a:prstGeom prst="rect">
              <a:avLst/>
            </a:prstGeom>
          </p:spPr>
          <p:txBody>
            <a:bodyPr lIns="0" tIns="0" rIns="0" bIns="0" rtlCol="0" anchor="ctr"/>
            <a:lstStyle/>
            <a:p>
              <a:pPr algn="l">
                <a:lnSpc>
                  <a:spcPts val="1980"/>
                </a:lnSpc>
              </a:pPr>
              <a:r>
                <a:rPr lang="en-US" sz="1650">
                  <a:solidFill>
                    <a:srgbClr val="5B6B72"/>
                  </a:solidFill>
                  <a:latin typeface="Calibri (MS)"/>
                  <a:ea typeface="Calibri (MS)"/>
                  <a:cs typeface="Calibri (MS)"/>
                  <a:sym typeface="Calibri (MS)"/>
                </a:rPr>
                <a:t>1-hour rollups</a:t>
              </a:r>
            </a:p>
          </p:txBody>
        </p:sp>
      </p:grpSp>
      <p:grpSp>
        <p:nvGrpSpPr>
          <p:cNvPr id="67" name="Group 67"/>
          <p:cNvGrpSpPr/>
          <p:nvPr/>
        </p:nvGrpSpPr>
        <p:grpSpPr>
          <a:xfrm>
            <a:off x="17282160" y="9710928"/>
            <a:ext cx="822960" cy="411480"/>
            <a:chOff x="0" y="0"/>
            <a:chExt cx="1097280" cy="548640"/>
          </a:xfrm>
        </p:grpSpPr>
        <p:sp>
          <p:nvSpPr>
            <p:cNvPr id="68" name="Freeform 68"/>
            <p:cNvSpPr/>
            <p:nvPr/>
          </p:nvSpPr>
          <p:spPr>
            <a:xfrm>
              <a:off x="0" y="0"/>
              <a:ext cx="1097280" cy="548640"/>
            </a:xfrm>
            <a:custGeom>
              <a:avLst/>
              <a:gdLst/>
              <a:ahLst/>
              <a:cxnLst/>
              <a:rect l="l" t="t" r="r" b="b"/>
              <a:pathLst>
                <a:path w="1097280" h="548640">
                  <a:moveTo>
                    <a:pt x="0" y="0"/>
                  </a:moveTo>
                  <a:lnTo>
                    <a:pt x="1097280" y="0"/>
                  </a:lnTo>
                  <a:lnTo>
                    <a:pt x="1097280" y="548640"/>
                  </a:lnTo>
                  <a:lnTo>
                    <a:pt x="0" y="548640"/>
                  </a:lnTo>
                  <a:close/>
                </a:path>
              </a:pathLst>
            </a:custGeom>
            <a:blipFill>
              <a:blip r:embed="rId3">
                <a:alphaModFix amt="0"/>
              </a:blip>
              <a:stretch>
                <a:fillRect l="-14151" r="-14151"/>
              </a:stretch>
            </a:blipFill>
          </p:spPr>
          <p:txBody>
            <a:bodyPr/>
            <a:lstStyle/>
            <a:p>
              <a:endParaRPr lang="en-US"/>
            </a:p>
          </p:txBody>
        </p:sp>
        <p:sp>
          <p:nvSpPr>
            <p:cNvPr id="69" name="TextBox 69"/>
            <p:cNvSpPr txBox="1"/>
            <p:nvPr/>
          </p:nvSpPr>
          <p:spPr>
            <a:xfrm>
              <a:off x="0" y="-38100"/>
              <a:ext cx="1097280" cy="586740"/>
            </a:xfrm>
            <a:prstGeom prst="rect">
              <a:avLst/>
            </a:prstGeom>
          </p:spPr>
          <p:txBody>
            <a:bodyPr lIns="0" tIns="0" rIns="0" bIns="0" rtlCol="0" anchor="ctr"/>
            <a:lstStyle/>
            <a:p>
              <a:pPr algn="r">
                <a:lnSpc>
                  <a:spcPts val="1800"/>
                </a:lnSpc>
              </a:pPr>
              <a:r>
                <a:rPr lang="en-US" sz="1500">
                  <a:solidFill>
                    <a:srgbClr val="5B6B72"/>
                  </a:solidFill>
                  <a:latin typeface="Calibri (MS)"/>
                  <a:ea typeface="Calibri (MS)"/>
                  <a:cs typeface="Calibri (MS)"/>
                  <a:sym typeface="Calibri (MS)"/>
                </a:rPr>
                <a:t>08</a:t>
              </a: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grpSp>
        <p:nvGrpSpPr>
          <p:cNvPr id="2" name="Group 2"/>
          <p:cNvGrpSpPr/>
          <p:nvPr/>
        </p:nvGrpSpPr>
        <p:grpSpPr>
          <a:xfrm>
            <a:off x="813435" y="-9525"/>
            <a:ext cx="19050" cy="10306050"/>
            <a:chOff x="0" y="0"/>
            <a:chExt cx="25400" cy="13741400"/>
          </a:xfrm>
        </p:grpSpPr>
        <p:sp>
          <p:nvSpPr>
            <p:cNvPr id="3" name="Freeform 3"/>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4" name="Group 4"/>
          <p:cNvGrpSpPr/>
          <p:nvPr/>
        </p:nvGrpSpPr>
        <p:grpSpPr>
          <a:xfrm>
            <a:off x="2253615" y="-9525"/>
            <a:ext cx="19050" cy="10306050"/>
            <a:chOff x="0" y="0"/>
            <a:chExt cx="25400" cy="13741400"/>
          </a:xfrm>
        </p:grpSpPr>
        <p:sp>
          <p:nvSpPr>
            <p:cNvPr id="5" name="Freeform 5"/>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6" name="Group 6"/>
          <p:cNvGrpSpPr/>
          <p:nvPr/>
        </p:nvGrpSpPr>
        <p:grpSpPr>
          <a:xfrm>
            <a:off x="3693795" y="-9525"/>
            <a:ext cx="19050" cy="10306050"/>
            <a:chOff x="0" y="0"/>
            <a:chExt cx="25400" cy="13741400"/>
          </a:xfrm>
        </p:grpSpPr>
        <p:sp>
          <p:nvSpPr>
            <p:cNvPr id="7" name="Freeform 7"/>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8" name="Group 8"/>
          <p:cNvGrpSpPr/>
          <p:nvPr/>
        </p:nvGrpSpPr>
        <p:grpSpPr>
          <a:xfrm>
            <a:off x="5133975" y="-9525"/>
            <a:ext cx="19050" cy="10306050"/>
            <a:chOff x="0" y="0"/>
            <a:chExt cx="25400" cy="13741400"/>
          </a:xfrm>
        </p:grpSpPr>
        <p:sp>
          <p:nvSpPr>
            <p:cNvPr id="9" name="Freeform 9"/>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10" name="Group 10"/>
          <p:cNvGrpSpPr/>
          <p:nvPr/>
        </p:nvGrpSpPr>
        <p:grpSpPr>
          <a:xfrm>
            <a:off x="6574155" y="-9525"/>
            <a:ext cx="19050" cy="10306050"/>
            <a:chOff x="0" y="0"/>
            <a:chExt cx="25400" cy="13741400"/>
          </a:xfrm>
        </p:grpSpPr>
        <p:sp>
          <p:nvSpPr>
            <p:cNvPr id="11" name="Freeform 11"/>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12" name="Group 12"/>
          <p:cNvGrpSpPr/>
          <p:nvPr/>
        </p:nvGrpSpPr>
        <p:grpSpPr>
          <a:xfrm>
            <a:off x="8014335" y="-9525"/>
            <a:ext cx="19050" cy="10306050"/>
            <a:chOff x="0" y="0"/>
            <a:chExt cx="25400" cy="13741400"/>
          </a:xfrm>
        </p:grpSpPr>
        <p:sp>
          <p:nvSpPr>
            <p:cNvPr id="13" name="Freeform 13"/>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14" name="Group 14"/>
          <p:cNvGrpSpPr/>
          <p:nvPr/>
        </p:nvGrpSpPr>
        <p:grpSpPr>
          <a:xfrm>
            <a:off x="9454515" y="-9525"/>
            <a:ext cx="19050" cy="10306050"/>
            <a:chOff x="0" y="0"/>
            <a:chExt cx="25400" cy="13741400"/>
          </a:xfrm>
        </p:grpSpPr>
        <p:sp>
          <p:nvSpPr>
            <p:cNvPr id="15" name="Freeform 15"/>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16" name="Group 16"/>
          <p:cNvGrpSpPr/>
          <p:nvPr/>
        </p:nvGrpSpPr>
        <p:grpSpPr>
          <a:xfrm>
            <a:off x="10894695" y="-9525"/>
            <a:ext cx="19050" cy="10306050"/>
            <a:chOff x="0" y="0"/>
            <a:chExt cx="25400" cy="13741400"/>
          </a:xfrm>
        </p:grpSpPr>
        <p:sp>
          <p:nvSpPr>
            <p:cNvPr id="17" name="Freeform 17"/>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18" name="Group 18"/>
          <p:cNvGrpSpPr/>
          <p:nvPr/>
        </p:nvGrpSpPr>
        <p:grpSpPr>
          <a:xfrm>
            <a:off x="12334875" y="-9525"/>
            <a:ext cx="19050" cy="10306050"/>
            <a:chOff x="0" y="0"/>
            <a:chExt cx="25400" cy="13741400"/>
          </a:xfrm>
        </p:grpSpPr>
        <p:sp>
          <p:nvSpPr>
            <p:cNvPr id="19" name="Freeform 19"/>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20" name="Group 20"/>
          <p:cNvGrpSpPr/>
          <p:nvPr/>
        </p:nvGrpSpPr>
        <p:grpSpPr>
          <a:xfrm>
            <a:off x="13775055" y="-9525"/>
            <a:ext cx="19050" cy="10306050"/>
            <a:chOff x="0" y="0"/>
            <a:chExt cx="25400" cy="13741400"/>
          </a:xfrm>
        </p:grpSpPr>
        <p:sp>
          <p:nvSpPr>
            <p:cNvPr id="21" name="Freeform 21"/>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22" name="Group 22"/>
          <p:cNvGrpSpPr/>
          <p:nvPr/>
        </p:nvGrpSpPr>
        <p:grpSpPr>
          <a:xfrm>
            <a:off x="15215235" y="-9525"/>
            <a:ext cx="19050" cy="10306050"/>
            <a:chOff x="0" y="0"/>
            <a:chExt cx="25400" cy="13741400"/>
          </a:xfrm>
        </p:grpSpPr>
        <p:sp>
          <p:nvSpPr>
            <p:cNvPr id="23" name="Freeform 23"/>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24" name="Group 24"/>
          <p:cNvGrpSpPr/>
          <p:nvPr/>
        </p:nvGrpSpPr>
        <p:grpSpPr>
          <a:xfrm>
            <a:off x="16655415" y="-9525"/>
            <a:ext cx="19050" cy="10306050"/>
            <a:chOff x="0" y="0"/>
            <a:chExt cx="25400" cy="13741400"/>
          </a:xfrm>
        </p:grpSpPr>
        <p:sp>
          <p:nvSpPr>
            <p:cNvPr id="25" name="Freeform 25"/>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26" name="Group 26"/>
          <p:cNvGrpSpPr/>
          <p:nvPr/>
        </p:nvGrpSpPr>
        <p:grpSpPr>
          <a:xfrm>
            <a:off x="960120" y="2057400"/>
            <a:ext cx="6172200" cy="3017520"/>
            <a:chOff x="0" y="0"/>
            <a:chExt cx="8229600" cy="4023360"/>
          </a:xfrm>
        </p:grpSpPr>
        <p:sp>
          <p:nvSpPr>
            <p:cNvPr id="27" name="Freeform 27"/>
            <p:cNvSpPr/>
            <p:nvPr/>
          </p:nvSpPr>
          <p:spPr>
            <a:xfrm>
              <a:off x="0" y="0"/>
              <a:ext cx="8229600" cy="4023360"/>
            </a:xfrm>
            <a:custGeom>
              <a:avLst/>
              <a:gdLst/>
              <a:ahLst/>
              <a:cxnLst/>
              <a:rect l="l" t="t" r="r" b="b"/>
              <a:pathLst>
                <a:path w="8229600" h="4023360">
                  <a:moveTo>
                    <a:pt x="0" y="0"/>
                  </a:moveTo>
                  <a:lnTo>
                    <a:pt x="8229600" y="0"/>
                  </a:lnTo>
                  <a:lnTo>
                    <a:pt x="8229600" y="4023360"/>
                  </a:lnTo>
                  <a:lnTo>
                    <a:pt x="0" y="4023360"/>
                  </a:lnTo>
                  <a:close/>
                </a:path>
              </a:pathLst>
            </a:custGeom>
            <a:blipFill>
              <a:blip r:embed="rId3">
                <a:alphaModFix amt="0"/>
              </a:blip>
              <a:stretch>
                <a:fillRect l="-12726" r="-12726"/>
              </a:stretch>
            </a:blipFill>
          </p:spPr>
          <p:txBody>
            <a:bodyPr/>
            <a:lstStyle/>
            <a:p>
              <a:endParaRPr lang="en-US"/>
            </a:p>
          </p:txBody>
        </p:sp>
        <p:sp>
          <p:nvSpPr>
            <p:cNvPr id="28" name="TextBox 28"/>
            <p:cNvSpPr txBox="1"/>
            <p:nvPr/>
          </p:nvSpPr>
          <p:spPr>
            <a:xfrm>
              <a:off x="0" y="-9525"/>
              <a:ext cx="8229600" cy="4032885"/>
            </a:xfrm>
            <a:prstGeom prst="rect">
              <a:avLst/>
            </a:prstGeom>
          </p:spPr>
          <p:txBody>
            <a:bodyPr lIns="0" tIns="0" rIns="0" bIns="0" rtlCol="0" anchor="ctr"/>
            <a:lstStyle/>
            <a:p>
              <a:pPr algn="l">
                <a:lnSpc>
                  <a:spcPts val="23400"/>
                </a:lnSpc>
              </a:pPr>
              <a:r>
                <a:rPr lang="en-US" sz="19500" b="1">
                  <a:solidFill>
                    <a:srgbClr val="74C69D"/>
                  </a:solidFill>
                  <a:latin typeface="Cambria Bold"/>
                  <a:ea typeface="Cambria Bold"/>
                  <a:cs typeface="Cambria Bold"/>
                  <a:sym typeface="Cambria Bold"/>
                </a:rPr>
                <a:t>03</a:t>
              </a:r>
            </a:p>
          </p:txBody>
        </p:sp>
      </p:grpSp>
      <p:grpSp>
        <p:nvGrpSpPr>
          <p:cNvPr id="29" name="Group 29"/>
          <p:cNvGrpSpPr/>
          <p:nvPr/>
        </p:nvGrpSpPr>
        <p:grpSpPr>
          <a:xfrm>
            <a:off x="1234440" y="4869180"/>
            <a:ext cx="12344400" cy="548640"/>
            <a:chOff x="0" y="0"/>
            <a:chExt cx="16459200" cy="731520"/>
          </a:xfrm>
        </p:grpSpPr>
        <p:sp>
          <p:nvSpPr>
            <p:cNvPr id="30" name="Freeform 30"/>
            <p:cNvSpPr/>
            <p:nvPr/>
          </p:nvSpPr>
          <p:spPr>
            <a:xfrm>
              <a:off x="0" y="0"/>
              <a:ext cx="16459200" cy="731520"/>
            </a:xfrm>
            <a:custGeom>
              <a:avLst/>
              <a:gdLst/>
              <a:ahLst/>
              <a:cxnLst/>
              <a:rect l="l" t="t" r="r" b="b"/>
              <a:pathLst>
                <a:path w="16459200" h="731520">
                  <a:moveTo>
                    <a:pt x="0" y="0"/>
                  </a:moveTo>
                  <a:lnTo>
                    <a:pt x="16459200" y="0"/>
                  </a:lnTo>
                  <a:lnTo>
                    <a:pt x="16459200" y="731520"/>
                  </a:lnTo>
                  <a:lnTo>
                    <a:pt x="0" y="731520"/>
                  </a:lnTo>
                  <a:close/>
                </a:path>
              </a:pathLst>
            </a:custGeom>
            <a:blipFill>
              <a:blip r:embed="rId3">
                <a:alphaModFix amt="0"/>
              </a:blip>
              <a:stretch>
                <a:fillRect t="-388413" b="-388413"/>
              </a:stretch>
            </a:blipFill>
          </p:spPr>
          <p:txBody>
            <a:bodyPr/>
            <a:lstStyle/>
            <a:p>
              <a:endParaRPr lang="en-US"/>
            </a:p>
          </p:txBody>
        </p:sp>
        <p:sp>
          <p:nvSpPr>
            <p:cNvPr id="31" name="TextBox 31"/>
            <p:cNvSpPr txBox="1"/>
            <p:nvPr/>
          </p:nvSpPr>
          <p:spPr>
            <a:xfrm>
              <a:off x="0" y="-47625"/>
              <a:ext cx="16459200" cy="779145"/>
            </a:xfrm>
            <a:prstGeom prst="rect">
              <a:avLst/>
            </a:prstGeom>
          </p:spPr>
          <p:txBody>
            <a:bodyPr lIns="0" tIns="0" rIns="0" bIns="0" rtlCol="0" anchor="ctr"/>
            <a:lstStyle/>
            <a:p>
              <a:pPr algn="l">
                <a:lnSpc>
                  <a:spcPts val="2340"/>
                </a:lnSpc>
              </a:pPr>
              <a:r>
                <a:rPr lang="en-US" sz="1950" b="1" spc="300">
                  <a:solidFill>
                    <a:srgbClr val="74C69D"/>
                  </a:solidFill>
                  <a:latin typeface="Calibri (MS) Bold"/>
                  <a:ea typeface="Calibri (MS) Bold"/>
                  <a:cs typeface="Calibri (MS) Bold"/>
                  <a:sym typeface="Calibri (MS) Bold"/>
                </a:rPr>
                <a:t>PART THREE</a:t>
              </a:r>
            </a:p>
          </p:txBody>
        </p:sp>
      </p:grpSp>
      <p:grpSp>
        <p:nvGrpSpPr>
          <p:cNvPr id="32" name="Group 32"/>
          <p:cNvGrpSpPr/>
          <p:nvPr/>
        </p:nvGrpSpPr>
        <p:grpSpPr>
          <a:xfrm>
            <a:off x="1165860" y="5417820"/>
            <a:ext cx="14813280" cy="1783080"/>
            <a:chOff x="0" y="0"/>
            <a:chExt cx="19751040" cy="2377440"/>
          </a:xfrm>
        </p:grpSpPr>
        <p:sp>
          <p:nvSpPr>
            <p:cNvPr id="33" name="Freeform 33"/>
            <p:cNvSpPr/>
            <p:nvPr/>
          </p:nvSpPr>
          <p:spPr>
            <a:xfrm>
              <a:off x="0" y="0"/>
              <a:ext cx="19751039" cy="2377440"/>
            </a:xfrm>
            <a:custGeom>
              <a:avLst/>
              <a:gdLst/>
              <a:ahLst/>
              <a:cxnLst/>
              <a:rect l="l" t="t" r="r" b="b"/>
              <a:pathLst>
                <a:path w="19751039" h="2377440">
                  <a:moveTo>
                    <a:pt x="0" y="0"/>
                  </a:moveTo>
                  <a:lnTo>
                    <a:pt x="19751039" y="0"/>
                  </a:lnTo>
                  <a:lnTo>
                    <a:pt x="19751039" y="2377440"/>
                  </a:lnTo>
                  <a:lnTo>
                    <a:pt x="0" y="2377440"/>
                  </a:lnTo>
                  <a:close/>
                </a:path>
              </a:pathLst>
            </a:custGeom>
            <a:blipFill>
              <a:blip r:embed="rId3">
                <a:alphaModFix amt="0"/>
              </a:blip>
              <a:stretch>
                <a:fillRect t="-111875" b="-111875"/>
              </a:stretch>
            </a:blipFill>
          </p:spPr>
          <p:txBody>
            <a:bodyPr/>
            <a:lstStyle/>
            <a:p>
              <a:endParaRPr lang="en-US"/>
            </a:p>
          </p:txBody>
        </p:sp>
        <p:sp>
          <p:nvSpPr>
            <p:cNvPr id="34" name="TextBox 34"/>
            <p:cNvSpPr txBox="1"/>
            <p:nvPr/>
          </p:nvSpPr>
          <p:spPr>
            <a:xfrm>
              <a:off x="0" y="-19050"/>
              <a:ext cx="19751040" cy="2396490"/>
            </a:xfrm>
            <a:prstGeom prst="rect">
              <a:avLst/>
            </a:prstGeom>
          </p:spPr>
          <p:txBody>
            <a:bodyPr lIns="0" tIns="0" rIns="0" bIns="0" rtlCol="0" anchor="ctr"/>
            <a:lstStyle/>
            <a:p>
              <a:pPr algn="l">
                <a:lnSpc>
                  <a:spcPts val="7559"/>
                </a:lnSpc>
              </a:pPr>
              <a:r>
                <a:rPr lang="en-US" sz="6300" b="1">
                  <a:solidFill>
                    <a:srgbClr val="FFFFFF"/>
                  </a:solidFill>
                  <a:latin typeface="Cambria Bold"/>
                  <a:ea typeface="Cambria Bold"/>
                  <a:cs typeface="Cambria Bold"/>
                  <a:sym typeface="Cambria Bold"/>
                </a:rPr>
                <a:t>The AI / ML Inference Engine</a:t>
              </a:r>
            </a:p>
          </p:txBody>
        </p:sp>
      </p:grpSp>
      <p:grpSp>
        <p:nvGrpSpPr>
          <p:cNvPr id="35" name="Group 35"/>
          <p:cNvGrpSpPr/>
          <p:nvPr/>
        </p:nvGrpSpPr>
        <p:grpSpPr>
          <a:xfrm>
            <a:off x="1205865" y="7172325"/>
            <a:ext cx="3623310" cy="57150"/>
            <a:chOff x="0" y="0"/>
            <a:chExt cx="4831080" cy="76200"/>
          </a:xfrm>
        </p:grpSpPr>
        <p:sp>
          <p:nvSpPr>
            <p:cNvPr id="36" name="Freeform 36"/>
            <p:cNvSpPr/>
            <p:nvPr/>
          </p:nvSpPr>
          <p:spPr>
            <a:xfrm>
              <a:off x="0" y="0"/>
              <a:ext cx="4831080" cy="76200"/>
            </a:xfrm>
            <a:custGeom>
              <a:avLst/>
              <a:gdLst/>
              <a:ahLst/>
              <a:cxnLst/>
              <a:rect l="l" t="t" r="r" b="b"/>
              <a:pathLst>
                <a:path w="4831080" h="76200">
                  <a:moveTo>
                    <a:pt x="0" y="0"/>
                  </a:moveTo>
                  <a:lnTo>
                    <a:pt x="4831080" y="76200"/>
                  </a:lnTo>
                </a:path>
              </a:pathLst>
            </a:custGeom>
            <a:blipFill>
              <a:blip r:embed="rId3">
                <a:alphaModFix amt="0"/>
              </a:blip>
              <a:stretch>
                <a:fillRect t="-1185351" b="-1185351"/>
              </a:stretch>
            </a:blipFill>
            <a:ln w="57150" cap="sq">
              <a:solidFill>
                <a:srgbClr val="40916C"/>
              </a:solidFill>
              <a:prstDash val="solid"/>
              <a:miter/>
            </a:ln>
          </p:spPr>
          <p:txBody>
            <a:bodyPr/>
            <a:lstStyle/>
            <a:p>
              <a:endParaRPr lang="en-US"/>
            </a:p>
          </p:txBody>
        </p:sp>
      </p:grpSp>
      <p:grpSp>
        <p:nvGrpSpPr>
          <p:cNvPr id="37" name="Group 37"/>
          <p:cNvGrpSpPr/>
          <p:nvPr/>
        </p:nvGrpSpPr>
        <p:grpSpPr>
          <a:xfrm>
            <a:off x="1234440" y="7475220"/>
            <a:ext cx="13030200" cy="822960"/>
            <a:chOff x="0" y="0"/>
            <a:chExt cx="17373600" cy="1097280"/>
          </a:xfrm>
        </p:grpSpPr>
        <p:sp>
          <p:nvSpPr>
            <p:cNvPr id="38" name="Freeform 38"/>
            <p:cNvSpPr/>
            <p:nvPr/>
          </p:nvSpPr>
          <p:spPr>
            <a:xfrm>
              <a:off x="0" y="0"/>
              <a:ext cx="17373600" cy="1097280"/>
            </a:xfrm>
            <a:custGeom>
              <a:avLst/>
              <a:gdLst/>
              <a:ahLst/>
              <a:cxnLst/>
              <a:rect l="l" t="t" r="r" b="b"/>
              <a:pathLst>
                <a:path w="17373600" h="1097280">
                  <a:moveTo>
                    <a:pt x="0" y="0"/>
                  </a:moveTo>
                  <a:lnTo>
                    <a:pt x="17373600" y="0"/>
                  </a:lnTo>
                  <a:lnTo>
                    <a:pt x="17373600" y="1097280"/>
                  </a:lnTo>
                  <a:lnTo>
                    <a:pt x="0" y="1097280"/>
                  </a:lnTo>
                  <a:close/>
                </a:path>
              </a:pathLst>
            </a:custGeom>
            <a:blipFill>
              <a:blip r:embed="rId3">
                <a:alphaModFix amt="0"/>
              </a:blip>
              <a:stretch>
                <a:fillRect t="-258513" b="-258513"/>
              </a:stretch>
            </a:blipFill>
          </p:spPr>
          <p:txBody>
            <a:bodyPr/>
            <a:lstStyle/>
            <a:p>
              <a:endParaRPr lang="en-US"/>
            </a:p>
          </p:txBody>
        </p:sp>
        <p:sp>
          <p:nvSpPr>
            <p:cNvPr id="39" name="TextBox 39"/>
            <p:cNvSpPr txBox="1"/>
            <p:nvPr/>
          </p:nvSpPr>
          <p:spPr>
            <a:xfrm>
              <a:off x="0" y="-47625"/>
              <a:ext cx="17373600" cy="1144905"/>
            </a:xfrm>
            <a:prstGeom prst="rect">
              <a:avLst/>
            </a:prstGeom>
          </p:spPr>
          <p:txBody>
            <a:bodyPr lIns="0" tIns="0" rIns="0" bIns="0" rtlCol="0" anchor="ctr"/>
            <a:lstStyle/>
            <a:p>
              <a:pPr algn="l">
                <a:lnSpc>
                  <a:spcPts val="2520"/>
                </a:lnSpc>
              </a:pPr>
              <a:r>
                <a:rPr lang="en-US" sz="2100">
                  <a:solidFill>
                    <a:srgbClr val="C9D6CE"/>
                  </a:solidFill>
                  <a:latin typeface="Calibri (MS)"/>
                  <a:ea typeface="Calibri (MS)"/>
                  <a:cs typeface="Calibri (MS)"/>
                  <a:sym typeface="Calibri (MS)"/>
                </a:rPr>
                <a:t>Forecasting, anomaly detection, and the models that keep the grid explainable.</a:t>
              </a: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8F6"/>
        </a:solidFill>
        <a:effectLst/>
      </p:bgPr>
    </p:bg>
    <p:spTree>
      <p:nvGrpSpPr>
        <p:cNvPr id="1" name=""/>
        <p:cNvGrpSpPr/>
        <p:nvPr/>
      </p:nvGrpSpPr>
      <p:grpSpPr>
        <a:xfrm>
          <a:off x="0" y="0"/>
          <a:ext cx="0" cy="0"/>
          <a:chOff x="0" y="0"/>
          <a:chExt cx="0" cy="0"/>
        </a:xfrm>
      </p:grpSpPr>
      <p:grpSp>
        <p:nvGrpSpPr>
          <p:cNvPr id="2" name="Group 2"/>
          <p:cNvGrpSpPr/>
          <p:nvPr/>
        </p:nvGrpSpPr>
        <p:grpSpPr>
          <a:xfrm>
            <a:off x="822960" y="576072"/>
            <a:ext cx="10972800" cy="480060"/>
            <a:chOff x="0" y="0"/>
            <a:chExt cx="14630400" cy="640080"/>
          </a:xfrm>
        </p:grpSpPr>
        <p:sp>
          <p:nvSpPr>
            <p:cNvPr id="3" name="Freeform 3"/>
            <p:cNvSpPr/>
            <p:nvPr/>
          </p:nvSpPr>
          <p:spPr>
            <a:xfrm>
              <a:off x="0" y="0"/>
              <a:ext cx="14630400" cy="640080"/>
            </a:xfrm>
            <a:custGeom>
              <a:avLst/>
              <a:gdLst/>
              <a:ahLst/>
              <a:cxnLst/>
              <a:rect l="l" t="t" r="r" b="b"/>
              <a:pathLst>
                <a:path w="14630400" h="640080">
                  <a:moveTo>
                    <a:pt x="0" y="0"/>
                  </a:moveTo>
                  <a:lnTo>
                    <a:pt x="14630400" y="0"/>
                  </a:lnTo>
                  <a:lnTo>
                    <a:pt x="14630400" y="640080"/>
                  </a:lnTo>
                  <a:lnTo>
                    <a:pt x="0" y="640080"/>
                  </a:lnTo>
                  <a:close/>
                </a:path>
              </a:pathLst>
            </a:custGeom>
            <a:blipFill>
              <a:blip r:embed="rId3">
                <a:alphaModFix amt="0"/>
              </a:blip>
              <a:stretch>
                <a:fillRect t="-395372" b="-395372"/>
              </a:stretch>
            </a:blipFill>
          </p:spPr>
          <p:txBody>
            <a:bodyPr/>
            <a:lstStyle/>
            <a:p>
              <a:endParaRPr lang="en-US"/>
            </a:p>
          </p:txBody>
        </p:sp>
        <p:sp>
          <p:nvSpPr>
            <p:cNvPr id="4" name="TextBox 4"/>
            <p:cNvSpPr txBox="1"/>
            <p:nvPr/>
          </p:nvSpPr>
          <p:spPr>
            <a:xfrm>
              <a:off x="0" y="-38100"/>
              <a:ext cx="14630400" cy="678180"/>
            </a:xfrm>
            <a:prstGeom prst="rect">
              <a:avLst/>
            </a:prstGeom>
          </p:spPr>
          <p:txBody>
            <a:bodyPr lIns="0" tIns="0" rIns="0" bIns="0" rtlCol="0" anchor="ctr"/>
            <a:lstStyle/>
            <a:p>
              <a:pPr algn="l">
                <a:lnSpc>
                  <a:spcPts val="2160"/>
                </a:lnSpc>
              </a:pPr>
              <a:r>
                <a:rPr lang="en-US" sz="1800" b="1" spc="299">
                  <a:solidFill>
                    <a:srgbClr val="40916C"/>
                  </a:solidFill>
                  <a:latin typeface="Calibri (MS) Bold"/>
                  <a:ea typeface="Calibri (MS) Bold"/>
                  <a:cs typeface="Calibri (MS) Bold"/>
                  <a:sym typeface="Calibri (MS) Bold"/>
                </a:rPr>
                <a:t>PART 03 · AI / ML ENGINE</a:t>
              </a:r>
            </a:p>
          </p:txBody>
        </p:sp>
      </p:grpSp>
      <p:grpSp>
        <p:nvGrpSpPr>
          <p:cNvPr id="5" name="Group 5"/>
          <p:cNvGrpSpPr/>
          <p:nvPr/>
        </p:nvGrpSpPr>
        <p:grpSpPr>
          <a:xfrm>
            <a:off x="822960" y="987552"/>
            <a:ext cx="15773400" cy="1234440"/>
            <a:chOff x="0" y="0"/>
            <a:chExt cx="21031200" cy="1645920"/>
          </a:xfrm>
        </p:grpSpPr>
        <p:sp>
          <p:nvSpPr>
            <p:cNvPr id="6" name="Freeform 6"/>
            <p:cNvSpPr/>
            <p:nvPr/>
          </p:nvSpPr>
          <p:spPr>
            <a:xfrm>
              <a:off x="0" y="0"/>
              <a:ext cx="21031200" cy="1645920"/>
            </a:xfrm>
            <a:custGeom>
              <a:avLst/>
              <a:gdLst/>
              <a:ahLst/>
              <a:cxnLst/>
              <a:rect l="l" t="t" r="r" b="b"/>
              <a:pathLst>
                <a:path w="21031200" h="1645920">
                  <a:moveTo>
                    <a:pt x="0" y="0"/>
                  </a:moveTo>
                  <a:lnTo>
                    <a:pt x="21031200" y="0"/>
                  </a:lnTo>
                  <a:lnTo>
                    <a:pt x="21031200" y="1645920"/>
                  </a:lnTo>
                  <a:lnTo>
                    <a:pt x="0" y="1645920"/>
                  </a:lnTo>
                  <a:close/>
                </a:path>
              </a:pathLst>
            </a:custGeom>
            <a:blipFill>
              <a:blip r:embed="rId3">
                <a:alphaModFix amt="0"/>
              </a:blip>
              <a:stretch>
                <a:fillRect t="-198975" b="-198975"/>
              </a:stretch>
            </a:blipFill>
          </p:spPr>
          <p:txBody>
            <a:bodyPr/>
            <a:lstStyle/>
            <a:p>
              <a:endParaRPr lang="en-US"/>
            </a:p>
          </p:txBody>
        </p:sp>
        <p:sp>
          <p:nvSpPr>
            <p:cNvPr id="7" name="TextBox 7"/>
            <p:cNvSpPr txBox="1"/>
            <p:nvPr/>
          </p:nvSpPr>
          <p:spPr>
            <a:xfrm>
              <a:off x="0" y="-9525"/>
              <a:ext cx="21031200" cy="1655445"/>
            </a:xfrm>
            <a:prstGeom prst="rect">
              <a:avLst/>
            </a:prstGeom>
          </p:spPr>
          <p:txBody>
            <a:bodyPr lIns="0" tIns="0" rIns="0" bIns="0" rtlCol="0" anchor="ctr"/>
            <a:lstStyle/>
            <a:p>
              <a:pPr algn="l">
                <a:lnSpc>
                  <a:spcPts val="5759"/>
                </a:lnSpc>
              </a:pPr>
              <a:r>
                <a:rPr lang="en-US" sz="4800" b="1">
                  <a:solidFill>
                    <a:srgbClr val="0D1B2A"/>
                  </a:solidFill>
                  <a:latin typeface="Cambria Bold"/>
                  <a:ea typeface="Cambria Bold"/>
                  <a:cs typeface="Cambria Bold"/>
                  <a:sym typeface="Cambria Bold"/>
                </a:rPr>
                <a:t>inference.py — Forecasting &amp; Anomaly Core</a:t>
              </a:r>
            </a:p>
          </p:txBody>
        </p:sp>
      </p:grpSp>
      <p:grpSp>
        <p:nvGrpSpPr>
          <p:cNvPr id="8" name="Group 8"/>
          <p:cNvGrpSpPr/>
          <p:nvPr/>
        </p:nvGrpSpPr>
        <p:grpSpPr>
          <a:xfrm>
            <a:off x="822960" y="2125980"/>
            <a:ext cx="16184880" cy="754380"/>
            <a:chOff x="0" y="0"/>
            <a:chExt cx="21579840" cy="1005840"/>
          </a:xfrm>
        </p:grpSpPr>
        <p:sp>
          <p:nvSpPr>
            <p:cNvPr id="9" name="Freeform 9"/>
            <p:cNvSpPr/>
            <p:nvPr/>
          </p:nvSpPr>
          <p:spPr>
            <a:xfrm>
              <a:off x="0" y="0"/>
              <a:ext cx="21579839" cy="1005840"/>
            </a:xfrm>
            <a:custGeom>
              <a:avLst/>
              <a:gdLst/>
              <a:ahLst/>
              <a:cxnLst/>
              <a:rect l="l" t="t" r="r" b="b"/>
              <a:pathLst>
                <a:path w="21579839" h="1005840">
                  <a:moveTo>
                    <a:pt x="0" y="0"/>
                  </a:moveTo>
                  <a:lnTo>
                    <a:pt x="21579839" y="0"/>
                  </a:lnTo>
                  <a:lnTo>
                    <a:pt x="21579839" y="1005840"/>
                  </a:lnTo>
                  <a:lnTo>
                    <a:pt x="0" y="1005840"/>
                  </a:lnTo>
                  <a:close/>
                </a:path>
              </a:pathLst>
            </a:custGeom>
            <a:blipFill>
              <a:blip r:embed="rId3">
                <a:alphaModFix amt="0"/>
              </a:blip>
              <a:stretch>
                <a:fillRect t="-368042" b="-368042"/>
              </a:stretch>
            </a:blipFill>
          </p:spPr>
          <p:txBody>
            <a:bodyPr/>
            <a:lstStyle/>
            <a:p>
              <a:endParaRPr lang="en-US"/>
            </a:p>
          </p:txBody>
        </p:sp>
        <p:sp>
          <p:nvSpPr>
            <p:cNvPr id="10" name="TextBox 10"/>
            <p:cNvSpPr txBox="1"/>
            <p:nvPr/>
          </p:nvSpPr>
          <p:spPr>
            <a:xfrm>
              <a:off x="0" y="-38100"/>
              <a:ext cx="21579840" cy="1043940"/>
            </a:xfrm>
            <a:prstGeom prst="rect">
              <a:avLst/>
            </a:prstGeom>
          </p:spPr>
          <p:txBody>
            <a:bodyPr lIns="0" tIns="0" rIns="0" bIns="0" rtlCol="0" anchor="ctr"/>
            <a:lstStyle/>
            <a:p>
              <a:pPr algn="l">
                <a:lnSpc>
                  <a:spcPts val="2250"/>
                </a:lnSpc>
              </a:pPr>
              <a:r>
                <a:rPr lang="en-US" sz="1875">
                  <a:solidFill>
                    <a:srgbClr val="5B6B72"/>
                  </a:solidFill>
                  <a:latin typeface="Calibri (MS)"/>
                  <a:ea typeface="Calibri (MS)"/>
                  <a:cs typeface="Calibri (MS)"/>
                  <a:sym typeface="Calibri (MS)"/>
                </a:rPr>
                <a:t>Central module loading ONNX / scikit-learn models, with graceful rule-based and physics-based fallbacks whenever a model output looks implausible.</a:t>
              </a:r>
            </a:p>
          </p:txBody>
        </p:sp>
      </p:grpSp>
      <p:grpSp>
        <p:nvGrpSpPr>
          <p:cNvPr id="11" name="Group 11"/>
          <p:cNvGrpSpPr/>
          <p:nvPr/>
        </p:nvGrpSpPr>
        <p:grpSpPr>
          <a:xfrm>
            <a:off x="813435" y="3213735"/>
            <a:ext cx="5368290" cy="2967990"/>
            <a:chOff x="0" y="0"/>
            <a:chExt cx="7157720" cy="3957320"/>
          </a:xfrm>
        </p:grpSpPr>
        <p:sp>
          <p:nvSpPr>
            <p:cNvPr id="12" name="Freeform 12"/>
            <p:cNvSpPr/>
            <p:nvPr/>
          </p:nvSpPr>
          <p:spPr>
            <a:xfrm>
              <a:off x="0" y="0"/>
              <a:ext cx="7157720" cy="3957320"/>
            </a:xfrm>
            <a:custGeom>
              <a:avLst/>
              <a:gdLst/>
              <a:ahLst/>
              <a:cxnLst/>
              <a:rect l="l" t="t" r="r" b="b"/>
              <a:pathLst>
                <a:path w="7157720" h="3957320">
                  <a:moveTo>
                    <a:pt x="0" y="165608"/>
                  </a:moveTo>
                  <a:cubicBezTo>
                    <a:pt x="0" y="74168"/>
                    <a:pt x="74168" y="0"/>
                    <a:pt x="165608" y="0"/>
                  </a:cubicBezTo>
                  <a:lnTo>
                    <a:pt x="6992112" y="0"/>
                  </a:lnTo>
                  <a:cubicBezTo>
                    <a:pt x="7083552" y="0"/>
                    <a:pt x="7157720" y="74168"/>
                    <a:pt x="7157720" y="165608"/>
                  </a:cubicBezTo>
                  <a:lnTo>
                    <a:pt x="7157720" y="3791712"/>
                  </a:lnTo>
                  <a:cubicBezTo>
                    <a:pt x="7157720" y="3883152"/>
                    <a:pt x="7083552" y="3957320"/>
                    <a:pt x="6992112" y="3957320"/>
                  </a:cubicBezTo>
                  <a:lnTo>
                    <a:pt x="165608" y="3957320"/>
                  </a:lnTo>
                  <a:cubicBezTo>
                    <a:pt x="74168" y="3957320"/>
                    <a:pt x="0" y="3883152"/>
                    <a:pt x="0" y="3791712"/>
                  </a:cubicBezTo>
                  <a:close/>
                </a:path>
              </a:pathLst>
            </a:custGeom>
            <a:solidFill>
              <a:srgbClr val="FFFFFF"/>
            </a:solidFill>
            <a:ln w="19050" cap="sq">
              <a:solidFill>
                <a:srgbClr val="DCE7E0"/>
              </a:solidFill>
              <a:prstDash val="solid"/>
              <a:miter/>
            </a:ln>
          </p:spPr>
          <p:txBody>
            <a:bodyPr/>
            <a:lstStyle/>
            <a:p>
              <a:endParaRPr lang="en-US"/>
            </a:p>
          </p:txBody>
        </p:sp>
      </p:grpSp>
      <p:grpSp>
        <p:nvGrpSpPr>
          <p:cNvPr id="13" name="Group 13"/>
          <p:cNvGrpSpPr/>
          <p:nvPr/>
        </p:nvGrpSpPr>
        <p:grpSpPr>
          <a:xfrm>
            <a:off x="1124712" y="3497580"/>
            <a:ext cx="2743200" cy="438912"/>
            <a:chOff x="0" y="0"/>
            <a:chExt cx="3657600" cy="585216"/>
          </a:xfrm>
        </p:grpSpPr>
        <p:sp>
          <p:nvSpPr>
            <p:cNvPr id="14" name="Freeform 14"/>
            <p:cNvSpPr/>
            <p:nvPr/>
          </p:nvSpPr>
          <p:spPr>
            <a:xfrm>
              <a:off x="0" y="0"/>
              <a:ext cx="3657600" cy="585216"/>
            </a:xfrm>
            <a:custGeom>
              <a:avLst/>
              <a:gdLst/>
              <a:ahLst/>
              <a:cxnLst/>
              <a:rect l="l" t="t" r="r" b="b"/>
              <a:pathLst>
                <a:path w="3657600" h="585216">
                  <a:moveTo>
                    <a:pt x="0" y="292608"/>
                  </a:moveTo>
                  <a:cubicBezTo>
                    <a:pt x="0" y="131064"/>
                    <a:pt x="131064" y="0"/>
                    <a:pt x="292608" y="0"/>
                  </a:cubicBezTo>
                  <a:lnTo>
                    <a:pt x="3364992" y="0"/>
                  </a:lnTo>
                  <a:cubicBezTo>
                    <a:pt x="3526536" y="0"/>
                    <a:pt x="3657600" y="131064"/>
                    <a:pt x="3657600" y="292608"/>
                  </a:cubicBezTo>
                  <a:cubicBezTo>
                    <a:pt x="3657600" y="454152"/>
                    <a:pt x="3526536" y="585216"/>
                    <a:pt x="3364992" y="585216"/>
                  </a:cubicBezTo>
                  <a:lnTo>
                    <a:pt x="292608" y="585216"/>
                  </a:lnTo>
                  <a:cubicBezTo>
                    <a:pt x="131064" y="585216"/>
                    <a:pt x="0" y="454152"/>
                    <a:pt x="0" y="292608"/>
                  </a:cubicBezTo>
                  <a:close/>
                </a:path>
              </a:pathLst>
            </a:custGeom>
            <a:solidFill>
              <a:srgbClr val="40916C"/>
            </a:solidFill>
          </p:spPr>
          <p:txBody>
            <a:bodyPr/>
            <a:lstStyle/>
            <a:p>
              <a:endParaRPr lang="en-US"/>
            </a:p>
          </p:txBody>
        </p:sp>
      </p:grpSp>
      <p:grpSp>
        <p:nvGrpSpPr>
          <p:cNvPr id="15" name="Group 15"/>
          <p:cNvGrpSpPr/>
          <p:nvPr/>
        </p:nvGrpSpPr>
        <p:grpSpPr>
          <a:xfrm>
            <a:off x="1124712" y="3497580"/>
            <a:ext cx="2743200" cy="438912"/>
            <a:chOff x="0" y="0"/>
            <a:chExt cx="3657600" cy="585216"/>
          </a:xfrm>
        </p:grpSpPr>
        <p:sp>
          <p:nvSpPr>
            <p:cNvPr id="16" name="Freeform 16"/>
            <p:cNvSpPr/>
            <p:nvPr/>
          </p:nvSpPr>
          <p:spPr>
            <a:xfrm>
              <a:off x="0" y="0"/>
              <a:ext cx="3657600" cy="585216"/>
            </a:xfrm>
            <a:custGeom>
              <a:avLst/>
              <a:gdLst/>
              <a:ahLst/>
              <a:cxnLst/>
              <a:rect l="l" t="t" r="r" b="b"/>
              <a:pathLst>
                <a:path w="3657600" h="585216">
                  <a:moveTo>
                    <a:pt x="0" y="0"/>
                  </a:moveTo>
                  <a:lnTo>
                    <a:pt x="3657600" y="0"/>
                  </a:lnTo>
                  <a:lnTo>
                    <a:pt x="3657600" y="585216"/>
                  </a:lnTo>
                  <a:lnTo>
                    <a:pt x="0" y="585216"/>
                  </a:lnTo>
                  <a:close/>
                </a:path>
              </a:pathLst>
            </a:custGeom>
            <a:blipFill>
              <a:blip r:embed="rId3">
                <a:alphaModFix amt="0"/>
              </a:blip>
              <a:stretch>
                <a:fillRect t="-71781" b="-71781"/>
              </a:stretch>
            </a:blipFill>
          </p:spPr>
          <p:txBody>
            <a:bodyPr/>
            <a:lstStyle/>
            <a:p>
              <a:endParaRPr lang="en-US"/>
            </a:p>
          </p:txBody>
        </p:sp>
        <p:sp>
          <p:nvSpPr>
            <p:cNvPr id="17" name="TextBox 17"/>
            <p:cNvSpPr txBox="1"/>
            <p:nvPr/>
          </p:nvSpPr>
          <p:spPr>
            <a:xfrm>
              <a:off x="0" y="-28575"/>
              <a:ext cx="3657600" cy="613791"/>
            </a:xfrm>
            <a:prstGeom prst="rect">
              <a:avLst/>
            </a:prstGeom>
          </p:spPr>
          <p:txBody>
            <a:bodyPr lIns="0" tIns="0" rIns="0" bIns="0" rtlCol="0" anchor="ctr"/>
            <a:lstStyle/>
            <a:p>
              <a:pPr algn="ctr">
                <a:lnSpc>
                  <a:spcPts val="1530"/>
                </a:lnSpc>
              </a:pPr>
              <a:r>
                <a:rPr lang="en-US" sz="1275" b="1">
                  <a:solidFill>
                    <a:srgbClr val="FFFFFF"/>
                  </a:solidFill>
                  <a:latin typeface="Calibri (MS) Bold"/>
                  <a:ea typeface="Calibri (MS) Bold"/>
                  <a:cs typeface="Calibri (MS) Bold"/>
                  <a:sym typeface="Calibri (MS) Bold"/>
                </a:rPr>
                <a:t>Wind · Anomaly</a:t>
              </a:r>
            </a:p>
          </p:txBody>
        </p:sp>
      </p:grpSp>
      <p:grpSp>
        <p:nvGrpSpPr>
          <p:cNvPr id="18" name="Group 18"/>
          <p:cNvGrpSpPr/>
          <p:nvPr/>
        </p:nvGrpSpPr>
        <p:grpSpPr>
          <a:xfrm>
            <a:off x="1124712" y="4073652"/>
            <a:ext cx="4732020" cy="548640"/>
            <a:chOff x="0" y="0"/>
            <a:chExt cx="6309360" cy="731520"/>
          </a:xfrm>
        </p:grpSpPr>
        <p:sp>
          <p:nvSpPr>
            <p:cNvPr id="19" name="Freeform 19"/>
            <p:cNvSpPr/>
            <p:nvPr/>
          </p:nvSpPr>
          <p:spPr>
            <a:xfrm>
              <a:off x="0" y="0"/>
              <a:ext cx="6309360" cy="731520"/>
            </a:xfrm>
            <a:custGeom>
              <a:avLst/>
              <a:gdLst/>
              <a:ahLst/>
              <a:cxnLst/>
              <a:rect l="l" t="t" r="r" b="b"/>
              <a:pathLst>
                <a:path w="6309360" h="731520">
                  <a:moveTo>
                    <a:pt x="0" y="0"/>
                  </a:moveTo>
                  <a:lnTo>
                    <a:pt x="6309360" y="0"/>
                  </a:lnTo>
                  <a:lnTo>
                    <a:pt x="6309360" y="731520"/>
                  </a:lnTo>
                  <a:lnTo>
                    <a:pt x="0" y="731520"/>
                  </a:lnTo>
                  <a:close/>
                </a:path>
              </a:pathLst>
            </a:custGeom>
            <a:blipFill>
              <a:blip r:embed="rId3">
                <a:alphaModFix amt="0"/>
              </a:blip>
              <a:stretch>
                <a:fillRect t="-118058" b="-118058"/>
              </a:stretch>
            </a:blipFill>
          </p:spPr>
          <p:txBody>
            <a:bodyPr/>
            <a:lstStyle/>
            <a:p>
              <a:endParaRPr lang="en-US"/>
            </a:p>
          </p:txBody>
        </p:sp>
        <p:sp>
          <p:nvSpPr>
            <p:cNvPr id="20" name="TextBox 20"/>
            <p:cNvSpPr txBox="1"/>
            <p:nvPr/>
          </p:nvSpPr>
          <p:spPr>
            <a:xfrm>
              <a:off x="0" y="-47625"/>
              <a:ext cx="6309360" cy="779145"/>
            </a:xfrm>
            <a:prstGeom prst="rect">
              <a:avLst/>
            </a:prstGeom>
          </p:spPr>
          <p:txBody>
            <a:bodyPr lIns="0" tIns="0" rIns="0" bIns="0" rtlCol="0" anchor="ctr"/>
            <a:lstStyle/>
            <a:p>
              <a:pPr algn="l">
                <a:lnSpc>
                  <a:spcPts val="2340"/>
                </a:lnSpc>
              </a:pPr>
              <a:r>
                <a:rPr lang="en-US" sz="1950" b="1">
                  <a:solidFill>
                    <a:srgbClr val="0D1B2A"/>
                  </a:solidFill>
                  <a:latin typeface="Calibri (MS) Bold"/>
                  <a:ea typeface="Calibri (MS) Bold"/>
                  <a:cs typeface="Calibri (MS) Bold"/>
                  <a:sym typeface="Calibri (MS) Bold"/>
                </a:rPr>
                <a:t>detect_wind_anomaly()</a:t>
              </a:r>
            </a:p>
          </p:txBody>
        </p:sp>
      </p:grpSp>
      <p:grpSp>
        <p:nvGrpSpPr>
          <p:cNvPr id="21" name="Group 21"/>
          <p:cNvGrpSpPr/>
          <p:nvPr/>
        </p:nvGrpSpPr>
        <p:grpSpPr>
          <a:xfrm>
            <a:off x="1124712" y="4594860"/>
            <a:ext cx="4732020" cy="1440180"/>
            <a:chOff x="0" y="0"/>
            <a:chExt cx="6309360" cy="1920240"/>
          </a:xfrm>
        </p:grpSpPr>
        <p:sp>
          <p:nvSpPr>
            <p:cNvPr id="22" name="Freeform 22"/>
            <p:cNvSpPr/>
            <p:nvPr/>
          </p:nvSpPr>
          <p:spPr>
            <a:xfrm>
              <a:off x="0" y="0"/>
              <a:ext cx="6309360" cy="1920240"/>
            </a:xfrm>
            <a:custGeom>
              <a:avLst/>
              <a:gdLst/>
              <a:ahLst/>
              <a:cxnLst/>
              <a:rect l="l" t="t" r="r" b="b"/>
              <a:pathLst>
                <a:path w="6309360" h="1920240">
                  <a:moveTo>
                    <a:pt x="0" y="0"/>
                  </a:moveTo>
                  <a:lnTo>
                    <a:pt x="6309360" y="0"/>
                  </a:lnTo>
                  <a:lnTo>
                    <a:pt x="6309360" y="1920240"/>
                  </a:lnTo>
                  <a:lnTo>
                    <a:pt x="0" y="1920240"/>
                  </a:lnTo>
                  <a:close/>
                </a:path>
              </a:pathLst>
            </a:custGeom>
            <a:blipFill>
              <a:blip r:embed="rId3">
                <a:alphaModFix amt="0"/>
              </a:blip>
              <a:stretch>
                <a:fillRect t="-14022" b="-14022"/>
              </a:stretch>
            </a:blipFill>
          </p:spPr>
          <p:txBody>
            <a:bodyPr/>
            <a:lstStyle/>
            <a:p>
              <a:endParaRPr lang="en-US"/>
            </a:p>
          </p:txBody>
        </p:sp>
        <p:sp>
          <p:nvSpPr>
            <p:cNvPr id="23" name="TextBox 23"/>
            <p:cNvSpPr txBox="1"/>
            <p:nvPr/>
          </p:nvSpPr>
          <p:spPr>
            <a:xfrm>
              <a:off x="0" y="-76200"/>
              <a:ext cx="6309360" cy="1996440"/>
            </a:xfrm>
            <a:prstGeom prst="rect">
              <a:avLst/>
            </a:prstGeom>
          </p:spPr>
          <p:txBody>
            <a:bodyPr lIns="0" tIns="0" rIns="0" bIns="0" rtlCol="0" anchor="ctr"/>
            <a:lstStyle/>
            <a:p>
              <a:pPr algn="l">
                <a:lnSpc>
                  <a:spcPts val="2250"/>
                </a:lnSpc>
              </a:pPr>
              <a:r>
                <a:rPr lang="en-US" sz="1500">
                  <a:solidFill>
                    <a:srgbClr val="5B6B72"/>
                  </a:solidFill>
                  <a:latin typeface="Calibri (MS)"/>
                  <a:ea typeface="Calibri (MS)"/>
                  <a:cs typeface="Calibri (MS)"/>
                  <a:sym typeface="Calibri (MS)"/>
                </a:rPr>
                <a:t>Rule pre-check on extreme deviation/vibration, then a scaled 4-feature Isolation Forest.</a:t>
              </a:r>
            </a:p>
          </p:txBody>
        </p:sp>
      </p:grpSp>
      <p:grpSp>
        <p:nvGrpSpPr>
          <p:cNvPr id="24" name="Group 24"/>
          <p:cNvGrpSpPr/>
          <p:nvPr/>
        </p:nvGrpSpPr>
        <p:grpSpPr>
          <a:xfrm>
            <a:off x="6436995" y="3213735"/>
            <a:ext cx="5368290" cy="2967990"/>
            <a:chOff x="0" y="0"/>
            <a:chExt cx="7157720" cy="3957320"/>
          </a:xfrm>
        </p:grpSpPr>
        <p:sp>
          <p:nvSpPr>
            <p:cNvPr id="25" name="Freeform 25"/>
            <p:cNvSpPr/>
            <p:nvPr/>
          </p:nvSpPr>
          <p:spPr>
            <a:xfrm>
              <a:off x="0" y="0"/>
              <a:ext cx="7157720" cy="3957320"/>
            </a:xfrm>
            <a:custGeom>
              <a:avLst/>
              <a:gdLst/>
              <a:ahLst/>
              <a:cxnLst/>
              <a:rect l="l" t="t" r="r" b="b"/>
              <a:pathLst>
                <a:path w="7157720" h="3957320">
                  <a:moveTo>
                    <a:pt x="0" y="165608"/>
                  </a:moveTo>
                  <a:cubicBezTo>
                    <a:pt x="0" y="74168"/>
                    <a:pt x="74168" y="0"/>
                    <a:pt x="165608" y="0"/>
                  </a:cubicBezTo>
                  <a:lnTo>
                    <a:pt x="6992112" y="0"/>
                  </a:lnTo>
                  <a:cubicBezTo>
                    <a:pt x="7083552" y="0"/>
                    <a:pt x="7157720" y="74168"/>
                    <a:pt x="7157720" y="165608"/>
                  </a:cubicBezTo>
                  <a:lnTo>
                    <a:pt x="7157720" y="3791712"/>
                  </a:lnTo>
                  <a:cubicBezTo>
                    <a:pt x="7157720" y="3883152"/>
                    <a:pt x="7083552" y="3957320"/>
                    <a:pt x="6992112" y="3957320"/>
                  </a:cubicBezTo>
                  <a:lnTo>
                    <a:pt x="165608" y="3957320"/>
                  </a:lnTo>
                  <a:cubicBezTo>
                    <a:pt x="74168" y="3957320"/>
                    <a:pt x="0" y="3883152"/>
                    <a:pt x="0" y="3791712"/>
                  </a:cubicBezTo>
                  <a:close/>
                </a:path>
              </a:pathLst>
            </a:custGeom>
            <a:solidFill>
              <a:srgbClr val="FFFFFF"/>
            </a:solidFill>
            <a:ln w="19050" cap="sq">
              <a:solidFill>
                <a:srgbClr val="DCE7E0"/>
              </a:solidFill>
              <a:prstDash val="solid"/>
              <a:miter/>
            </a:ln>
          </p:spPr>
          <p:txBody>
            <a:bodyPr/>
            <a:lstStyle/>
            <a:p>
              <a:endParaRPr lang="en-US"/>
            </a:p>
          </p:txBody>
        </p:sp>
      </p:grpSp>
      <p:grpSp>
        <p:nvGrpSpPr>
          <p:cNvPr id="26" name="Group 26"/>
          <p:cNvGrpSpPr/>
          <p:nvPr/>
        </p:nvGrpSpPr>
        <p:grpSpPr>
          <a:xfrm>
            <a:off x="6748272" y="3497580"/>
            <a:ext cx="2743200" cy="438912"/>
            <a:chOff x="0" y="0"/>
            <a:chExt cx="3657600" cy="585216"/>
          </a:xfrm>
        </p:grpSpPr>
        <p:sp>
          <p:nvSpPr>
            <p:cNvPr id="27" name="Freeform 27"/>
            <p:cNvSpPr/>
            <p:nvPr/>
          </p:nvSpPr>
          <p:spPr>
            <a:xfrm>
              <a:off x="0" y="0"/>
              <a:ext cx="3657600" cy="585216"/>
            </a:xfrm>
            <a:custGeom>
              <a:avLst/>
              <a:gdLst/>
              <a:ahLst/>
              <a:cxnLst/>
              <a:rect l="l" t="t" r="r" b="b"/>
              <a:pathLst>
                <a:path w="3657600" h="585216">
                  <a:moveTo>
                    <a:pt x="0" y="292608"/>
                  </a:moveTo>
                  <a:cubicBezTo>
                    <a:pt x="0" y="131064"/>
                    <a:pt x="131064" y="0"/>
                    <a:pt x="292608" y="0"/>
                  </a:cubicBezTo>
                  <a:lnTo>
                    <a:pt x="3364992" y="0"/>
                  </a:lnTo>
                  <a:cubicBezTo>
                    <a:pt x="3526536" y="0"/>
                    <a:pt x="3657600" y="131064"/>
                    <a:pt x="3657600" y="292608"/>
                  </a:cubicBezTo>
                  <a:cubicBezTo>
                    <a:pt x="3657600" y="454152"/>
                    <a:pt x="3526536" y="585216"/>
                    <a:pt x="3364992" y="585216"/>
                  </a:cubicBezTo>
                  <a:lnTo>
                    <a:pt x="292608" y="585216"/>
                  </a:lnTo>
                  <a:cubicBezTo>
                    <a:pt x="131064" y="585216"/>
                    <a:pt x="0" y="454152"/>
                    <a:pt x="0" y="292608"/>
                  </a:cubicBezTo>
                  <a:close/>
                </a:path>
              </a:pathLst>
            </a:custGeom>
            <a:solidFill>
              <a:srgbClr val="40916C"/>
            </a:solidFill>
          </p:spPr>
          <p:txBody>
            <a:bodyPr/>
            <a:lstStyle/>
            <a:p>
              <a:endParaRPr lang="en-US"/>
            </a:p>
          </p:txBody>
        </p:sp>
      </p:grpSp>
      <p:grpSp>
        <p:nvGrpSpPr>
          <p:cNvPr id="28" name="Group 28"/>
          <p:cNvGrpSpPr/>
          <p:nvPr/>
        </p:nvGrpSpPr>
        <p:grpSpPr>
          <a:xfrm>
            <a:off x="6748272" y="3497580"/>
            <a:ext cx="2743200" cy="438912"/>
            <a:chOff x="0" y="0"/>
            <a:chExt cx="3657600" cy="585216"/>
          </a:xfrm>
        </p:grpSpPr>
        <p:sp>
          <p:nvSpPr>
            <p:cNvPr id="29" name="Freeform 29"/>
            <p:cNvSpPr/>
            <p:nvPr/>
          </p:nvSpPr>
          <p:spPr>
            <a:xfrm>
              <a:off x="0" y="0"/>
              <a:ext cx="3657600" cy="585216"/>
            </a:xfrm>
            <a:custGeom>
              <a:avLst/>
              <a:gdLst/>
              <a:ahLst/>
              <a:cxnLst/>
              <a:rect l="l" t="t" r="r" b="b"/>
              <a:pathLst>
                <a:path w="3657600" h="585216">
                  <a:moveTo>
                    <a:pt x="0" y="0"/>
                  </a:moveTo>
                  <a:lnTo>
                    <a:pt x="3657600" y="0"/>
                  </a:lnTo>
                  <a:lnTo>
                    <a:pt x="3657600" y="585216"/>
                  </a:lnTo>
                  <a:lnTo>
                    <a:pt x="0" y="585216"/>
                  </a:lnTo>
                  <a:close/>
                </a:path>
              </a:pathLst>
            </a:custGeom>
            <a:blipFill>
              <a:blip r:embed="rId3">
                <a:alphaModFix amt="0"/>
              </a:blip>
              <a:stretch>
                <a:fillRect t="-71781" b="-71781"/>
              </a:stretch>
            </a:blipFill>
          </p:spPr>
          <p:txBody>
            <a:bodyPr/>
            <a:lstStyle/>
            <a:p>
              <a:endParaRPr lang="en-US"/>
            </a:p>
          </p:txBody>
        </p:sp>
        <p:sp>
          <p:nvSpPr>
            <p:cNvPr id="30" name="TextBox 30"/>
            <p:cNvSpPr txBox="1"/>
            <p:nvPr/>
          </p:nvSpPr>
          <p:spPr>
            <a:xfrm>
              <a:off x="0" y="-28575"/>
              <a:ext cx="3657600" cy="613791"/>
            </a:xfrm>
            <a:prstGeom prst="rect">
              <a:avLst/>
            </a:prstGeom>
          </p:spPr>
          <p:txBody>
            <a:bodyPr lIns="0" tIns="0" rIns="0" bIns="0" rtlCol="0" anchor="ctr"/>
            <a:lstStyle/>
            <a:p>
              <a:pPr algn="ctr">
                <a:lnSpc>
                  <a:spcPts val="1530"/>
                </a:lnSpc>
              </a:pPr>
              <a:r>
                <a:rPr lang="en-US" sz="1275" b="1">
                  <a:solidFill>
                    <a:srgbClr val="FFFFFF"/>
                  </a:solidFill>
                  <a:latin typeface="Calibri (MS) Bold"/>
                  <a:ea typeface="Calibri (MS) Bold"/>
                  <a:cs typeface="Calibri (MS) Bold"/>
                  <a:sym typeface="Calibri (MS) Bold"/>
                </a:rPr>
                <a:t>Wind · Forecast</a:t>
              </a:r>
            </a:p>
          </p:txBody>
        </p:sp>
      </p:grpSp>
      <p:grpSp>
        <p:nvGrpSpPr>
          <p:cNvPr id="31" name="Group 31"/>
          <p:cNvGrpSpPr/>
          <p:nvPr/>
        </p:nvGrpSpPr>
        <p:grpSpPr>
          <a:xfrm>
            <a:off x="6748272" y="4073652"/>
            <a:ext cx="4732020" cy="548640"/>
            <a:chOff x="0" y="0"/>
            <a:chExt cx="6309360" cy="731520"/>
          </a:xfrm>
        </p:grpSpPr>
        <p:sp>
          <p:nvSpPr>
            <p:cNvPr id="32" name="Freeform 32"/>
            <p:cNvSpPr/>
            <p:nvPr/>
          </p:nvSpPr>
          <p:spPr>
            <a:xfrm>
              <a:off x="0" y="0"/>
              <a:ext cx="6309360" cy="731520"/>
            </a:xfrm>
            <a:custGeom>
              <a:avLst/>
              <a:gdLst/>
              <a:ahLst/>
              <a:cxnLst/>
              <a:rect l="l" t="t" r="r" b="b"/>
              <a:pathLst>
                <a:path w="6309360" h="731520">
                  <a:moveTo>
                    <a:pt x="0" y="0"/>
                  </a:moveTo>
                  <a:lnTo>
                    <a:pt x="6309360" y="0"/>
                  </a:lnTo>
                  <a:lnTo>
                    <a:pt x="6309360" y="731520"/>
                  </a:lnTo>
                  <a:lnTo>
                    <a:pt x="0" y="731520"/>
                  </a:lnTo>
                  <a:close/>
                </a:path>
              </a:pathLst>
            </a:custGeom>
            <a:blipFill>
              <a:blip r:embed="rId3">
                <a:alphaModFix amt="0"/>
              </a:blip>
              <a:stretch>
                <a:fillRect t="-118058" b="-118058"/>
              </a:stretch>
            </a:blipFill>
          </p:spPr>
          <p:txBody>
            <a:bodyPr/>
            <a:lstStyle/>
            <a:p>
              <a:endParaRPr lang="en-US"/>
            </a:p>
          </p:txBody>
        </p:sp>
        <p:sp>
          <p:nvSpPr>
            <p:cNvPr id="33" name="TextBox 33"/>
            <p:cNvSpPr txBox="1"/>
            <p:nvPr/>
          </p:nvSpPr>
          <p:spPr>
            <a:xfrm>
              <a:off x="0" y="-47625"/>
              <a:ext cx="6309360" cy="779145"/>
            </a:xfrm>
            <a:prstGeom prst="rect">
              <a:avLst/>
            </a:prstGeom>
          </p:spPr>
          <p:txBody>
            <a:bodyPr lIns="0" tIns="0" rIns="0" bIns="0" rtlCol="0" anchor="ctr"/>
            <a:lstStyle/>
            <a:p>
              <a:pPr algn="l">
                <a:lnSpc>
                  <a:spcPts val="2340"/>
                </a:lnSpc>
              </a:pPr>
              <a:r>
                <a:rPr lang="en-US" sz="1950" b="1">
                  <a:solidFill>
                    <a:srgbClr val="0D1B2A"/>
                  </a:solidFill>
                  <a:latin typeface="Calibri (MS) Bold"/>
                  <a:ea typeface="Calibri (MS) Bold"/>
                  <a:cs typeface="Calibri (MS) Bold"/>
                  <a:sym typeface="Calibri (MS) Bold"/>
                </a:rPr>
                <a:t>predict_wind_power()</a:t>
              </a:r>
            </a:p>
          </p:txBody>
        </p:sp>
      </p:grpSp>
      <p:grpSp>
        <p:nvGrpSpPr>
          <p:cNvPr id="34" name="Group 34"/>
          <p:cNvGrpSpPr/>
          <p:nvPr/>
        </p:nvGrpSpPr>
        <p:grpSpPr>
          <a:xfrm>
            <a:off x="6748272" y="4594860"/>
            <a:ext cx="4732020" cy="1440180"/>
            <a:chOff x="0" y="0"/>
            <a:chExt cx="6309360" cy="1920240"/>
          </a:xfrm>
        </p:grpSpPr>
        <p:sp>
          <p:nvSpPr>
            <p:cNvPr id="35" name="Freeform 35"/>
            <p:cNvSpPr/>
            <p:nvPr/>
          </p:nvSpPr>
          <p:spPr>
            <a:xfrm>
              <a:off x="0" y="0"/>
              <a:ext cx="6309360" cy="1920240"/>
            </a:xfrm>
            <a:custGeom>
              <a:avLst/>
              <a:gdLst/>
              <a:ahLst/>
              <a:cxnLst/>
              <a:rect l="l" t="t" r="r" b="b"/>
              <a:pathLst>
                <a:path w="6309360" h="1920240">
                  <a:moveTo>
                    <a:pt x="0" y="0"/>
                  </a:moveTo>
                  <a:lnTo>
                    <a:pt x="6309360" y="0"/>
                  </a:lnTo>
                  <a:lnTo>
                    <a:pt x="6309360" y="1920240"/>
                  </a:lnTo>
                  <a:lnTo>
                    <a:pt x="0" y="1920240"/>
                  </a:lnTo>
                  <a:close/>
                </a:path>
              </a:pathLst>
            </a:custGeom>
            <a:blipFill>
              <a:blip r:embed="rId3">
                <a:alphaModFix amt="0"/>
              </a:blip>
              <a:stretch>
                <a:fillRect t="-14022" b="-14022"/>
              </a:stretch>
            </a:blipFill>
          </p:spPr>
          <p:txBody>
            <a:bodyPr/>
            <a:lstStyle/>
            <a:p>
              <a:endParaRPr lang="en-US"/>
            </a:p>
          </p:txBody>
        </p:sp>
        <p:sp>
          <p:nvSpPr>
            <p:cNvPr id="36" name="TextBox 36"/>
            <p:cNvSpPr txBox="1"/>
            <p:nvPr/>
          </p:nvSpPr>
          <p:spPr>
            <a:xfrm>
              <a:off x="0" y="-76200"/>
              <a:ext cx="6309360" cy="1996440"/>
            </a:xfrm>
            <a:prstGeom prst="rect">
              <a:avLst/>
            </a:prstGeom>
          </p:spPr>
          <p:txBody>
            <a:bodyPr lIns="0" tIns="0" rIns="0" bIns="0" rtlCol="0" anchor="ctr"/>
            <a:lstStyle/>
            <a:p>
              <a:pPr algn="l">
                <a:lnSpc>
                  <a:spcPts val="2250"/>
                </a:lnSpc>
              </a:pPr>
              <a:r>
                <a:rPr lang="en-US" sz="1500">
                  <a:solidFill>
                    <a:srgbClr val="5B6B72"/>
                  </a:solidFill>
                  <a:latin typeface="Calibri (MS)"/>
                  <a:ea typeface="Calibri (MS)"/>
                  <a:cs typeface="Calibri (MS)"/>
                  <a:sym typeface="Calibri (MS)"/>
                </a:rPr>
                <a:t>ONNX LSTM forecast (kW); falls back to power = wind_speed³ × 0.85 if output is near-zero.</a:t>
              </a:r>
            </a:p>
          </p:txBody>
        </p:sp>
      </p:grpSp>
      <p:grpSp>
        <p:nvGrpSpPr>
          <p:cNvPr id="37" name="Group 37"/>
          <p:cNvGrpSpPr/>
          <p:nvPr/>
        </p:nvGrpSpPr>
        <p:grpSpPr>
          <a:xfrm>
            <a:off x="12060555" y="3213735"/>
            <a:ext cx="5368290" cy="2967990"/>
            <a:chOff x="0" y="0"/>
            <a:chExt cx="7157720" cy="3957320"/>
          </a:xfrm>
        </p:grpSpPr>
        <p:sp>
          <p:nvSpPr>
            <p:cNvPr id="38" name="Freeform 38"/>
            <p:cNvSpPr/>
            <p:nvPr/>
          </p:nvSpPr>
          <p:spPr>
            <a:xfrm>
              <a:off x="0" y="0"/>
              <a:ext cx="7157720" cy="3957320"/>
            </a:xfrm>
            <a:custGeom>
              <a:avLst/>
              <a:gdLst/>
              <a:ahLst/>
              <a:cxnLst/>
              <a:rect l="l" t="t" r="r" b="b"/>
              <a:pathLst>
                <a:path w="7157720" h="3957320">
                  <a:moveTo>
                    <a:pt x="0" y="165608"/>
                  </a:moveTo>
                  <a:cubicBezTo>
                    <a:pt x="0" y="74168"/>
                    <a:pt x="74168" y="0"/>
                    <a:pt x="165608" y="0"/>
                  </a:cubicBezTo>
                  <a:lnTo>
                    <a:pt x="6992112" y="0"/>
                  </a:lnTo>
                  <a:cubicBezTo>
                    <a:pt x="7083552" y="0"/>
                    <a:pt x="7157720" y="74168"/>
                    <a:pt x="7157720" y="165608"/>
                  </a:cubicBezTo>
                  <a:lnTo>
                    <a:pt x="7157720" y="3791712"/>
                  </a:lnTo>
                  <a:cubicBezTo>
                    <a:pt x="7157720" y="3883152"/>
                    <a:pt x="7083552" y="3957320"/>
                    <a:pt x="6992112" y="3957320"/>
                  </a:cubicBezTo>
                  <a:lnTo>
                    <a:pt x="165608" y="3957320"/>
                  </a:lnTo>
                  <a:cubicBezTo>
                    <a:pt x="74168" y="3957320"/>
                    <a:pt x="0" y="3883152"/>
                    <a:pt x="0" y="3791712"/>
                  </a:cubicBezTo>
                  <a:close/>
                </a:path>
              </a:pathLst>
            </a:custGeom>
            <a:solidFill>
              <a:srgbClr val="FFFFFF"/>
            </a:solidFill>
            <a:ln w="19050" cap="sq">
              <a:solidFill>
                <a:srgbClr val="DCE7E0"/>
              </a:solidFill>
              <a:prstDash val="solid"/>
              <a:miter/>
            </a:ln>
          </p:spPr>
          <p:txBody>
            <a:bodyPr/>
            <a:lstStyle/>
            <a:p>
              <a:endParaRPr lang="en-US"/>
            </a:p>
          </p:txBody>
        </p:sp>
      </p:grpSp>
      <p:grpSp>
        <p:nvGrpSpPr>
          <p:cNvPr id="39" name="Group 39"/>
          <p:cNvGrpSpPr/>
          <p:nvPr/>
        </p:nvGrpSpPr>
        <p:grpSpPr>
          <a:xfrm>
            <a:off x="12371832" y="3497580"/>
            <a:ext cx="2743200" cy="438912"/>
            <a:chOff x="0" y="0"/>
            <a:chExt cx="3657600" cy="585216"/>
          </a:xfrm>
        </p:grpSpPr>
        <p:sp>
          <p:nvSpPr>
            <p:cNvPr id="40" name="Freeform 40"/>
            <p:cNvSpPr/>
            <p:nvPr/>
          </p:nvSpPr>
          <p:spPr>
            <a:xfrm>
              <a:off x="0" y="0"/>
              <a:ext cx="3657600" cy="585216"/>
            </a:xfrm>
            <a:custGeom>
              <a:avLst/>
              <a:gdLst/>
              <a:ahLst/>
              <a:cxnLst/>
              <a:rect l="l" t="t" r="r" b="b"/>
              <a:pathLst>
                <a:path w="3657600" h="585216">
                  <a:moveTo>
                    <a:pt x="0" y="292608"/>
                  </a:moveTo>
                  <a:cubicBezTo>
                    <a:pt x="0" y="131064"/>
                    <a:pt x="131064" y="0"/>
                    <a:pt x="292608" y="0"/>
                  </a:cubicBezTo>
                  <a:lnTo>
                    <a:pt x="3364992" y="0"/>
                  </a:lnTo>
                  <a:cubicBezTo>
                    <a:pt x="3526536" y="0"/>
                    <a:pt x="3657600" y="131064"/>
                    <a:pt x="3657600" y="292608"/>
                  </a:cubicBezTo>
                  <a:cubicBezTo>
                    <a:pt x="3657600" y="454152"/>
                    <a:pt x="3526536" y="585216"/>
                    <a:pt x="3364992" y="585216"/>
                  </a:cubicBezTo>
                  <a:lnTo>
                    <a:pt x="292608" y="585216"/>
                  </a:lnTo>
                  <a:cubicBezTo>
                    <a:pt x="131064" y="585216"/>
                    <a:pt x="0" y="454152"/>
                    <a:pt x="0" y="292608"/>
                  </a:cubicBezTo>
                  <a:close/>
                </a:path>
              </a:pathLst>
            </a:custGeom>
            <a:solidFill>
              <a:srgbClr val="FFB703"/>
            </a:solidFill>
          </p:spPr>
          <p:txBody>
            <a:bodyPr/>
            <a:lstStyle/>
            <a:p>
              <a:endParaRPr lang="en-US"/>
            </a:p>
          </p:txBody>
        </p:sp>
      </p:grpSp>
      <p:grpSp>
        <p:nvGrpSpPr>
          <p:cNvPr id="41" name="Group 41"/>
          <p:cNvGrpSpPr/>
          <p:nvPr/>
        </p:nvGrpSpPr>
        <p:grpSpPr>
          <a:xfrm>
            <a:off x="12371832" y="3497580"/>
            <a:ext cx="2743200" cy="438912"/>
            <a:chOff x="0" y="0"/>
            <a:chExt cx="3657600" cy="585216"/>
          </a:xfrm>
        </p:grpSpPr>
        <p:sp>
          <p:nvSpPr>
            <p:cNvPr id="42" name="Freeform 42"/>
            <p:cNvSpPr/>
            <p:nvPr/>
          </p:nvSpPr>
          <p:spPr>
            <a:xfrm>
              <a:off x="0" y="0"/>
              <a:ext cx="3657600" cy="585216"/>
            </a:xfrm>
            <a:custGeom>
              <a:avLst/>
              <a:gdLst/>
              <a:ahLst/>
              <a:cxnLst/>
              <a:rect l="l" t="t" r="r" b="b"/>
              <a:pathLst>
                <a:path w="3657600" h="585216">
                  <a:moveTo>
                    <a:pt x="0" y="0"/>
                  </a:moveTo>
                  <a:lnTo>
                    <a:pt x="3657600" y="0"/>
                  </a:lnTo>
                  <a:lnTo>
                    <a:pt x="3657600" y="585216"/>
                  </a:lnTo>
                  <a:lnTo>
                    <a:pt x="0" y="585216"/>
                  </a:lnTo>
                  <a:close/>
                </a:path>
              </a:pathLst>
            </a:custGeom>
            <a:blipFill>
              <a:blip r:embed="rId3">
                <a:alphaModFix amt="0"/>
              </a:blip>
              <a:stretch>
                <a:fillRect t="-71781" b="-71781"/>
              </a:stretch>
            </a:blipFill>
          </p:spPr>
          <p:txBody>
            <a:bodyPr/>
            <a:lstStyle/>
            <a:p>
              <a:endParaRPr lang="en-US"/>
            </a:p>
          </p:txBody>
        </p:sp>
        <p:sp>
          <p:nvSpPr>
            <p:cNvPr id="43" name="TextBox 43"/>
            <p:cNvSpPr txBox="1"/>
            <p:nvPr/>
          </p:nvSpPr>
          <p:spPr>
            <a:xfrm>
              <a:off x="0" y="-28575"/>
              <a:ext cx="3657600" cy="613791"/>
            </a:xfrm>
            <a:prstGeom prst="rect">
              <a:avLst/>
            </a:prstGeom>
          </p:spPr>
          <p:txBody>
            <a:bodyPr lIns="0" tIns="0" rIns="0" bIns="0" rtlCol="0" anchor="ctr"/>
            <a:lstStyle/>
            <a:p>
              <a:pPr algn="ctr">
                <a:lnSpc>
                  <a:spcPts val="1530"/>
                </a:lnSpc>
              </a:pPr>
              <a:r>
                <a:rPr lang="en-US" sz="1275" b="1">
                  <a:solidFill>
                    <a:srgbClr val="FFFFFF"/>
                  </a:solidFill>
                  <a:latin typeface="Calibri (MS) Bold"/>
                  <a:ea typeface="Calibri (MS) Bold"/>
                  <a:cs typeface="Calibri (MS) Bold"/>
                  <a:sym typeface="Calibri (MS) Bold"/>
                </a:rPr>
                <a:t>Solar · Forecast</a:t>
              </a:r>
            </a:p>
          </p:txBody>
        </p:sp>
      </p:grpSp>
      <p:grpSp>
        <p:nvGrpSpPr>
          <p:cNvPr id="44" name="Group 44"/>
          <p:cNvGrpSpPr/>
          <p:nvPr/>
        </p:nvGrpSpPr>
        <p:grpSpPr>
          <a:xfrm>
            <a:off x="12371832" y="4073652"/>
            <a:ext cx="4732020" cy="548640"/>
            <a:chOff x="0" y="0"/>
            <a:chExt cx="6309360" cy="731520"/>
          </a:xfrm>
        </p:grpSpPr>
        <p:sp>
          <p:nvSpPr>
            <p:cNvPr id="45" name="Freeform 45"/>
            <p:cNvSpPr/>
            <p:nvPr/>
          </p:nvSpPr>
          <p:spPr>
            <a:xfrm>
              <a:off x="0" y="0"/>
              <a:ext cx="6309360" cy="731520"/>
            </a:xfrm>
            <a:custGeom>
              <a:avLst/>
              <a:gdLst/>
              <a:ahLst/>
              <a:cxnLst/>
              <a:rect l="l" t="t" r="r" b="b"/>
              <a:pathLst>
                <a:path w="6309360" h="731520">
                  <a:moveTo>
                    <a:pt x="0" y="0"/>
                  </a:moveTo>
                  <a:lnTo>
                    <a:pt x="6309360" y="0"/>
                  </a:lnTo>
                  <a:lnTo>
                    <a:pt x="6309360" y="731520"/>
                  </a:lnTo>
                  <a:lnTo>
                    <a:pt x="0" y="731520"/>
                  </a:lnTo>
                  <a:close/>
                </a:path>
              </a:pathLst>
            </a:custGeom>
            <a:blipFill>
              <a:blip r:embed="rId3">
                <a:alphaModFix amt="0"/>
              </a:blip>
              <a:stretch>
                <a:fillRect t="-118058" b="-118058"/>
              </a:stretch>
            </a:blipFill>
          </p:spPr>
          <p:txBody>
            <a:bodyPr/>
            <a:lstStyle/>
            <a:p>
              <a:endParaRPr lang="en-US"/>
            </a:p>
          </p:txBody>
        </p:sp>
        <p:sp>
          <p:nvSpPr>
            <p:cNvPr id="46" name="TextBox 46"/>
            <p:cNvSpPr txBox="1"/>
            <p:nvPr/>
          </p:nvSpPr>
          <p:spPr>
            <a:xfrm>
              <a:off x="0" y="-47625"/>
              <a:ext cx="6309360" cy="779145"/>
            </a:xfrm>
            <a:prstGeom prst="rect">
              <a:avLst/>
            </a:prstGeom>
          </p:spPr>
          <p:txBody>
            <a:bodyPr lIns="0" tIns="0" rIns="0" bIns="0" rtlCol="0" anchor="ctr"/>
            <a:lstStyle/>
            <a:p>
              <a:pPr algn="l">
                <a:lnSpc>
                  <a:spcPts val="2340"/>
                </a:lnSpc>
              </a:pPr>
              <a:r>
                <a:rPr lang="en-US" sz="1950" b="1">
                  <a:solidFill>
                    <a:srgbClr val="0D1B2A"/>
                  </a:solidFill>
                  <a:latin typeface="Calibri (MS) Bold"/>
                  <a:ea typeface="Calibri (MS) Bold"/>
                  <a:cs typeface="Calibri (MS) Bold"/>
                  <a:sym typeface="Calibri (MS) Bold"/>
                </a:rPr>
                <a:t>predict_solar_yield()</a:t>
              </a:r>
            </a:p>
          </p:txBody>
        </p:sp>
      </p:grpSp>
      <p:grpSp>
        <p:nvGrpSpPr>
          <p:cNvPr id="47" name="Group 47"/>
          <p:cNvGrpSpPr/>
          <p:nvPr/>
        </p:nvGrpSpPr>
        <p:grpSpPr>
          <a:xfrm>
            <a:off x="12371832" y="4594860"/>
            <a:ext cx="4732020" cy="1440180"/>
            <a:chOff x="0" y="0"/>
            <a:chExt cx="6309360" cy="1920240"/>
          </a:xfrm>
        </p:grpSpPr>
        <p:sp>
          <p:nvSpPr>
            <p:cNvPr id="48" name="Freeform 48"/>
            <p:cNvSpPr/>
            <p:nvPr/>
          </p:nvSpPr>
          <p:spPr>
            <a:xfrm>
              <a:off x="0" y="0"/>
              <a:ext cx="6309360" cy="1920240"/>
            </a:xfrm>
            <a:custGeom>
              <a:avLst/>
              <a:gdLst/>
              <a:ahLst/>
              <a:cxnLst/>
              <a:rect l="l" t="t" r="r" b="b"/>
              <a:pathLst>
                <a:path w="6309360" h="1920240">
                  <a:moveTo>
                    <a:pt x="0" y="0"/>
                  </a:moveTo>
                  <a:lnTo>
                    <a:pt x="6309360" y="0"/>
                  </a:lnTo>
                  <a:lnTo>
                    <a:pt x="6309360" y="1920240"/>
                  </a:lnTo>
                  <a:lnTo>
                    <a:pt x="0" y="1920240"/>
                  </a:lnTo>
                  <a:close/>
                </a:path>
              </a:pathLst>
            </a:custGeom>
            <a:blipFill>
              <a:blip r:embed="rId3">
                <a:alphaModFix amt="0"/>
              </a:blip>
              <a:stretch>
                <a:fillRect t="-14022" b="-14022"/>
              </a:stretch>
            </a:blipFill>
          </p:spPr>
          <p:txBody>
            <a:bodyPr/>
            <a:lstStyle/>
            <a:p>
              <a:endParaRPr lang="en-US"/>
            </a:p>
          </p:txBody>
        </p:sp>
        <p:sp>
          <p:nvSpPr>
            <p:cNvPr id="49" name="TextBox 49"/>
            <p:cNvSpPr txBox="1"/>
            <p:nvPr/>
          </p:nvSpPr>
          <p:spPr>
            <a:xfrm>
              <a:off x="0" y="-76200"/>
              <a:ext cx="6309360" cy="1996440"/>
            </a:xfrm>
            <a:prstGeom prst="rect">
              <a:avLst/>
            </a:prstGeom>
          </p:spPr>
          <p:txBody>
            <a:bodyPr lIns="0" tIns="0" rIns="0" bIns="0" rtlCol="0" anchor="ctr"/>
            <a:lstStyle/>
            <a:p>
              <a:pPr algn="l">
                <a:lnSpc>
                  <a:spcPts val="2250"/>
                </a:lnSpc>
              </a:pPr>
              <a:r>
                <a:rPr lang="en-US" sz="1500">
                  <a:solidFill>
                    <a:srgbClr val="5B6B72"/>
                  </a:solidFill>
                  <a:latin typeface="Calibri (MS)"/>
                  <a:ea typeface="Calibri (MS)"/>
                  <a:cs typeface="Calibri (MS)"/>
                  <a:sym typeface="Calibri (MS)"/>
                </a:rPr>
                <a:t>ONNX Transformer forecast with daylight gate; falls back to irradiance × 2.1 × noise.</a:t>
              </a:r>
            </a:p>
          </p:txBody>
        </p:sp>
      </p:grpSp>
      <p:grpSp>
        <p:nvGrpSpPr>
          <p:cNvPr id="50" name="Group 50"/>
          <p:cNvGrpSpPr/>
          <p:nvPr/>
        </p:nvGrpSpPr>
        <p:grpSpPr>
          <a:xfrm>
            <a:off x="813435" y="6436995"/>
            <a:ext cx="5368290" cy="2967990"/>
            <a:chOff x="0" y="0"/>
            <a:chExt cx="7157720" cy="3957320"/>
          </a:xfrm>
        </p:grpSpPr>
        <p:sp>
          <p:nvSpPr>
            <p:cNvPr id="51" name="Freeform 51"/>
            <p:cNvSpPr/>
            <p:nvPr/>
          </p:nvSpPr>
          <p:spPr>
            <a:xfrm>
              <a:off x="0" y="0"/>
              <a:ext cx="7157720" cy="3957320"/>
            </a:xfrm>
            <a:custGeom>
              <a:avLst/>
              <a:gdLst/>
              <a:ahLst/>
              <a:cxnLst/>
              <a:rect l="l" t="t" r="r" b="b"/>
              <a:pathLst>
                <a:path w="7157720" h="3957320">
                  <a:moveTo>
                    <a:pt x="0" y="165608"/>
                  </a:moveTo>
                  <a:cubicBezTo>
                    <a:pt x="0" y="74168"/>
                    <a:pt x="74168" y="0"/>
                    <a:pt x="165608" y="0"/>
                  </a:cubicBezTo>
                  <a:lnTo>
                    <a:pt x="6992112" y="0"/>
                  </a:lnTo>
                  <a:cubicBezTo>
                    <a:pt x="7083552" y="0"/>
                    <a:pt x="7157720" y="74168"/>
                    <a:pt x="7157720" y="165608"/>
                  </a:cubicBezTo>
                  <a:lnTo>
                    <a:pt x="7157720" y="3791712"/>
                  </a:lnTo>
                  <a:cubicBezTo>
                    <a:pt x="7157720" y="3883152"/>
                    <a:pt x="7083552" y="3957320"/>
                    <a:pt x="6992112" y="3957320"/>
                  </a:cubicBezTo>
                  <a:lnTo>
                    <a:pt x="165608" y="3957320"/>
                  </a:lnTo>
                  <a:cubicBezTo>
                    <a:pt x="74168" y="3957320"/>
                    <a:pt x="0" y="3883152"/>
                    <a:pt x="0" y="3791712"/>
                  </a:cubicBezTo>
                  <a:close/>
                </a:path>
              </a:pathLst>
            </a:custGeom>
            <a:solidFill>
              <a:srgbClr val="FFFFFF"/>
            </a:solidFill>
            <a:ln w="19050" cap="sq">
              <a:solidFill>
                <a:srgbClr val="DCE7E0"/>
              </a:solidFill>
              <a:prstDash val="solid"/>
              <a:miter/>
            </a:ln>
          </p:spPr>
          <p:txBody>
            <a:bodyPr/>
            <a:lstStyle/>
            <a:p>
              <a:endParaRPr lang="en-US"/>
            </a:p>
          </p:txBody>
        </p:sp>
      </p:grpSp>
      <p:grpSp>
        <p:nvGrpSpPr>
          <p:cNvPr id="52" name="Group 52"/>
          <p:cNvGrpSpPr/>
          <p:nvPr/>
        </p:nvGrpSpPr>
        <p:grpSpPr>
          <a:xfrm>
            <a:off x="1124712" y="6720840"/>
            <a:ext cx="2743200" cy="438912"/>
            <a:chOff x="0" y="0"/>
            <a:chExt cx="3657600" cy="585216"/>
          </a:xfrm>
        </p:grpSpPr>
        <p:sp>
          <p:nvSpPr>
            <p:cNvPr id="53" name="Freeform 53"/>
            <p:cNvSpPr/>
            <p:nvPr/>
          </p:nvSpPr>
          <p:spPr>
            <a:xfrm>
              <a:off x="0" y="0"/>
              <a:ext cx="3657600" cy="585216"/>
            </a:xfrm>
            <a:custGeom>
              <a:avLst/>
              <a:gdLst/>
              <a:ahLst/>
              <a:cxnLst/>
              <a:rect l="l" t="t" r="r" b="b"/>
              <a:pathLst>
                <a:path w="3657600" h="585216">
                  <a:moveTo>
                    <a:pt x="0" y="292608"/>
                  </a:moveTo>
                  <a:cubicBezTo>
                    <a:pt x="0" y="131064"/>
                    <a:pt x="131064" y="0"/>
                    <a:pt x="292608" y="0"/>
                  </a:cubicBezTo>
                  <a:lnTo>
                    <a:pt x="3364992" y="0"/>
                  </a:lnTo>
                  <a:cubicBezTo>
                    <a:pt x="3526536" y="0"/>
                    <a:pt x="3657600" y="131064"/>
                    <a:pt x="3657600" y="292608"/>
                  </a:cubicBezTo>
                  <a:cubicBezTo>
                    <a:pt x="3657600" y="454152"/>
                    <a:pt x="3526536" y="585216"/>
                    <a:pt x="3364992" y="585216"/>
                  </a:cubicBezTo>
                  <a:lnTo>
                    <a:pt x="292608" y="585216"/>
                  </a:lnTo>
                  <a:cubicBezTo>
                    <a:pt x="131064" y="585216"/>
                    <a:pt x="0" y="454152"/>
                    <a:pt x="0" y="292608"/>
                  </a:cubicBezTo>
                  <a:close/>
                </a:path>
              </a:pathLst>
            </a:custGeom>
            <a:solidFill>
              <a:srgbClr val="FFB703"/>
            </a:solidFill>
          </p:spPr>
          <p:txBody>
            <a:bodyPr/>
            <a:lstStyle/>
            <a:p>
              <a:endParaRPr lang="en-US"/>
            </a:p>
          </p:txBody>
        </p:sp>
      </p:grpSp>
      <p:grpSp>
        <p:nvGrpSpPr>
          <p:cNvPr id="54" name="Group 54"/>
          <p:cNvGrpSpPr/>
          <p:nvPr/>
        </p:nvGrpSpPr>
        <p:grpSpPr>
          <a:xfrm>
            <a:off x="1124712" y="6720840"/>
            <a:ext cx="2743200" cy="438912"/>
            <a:chOff x="0" y="0"/>
            <a:chExt cx="3657600" cy="585216"/>
          </a:xfrm>
        </p:grpSpPr>
        <p:sp>
          <p:nvSpPr>
            <p:cNvPr id="55" name="Freeform 55"/>
            <p:cNvSpPr/>
            <p:nvPr/>
          </p:nvSpPr>
          <p:spPr>
            <a:xfrm>
              <a:off x="0" y="0"/>
              <a:ext cx="3657600" cy="585216"/>
            </a:xfrm>
            <a:custGeom>
              <a:avLst/>
              <a:gdLst/>
              <a:ahLst/>
              <a:cxnLst/>
              <a:rect l="l" t="t" r="r" b="b"/>
              <a:pathLst>
                <a:path w="3657600" h="585216">
                  <a:moveTo>
                    <a:pt x="0" y="0"/>
                  </a:moveTo>
                  <a:lnTo>
                    <a:pt x="3657600" y="0"/>
                  </a:lnTo>
                  <a:lnTo>
                    <a:pt x="3657600" y="585216"/>
                  </a:lnTo>
                  <a:lnTo>
                    <a:pt x="0" y="585216"/>
                  </a:lnTo>
                  <a:close/>
                </a:path>
              </a:pathLst>
            </a:custGeom>
            <a:blipFill>
              <a:blip r:embed="rId3">
                <a:alphaModFix amt="0"/>
              </a:blip>
              <a:stretch>
                <a:fillRect t="-71781" b="-71781"/>
              </a:stretch>
            </a:blipFill>
          </p:spPr>
          <p:txBody>
            <a:bodyPr/>
            <a:lstStyle/>
            <a:p>
              <a:endParaRPr lang="en-US"/>
            </a:p>
          </p:txBody>
        </p:sp>
        <p:sp>
          <p:nvSpPr>
            <p:cNvPr id="56" name="TextBox 56"/>
            <p:cNvSpPr txBox="1"/>
            <p:nvPr/>
          </p:nvSpPr>
          <p:spPr>
            <a:xfrm>
              <a:off x="0" y="-28575"/>
              <a:ext cx="3657600" cy="613791"/>
            </a:xfrm>
            <a:prstGeom prst="rect">
              <a:avLst/>
            </a:prstGeom>
          </p:spPr>
          <p:txBody>
            <a:bodyPr lIns="0" tIns="0" rIns="0" bIns="0" rtlCol="0" anchor="ctr"/>
            <a:lstStyle/>
            <a:p>
              <a:pPr algn="ctr">
                <a:lnSpc>
                  <a:spcPts val="1530"/>
                </a:lnSpc>
              </a:pPr>
              <a:r>
                <a:rPr lang="en-US" sz="1275" b="1">
                  <a:solidFill>
                    <a:srgbClr val="FFFFFF"/>
                  </a:solidFill>
                  <a:latin typeface="Calibri (MS) Bold"/>
                  <a:ea typeface="Calibri (MS) Bold"/>
                  <a:cs typeface="Calibri (MS) Bold"/>
                  <a:sym typeface="Calibri (MS) Bold"/>
                </a:rPr>
                <a:t>Solar · Anomaly</a:t>
              </a:r>
            </a:p>
          </p:txBody>
        </p:sp>
      </p:grpSp>
      <p:grpSp>
        <p:nvGrpSpPr>
          <p:cNvPr id="57" name="Group 57"/>
          <p:cNvGrpSpPr/>
          <p:nvPr/>
        </p:nvGrpSpPr>
        <p:grpSpPr>
          <a:xfrm>
            <a:off x="1124712" y="7296912"/>
            <a:ext cx="4732020" cy="548640"/>
            <a:chOff x="0" y="0"/>
            <a:chExt cx="6309360" cy="731520"/>
          </a:xfrm>
        </p:grpSpPr>
        <p:sp>
          <p:nvSpPr>
            <p:cNvPr id="58" name="Freeform 58"/>
            <p:cNvSpPr/>
            <p:nvPr/>
          </p:nvSpPr>
          <p:spPr>
            <a:xfrm>
              <a:off x="0" y="0"/>
              <a:ext cx="6309360" cy="731520"/>
            </a:xfrm>
            <a:custGeom>
              <a:avLst/>
              <a:gdLst/>
              <a:ahLst/>
              <a:cxnLst/>
              <a:rect l="l" t="t" r="r" b="b"/>
              <a:pathLst>
                <a:path w="6309360" h="731520">
                  <a:moveTo>
                    <a:pt x="0" y="0"/>
                  </a:moveTo>
                  <a:lnTo>
                    <a:pt x="6309360" y="0"/>
                  </a:lnTo>
                  <a:lnTo>
                    <a:pt x="6309360" y="731520"/>
                  </a:lnTo>
                  <a:lnTo>
                    <a:pt x="0" y="731520"/>
                  </a:lnTo>
                  <a:close/>
                </a:path>
              </a:pathLst>
            </a:custGeom>
            <a:blipFill>
              <a:blip r:embed="rId3">
                <a:alphaModFix amt="0"/>
              </a:blip>
              <a:stretch>
                <a:fillRect t="-118058" b="-118058"/>
              </a:stretch>
            </a:blipFill>
          </p:spPr>
          <p:txBody>
            <a:bodyPr/>
            <a:lstStyle/>
            <a:p>
              <a:endParaRPr lang="en-US"/>
            </a:p>
          </p:txBody>
        </p:sp>
        <p:sp>
          <p:nvSpPr>
            <p:cNvPr id="59" name="TextBox 59"/>
            <p:cNvSpPr txBox="1"/>
            <p:nvPr/>
          </p:nvSpPr>
          <p:spPr>
            <a:xfrm>
              <a:off x="0" y="-47625"/>
              <a:ext cx="6309360" cy="779145"/>
            </a:xfrm>
            <a:prstGeom prst="rect">
              <a:avLst/>
            </a:prstGeom>
          </p:spPr>
          <p:txBody>
            <a:bodyPr lIns="0" tIns="0" rIns="0" bIns="0" rtlCol="0" anchor="ctr"/>
            <a:lstStyle/>
            <a:p>
              <a:pPr algn="l">
                <a:lnSpc>
                  <a:spcPts val="2340"/>
                </a:lnSpc>
              </a:pPr>
              <a:r>
                <a:rPr lang="en-US" sz="1950" b="1">
                  <a:solidFill>
                    <a:srgbClr val="0D1B2A"/>
                  </a:solidFill>
                  <a:latin typeface="Calibri (MS) Bold"/>
                  <a:ea typeface="Calibri (MS) Bold"/>
                  <a:cs typeface="Calibri (MS) Bold"/>
                  <a:sym typeface="Calibri (MS) Bold"/>
                </a:rPr>
                <a:t>detect_solar_anomaly()</a:t>
              </a:r>
            </a:p>
          </p:txBody>
        </p:sp>
      </p:grpSp>
      <p:grpSp>
        <p:nvGrpSpPr>
          <p:cNvPr id="60" name="Group 60"/>
          <p:cNvGrpSpPr/>
          <p:nvPr/>
        </p:nvGrpSpPr>
        <p:grpSpPr>
          <a:xfrm>
            <a:off x="1124712" y="7818120"/>
            <a:ext cx="4732020" cy="1440180"/>
            <a:chOff x="0" y="0"/>
            <a:chExt cx="6309360" cy="1920240"/>
          </a:xfrm>
        </p:grpSpPr>
        <p:sp>
          <p:nvSpPr>
            <p:cNvPr id="61" name="Freeform 61"/>
            <p:cNvSpPr/>
            <p:nvPr/>
          </p:nvSpPr>
          <p:spPr>
            <a:xfrm>
              <a:off x="0" y="0"/>
              <a:ext cx="6309360" cy="1920240"/>
            </a:xfrm>
            <a:custGeom>
              <a:avLst/>
              <a:gdLst/>
              <a:ahLst/>
              <a:cxnLst/>
              <a:rect l="l" t="t" r="r" b="b"/>
              <a:pathLst>
                <a:path w="6309360" h="1920240">
                  <a:moveTo>
                    <a:pt x="0" y="0"/>
                  </a:moveTo>
                  <a:lnTo>
                    <a:pt x="6309360" y="0"/>
                  </a:lnTo>
                  <a:lnTo>
                    <a:pt x="6309360" y="1920240"/>
                  </a:lnTo>
                  <a:lnTo>
                    <a:pt x="0" y="1920240"/>
                  </a:lnTo>
                  <a:close/>
                </a:path>
              </a:pathLst>
            </a:custGeom>
            <a:blipFill>
              <a:blip r:embed="rId3">
                <a:alphaModFix amt="0"/>
              </a:blip>
              <a:stretch>
                <a:fillRect t="-14022" b="-14022"/>
              </a:stretch>
            </a:blipFill>
          </p:spPr>
          <p:txBody>
            <a:bodyPr/>
            <a:lstStyle/>
            <a:p>
              <a:endParaRPr lang="en-US"/>
            </a:p>
          </p:txBody>
        </p:sp>
        <p:sp>
          <p:nvSpPr>
            <p:cNvPr id="62" name="TextBox 62"/>
            <p:cNvSpPr txBox="1"/>
            <p:nvPr/>
          </p:nvSpPr>
          <p:spPr>
            <a:xfrm>
              <a:off x="0" y="-76200"/>
              <a:ext cx="6309360" cy="1996440"/>
            </a:xfrm>
            <a:prstGeom prst="rect">
              <a:avLst/>
            </a:prstGeom>
          </p:spPr>
          <p:txBody>
            <a:bodyPr lIns="0" tIns="0" rIns="0" bIns="0" rtlCol="0" anchor="ctr"/>
            <a:lstStyle/>
            <a:p>
              <a:pPr algn="l">
                <a:lnSpc>
                  <a:spcPts val="2250"/>
                </a:lnSpc>
              </a:pPr>
              <a:r>
                <a:rPr lang="en-US" sz="1500">
                  <a:solidFill>
                    <a:srgbClr val="5B6B72"/>
                  </a:solidFill>
                  <a:latin typeface="Calibri (MS)"/>
                  <a:ea typeface="Calibri (MS)"/>
                  <a:cs typeface="Calibri (MS)"/>
                  <a:sym typeface="Calibri (MS)"/>
                </a:rPr>
                <a:t>Maps schema to training features and flags anomalies when the Isolation Forest predicts −1.</a:t>
              </a:r>
            </a:p>
          </p:txBody>
        </p:sp>
      </p:grpSp>
      <p:grpSp>
        <p:nvGrpSpPr>
          <p:cNvPr id="63" name="Group 63"/>
          <p:cNvGrpSpPr/>
          <p:nvPr/>
        </p:nvGrpSpPr>
        <p:grpSpPr>
          <a:xfrm>
            <a:off x="6436995" y="6436995"/>
            <a:ext cx="5368290" cy="2967990"/>
            <a:chOff x="0" y="0"/>
            <a:chExt cx="7157720" cy="3957320"/>
          </a:xfrm>
        </p:grpSpPr>
        <p:sp>
          <p:nvSpPr>
            <p:cNvPr id="64" name="Freeform 64"/>
            <p:cNvSpPr/>
            <p:nvPr/>
          </p:nvSpPr>
          <p:spPr>
            <a:xfrm>
              <a:off x="0" y="0"/>
              <a:ext cx="7157720" cy="3957320"/>
            </a:xfrm>
            <a:custGeom>
              <a:avLst/>
              <a:gdLst/>
              <a:ahLst/>
              <a:cxnLst/>
              <a:rect l="l" t="t" r="r" b="b"/>
              <a:pathLst>
                <a:path w="7157720" h="3957320">
                  <a:moveTo>
                    <a:pt x="0" y="165608"/>
                  </a:moveTo>
                  <a:cubicBezTo>
                    <a:pt x="0" y="74168"/>
                    <a:pt x="74168" y="0"/>
                    <a:pt x="165608" y="0"/>
                  </a:cubicBezTo>
                  <a:lnTo>
                    <a:pt x="6992112" y="0"/>
                  </a:lnTo>
                  <a:cubicBezTo>
                    <a:pt x="7083552" y="0"/>
                    <a:pt x="7157720" y="74168"/>
                    <a:pt x="7157720" y="165608"/>
                  </a:cubicBezTo>
                  <a:lnTo>
                    <a:pt x="7157720" y="3791712"/>
                  </a:lnTo>
                  <a:cubicBezTo>
                    <a:pt x="7157720" y="3883152"/>
                    <a:pt x="7083552" y="3957320"/>
                    <a:pt x="6992112" y="3957320"/>
                  </a:cubicBezTo>
                  <a:lnTo>
                    <a:pt x="165608" y="3957320"/>
                  </a:lnTo>
                  <a:cubicBezTo>
                    <a:pt x="74168" y="3957320"/>
                    <a:pt x="0" y="3883152"/>
                    <a:pt x="0" y="3791712"/>
                  </a:cubicBezTo>
                  <a:close/>
                </a:path>
              </a:pathLst>
            </a:custGeom>
            <a:solidFill>
              <a:srgbClr val="FFFFFF"/>
            </a:solidFill>
            <a:ln w="19050" cap="sq">
              <a:solidFill>
                <a:srgbClr val="DCE7E0"/>
              </a:solidFill>
              <a:prstDash val="solid"/>
              <a:miter/>
            </a:ln>
          </p:spPr>
          <p:txBody>
            <a:bodyPr/>
            <a:lstStyle/>
            <a:p>
              <a:endParaRPr lang="en-US"/>
            </a:p>
          </p:txBody>
        </p:sp>
      </p:grpSp>
      <p:grpSp>
        <p:nvGrpSpPr>
          <p:cNvPr id="65" name="Group 65"/>
          <p:cNvGrpSpPr/>
          <p:nvPr/>
        </p:nvGrpSpPr>
        <p:grpSpPr>
          <a:xfrm>
            <a:off x="6748272" y="6720840"/>
            <a:ext cx="2743200" cy="438912"/>
            <a:chOff x="0" y="0"/>
            <a:chExt cx="3657600" cy="585216"/>
          </a:xfrm>
        </p:grpSpPr>
        <p:sp>
          <p:nvSpPr>
            <p:cNvPr id="66" name="Freeform 66"/>
            <p:cNvSpPr/>
            <p:nvPr/>
          </p:nvSpPr>
          <p:spPr>
            <a:xfrm>
              <a:off x="0" y="0"/>
              <a:ext cx="3657600" cy="585216"/>
            </a:xfrm>
            <a:custGeom>
              <a:avLst/>
              <a:gdLst/>
              <a:ahLst/>
              <a:cxnLst/>
              <a:rect l="l" t="t" r="r" b="b"/>
              <a:pathLst>
                <a:path w="3657600" h="585216">
                  <a:moveTo>
                    <a:pt x="0" y="292608"/>
                  </a:moveTo>
                  <a:cubicBezTo>
                    <a:pt x="0" y="131064"/>
                    <a:pt x="131064" y="0"/>
                    <a:pt x="292608" y="0"/>
                  </a:cubicBezTo>
                  <a:lnTo>
                    <a:pt x="3364992" y="0"/>
                  </a:lnTo>
                  <a:cubicBezTo>
                    <a:pt x="3526536" y="0"/>
                    <a:pt x="3657600" y="131064"/>
                    <a:pt x="3657600" y="292608"/>
                  </a:cubicBezTo>
                  <a:cubicBezTo>
                    <a:pt x="3657600" y="454152"/>
                    <a:pt x="3526536" y="585216"/>
                    <a:pt x="3364992" y="585216"/>
                  </a:cubicBezTo>
                  <a:lnTo>
                    <a:pt x="292608" y="585216"/>
                  </a:lnTo>
                  <a:cubicBezTo>
                    <a:pt x="131064" y="585216"/>
                    <a:pt x="0" y="454152"/>
                    <a:pt x="0" y="292608"/>
                  </a:cubicBezTo>
                  <a:close/>
                </a:path>
              </a:pathLst>
            </a:custGeom>
            <a:solidFill>
              <a:srgbClr val="74C69D"/>
            </a:solidFill>
          </p:spPr>
          <p:txBody>
            <a:bodyPr/>
            <a:lstStyle/>
            <a:p>
              <a:endParaRPr lang="en-US"/>
            </a:p>
          </p:txBody>
        </p:sp>
      </p:grpSp>
      <p:grpSp>
        <p:nvGrpSpPr>
          <p:cNvPr id="67" name="Group 67"/>
          <p:cNvGrpSpPr/>
          <p:nvPr/>
        </p:nvGrpSpPr>
        <p:grpSpPr>
          <a:xfrm>
            <a:off x="6748272" y="6720840"/>
            <a:ext cx="2743200" cy="438912"/>
            <a:chOff x="0" y="0"/>
            <a:chExt cx="3657600" cy="585216"/>
          </a:xfrm>
        </p:grpSpPr>
        <p:sp>
          <p:nvSpPr>
            <p:cNvPr id="68" name="Freeform 68"/>
            <p:cNvSpPr/>
            <p:nvPr/>
          </p:nvSpPr>
          <p:spPr>
            <a:xfrm>
              <a:off x="0" y="0"/>
              <a:ext cx="3657600" cy="585216"/>
            </a:xfrm>
            <a:custGeom>
              <a:avLst/>
              <a:gdLst/>
              <a:ahLst/>
              <a:cxnLst/>
              <a:rect l="l" t="t" r="r" b="b"/>
              <a:pathLst>
                <a:path w="3657600" h="585216">
                  <a:moveTo>
                    <a:pt x="0" y="0"/>
                  </a:moveTo>
                  <a:lnTo>
                    <a:pt x="3657600" y="0"/>
                  </a:lnTo>
                  <a:lnTo>
                    <a:pt x="3657600" y="585216"/>
                  </a:lnTo>
                  <a:lnTo>
                    <a:pt x="0" y="585216"/>
                  </a:lnTo>
                  <a:close/>
                </a:path>
              </a:pathLst>
            </a:custGeom>
            <a:blipFill>
              <a:blip r:embed="rId3">
                <a:alphaModFix amt="0"/>
              </a:blip>
              <a:stretch>
                <a:fillRect t="-71781" b="-71781"/>
              </a:stretch>
            </a:blipFill>
          </p:spPr>
          <p:txBody>
            <a:bodyPr/>
            <a:lstStyle/>
            <a:p>
              <a:endParaRPr lang="en-US"/>
            </a:p>
          </p:txBody>
        </p:sp>
        <p:sp>
          <p:nvSpPr>
            <p:cNvPr id="69" name="TextBox 69"/>
            <p:cNvSpPr txBox="1"/>
            <p:nvPr/>
          </p:nvSpPr>
          <p:spPr>
            <a:xfrm>
              <a:off x="0" y="-28575"/>
              <a:ext cx="3657600" cy="613791"/>
            </a:xfrm>
            <a:prstGeom prst="rect">
              <a:avLst/>
            </a:prstGeom>
          </p:spPr>
          <p:txBody>
            <a:bodyPr lIns="0" tIns="0" rIns="0" bIns="0" rtlCol="0" anchor="ctr"/>
            <a:lstStyle/>
            <a:p>
              <a:pPr algn="ctr">
                <a:lnSpc>
                  <a:spcPts val="1530"/>
                </a:lnSpc>
              </a:pPr>
              <a:r>
                <a:rPr lang="en-US" sz="1275" b="1">
                  <a:solidFill>
                    <a:srgbClr val="FFFFFF"/>
                  </a:solidFill>
                  <a:latin typeface="Calibri (MS) Bold"/>
                  <a:ea typeface="Calibri (MS) Bold"/>
                  <a:cs typeface="Calibri (MS) Bold"/>
                  <a:sym typeface="Calibri (MS) Bold"/>
                </a:rPr>
                <a:t>Demand · Forecast</a:t>
              </a:r>
            </a:p>
          </p:txBody>
        </p:sp>
      </p:grpSp>
      <p:grpSp>
        <p:nvGrpSpPr>
          <p:cNvPr id="70" name="Group 70"/>
          <p:cNvGrpSpPr/>
          <p:nvPr/>
        </p:nvGrpSpPr>
        <p:grpSpPr>
          <a:xfrm>
            <a:off x="6748272" y="7296912"/>
            <a:ext cx="4732020" cy="548640"/>
            <a:chOff x="0" y="0"/>
            <a:chExt cx="6309360" cy="731520"/>
          </a:xfrm>
        </p:grpSpPr>
        <p:sp>
          <p:nvSpPr>
            <p:cNvPr id="71" name="Freeform 71"/>
            <p:cNvSpPr/>
            <p:nvPr/>
          </p:nvSpPr>
          <p:spPr>
            <a:xfrm>
              <a:off x="0" y="0"/>
              <a:ext cx="6309360" cy="731520"/>
            </a:xfrm>
            <a:custGeom>
              <a:avLst/>
              <a:gdLst/>
              <a:ahLst/>
              <a:cxnLst/>
              <a:rect l="l" t="t" r="r" b="b"/>
              <a:pathLst>
                <a:path w="6309360" h="731520">
                  <a:moveTo>
                    <a:pt x="0" y="0"/>
                  </a:moveTo>
                  <a:lnTo>
                    <a:pt x="6309360" y="0"/>
                  </a:lnTo>
                  <a:lnTo>
                    <a:pt x="6309360" y="731520"/>
                  </a:lnTo>
                  <a:lnTo>
                    <a:pt x="0" y="731520"/>
                  </a:lnTo>
                  <a:close/>
                </a:path>
              </a:pathLst>
            </a:custGeom>
            <a:blipFill>
              <a:blip r:embed="rId3">
                <a:alphaModFix amt="0"/>
              </a:blip>
              <a:stretch>
                <a:fillRect t="-118058" b="-118058"/>
              </a:stretch>
            </a:blipFill>
          </p:spPr>
          <p:txBody>
            <a:bodyPr/>
            <a:lstStyle/>
            <a:p>
              <a:endParaRPr lang="en-US"/>
            </a:p>
          </p:txBody>
        </p:sp>
        <p:sp>
          <p:nvSpPr>
            <p:cNvPr id="72" name="TextBox 72"/>
            <p:cNvSpPr txBox="1"/>
            <p:nvPr/>
          </p:nvSpPr>
          <p:spPr>
            <a:xfrm>
              <a:off x="0" y="-47625"/>
              <a:ext cx="6309360" cy="779145"/>
            </a:xfrm>
            <a:prstGeom prst="rect">
              <a:avLst/>
            </a:prstGeom>
          </p:spPr>
          <p:txBody>
            <a:bodyPr lIns="0" tIns="0" rIns="0" bIns="0" rtlCol="0" anchor="ctr"/>
            <a:lstStyle/>
            <a:p>
              <a:pPr algn="l">
                <a:lnSpc>
                  <a:spcPts val="2340"/>
                </a:lnSpc>
              </a:pPr>
              <a:r>
                <a:rPr lang="en-US" sz="1950" b="1">
                  <a:solidFill>
                    <a:srgbClr val="0D1B2A"/>
                  </a:solidFill>
                  <a:latin typeface="Calibri (MS) Bold"/>
                  <a:ea typeface="Calibri (MS) Bold"/>
                  <a:cs typeface="Calibri (MS) Bold"/>
                  <a:sym typeface="Calibri (MS) Bold"/>
                </a:rPr>
                <a:t>predict_grid_demand()</a:t>
              </a:r>
            </a:p>
          </p:txBody>
        </p:sp>
      </p:grpSp>
      <p:grpSp>
        <p:nvGrpSpPr>
          <p:cNvPr id="73" name="Group 73"/>
          <p:cNvGrpSpPr/>
          <p:nvPr/>
        </p:nvGrpSpPr>
        <p:grpSpPr>
          <a:xfrm>
            <a:off x="6748272" y="7818120"/>
            <a:ext cx="4732020" cy="1440180"/>
            <a:chOff x="0" y="0"/>
            <a:chExt cx="6309360" cy="1920240"/>
          </a:xfrm>
        </p:grpSpPr>
        <p:sp>
          <p:nvSpPr>
            <p:cNvPr id="74" name="Freeform 74"/>
            <p:cNvSpPr/>
            <p:nvPr/>
          </p:nvSpPr>
          <p:spPr>
            <a:xfrm>
              <a:off x="0" y="0"/>
              <a:ext cx="6309360" cy="1920240"/>
            </a:xfrm>
            <a:custGeom>
              <a:avLst/>
              <a:gdLst/>
              <a:ahLst/>
              <a:cxnLst/>
              <a:rect l="l" t="t" r="r" b="b"/>
              <a:pathLst>
                <a:path w="6309360" h="1920240">
                  <a:moveTo>
                    <a:pt x="0" y="0"/>
                  </a:moveTo>
                  <a:lnTo>
                    <a:pt x="6309360" y="0"/>
                  </a:lnTo>
                  <a:lnTo>
                    <a:pt x="6309360" y="1920240"/>
                  </a:lnTo>
                  <a:lnTo>
                    <a:pt x="0" y="1920240"/>
                  </a:lnTo>
                  <a:close/>
                </a:path>
              </a:pathLst>
            </a:custGeom>
            <a:blipFill>
              <a:blip r:embed="rId3">
                <a:alphaModFix amt="0"/>
              </a:blip>
              <a:stretch>
                <a:fillRect t="-14022" b="-14022"/>
              </a:stretch>
            </a:blipFill>
          </p:spPr>
          <p:txBody>
            <a:bodyPr/>
            <a:lstStyle/>
            <a:p>
              <a:endParaRPr lang="en-US"/>
            </a:p>
          </p:txBody>
        </p:sp>
        <p:sp>
          <p:nvSpPr>
            <p:cNvPr id="75" name="TextBox 75"/>
            <p:cNvSpPr txBox="1"/>
            <p:nvPr/>
          </p:nvSpPr>
          <p:spPr>
            <a:xfrm>
              <a:off x="0" y="-76200"/>
              <a:ext cx="6309360" cy="1996440"/>
            </a:xfrm>
            <a:prstGeom prst="rect">
              <a:avLst/>
            </a:prstGeom>
          </p:spPr>
          <p:txBody>
            <a:bodyPr lIns="0" tIns="0" rIns="0" bIns="0" rtlCol="0" anchor="ctr"/>
            <a:lstStyle/>
            <a:p>
              <a:pPr algn="l">
                <a:lnSpc>
                  <a:spcPts val="2250"/>
                </a:lnSpc>
              </a:pPr>
              <a:r>
                <a:rPr lang="en-US" sz="1500">
                  <a:solidFill>
                    <a:srgbClr val="5B6B72"/>
                  </a:solidFill>
                  <a:latin typeface="Calibri (MS)"/>
                  <a:ea typeface="Calibri (MS)"/>
                  <a:cs typeface="Calibri (MS)"/>
                  <a:sym typeface="Calibri (MS)"/>
                </a:rPr>
                <a:t>Weather-driven ONNX model; falls back to time-of-day heuristic bands below 100 kW.</a:t>
              </a:r>
            </a:p>
          </p:txBody>
        </p:sp>
      </p:grpSp>
      <p:grpSp>
        <p:nvGrpSpPr>
          <p:cNvPr id="76" name="Group 76"/>
          <p:cNvGrpSpPr/>
          <p:nvPr/>
        </p:nvGrpSpPr>
        <p:grpSpPr>
          <a:xfrm>
            <a:off x="12060555" y="6436995"/>
            <a:ext cx="5368290" cy="2967990"/>
            <a:chOff x="0" y="0"/>
            <a:chExt cx="7157720" cy="3957320"/>
          </a:xfrm>
        </p:grpSpPr>
        <p:sp>
          <p:nvSpPr>
            <p:cNvPr id="77" name="Freeform 77"/>
            <p:cNvSpPr/>
            <p:nvPr/>
          </p:nvSpPr>
          <p:spPr>
            <a:xfrm>
              <a:off x="0" y="0"/>
              <a:ext cx="7157720" cy="3957320"/>
            </a:xfrm>
            <a:custGeom>
              <a:avLst/>
              <a:gdLst/>
              <a:ahLst/>
              <a:cxnLst/>
              <a:rect l="l" t="t" r="r" b="b"/>
              <a:pathLst>
                <a:path w="7157720" h="3957320">
                  <a:moveTo>
                    <a:pt x="0" y="165608"/>
                  </a:moveTo>
                  <a:cubicBezTo>
                    <a:pt x="0" y="74168"/>
                    <a:pt x="74168" y="0"/>
                    <a:pt x="165608" y="0"/>
                  </a:cubicBezTo>
                  <a:lnTo>
                    <a:pt x="6992112" y="0"/>
                  </a:lnTo>
                  <a:cubicBezTo>
                    <a:pt x="7083552" y="0"/>
                    <a:pt x="7157720" y="74168"/>
                    <a:pt x="7157720" y="165608"/>
                  </a:cubicBezTo>
                  <a:lnTo>
                    <a:pt x="7157720" y="3791712"/>
                  </a:lnTo>
                  <a:cubicBezTo>
                    <a:pt x="7157720" y="3883152"/>
                    <a:pt x="7083552" y="3957320"/>
                    <a:pt x="6992112" y="3957320"/>
                  </a:cubicBezTo>
                  <a:lnTo>
                    <a:pt x="165608" y="3957320"/>
                  </a:lnTo>
                  <a:cubicBezTo>
                    <a:pt x="74168" y="3957320"/>
                    <a:pt x="0" y="3883152"/>
                    <a:pt x="0" y="3791712"/>
                  </a:cubicBezTo>
                  <a:close/>
                </a:path>
              </a:pathLst>
            </a:custGeom>
            <a:solidFill>
              <a:srgbClr val="FFFFFF"/>
            </a:solidFill>
            <a:ln w="19050" cap="sq">
              <a:solidFill>
                <a:srgbClr val="DCE7E0"/>
              </a:solidFill>
              <a:prstDash val="solid"/>
              <a:miter/>
            </a:ln>
          </p:spPr>
          <p:txBody>
            <a:bodyPr/>
            <a:lstStyle/>
            <a:p>
              <a:endParaRPr lang="en-US"/>
            </a:p>
          </p:txBody>
        </p:sp>
      </p:grpSp>
      <p:grpSp>
        <p:nvGrpSpPr>
          <p:cNvPr id="78" name="Group 78"/>
          <p:cNvGrpSpPr/>
          <p:nvPr/>
        </p:nvGrpSpPr>
        <p:grpSpPr>
          <a:xfrm>
            <a:off x="12371832" y="6720840"/>
            <a:ext cx="2743200" cy="438912"/>
            <a:chOff x="0" y="0"/>
            <a:chExt cx="3657600" cy="585216"/>
          </a:xfrm>
        </p:grpSpPr>
        <p:sp>
          <p:nvSpPr>
            <p:cNvPr id="79" name="Freeform 79"/>
            <p:cNvSpPr/>
            <p:nvPr/>
          </p:nvSpPr>
          <p:spPr>
            <a:xfrm>
              <a:off x="0" y="0"/>
              <a:ext cx="3657600" cy="585216"/>
            </a:xfrm>
            <a:custGeom>
              <a:avLst/>
              <a:gdLst/>
              <a:ahLst/>
              <a:cxnLst/>
              <a:rect l="l" t="t" r="r" b="b"/>
              <a:pathLst>
                <a:path w="3657600" h="585216">
                  <a:moveTo>
                    <a:pt x="0" y="292608"/>
                  </a:moveTo>
                  <a:cubicBezTo>
                    <a:pt x="0" y="131064"/>
                    <a:pt x="131064" y="0"/>
                    <a:pt x="292608" y="0"/>
                  </a:cubicBezTo>
                  <a:lnTo>
                    <a:pt x="3364992" y="0"/>
                  </a:lnTo>
                  <a:cubicBezTo>
                    <a:pt x="3526536" y="0"/>
                    <a:pt x="3657600" y="131064"/>
                    <a:pt x="3657600" y="292608"/>
                  </a:cubicBezTo>
                  <a:cubicBezTo>
                    <a:pt x="3657600" y="454152"/>
                    <a:pt x="3526536" y="585216"/>
                    <a:pt x="3364992" y="585216"/>
                  </a:cubicBezTo>
                  <a:lnTo>
                    <a:pt x="292608" y="585216"/>
                  </a:lnTo>
                  <a:cubicBezTo>
                    <a:pt x="131064" y="585216"/>
                    <a:pt x="0" y="454152"/>
                    <a:pt x="0" y="292608"/>
                  </a:cubicBezTo>
                  <a:close/>
                </a:path>
              </a:pathLst>
            </a:custGeom>
            <a:solidFill>
              <a:srgbClr val="5B6B72"/>
            </a:solidFill>
          </p:spPr>
          <p:txBody>
            <a:bodyPr/>
            <a:lstStyle/>
            <a:p>
              <a:endParaRPr lang="en-US"/>
            </a:p>
          </p:txBody>
        </p:sp>
      </p:grpSp>
      <p:grpSp>
        <p:nvGrpSpPr>
          <p:cNvPr id="80" name="Group 80"/>
          <p:cNvGrpSpPr/>
          <p:nvPr/>
        </p:nvGrpSpPr>
        <p:grpSpPr>
          <a:xfrm>
            <a:off x="12371832" y="6720840"/>
            <a:ext cx="2743200" cy="438912"/>
            <a:chOff x="0" y="0"/>
            <a:chExt cx="3657600" cy="585216"/>
          </a:xfrm>
        </p:grpSpPr>
        <p:sp>
          <p:nvSpPr>
            <p:cNvPr id="81" name="Freeform 81"/>
            <p:cNvSpPr/>
            <p:nvPr/>
          </p:nvSpPr>
          <p:spPr>
            <a:xfrm>
              <a:off x="0" y="0"/>
              <a:ext cx="3657600" cy="585216"/>
            </a:xfrm>
            <a:custGeom>
              <a:avLst/>
              <a:gdLst/>
              <a:ahLst/>
              <a:cxnLst/>
              <a:rect l="l" t="t" r="r" b="b"/>
              <a:pathLst>
                <a:path w="3657600" h="585216">
                  <a:moveTo>
                    <a:pt x="0" y="0"/>
                  </a:moveTo>
                  <a:lnTo>
                    <a:pt x="3657600" y="0"/>
                  </a:lnTo>
                  <a:lnTo>
                    <a:pt x="3657600" y="585216"/>
                  </a:lnTo>
                  <a:lnTo>
                    <a:pt x="0" y="585216"/>
                  </a:lnTo>
                  <a:close/>
                </a:path>
              </a:pathLst>
            </a:custGeom>
            <a:blipFill>
              <a:blip r:embed="rId3">
                <a:alphaModFix amt="0"/>
              </a:blip>
              <a:stretch>
                <a:fillRect t="-71781" b="-71781"/>
              </a:stretch>
            </a:blipFill>
          </p:spPr>
          <p:txBody>
            <a:bodyPr/>
            <a:lstStyle/>
            <a:p>
              <a:endParaRPr lang="en-US"/>
            </a:p>
          </p:txBody>
        </p:sp>
        <p:sp>
          <p:nvSpPr>
            <p:cNvPr id="82" name="TextBox 82"/>
            <p:cNvSpPr txBox="1"/>
            <p:nvPr/>
          </p:nvSpPr>
          <p:spPr>
            <a:xfrm>
              <a:off x="0" y="-28575"/>
              <a:ext cx="3657600" cy="613791"/>
            </a:xfrm>
            <a:prstGeom prst="rect">
              <a:avLst/>
            </a:prstGeom>
          </p:spPr>
          <p:txBody>
            <a:bodyPr lIns="0" tIns="0" rIns="0" bIns="0" rtlCol="0" anchor="ctr"/>
            <a:lstStyle/>
            <a:p>
              <a:pPr algn="ctr">
                <a:lnSpc>
                  <a:spcPts val="1530"/>
                </a:lnSpc>
              </a:pPr>
              <a:r>
                <a:rPr lang="en-US" sz="1275" b="1">
                  <a:solidFill>
                    <a:srgbClr val="FFFFFF"/>
                  </a:solidFill>
                  <a:latin typeface="Calibri (MS) Bold"/>
                  <a:ea typeface="Calibri (MS) Bold"/>
                  <a:cs typeface="Calibri (MS) Bold"/>
                  <a:sym typeface="Calibri (MS) Bold"/>
                </a:rPr>
                <a:t>Infrastructure</a:t>
              </a:r>
            </a:p>
          </p:txBody>
        </p:sp>
      </p:grpSp>
      <p:grpSp>
        <p:nvGrpSpPr>
          <p:cNvPr id="83" name="Group 83"/>
          <p:cNvGrpSpPr/>
          <p:nvPr/>
        </p:nvGrpSpPr>
        <p:grpSpPr>
          <a:xfrm>
            <a:off x="12371832" y="7296912"/>
            <a:ext cx="4732020" cy="548640"/>
            <a:chOff x="0" y="0"/>
            <a:chExt cx="6309360" cy="731520"/>
          </a:xfrm>
        </p:grpSpPr>
        <p:sp>
          <p:nvSpPr>
            <p:cNvPr id="84" name="Freeform 84"/>
            <p:cNvSpPr/>
            <p:nvPr/>
          </p:nvSpPr>
          <p:spPr>
            <a:xfrm>
              <a:off x="0" y="0"/>
              <a:ext cx="6309360" cy="731520"/>
            </a:xfrm>
            <a:custGeom>
              <a:avLst/>
              <a:gdLst/>
              <a:ahLst/>
              <a:cxnLst/>
              <a:rect l="l" t="t" r="r" b="b"/>
              <a:pathLst>
                <a:path w="6309360" h="731520">
                  <a:moveTo>
                    <a:pt x="0" y="0"/>
                  </a:moveTo>
                  <a:lnTo>
                    <a:pt x="6309360" y="0"/>
                  </a:lnTo>
                  <a:lnTo>
                    <a:pt x="6309360" y="731520"/>
                  </a:lnTo>
                  <a:lnTo>
                    <a:pt x="0" y="731520"/>
                  </a:lnTo>
                  <a:close/>
                </a:path>
              </a:pathLst>
            </a:custGeom>
            <a:blipFill>
              <a:blip r:embed="rId3">
                <a:alphaModFix amt="0"/>
              </a:blip>
              <a:stretch>
                <a:fillRect t="-118058" b="-118058"/>
              </a:stretch>
            </a:blipFill>
          </p:spPr>
          <p:txBody>
            <a:bodyPr/>
            <a:lstStyle/>
            <a:p>
              <a:endParaRPr lang="en-US"/>
            </a:p>
          </p:txBody>
        </p:sp>
        <p:sp>
          <p:nvSpPr>
            <p:cNvPr id="85" name="TextBox 85"/>
            <p:cNvSpPr txBox="1"/>
            <p:nvPr/>
          </p:nvSpPr>
          <p:spPr>
            <a:xfrm>
              <a:off x="0" y="-47625"/>
              <a:ext cx="6309360" cy="779145"/>
            </a:xfrm>
            <a:prstGeom prst="rect">
              <a:avLst/>
            </a:prstGeom>
          </p:spPr>
          <p:txBody>
            <a:bodyPr lIns="0" tIns="0" rIns="0" bIns="0" rtlCol="0" anchor="ctr"/>
            <a:lstStyle/>
            <a:p>
              <a:pPr algn="l">
                <a:lnSpc>
                  <a:spcPts val="2340"/>
                </a:lnSpc>
              </a:pPr>
              <a:r>
                <a:rPr lang="en-US" sz="1950" b="1">
                  <a:solidFill>
                    <a:srgbClr val="0D1B2A"/>
                  </a:solidFill>
                  <a:latin typeface="Calibri (MS) Bold"/>
                  <a:ea typeface="Calibri (MS) Bold"/>
                  <a:cs typeface="Calibri (MS) Bold"/>
                  <a:sym typeface="Calibri (MS) Bold"/>
                </a:rPr>
                <a:t>ModelRegistry</a:t>
              </a:r>
            </a:p>
          </p:txBody>
        </p:sp>
      </p:grpSp>
      <p:grpSp>
        <p:nvGrpSpPr>
          <p:cNvPr id="86" name="Group 86"/>
          <p:cNvGrpSpPr/>
          <p:nvPr/>
        </p:nvGrpSpPr>
        <p:grpSpPr>
          <a:xfrm>
            <a:off x="12371832" y="7818120"/>
            <a:ext cx="4732020" cy="1440180"/>
            <a:chOff x="0" y="0"/>
            <a:chExt cx="6309360" cy="1920240"/>
          </a:xfrm>
        </p:grpSpPr>
        <p:sp>
          <p:nvSpPr>
            <p:cNvPr id="87" name="Freeform 87"/>
            <p:cNvSpPr/>
            <p:nvPr/>
          </p:nvSpPr>
          <p:spPr>
            <a:xfrm>
              <a:off x="0" y="0"/>
              <a:ext cx="6309360" cy="1920240"/>
            </a:xfrm>
            <a:custGeom>
              <a:avLst/>
              <a:gdLst/>
              <a:ahLst/>
              <a:cxnLst/>
              <a:rect l="l" t="t" r="r" b="b"/>
              <a:pathLst>
                <a:path w="6309360" h="1920240">
                  <a:moveTo>
                    <a:pt x="0" y="0"/>
                  </a:moveTo>
                  <a:lnTo>
                    <a:pt x="6309360" y="0"/>
                  </a:lnTo>
                  <a:lnTo>
                    <a:pt x="6309360" y="1920240"/>
                  </a:lnTo>
                  <a:lnTo>
                    <a:pt x="0" y="1920240"/>
                  </a:lnTo>
                  <a:close/>
                </a:path>
              </a:pathLst>
            </a:custGeom>
            <a:blipFill>
              <a:blip r:embed="rId3">
                <a:alphaModFix amt="0"/>
              </a:blip>
              <a:stretch>
                <a:fillRect t="-14022" b="-14022"/>
              </a:stretch>
            </a:blipFill>
          </p:spPr>
          <p:txBody>
            <a:bodyPr/>
            <a:lstStyle/>
            <a:p>
              <a:endParaRPr lang="en-US"/>
            </a:p>
          </p:txBody>
        </p:sp>
        <p:sp>
          <p:nvSpPr>
            <p:cNvPr id="88" name="TextBox 88"/>
            <p:cNvSpPr txBox="1"/>
            <p:nvPr/>
          </p:nvSpPr>
          <p:spPr>
            <a:xfrm>
              <a:off x="0" y="-76200"/>
              <a:ext cx="6309360" cy="1996440"/>
            </a:xfrm>
            <a:prstGeom prst="rect">
              <a:avLst/>
            </a:prstGeom>
          </p:spPr>
          <p:txBody>
            <a:bodyPr lIns="0" tIns="0" rIns="0" bIns="0" rtlCol="0" anchor="ctr"/>
            <a:lstStyle/>
            <a:p>
              <a:pPr algn="l">
                <a:lnSpc>
                  <a:spcPts val="2250"/>
                </a:lnSpc>
              </a:pPr>
              <a:r>
                <a:rPr lang="en-US" sz="1500">
                  <a:solidFill>
                    <a:srgbClr val="5B6B72"/>
                  </a:solidFill>
                  <a:latin typeface="Calibri (MS)"/>
                  <a:ea typeface="Calibri (MS)"/>
                  <a:cs typeface="Calibri (MS)"/>
                  <a:sym typeface="Calibri (MS)"/>
                </a:rPr>
                <a:t>Lazy-loading singleton cache keyed by path — avoids re-loading pkl/ONNX per request.</a:t>
              </a:r>
            </a:p>
          </p:txBody>
        </p:sp>
      </p:grpSp>
      <p:grpSp>
        <p:nvGrpSpPr>
          <p:cNvPr id="89" name="Group 89"/>
          <p:cNvGrpSpPr/>
          <p:nvPr/>
        </p:nvGrpSpPr>
        <p:grpSpPr>
          <a:xfrm>
            <a:off x="17282160" y="9710928"/>
            <a:ext cx="822960" cy="411480"/>
            <a:chOff x="0" y="0"/>
            <a:chExt cx="1097280" cy="548640"/>
          </a:xfrm>
        </p:grpSpPr>
        <p:sp>
          <p:nvSpPr>
            <p:cNvPr id="90" name="Freeform 90"/>
            <p:cNvSpPr/>
            <p:nvPr/>
          </p:nvSpPr>
          <p:spPr>
            <a:xfrm>
              <a:off x="0" y="0"/>
              <a:ext cx="1097280" cy="548640"/>
            </a:xfrm>
            <a:custGeom>
              <a:avLst/>
              <a:gdLst/>
              <a:ahLst/>
              <a:cxnLst/>
              <a:rect l="l" t="t" r="r" b="b"/>
              <a:pathLst>
                <a:path w="1097280" h="548640">
                  <a:moveTo>
                    <a:pt x="0" y="0"/>
                  </a:moveTo>
                  <a:lnTo>
                    <a:pt x="1097280" y="0"/>
                  </a:lnTo>
                  <a:lnTo>
                    <a:pt x="1097280" y="548640"/>
                  </a:lnTo>
                  <a:lnTo>
                    <a:pt x="0" y="548640"/>
                  </a:lnTo>
                  <a:close/>
                </a:path>
              </a:pathLst>
            </a:custGeom>
            <a:blipFill>
              <a:blip r:embed="rId3">
                <a:alphaModFix amt="0"/>
              </a:blip>
              <a:stretch>
                <a:fillRect l="-14151" r="-14151"/>
              </a:stretch>
            </a:blipFill>
          </p:spPr>
          <p:txBody>
            <a:bodyPr/>
            <a:lstStyle/>
            <a:p>
              <a:endParaRPr lang="en-US"/>
            </a:p>
          </p:txBody>
        </p:sp>
        <p:sp>
          <p:nvSpPr>
            <p:cNvPr id="91" name="TextBox 91"/>
            <p:cNvSpPr txBox="1"/>
            <p:nvPr/>
          </p:nvSpPr>
          <p:spPr>
            <a:xfrm>
              <a:off x="0" y="-38100"/>
              <a:ext cx="1097280" cy="586740"/>
            </a:xfrm>
            <a:prstGeom prst="rect">
              <a:avLst/>
            </a:prstGeom>
          </p:spPr>
          <p:txBody>
            <a:bodyPr lIns="0" tIns="0" rIns="0" bIns="0" rtlCol="0" anchor="ctr"/>
            <a:lstStyle/>
            <a:p>
              <a:pPr algn="r">
                <a:lnSpc>
                  <a:spcPts val="1800"/>
                </a:lnSpc>
              </a:pPr>
              <a:r>
                <a:rPr lang="en-US" sz="1500">
                  <a:solidFill>
                    <a:srgbClr val="5B6B72"/>
                  </a:solidFill>
                  <a:latin typeface="Calibri (MS)"/>
                  <a:ea typeface="Calibri (MS)"/>
                  <a:cs typeface="Calibri (MS)"/>
                  <a:sym typeface="Calibri (MS)"/>
                </a:rPr>
                <a:t>10</a:t>
              </a: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8F6"/>
        </a:solidFill>
        <a:effectLst/>
      </p:bgPr>
    </p:bg>
    <p:spTree>
      <p:nvGrpSpPr>
        <p:cNvPr id="1" name=""/>
        <p:cNvGrpSpPr/>
        <p:nvPr/>
      </p:nvGrpSpPr>
      <p:grpSpPr>
        <a:xfrm>
          <a:off x="0" y="0"/>
          <a:ext cx="0" cy="0"/>
          <a:chOff x="0" y="0"/>
          <a:chExt cx="0" cy="0"/>
        </a:xfrm>
      </p:grpSpPr>
      <p:grpSp>
        <p:nvGrpSpPr>
          <p:cNvPr id="2" name="Group 2"/>
          <p:cNvGrpSpPr/>
          <p:nvPr/>
        </p:nvGrpSpPr>
        <p:grpSpPr>
          <a:xfrm>
            <a:off x="822960" y="576072"/>
            <a:ext cx="10972800" cy="480060"/>
            <a:chOff x="0" y="0"/>
            <a:chExt cx="14630400" cy="640080"/>
          </a:xfrm>
        </p:grpSpPr>
        <p:sp>
          <p:nvSpPr>
            <p:cNvPr id="3" name="Freeform 3"/>
            <p:cNvSpPr/>
            <p:nvPr/>
          </p:nvSpPr>
          <p:spPr>
            <a:xfrm>
              <a:off x="0" y="0"/>
              <a:ext cx="14630400" cy="640080"/>
            </a:xfrm>
            <a:custGeom>
              <a:avLst/>
              <a:gdLst/>
              <a:ahLst/>
              <a:cxnLst/>
              <a:rect l="l" t="t" r="r" b="b"/>
              <a:pathLst>
                <a:path w="14630400" h="640080">
                  <a:moveTo>
                    <a:pt x="0" y="0"/>
                  </a:moveTo>
                  <a:lnTo>
                    <a:pt x="14630400" y="0"/>
                  </a:lnTo>
                  <a:lnTo>
                    <a:pt x="14630400" y="640080"/>
                  </a:lnTo>
                  <a:lnTo>
                    <a:pt x="0" y="640080"/>
                  </a:lnTo>
                  <a:close/>
                </a:path>
              </a:pathLst>
            </a:custGeom>
            <a:blipFill>
              <a:blip r:embed="rId3">
                <a:alphaModFix amt="0"/>
              </a:blip>
              <a:stretch>
                <a:fillRect t="-395372" b="-395372"/>
              </a:stretch>
            </a:blipFill>
          </p:spPr>
          <p:txBody>
            <a:bodyPr/>
            <a:lstStyle/>
            <a:p>
              <a:endParaRPr lang="en-US"/>
            </a:p>
          </p:txBody>
        </p:sp>
        <p:sp>
          <p:nvSpPr>
            <p:cNvPr id="4" name="TextBox 4"/>
            <p:cNvSpPr txBox="1"/>
            <p:nvPr/>
          </p:nvSpPr>
          <p:spPr>
            <a:xfrm>
              <a:off x="0" y="-38100"/>
              <a:ext cx="14630400" cy="678180"/>
            </a:xfrm>
            <a:prstGeom prst="rect">
              <a:avLst/>
            </a:prstGeom>
          </p:spPr>
          <p:txBody>
            <a:bodyPr lIns="0" tIns="0" rIns="0" bIns="0" rtlCol="0" anchor="ctr"/>
            <a:lstStyle/>
            <a:p>
              <a:pPr algn="l">
                <a:lnSpc>
                  <a:spcPts val="2160"/>
                </a:lnSpc>
              </a:pPr>
              <a:r>
                <a:rPr lang="en-US" sz="1800" b="1" spc="299">
                  <a:solidFill>
                    <a:srgbClr val="40916C"/>
                  </a:solidFill>
                  <a:latin typeface="Calibri (MS) Bold"/>
                  <a:ea typeface="Calibri (MS) Bold"/>
                  <a:cs typeface="Calibri (MS) Bold"/>
                  <a:sym typeface="Calibri (MS) Bold"/>
                </a:rPr>
                <a:t>PART 03 · AI / ML ENGINE</a:t>
              </a:r>
            </a:p>
          </p:txBody>
        </p:sp>
      </p:grpSp>
      <p:grpSp>
        <p:nvGrpSpPr>
          <p:cNvPr id="5" name="Group 5"/>
          <p:cNvGrpSpPr/>
          <p:nvPr/>
        </p:nvGrpSpPr>
        <p:grpSpPr>
          <a:xfrm>
            <a:off x="822960" y="987552"/>
            <a:ext cx="15773400" cy="1234440"/>
            <a:chOff x="0" y="0"/>
            <a:chExt cx="21031200" cy="1645920"/>
          </a:xfrm>
        </p:grpSpPr>
        <p:sp>
          <p:nvSpPr>
            <p:cNvPr id="6" name="Freeform 6"/>
            <p:cNvSpPr/>
            <p:nvPr/>
          </p:nvSpPr>
          <p:spPr>
            <a:xfrm>
              <a:off x="0" y="0"/>
              <a:ext cx="21031200" cy="1645920"/>
            </a:xfrm>
            <a:custGeom>
              <a:avLst/>
              <a:gdLst/>
              <a:ahLst/>
              <a:cxnLst/>
              <a:rect l="l" t="t" r="r" b="b"/>
              <a:pathLst>
                <a:path w="21031200" h="1645920">
                  <a:moveTo>
                    <a:pt x="0" y="0"/>
                  </a:moveTo>
                  <a:lnTo>
                    <a:pt x="21031200" y="0"/>
                  </a:lnTo>
                  <a:lnTo>
                    <a:pt x="21031200" y="1645920"/>
                  </a:lnTo>
                  <a:lnTo>
                    <a:pt x="0" y="1645920"/>
                  </a:lnTo>
                  <a:close/>
                </a:path>
              </a:pathLst>
            </a:custGeom>
            <a:blipFill>
              <a:blip r:embed="rId3">
                <a:alphaModFix amt="0"/>
              </a:blip>
              <a:stretch>
                <a:fillRect t="-198975" b="-198975"/>
              </a:stretch>
            </a:blipFill>
          </p:spPr>
          <p:txBody>
            <a:bodyPr/>
            <a:lstStyle/>
            <a:p>
              <a:endParaRPr lang="en-US"/>
            </a:p>
          </p:txBody>
        </p:sp>
        <p:sp>
          <p:nvSpPr>
            <p:cNvPr id="7" name="TextBox 7"/>
            <p:cNvSpPr txBox="1"/>
            <p:nvPr/>
          </p:nvSpPr>
          <p:spPr>
            <a:xfrm>
              <a:off x="0" y="-9525"/>
              <a:ext cx="21031200" cy="1655445"/>
            </a:xfrm>
            <a:prstGeom prst="rect">
              <a:avLst/>
            </a:prstGeom>
          </p:spPr>
          <p:txBody>
            <a:bodyPr lIns="0" tIns="0" rIns="0" bIns="0" rtlCol="0" anchor="ctr"/>
            <a:lstStyle/>
            <a:p>
              <a:pPr algn="l">
                <a:lnSpc>
                  <a:spcPts val="5759"/>
                </a:lnSpc>
              </a:pPr>
              <a:r>
                <a:rPr lang="en-US" sz="4800" b="1">
                  <a:solidFill>
                    <a:srgbClr val="0D1B2A"/>
                  </a:solidFill>
                  <a:latin typeface="Cambria Bold"/>
                  <a:ea typeface="Cambria Bold"/>
                  <a:cs typeface="Cambria Bold"/>
                  <a:sym typeface="Cambria Bold"/>
                </a:rPr>
                <a:t>Deep Dive: Model Architecture</a:t>
              </a:r>
            </a:p>
          </p:txBody>
        </p:sp>
      </p:grpSp>
      <p:grpSp>
        <p:nvGrpSpPr>
          <p:cNvPr id="8" name="Group 8"/>
          <p:cNvGrpSpPr/>
          <p:nvPr/>
        </p:nvGrpSpPr>
        <p:grpSpPr>
          <a:xfrm>
            <a:off x="822960" y="2194560"/>
            <a:ext cx="8229600" cy="7200900"/>
            <a:chOff x="0" y="0"/>
            <a:chExt cx="10972800" cy="9601200"/>
          </a:xfrm>
        </p:grpSpPr>
        <p:sp>
          <p:nvSpPr>
            <p:cNvPr id="9" name="Freeform 9"/>
            <p:cNvSpPr/>
            <p:nvPr/>
          </p:nvSpPr>
          <p:spPr>
            <a:xfrm>
              <a:off x="0" y="0"/>
              <a:ext cx="10972800" cy="9601200"/>
            </a:xfrm>
            <a:custGeom>
              <a:avLst/>
              <a:gdLst/>
              <a:ahLst/>
              <a:cxnLst/>
              <a:rect l="l" t="t" r="r" b="b"/>
              <a:pathLst>
                <a:path w="10972800" h="9601200">
                  <a:moveTo>
                    <a:pt x="0" y="182880"/>
                  </a:moveTo>
                  <a:cubicBezTo>
                    <a:pt x="0" y="81915"/>
                    <a:pt x="81915" y="0"/>
                    <a:pt x="182880" y="0"/>
                  </a:cubicBezTo>
                  <a:lnTo>
                    <a:pt x="10789920" y="0"/>
                  </a:lnTo>
                  <a:cubicBezTo>
                    <a:pt x="10890885" y="0"/>
                    <a:pt x="10972800" y="81915"/>
                    <a:pt x="10972800" y="182880"/>
                  </a:cubicBezTo>
                  <a:lnTo>
                    <a:pt x="10972800" y="9418320"/>
                  </a:lnTo>
                  <a:cubicBezTo>
                    <a:pt x="10972800" y="9519285"/>
                    <a:pt x="10890885" y="9601200"/>
                    <a:pt x="10789920" y="9601200"/>
                  </a:cubicBezTo>
                  <a:lnTo>
                    <a:pt x="182880" y="9601200"/>
                  </a:lnTo>
                  <a:cubicBezTo>
                    <a:pt x="81915" y="9601200"/>
                    <a:pt x="0" y="9519285"/>
                    <a:pt x="0" y="9418320"/>
                  </a:cubicBezTo>
                  <a:close/>
                </a:path>
              </a:pathLst>
            </a:custGeom>
            <a:solidFill>
              <a:srgbClr val="0D1B2A"/>
            </a:solidFill>
          </p:spPr>
          <p:txBody>
            <a:bodyPr/>
            <a:lstStyle/>
            <a:p>
              <a:endParaRPr lang="en-US"/>
            </a:p>
          </p:txBody>
        </p:sp>
      </p:grpSp>
      <p:grpSp>
        <p:nvGrpSpPr>
          <p:cNvPr id="10" name="Group 10"/>
          <p:cNvGrpSpPr/>
          <p:nvPr/>
        </p:nvGrpSpPr>
        <p:grpSpPr>
          <a:xfrm>
            <a:off x="1234440" y="2468880"/>
            <a:ext cx="7406640" cy="480060"/>
            <a:chOff x="0" y="0"/>
            <a:chExt cx="9875520" cy="640080"/>
          </a:xfrm>
        </p:grpSpPr>
        <p:sp>
          <p:nvSpPr>
            <p:cNvPr id="11" name="Freeform 11"/>
            <p:cNvSpPr/>
            <p:nvPr/>
          </p:nvSpPr>
          <p:spPr>
            <a:xfrm>
              <a:off x="0" y="0"/>
              <a:ext cx="9875520" cy="640080"/>
            </a:xfrm>
            <a:custGeom>
              <a:avLst/>
              <a:gdLst/>
              <a:ahLst/>
              <a:cxnLst/>
              <a:rect l="l" t="t" r="r" b="b"/>
              <a:pathLst>
                <a:path w="9875520" h="640080">
                  <a:moveTo>
                    <a:pt x="0" y="0"/>
                  </a:moveTo>
                  <a:lnTo>
                    <a:pt x="9875520" y="0"/>
                  </a:lnTo>
                  <a:lnTo>
                    <a:pt x="9875520" y="640080"/>
                  </a:lnTo>
                  <a:lnTo>
                    <a:pt x="0" y="640080"/>
                  </a:lnTo>
                  <a:close/>
                </a:path>
              </a:pathLst>
            </a:custGeom>
            <a:blipFill>
              <a:blip r:embed="rId3">
                <a:alphaModFix amt="0"/>
              </a:blip>
              <a:stretch>
                <a:fillRect t="-250626" b="-250626"/>
              </a:stretch>
            </a:blipFill>
          </p:spPr>
          <p:txBody>
            <a:bodyPr/>
            <a:lstStyle/>
            <a:p>
              <a:endParaRPr lang="en-US"/>
            </a:p>
          </p:txBody>
        </p:sp>
        <p:sp>
          <p:nvSpPr>
            <p:cNvPr id="12" name="TextBox 12"/>
            <p:cNvSpPr txBox="1"/>
            <p:nvPr/>
          </p:nvSpPr>
          <p:spPr>
            <a:xfrm>
              <a:off x="0" y="-28575"/>
              <a:ext cx="9875520" cy="668655"/>
            </a:xfrm>
            <a:prstGeom prst="rect">
              <a:avLst/>
            </a:prstGeom>
          </p:spPr>
          <p:txBody>
            <a:bodyPr lIns="0" tIns="0" rIns="0" bIns="0" rtlCol="0" anchor="ctr"/>
            <a:lstStyle/>
            <a:p>
              <a:pPr algn="l">
                <a:lnSpc>
                  <a:spcPts val="1980"/>
                </a:lnSpc>
              </a:pPr>
              <a:r>
                <a:rPr lang="en-US" sz="1650" b="1" spc="180">
                  <a:solidFill>
                    <a:srgbClr val="74C69D"/>
                  </a:solidFill>
                  <a:latin typeface="Calibri (MS) Bold"/>
                  <a:ea typeface="Calibri (MS) Bold"/>
                  <a:cs typeface="Calibri (MS) Bold"/>
                  <a:sym typeface="Calibri (MS) Bold"/>
                </a:rPr>
                <a:t>SOLAR · MULTI-TASK TRANSFORMER</a:t>
              </a:r>
            </a:p>
          </p:txBody>
        </p:sp>
      </p:grpSp>
      <p:grpSp>
        <p:nvGrpSpPr>
          <p:cNvPr id="13" name="Group 13"/>
          <p:cNvGrpSpPr/>
          <p:nvPr/>
        </p:nvGrpSpPr>
        <p:grpSpPr>
          <a:xfrm>
            <a:off x="1234440" y="2921508"/>
            <a:ext cx="7406640" cy="576072"/>
            <a:chOff x="0" y="0"/>
            <a:chExt cx="9875520" cy="768096"/>
          </a:xfrm>
        </p:grpSpPr>
        <p:sp>
          <p:nvSpPr>
            <p:cNvPr id="14" name="Freeform 14"/>
            <p:cNvSpPr/>
            <p:nvPr/>
          </p:nvSpPr>
          <p:spPr>
            <a:xfrm>
              <a:off x="0" y="0"/>
              <a:ext cx="9875520" cy="768096"/>
            </a:xfrm>
            <a:custGeom>
              <a:avLst/>
              <a:gdLst/>
              <a:ahLst/>
              <a:cxnLst/>
              <a:rect l="l" t="t" r="r" b="b"/>
              <a:pathLst>
                <a:path w="9875520" h="768096">
                  <a:moveTo>
                    <a:pt x="0" y="0"/>
                  </a:moveTo>
                  <a:lnTo>
                    <a:pt x="9875520" y="0"/>
                  </a:lnTo>
                  <a:lnTo>
                    <a:pt x="9875520" y="768096"/>
                  </a:lnTo>
                  <a:lnTo>
                    <a:pt x="0" y="768096"/>
                  </a:lnTo>
                  <a:close/>
                </a:path>
              </a:pathLst>
            </a:custGeom>
            <a:blipFill>
              <a:blip r:embed="rId3">
                <a:alphaModFix amt="0"/>
              </a:blip>
              <a:stretch>
                <a:fillRect t="-200521" b="-200521"/>
              </a:stretch>
            </a:blipFill>
          </p:spPr>
          <p:txBody>
            <a:bodyPr/>
            <a:lstStyle/>
            <a:p>
              <a:endParaRPr lang="en-US"/>
            </a:p>
          </p:txBody>
        </p:sp>
        <p:sp>
          <p:nvSpPr>
            <p:cNvPr id="15" name="TextBox 15"/>
            <p:cNvSpPr txBox="1"/>
            <p:nvPr/>
          </p:nvSpPr>
          <p:spPr>
            <a:xfrm>
              <a:off x="0" y="-19050"/>
              <a:ext cx="9875520" cy="787146"/>
            </a:xfrm>
            <a:prstGeom prst="rect">
              <a:avLst/>
            </a:prstGeom>
          </p:spPr>
          <p:txBody>
            <a:bodyPr lIns="0" tIns="0" rIns="0" bIns="0" rtlCol="0" anchor="ctr"/>
            <a:lstStyle/>
            <a:p>
              <a:pPr algn="l">
                <a:lnSpc>
                  <a:spcPts val="3240"/>
                </a:lnSpc>
              </a:pPr>
              <a:r>
                <a:rPr lang="en-US" sz="2700" b="1">
                  <a:solidFill>
                    <a:srgbClr val="FFFFFF"/>
                  </a:solidFill>
                  <a:latin typeface="Cambria Bold"/>
                  <a:ea typeface="Cambria Bold"/>
                  <a:cs typeface="Cambria Bold"/>
                  <a:sym typeface="Cambria Bold"/>
                </a:rPr>
                <a:t>MultiTaskSolarForecaster</a:t>
              </a:r>
            </a:p>
          </p:txBody>
        </p:sp>
      </p:grpSp>
      <p:grpSp>
        <p:nvGrpSpPr>
          <p:cNvPr id="16" name="Group 16"/>
          <p:cNvGrpSpPr/>
          <p:nvPr/>
        </p:nvGrpSpPr>
        <p:grpSpPr>
          <a:xfrm>
            <a:off x="1234440" y="3675888"/>
            <a:ext cx="2331720" cy="493776"/>
            <a:chOff x="0" y="0"/>
            <a:chExt cx="3108960" cy="658368"/>
          </a:xfrm>
        </p:grpSpPr>
        <p:sp>
          <p:nvSpPr>
            <p:cNvPr id="17" name="Freeform 17"/>
            <p:cNvSpPr/>
            <p:nvPr/>
          </p:nvSpPr>
          <p:spPr>
            <a:xfrm>
              <a:off x="0" y="0"/>
              <a:ext cx="3108960" cy="658368"/>
            </a:xfrm>
            <a:custGeom>
              <a:avLst/>
              <a:gdLst/>
              <a:ahLst/>
              <a:cxnLst/>
              <a:rect l="l" t="t" r="r" b="b"/>
              <a:pathLst>
                <a:path w="3108960" h="658368">
                  <a:moveTo>
                    <a:pt x="0" y="0"/>
                  </a:moveTo>
                  <a:lnTo>
                    <a:pt x="3108960" y="0"/>
                  </a:lnTo>
                  <a:lnTo>
                    <a:pt x="3108960" y="658368"/>
                  </a:lnTo>
                  <a:lnTo>
                    <a:pt x="0" y="658368"/>
                  </a:lnTo>
                  <a:close/>
                </a:path>
              </a:pathLst>
            </a:custGeom>
            <a:blipFill>
              <a:blip r:embed="rId3">
                <a:alphaModFix amt="0"/>
              </a:blip>
              <a:stretch>
                <a:fillRect t="-42012" b="-42012"/>
              </a:stretch>
            </a:blipFill>
          </p:spPr>
          <p:txBody>
            <a:bodyPr/>
            <a:lstStyle/>
            <a:p>
              <a:endParaRPr lang="en-US"/>
            </a:p>
          </p:txBody>
        </p:sp>
        <p:sp>
          <p:nvSpPr>
            <p:cNvPr id="18" name="TextBox 18"/>
            <p:cNvSpPr txBox="1"/>
            <p:nvPr/>
          </p:nvSpPr>
          <p:spPr>
            <a:xfrm>
              <a:off x="0" y="-38100"/>
              <a:ext cx="3108960" cy="696468"/>
            </a:xfrm>
            <a:prstGeom prst="rect">
              <a:avLst/>
            </a:prstGeom>
          </p:spPr>
          <p:txBody>
            <a:bodyPr lIns="0" tIns="0" rIns="0" bIns="0" rtlCol="0" anchor="ctr"/>
            <a:lstStyle/>
            <a:p>
              <a:pPr algn="l">
                <a:lnSpc>
                  <a:spcPts val="1800"/>
                </a:lnSpc>
              </a:pPr>
              <a:r>
                <a:rPr lang="en-US" sz="1500" b="1">
                  <a:solidFill>
                    <a:srgbClr val="FFB703"/>
                  </a:solidFill>
                  <a:latin typeface="Calibri (MS) Bold"/>
                  <a:ea typeface="Calibri (MS) Bold"/>
                  <a:cs typeface="Calibri (MS) Bold"/>
                  <a:sym typeface="Calibri (MS) Bold"/>
                </a:rPr>
                <a:t>Encoder</a:t>
              </a:r>
            </a:p>
          </p:txBody>
        </p:sp>
      </p:grpSp>
      <p:grpSp>
        <p:nvGrpSpPr>
          <p:cNvPr id="19" name="Group 19"/>
          <p:cNvGrpSpPr/>
          <p:nvPr/>
        </p:nvGrpSpPr>
        <p:grpSpPr>
          <a:xfrm>
            <a:off x="3566160" y="3675888"/>
            <a:ext cx="5143500" cy="493776"/>
            <a:chOff x="0" y="0"/>
            <a:chExt cx="6858000" cy="658368"/>
          </a:xfrm>
        </p:grpSpPr>
        <p:sp>
          <p:nvSpPr>
            <p:cNvPr id="20" name="Freeform 20"/>
            <p:cNvSpPr/>
            <p:nvPr/>
          </p:nvSpPr>
          <p:spPr>
            <a:xfrm>
              <a:off x="0" y="0"/>
              <a:ext cx="6858000" cy="658368"/>
            </a:xfrm>
            <a:custGeom>
              <a:avLst/>
              <a:gdLst/>
              <a:ahLst/>
              <a:cxnLst/>
              <a:rect l="l" t="t" r="r" b="b"/>
              <a:pathLst>
                <a:path w="6858000" h="658368">
                  <a:moveTo>
                    <a:pt x="0" y="0"/>
                  </a:moveTo>
                  <a:lnTo>
                    <a:pt x="6858000" y="0"/>
                  </a:lnTo>
                  <a:lnTo>
                    <a:pt x="6858000" y="658368"/>
                  </a:lnTo>
                  <a:lnTo>
                    <a:pt x="0" y="658368"/>
                  </a:lnTo>
                  <a:close/>
                </a:path>
              </a:pathLst>
            </a:custGeom>
            <a:blipFill>
              <a:blip r:embed="rId3">
                <a:alphaModFix amt="0"/>
              </a:blip>
              <a:stretch>
                <a:fillRect t="-152969" b="-152969"/>
              </a:stretch>
            </a:blipFill>
          </p:spPr>
          <p:txBody>
            <a:bodyPr/>
            <a:lstStyle/>
            <a:p>
              <a:endParaRPr lang="en-US"/>
            </a:p>
          </p:txBody>
        </p:sp>
        <p:sp>
          <p:nvSpPr>
            <p:cNvPr id="21" name="TextBox 21"/>
            <p:cNvSpPr txBox="1"/>
            <p:nvPr/>
          </p:nvSpPr>
          <p:spPr>
            <a:xfrm>
              <a:off x="0" y="-38100"/>
              <a:ext cx="6858000" cy="696468"/>
            </a:xfrm>
            <a:prstGeom prst="rect">
              <a:avLst/>
            </a:prstGeom>
          </p:spPr>
          <p:txBody>
            <a:bodyPr lIns="0" tIns="0" rIns="0" bIns="0" rtlCol="0" anchor="ctr"/>
            <a:lstStyle/>
            <a:p>
              <a:pPr algn="l">
                <a:lnSpc>
                  <a:spcPts val="1709"/>
                </a:lnSpc>
              </a:pPr>
              <a:r>
                <a:rPr lang="en-US" sz="1425">
                  <a:solidFill>
                    <a:srgbClr val="C9D6CE"/>
                  </a:solidFill>
                  <a:latin typeface="Calibri (MS)"/>
                  <a:ea typeface="Calibri (MS)"/>
                  <a:cs typeface="Calibri (MS)"/>
                  <a:sym typeface="Calibri (MS)"/>
                </a:rPr>
                <a:t>d_model=64 · nhead=4 · 3 layers · FFN 256</a:t>
              </a:r>
            </a:p>
          </p:txBody>
        </p:sp>
      </p:grpSp>
      <p:grpSp>
        <p:nvGrpSpPr>
          <p:cNvPr id="22" name="Group 22"/>
          <p:cNvGrpSpPr/>
          <p:nvPr/>
        </p:nvGrpSpPr>
        <p:grpSpPr>
          <a:xfrm>
            <a:off x="1234440" y="4190238"/>
            <a:ext cx="2331720" cy="493776"/>
            <a:chOff x="0" y="0"/>
            <a:chExt cx="3108960" cy="658368"/>
          </a:xfrm>
        </p:grpSpPr>
        <p:sp>
          <p:nvSpPr>
            <p:cNvPr id="23" name="Freeform 23"/>
            <p:cNvSpPr/>
            <p:nvPr/>
          </p:nvSpPr>
          <p:spPr>
            <a:xfrm>
              <a:off x="0" y="0"/>
              <a:ext cx="3108960" cy="658368"/>
            </a:xfrm>
            <a:custGeom>
              <a:avLst/>
              <a:gdLst/>
              <a:ahLst/>
              <a:cxnLst/>
              <a:rect l="l" t="t" r="r" b="b"/>
              <a:pathLst>
                <a:path w="3108960" h="658368">
                  <a:moveTo>
                    <a:pt x="0" y="0"/>
                  </a:moveTo>
                  <a:lnTo>
                    <a:pt x="3108960" y="0"/>
                  </a:lnTo>
                  <a:lnTo>
                    <a:pt x="3108960" y="658368"/>
                  </a:lnTo>
                  <a:lnTo>
                    <a:pt x="0" y="658368"/>
                  </a:lnTo>
                  <a:close/>
                </a:path>
              </a:pathLst>
            </a:custGeom>
            <a:blipFill>
              <a:blip r:embed="rId3">
                <a:alphaModFix amt="0"/>
              </a:blip>
              <a:stretch>
                <a:fillRect t="-42012" b="-42012"/>
              </a:stretch>
            </a:blipFill>
          </p:spPr>
          <p:txBody>
            <a:bodyPr/>
            <a:lstStyle/>
            <a:p>
              <a:endParaRPr lang="en-US"/>
            </a:p>
          </p:txBody>
        </p:sp>
        <p:sp>
          <p:nvSpPr>
            <p:cNvPr id="24" name="TextBox 24"/>
            <p:cNvSpPr txBox="1"/>
            <p:nvPr/>
          </p:nvSpPr>
          <p:spPr>
            <a:xfrm>
              <a:off x="0" y="-38100"/>
              <a:ext cx="3108960" cy="696468"/>
            </a:xfrm>
            <a:prstGeom prst="rect">
              <a:avLst/>
            </a:prstGeom>
          </p:spPr>
          <p:txBody>
            <a:bodyPr lIns="0" tIns="0" rIns="0" bIns="0" rtlCol="0" anchor="ctr"/>
            <a:lstStyle/>
            <a:p>
              <a:pPr algn="l">
                <a:lnSpc>
                  <a:spcPts val="1800"/>
                </a:lnSpc>
              </a:pPr>
              <a:r>
                <a:rPr lang="en-US" sz="1500" b="1">
                  <a:solidFill>
                    <a:srgbClr val="FFB703"/>
                  </a:solidFill>
                  <a:latin typeface="Calibri (MS) Bold"/>
                  <a:ea typeface="Calibri (MS) Bold"/>
                  <a:cs typeface="Calibri (MS) Bold"/>
                  <a:sym typeface="Calibri (MS) Bold"/>
                </a:rPr>
                <a:t>Input window</a:t>
              </a:r>
            </a:p>
          </p:txBody>
        </p:sp>
      </p:grpSp>
      <p:grpSp>
        <p:nvGrpSpPr>
          <p:cNvPr id="25" name="Group 25"/>
          <p:cNvGrpSpPr/>
          <p:nvPr/>
        </p:nvGrpSpPr>
        <p:grpSpPr>
          <a:xfrm>
            <a:off x="3566160" y="4190238"/>
            <a:ext cx="5143500" cy="493776"/>
            <a:chOff x="0" y="0"/>
            <a:chExt cx="6858000" cy="658368"/>
          </a:xfrm>
        </p:grpSpPr>
        <p:sp>
          <p:nvSpPr>
            <p:cNvPr id="26" name="Freeform 26"/>
            <p:cNvSpPr/>
            <p:nvPr/>
          </p:nvSpPr>
          <p:spPr>
            <a:xfrm>
              <a:off x="0" y="0"/>
              <a:ext cx="6858000" cy="658368"/>
            </a:xfrm>
            <a:custGeom>
              <a:avLst/>
              <a:gdLst/>
              <a:ahLst/>
              <a:cxnLst/>
              <a:rect l="l" t="t" r="r" b="b"/>
              <a:pathLst>
                <a:path w="6858000" h="658368">
                  <a:moveTo>
                    <a:pt x="0" y="0"/>
                  </a:moveTo>
                  <a:lnTo>
                    <a:pt x="6858000" y="0"/>
                  </a:lnTo>
                  <a:lnTo>
                    <a:pt x="6858000" y="658368"/>
                  </a:lnTo>
                  <a:lnTo>
                    <a:pt x="0" y="658368"/>
                  </a:lnTo>
                  <a:close/>
                </a:path>
              </a:pathLst>
            </a:custGeom>
            <a:blipFill>
              <a:blip r:embed="rId3">
                <a:alphaModFix amt="0"/>
              </a:blip>
              <a:stretch>
                <a:fillRect t="-152969" b="-152969"/>
              </a:stretch>
            </a:blipFill>
          </p:spPr>
          <p:txBody>
            <a:bodyPr/>
            <a:lstStyle/>
            <a:p>
              <a:endParaRPr lang="en-US"/>
            </a:p>
          </p:txBody>
        </p:sp>
        <p:sp>
          <p:nvSpPr>
            <p:cNvPr id="27" name="TextBox 27"/>
            <p:cNvSpPr txBox="1"/>
            <p:nvPr/>
          </p:nvSpPr>
          <p:spPr>
            <a:xfrm>
              <a:off x="0" y="-38100"/>
              <a:ext cx="6858000" cy="696468"/>
            </a:xfrm>
            <a:prstGeom prst="rect">
              <a:avLst/>
            </a:prstGeom>
          </p:spPr>
          <p:txBody>
            <a:bodyPr lIns="0" tIns="0" rIns="0" bIns="0" rtlCol="0" anchor="ctr"/>
            <a:lstStyle/>
            <a:p>
              <a:pPr algn="l">
                <a:lnSpc>
                  <a:spcPts val="1709"/>
                </a:lnSpc>
              </a:pPr>
              <a:r>
                <a:rPr lang="en-US" sz="1425">
                  <a:solidFill>
                    <a:srgbClr val="C9D6CE"/>
                  </a:solidFill>
                  <a:latin typeface="Calibri (MS)"/>
                  <a:ea typeface="Calibri (MS)"/>
                  <a:cs typeface="Calibri (MS)"/>
                  <a:sym typeface="Calibri (MS)"/>
                </a:rPr>
                <a:t>96 timesteps (24h @ 15-min) × 7 features</a:t>
              </a:r>
            </a:p>
          </p:txBody>
        </p:sp>
      </p:grpSp>
      <p:grpSp>
        <p:nvGrpSpPr>
          <p:cNvPr id="28" name="Group 28"/>
          <p:cNvGrpSpPr/>
          <p:nvPr/>
        </p:nvGrpSpPr>
        <p:grpSpPr>
          <a:xfrm>
            <a:off x="1234440" y="4704588"/>
            <a:ext cx="2331720" cy="493776"/>
            <a:chOff x="0" y="0"/>
            <a:chExt cx="3108960" cy="658368"/>
          </a:xfrm>
        </p:grpSpPr>
        <p:sp>
          <p:nvSpPr>
            <p:cNvPr id="29" name="Freeform 29"/>
            <p:cNvSpPr/>
            <p:nvPr/>
          </p:nvSpPr>
          <p:spPr>
            <a:xfrm>
              <a:off x="0" y="0"/>
              <a:ext cx="3108960" cy="658368"/>
            </a:xfrm>
            <a:custGeom>
              <a:avLst/>
              <a:gdLst/>
              <a:ahLst/>
              <a:cxnLst/>
              <a:rect l="l" t="t" r="r" b="b"/>
              <a:pathLst>
                <a:path w="3108960" h="658368">
                  <a:moveTo>
                    <a:pt x="0" y="0"/>
                  </a:moveTo>
                  <a:lnTo>
                    <a:pt x="3108960" y="0"/>
                  </a:lnTo>
                  <a:lnTo>
                    <a:pt x="3108960" y="658368"/>
                  </a:lnTo>
                  <a:lnTo>
                    <a:pt x="0" y="658368"/>
                  </a:lnTo>
                  <a:close/>
                </a:path>
              </a:pathLst>
            </a:custGeom>
            <a:blipFill>
              <a:blip r:embed="rId3">
                <a:alphaModFix amt="0"/>
              </a:blip>
              <a:stretch>
                <a:fillRect t="-42012" b="-42012"/>
              </a:stretch>
            </a:blipFill>
          </p:spPr>
          <p:txBody>
            <a:bodyPr/>
            <a:lstStyle/>
            <a:p>
              <a:endParaRPr lang="en-US"/>
            </a:p>
          </p:txBody>
        </p:sp>
        <p:sp>
          <p:nvSpPr>
            <p:cNvPr id="30" name="TextBox 30"/>
            <p:cNvSpPr txBox="1"/>
            <p:nvPr/>
          </p:nvSpPr>
          <p:spPr>
            <a:xfrm>
              <a:off x="0" y="-38100"/>
              <a:ext cx="3108960" cy="696468"/>
            </a:xfrm>
            <a:prstGeom prst="rect">
              <a:avLst/>
            </a:prstGeom>
          </p:spPr>
          <p:txBody>
            <a:bodyPr lIns="0" tIns="0" rIns="0" bIns="0" rtlCol="0" anchor="ctr"/>
            <a:lstStyle/>
            <a:p>
              <a:pPr algn="l">
                <a:lnSpc>
                  <a:spcPts val="1800"/>
                </a:lnSpc>
              </a:pPr>
              <a:r>
                <a:rPr lang="en-US" sz="1500" b="1">
                  <a:solidFill>
                    <a:srgbClr val="FFB703"/>
                  </a:solidFill>
                  <a:latin typeface="Calibri (MS) Bold"/>
                  <a:ea typeface="Calibri (MS) Bold"/>
                  <a:cs typeface="Calibri (MS) Bold"/>
                  <a:sym typeface="Calibri (MS) Bold"/>
                </a:rPr>
                <a:t>Output horizon</a:t>
              </a:r>
            </a:p>
          </p:txBody>
        </p:sp>
      </p:grpSp>
      <p:grpSp>
        <p:nvGrpSpPr>
          <p:cNvPr id="31" name="Group 31"/>
          <p:cNvGrpSpPr/>
          <p:nvPr/>
        </p:nvGrpSpPr>
        <p:grpSpPr>
          <a:xfrm>
            <a:off x="3566160" y="4704588"/>
            <a:ext cx="5143500" cy="493776"/>
            <a:chOff x="0" y="0"/>
            <a:chExt cx="6858000" cy="658368"/>
          </a:xfrm>
        </p:grpSpPr>
        <p:sp>
          <p:nvSpPr>
            <p:cNvPr id="32" name="Freeform 32"/>
            <p:cNvSpPr/>
            <p:nvPr/>
          </p:nvSpPr>
          <p:spPr>
            <a:xfrm>
              <a:off x="0" y="0"/>
              <a:ext cx="6858000" cy="658368"/>
            </a:xfrm>
            <a:custGeom>
              <a:avLst/>
              <a:gdLst/>
              <a:ahLst/>
              <a:cxnLst/>
              <a:rect l="l" t="t" r="r" b="b"/>
              <a:pathLst>
                <a:path w="6858000" h="658368">
                  <a:moveTo>
                    <a:pt x="0" y="0"/>
                  </a:moveTo>
                  <a:lnTo>
                    <a:pt x="6858000" y="0"/>
                  </a:lnTo>
                  <a:lnTo>
                    <a:pt x="6858000" y="658368"/>
                  </a:lnTo>
                  <a:lnTo>
                    <a:pt x="0" y="658368"/>
                  </a:lnTo>
                  <a:close/>
                </a:path>
              </a:pathLst>
            </a:custGeom>
            <a:blipFill>
              <a:blip r:embed="rId3">
                <a:alphaModFix amt="0"/>
              </a:blip>
              <a:stretch>
                <a:fillRect t="-152969" b="-152969"/>
              </a:stretch>
            </a:blipFill>
          </p:spPr>
          <p:txBody>
            <a:bodyPr/>
            <a:lstStyle/>
            <a:p>
              <a:endParaRPr lang="en-US"/>
            </a:p>
          </p:txBody>
        </p:sp>
        <p:sp>
          <p:nvSpPr>
            <p:cNvPr id="33" name="TextBox 33"/>
            <p:cNvSpPr txBox="1"/>
            <p:nvPr/>
          </p:nvSpPr>
          <p:spPr>
            <a:xfrm>
              <a:off x="0" y="-38100"/>
              <a:ext cx="6858000" cy="696468"/>
            </a:xfrm>
            <a:prstGeom prst="rect">
              <a:avLst/>
            </a:prstGeom>
          </p:spPr>
          <p:txBody>
            <a:bodyPr lIns="0" tIns="0" rIns="0" bIns="0" rtlCol="0" anchor="ctr"/>
            <a:lstStyle/>
            <a:p>
              <a:pPr algn="l">
                <a:lnSpc>
                  <a:spcPts val="1709"/>
                </a:lnSpc>
              </a:pPr>
              <a:r>
                <a:rPr lang="en-US" sz="1425">
                  <a:solidFill>
                    <a:srgbClr val="C9D6CE"/>
                  </a:solidFill>
                  <a:latin typeface="Calibri (MS)"/>
                  <a:ea typeface="Calibri (MS)"/>
                  <a:cs typeface="Calibri (MS)"/>
                  <a:sym typeface="Calibri (MS)"/>
                </a:rPr>
                <a:t>16 future timesteps (4 hours)</a:t>
              </a:r>
            </a:p>
          </p:txBody>
        </p:sp>
      </p:grpSp>
      <p:grpSp>
        <p:nvGrpSpPr>
          <p:cNvPr id="34" name="Group 34"/>
          <p:cNvGrpSpPr/>
          <p:nvPr/>
        </p:nvGrpSpPr>
        <p:grpSpPr>
          <a:xfrm>
            <a:off x="1234440" y="5218938"/>
            <a:ext cx="2331720" cy="493776"/>
            <a:chOff x="0" y="0"/>
            <a:chExt cx="3108960" cy="658368"/>
          </a:xfrm>
        </p:grpSpPr>
        <p:sp>
          <p:nvSpPr>
            <p:cNvPr id="35" name="Freeform 35"/>
            <p:cNvSpPr/>
            <p:nvPr/>
          </p:nvSpPr>
          <p:spPr>
            <a:xfrm>
              <a:off x="0" y="0"/>
              <a:ext cx="3108960" cy="658368"/>
            </a:xfrm>
            <a:custGeom>
              <a:avLst/>
              <a:gdLst/>
              <a:ahLst/>
              <a:cxnLst/>
              <a:rect l="l" t="t" r="r" b="b"/>
              <a:pathLst>
                <a:path w="3108960" h="658368">
                  <a:moveTo>
                    <a:pt x="0" y="0"/>
                  </a:moveTo>
                  <a:lnTo>
                    <a:pt x="3108960" y="0"/>
                  </a:lnTo>
                  <a:lnTo>
                    <a:pt x="3108960" y="658368"/>
                  </a:lnTo>
                  <a:lnTo>
                    <a:pt x="0" y="658368"/>
                  </a:lnTo>
                  <a:close/>
                </a:path>
              </a:pathLst>
            </a:custGeom>
            <a:blipFill>
              <a:blip r:embed="rId3">
                <a:alphaModFix amt="0"/>
              </a:blip>
              <a:stretch>
                <a:fillRect t="-42012" b="-42012"/>
              </a:stretch>
            </a:blipFill>
          </p:spPr>
          <p:txBody>
            <a:bodyPr/>
            <a:lstStyle/>
            <a:p>
              <a:endParaRPr lang="en-US"/>
            </a:p>
          </p:txBody>
        </p:sp>
        <p:sp>
          <p:nvSpPr>
            <p:cNvPr id="36" name="TextBox 36"/>
            <p:cNvSpPr txBox="1"/>
            <p:nvPr/>
          </p:nvSpPr>
          <p:spPr>
            <a:xfrm>
              <a:off x="0" y="-38100"/>
              <a:ext cx="3108960" cy="696468"/>
            </a:xfrm>
            <a:prstGeom prst="rect">
              <a:avLst/>
            </a:prstGeom>
          </p:spPr>
          <p:txBody>
            <a:bodyPr lIns="0" tIns="0" rIns="0" bIns="0" rtlCol="0" anchor="ctr"/>
            <a:lstStyle/>
            <a:p>
              <a:pPr algn="l">
                <a:lnSpc>
                  <a:spcPts val="1800"/>
                </a:lnSpc>
              </a:pPr>
              <a:r>
                <a:rPr lang="en-US" sz="1500" b="1">
                  <a:solidFill>
                    <a:srgbClr val="FFB703"/>
                  </a:solidFill>
                  <a:latin typeface="Calibri (MS) Bold"/>
                  <a:ea typeface="Calibri (MS) Bold"/>
                  <a:cs typeface="Calibri (MS) Bold"/>
                  <a:sym typeface="Calibri (MS) Bold"/>
                </a:rPr>
                <a:t>Regression head</a:t>
              </a:r>
            </a:p>
          </p:txBody>
        </p:sp>
      </p:grpSp>
      <p:grpSp>
        <p:nvGrpSpPr>
          <p:cNvPr id="37" name="Group 37"/>
          <p:cNvGrpSpPr/>
          <p:nvPr/>
        </p:nvGrpSpPr>
        <p:grpSpPr>
          <a:xfrm>
            <a:off x="3566160" y="5218938"/>
            <a:ext cx="5143500" cy="493776"/>
            <a:chOff x="0" y="0"/>
            <a:chExt cx="6858000" cy="658368"/>
          </a:xfrm>
        </p:grpSpPr>
        <p:sp>
          <p:nvSpPr>
            <p:cNvPr id="38" name="Freeform 38"/>
            <p:cNvSpPr/>
            <p:nvPr/>
          </p:nvSpPr>
          <p:spPr>
            <a:xfrm>
              <a:off x="0" y="0"/>
              <a:ext cx="6858000" cy="658368"/>
            </a:xfrm>
            <a:custGeom>
              <a:avLst/>
              <a:gdLst/>
              <a:ahLst/>
              <a:cxnLst/>
              <a:rect l="l" t="t" r="r" b="b"/>
              <a:pathLst>
                <a:path w="6858000" h="658368">
                  <a:moveTo>
                    <a:pt x="0" y="0"/>
                  </a:moveTo>
                  <a:lnTo>
                    <a:pt x="6858000" y="0"/>
                  </a:lnTo>
                  <a:lnTo>
                    <a:pt x="6858000" y="658368"/>
                  </a:lnTo>
                  <a:lnTo>
                    <a:pt x="0" y="658368"/>
                  </a:lnTo>
                  <a:close/>
                </a:path>
              </a:pathLst>
            </a:custGeom>
            <a:blipFill>
              <a:blip r:embed="rId3">
                <a:alphaModFix amt="0"/>
              </a:blip>
              <a:stretch>
                <a:fillRect t="-152969" b="-152969"/>
              </a:stretch>
            </a:blipFill>
          </p:spPr>
          <p:txBody>
            <a:bodyPr/>
            <a:lstStyle/>
            <a:p>
              <a:endParaRPr lang="en-US"/>
            </a:p>
          </p:txBody>
        </p:sp>
        <p:sp>
          <p:nvSpPr>
            <p:cNvPr id="39" name="TextBox 39"/>
            <p:cNvSpPr txBox="1"/>
            <p:nvPr/>
          </p:nvSpPr>
          <p:spPr>
            <a:xfrm>
              <a:off x="0" y="-38100"/>
              <a:ext cx="6858000" cy="696468"/>
            </a:xfrm>
            <a:prstGeom prst="rect">
              <a:avLst/>
            </a:prstGeom>
          </p:spPr>
          <p:txBody>
            <a:bodyPr lIns="0" tIns="0" rIns="0" bIns="0" rtlCol="0" anchor="ctr"/>
            <a:lstStyle/>
            <a:p>
              <a:pPr algn="l">
                <a:lnSpc>
                  <a:spcPts val="1709"/>
                </a:lnSpc>
              </a:pPr>
              <a:r>
                <a:rPr lang="en-US" sz="1425">
                  <a:solidFill>
                    <a:srgbClr val="C9D6CE"/>
                  </a:solidFill>
                  <a:latin typeface="Calibri (MS)"/>
                  <a:ea typeface="Calibri (MS)"/>
                  <a:cs typeface="Calibri (MS)"/>
                  <a:sym typeface="Calibri (MS)"/>
                </a:rPr>
                <a:t>HuberLoss (δ=1.0) → AC_POWER, robust to spikes</a:t>
              </a:r>
            </a:p>
          </p:txBody>
        </p:sp>
      </p:grpSp>
      <p:grpSp>
        <p:nvGrpSpPr>
          <p:cNvPr id="40" name="Group 40"/>
          <p:cNvGrpSpPr/>
          <p:nvPr/>
        </p:nvGrpSpPr>
        <p:grpSpPr>
          <a:xfrm>
            <a:off x="1234440" y="5733288"/>
            <a:ext cx="2331720" cy="493776"/>
            <a:chOff x="0" y="0"/>
            <a:chExt cx="3108960" cy="658368"/>
          </a:xfrm>
        </p:grpSpPr>
        <p:sp>
          <p:nvSpPr>
            <p:cNvPr id="41" name="Freeform 41"/>
            <p:cNvSpPr/>
            <p:nvPr/>
          </p:nvSpPr>
          <p:spPr>
            <a:xfrm>
              <a:off x="0" y="0"/>
              <a:ext cx="3108960" cy="658368"/>
            </a:xfrm>
            <a:custGeom>
              <a:avLst/>
              <a:gdLst/>
              <a:ahLst/>
              <a:cxnLst/>
              <a:rect l="l" t="t" r="r" b="b"/>
              <a:pathLst>
                <a:path w="3108960" h="658368">
                  <a:moveTo>
                    <a:pt x="0" y="0"/>
                  </a:moveTo>
                  <a:lnTo>
                    <a:pt x="3108960" y="0"/>
                  </a:lnTo>
                  <a:lnTo>
                    <a:pt x="3108960" y="658368"/>
                  </a:lnTo>
                  <a:lnTo>
                    <a:pt x="0" y="658368"/>
                  </a:lnTo>
                  <a:close/>
                </a:path>
              </a:pathLst>
            </a:custGeom>
            <a:blipFill>
              <a:blip r:embed="rId3">
                <a:alphaModFix amt="0"/>
              </a:blip>
              <a:stretch>
                <a:fillRect t="-42012" b="-42012"/>
              </a:stretch>
            </a:blipFill>
          </p:spPr>
          <p:txBody>
            <a:bodyPr/>
            <a:lstStyle/>
            <a:p>
              <a:endParaRPr lang="en-US"/>
            </a:p>
          </p:txBody>
        </p:sp>
        <p:sp>
          <p:nvSpPr>
            <p:cNvPr id="42" name="TextBox 42"/>
            <p:cNvSpPr txBox="1"/>
            <p:nvPr/>
          </p:nvSpPr>
          <p:spPr>
            <a:xfrm>
              <a:off x="0" y="-38100"/>
              <a:ext cx="3108960" cy="696468"/>
            </a:xfrm>
            <a:prstGeom prst="rect">
              <a:avLst/>
            </a:prstGeom>
          </p:spPr>
          <p:txBody>
            <a:bodyPr lIns="0" tIns="0" rIns="0" bIns="0" rtlCol="0" anchor="ctr"/>
            <a:lstStyle/>
            <a:p>
              <a:pPr algn="l">
                <a:lnSpc>
                  <a:spcPts val="1800"/>
                </a:lnSpc>
              </a:pPr>
              <a:r>
                <a:rPr lang="en-US" sz="1500" b="1">
                  <a:solidFill>
                    <a:srgbClr val="FFB703"/>
                  </a:solidFill>
                  <a:latin typeface="Calibri (MS) Bold"/>
                  <a:ea typeface="Calibri (MS) Bold"/>
                  <a:cs typeface="Calibri (MS) Bold"/>
                  <a:sym typeface="Calibri (MS) Bold"/>
                </a:rPr>
                <a:t>Classification head</a:t>
              </a:r>
            </a:p>
          </p:txBody>
        </p:sp>
      </p:grpSp>
      <p:grpSp>
        <p:nvGrpSpPr>
          <p:cNvPr id="43" name="Group 43"/>
          <p:cNvGrpSpPr/>
          <p:nvPr/>
        </p:nvGrpSpPr>
        <p:grpSpPr>
          <a:xfrm>
            <a:off x="3566160" y="5733288"/>
            <a:ext cx="5143500" cy="493776"/>
            <a:chOff x="0" y="0"/>
            <a:chExt cx="6858000" cy="658368"/>
          </a:xfrm>
        </p:grpSpPr>
        <p:sp>
          <p:nvSpPr>
            <p:cNvPr id="44" name="Freeform 44"/>
            <p:cNvSpPr/>
            <p:nvPr/>
          </p:nvSpPr>
          <p:spPr>
            <a:xfrm>
              <a:off x="0" y="0"/>
              <a:ext cx="6858000" cy="658368"/>
            </a:xfrm>
            <a:custGeom>
              <a:avLst/>
              <a:gdLst/>
              <a:ahLst/>
              <a:cxnLst/>
              <a:rect l="l" t="t" r="r" b="b"/>
              <a:pathLst>
                <a:path w="6858000" h="658368">
                  <a:moveTo>
                    <a:pt x="0" y="0"/>
                  </a:moveTo>
                  <a:lnTo>
                    <a:pt x="6858000" y="0"/>
                  </a:lnTo>
                  <a:lnTo>
                    <a:pt x="6858000" y="658368"/>
                  </a:lnTo>
                  <a:lnTo>
                    <a:pt x="0" y="658368"/>
                  </a:lnTo>
                  <a:close/>
                </a:path>
              </a:pathLst>
            </a:custGeom>
            <a:blipFill>
              <a:blip r:embed="rId3">
                <a:alphaModFix amt="0"/>
              </a:blip>
              <a:stretch>
                <a:fillRect t="-152969" b="-152969"/>
              </a:stretch>
            </a:blipFill>
          </p:spPr>
          <p:txBody>
            <a:bodyPr/>
            <a:lstStyle/>
            <a:p>
              <a:endParaRPr lang="en-US"/>
            </a:p>
          </p:txBody>
        </p:sp>
        <p:sp>
          <p:nvSpPr>
            <p:cNvPr id="45" name="TextBox 45"/>
            <p:cNvSpPr txBox="1"/>
            <p:nvPr/>
          </p:nvSpPr>
          <p:spPr>
            <a:xfrm>
              <a:off x="0" y="-38100"/>
              <a:ext cx="6858000" cy="696468"/>
            </a:xfrm>
            <a:prstGeom prst="rect">
              <a:avLst/>
            </a:prstGeom>
          </p:spPr>
          <p:txBody>
            <a:bodyPr lIns="0" tIns="0" rIns="0" bIns="0" rtlCol="0" anchor="ctr"/>
            <a:lstStyle/>
            <a:p>
              <a:pPr algn="l">
                <a:lnSpc>
                  <a:spcPts val="1709"/>
                </a:lnSpc>
              </a:pPr>
              <a:r>
                <a:rPr lang="en-US" sz="1425">
                  <a:solidFill>
                    <a:srgbClr val="C9D6CE"/>
                  </a:solidFill>
                  <a:latin typeface="Calibri (MS)"/>
                  <a:ea typeface="Calibri (MS)"/>
                  <a:cs typeface="Calibri (MS)"/>
                  <a:sym typeface="Calibri (MS)"/>
                </a:rPr>
                <a:t>BCELoss + Sigmoid → Active/Producing state</a:t>
              </a:r>
            </a:p>
          </p:txBody>
        </p:sp>
      </p:grpSp>
      <p:grpSp>
        <p:nvGrpSpPr>
          <p:cNvPr id="46" name="Group 46"/>
          <p:cNvGrpSpPr/>
          <p:nvPr/>
        </p:nvGrpSpPr>
        <p:grpSpPr>
          <a:xfrm>
            <a:off x="1234440" y="6247638"/>
            <a:ext cx="2331720" cy="493776"/>
            <a:chOff x="0" y="0"/>
            <a:chExt cx="3108960" cy="658368"/>
          </a:xfrm>
        </p:grpSpPr>
        <p:sp>
          <p:nvSpPr>
            <p:cNvPr id="47" name="Freeform 47"/>
            <p:cNvSpPr/>
            <p:nvPr/>
          </p:nvSpPr>
          <p:spPr>
            <a:xfrm>
              <a:off x="0" y="0"/>
              <a:ext cx="3108960" cy="658368"/>
            </a:xfrm>
            <a:custGeom>
              <a:avLst/>
              <a:gdLst/>
              <a:ahLst/>
              <a:cxnLst/>
              <a:rect l="l" t="t" r="r" b="b"/>
              <a:pathLst>
                <a:path w="3108960" h="658368">
                  <a:moveTo>
                    <a:pt x="0" y="0"/>
                  </a:moveTo>
                  <a:lnTo>
                    <a:pt x="3108960" y="0"/>
                  </a:lnTo>
                  <a:lnTo>
                    <a:pt x="3108960" y="658368"/>
                  </a:lnTo>
                  <a:lnTo>
                    <a:pt x="0" y="658368"/>
                  </a:lnTo>
                  <a:close/>
                </a:path>
              </a:pathLst>
            </a:custGeom>
            <a:blipFill>
              <a:blip r:embed="rId3">
                <a:alphaModFix amt="0"/>
              </a:blip>
              <a:stretch>
                <a:fillRect t="-42012" b="-42012"/>
              </a:stretch>
            </a:blipFill>
          </p:spPr>
          <p:txBody>
            <a:bodyPr/>
            <a:lstStyle/>
            <a:p>
              <a:endParaRPr lang="en-US"/>
            </a:p>
          </p:txBody>
        </p:sp>
        <p:sp>
          <p:nvSpPr>
            <p:cNvPr id="48" name="TextBox 48"/>
            <p:cNvSpPr txBox="1"/>
            <p:nvPr/>
          </p:nvSpPr>
          <p:spPr>
            <a:xfrm>
              <a:off x="0" y="-38100"/>
              <a:ext cx="3108960" cy="696468"/>
            </a:xfrm>
            <a:prstGeom prst="rect">
              <a:avLst/>
            </a:prstGeom>
          </p:spPr>
          <p:txBody>
            <a:bodyPr lIns="0" tIns="0" rIns="0" bIns="0" rtlCol="0" anchor="ctr"/>
            <a:lstStyle/>
            <a:p>
              <a:pPr algn="l">
                <a:lnSpc>
                  <a:spcPts val="1800"/>
                </a:lnSpc>
              </a:pPr>
              <a:r>
                <a:rPr lang="en-US" sz="1500" b="1">
                  <a:solidFill>
                    <a:srgbClr val="FFB703"/>
                  </a:solidFill>
                  <a:latin typeface="Calibri (MS) Bold"/>
                  <a:ea typeface="Calibri (MS) Bold"/>
                  <a:cs typeface="Calibri (MS) Bold"/>
                  <a:sym typeface="Calibri (MS) Bold"/>
                </a:rPr>
                <a:t>Optimization</a:t>
              </a:r>
            </a:p>
          </p:txBody>
        </p:sp>
      </p:grpSp>
      <p:grpSp>
        <p:nvGrpSpPr>
          <p:cNvPr id="49" name="Group 49"/>
          <p:cNvGrpSpPr/>
          <p:nvPr/>
        </p:nvGrpSpPr>
        <p:grpSpPr>
          <a:xfrm>
            <a:off x="3566160" y="6247638"/>
            <a:ext cx="5143500" cy="493776"/>
            <a:chOff x="0" y="0"/>
            <a:chExt cx="6858000" cy="658368"/>
          </a:xfrm>
        </p:grpSpPr>
        <p:sp>
          <p:nvSpPr>
            <p:cNvPr id="50" name="Freeform 50"/>
            <p:cNvSpPr/>
            <p:nvPr/>
          </p:nvSpPr>
          <p:spPr>
            <a:xfrm>
              <a:off x="0" y="0"/>
              <a:ext cx="6858000" cy="658368"/>
            </a:xfrm>
            <a:custGeom>
              <a:avLst/>
              <a:gdLst/>
              <a:ahLst/>
              <a:cxnLst/>
              <a:rect l="l" t="t" r="r" b="b"/>
              <a:pathLst>
                <a:path w="6858000" h="658368">
                  <a:moveTo>
                    <a:pt x="0" y="0"/>
                  </a:moveTo>
                  <a:lnTo>
                    <a:pt x="6858000" y="0"/>
                  </a:lnTo>
                  <a:lnTo>
                    <a:pt x="6858000" y="658368"/>
                  </a:lnTo>
                  <a:lnTo>
                    <a:pt x="0" y="658368"/>
                  </a:lnTo>
                  <a:close/>
                </a:path>
              </a:pathLst>
            </a:custGeom>
            <a:blipFill>
              <a:blip r:embed="rId3">
                <a:alphaModFix amt="0"/>
              </a:blip>
              <a:stretch>
                <a:fillRect t="-152969" b="-152969"/>
              </a:stretch>
            </a:blipFill>
          </p:spPr>
          <p:txBody>
            <a:bodyPr/>
            <a:lstStyle/>
            <a:p>
              <a:endParaRPr lang="en-US"/>
            </a:p>
          </p:txBody>
        </p:sp>
        <p:sp>
          <p:nvSpPr>
            <p:cNvPr id="51" name="TextBox 51"/>
            <p:cNvSpPr txBox="1"/>
            <p:nvPr/>
          </p:nvSpPr>
          <p:spPr>
            <a:xfrm>
              <a:off x="0" y="-38100"/>
              <a:ext cx="6858000" cy="696468"/>
            </a:xfrm>
            <a:prstGeom prst="rect">
              <a:avLst/>
            </a:prstGeom>
          </p:spPr>
          <p:txBody>
            <a:bodyPr lIns="0" tIns="0" rIns="0" bIns="0" rtlCol="0" anchor="ctr"/>
            <a:lstStyle/>
            <a:p>
              <a:pPr algn="l">
                <a:lnSpc>
                  <a:spcPts val="1709"/>
                </a:lnSpc>
              </a:pPr>
              <a:r>
                <a:rPr lang="en-US" sz="1425">
                  <a:solidFill>
                    <a:srgbClr val="C9D6CE"/>
                  </a:solidFill>
                  <a:latin typeface="Calibri (MS)"/>
                  <a:ea typeface="Calibri (MS)"/>
                  <a:cs typeface="Calibri (MS)"/>
                  <a:sym typeface="Calibri (MS)"/>
                </a:rPr>
                <a:t>AdamW + ReduceLROnPlateau + Early Stopping</a:t>
              </a:r>
            </a:p>
          </p:txBody>
        </p:sp>
      </p:grpSp>
      <p:grpSp>
        <p:nvGrpSpPr>
          <p:cNvPr id="52" name="Group 52"/>
          <p:cNvGrpSpPr/>
          <p:nvPr/>
        </p:nvGrpSpPr>
        <p:grpSpPr>
          <a:xfrm>
            <a:off x="1234440" y="6761988"/>
            <a:ext cx="2331720" cy="493776"/>
            <a:chOff x="0" y="0"/>
            <a:chExt cx="3108960" cy="658368"/>
          </a:xfrm>
        </p:grpSpPr>
        <p:sp>
          <p:nvSpPr>
            <p:cNvPr id="53" name="Freeform 53"/>
            <p:cNvSpPr/>
            <p:nvPr/>
          </p:nvSpPr>
          <p:spPr>
            <a:xfrm>
              <a:off x="0" y="0"/>
              <a:ext cx="3108960" cy="658368"/>
            </a:xfrm>
            <a:custGeom>
              <a:avLst/>
              <a:gdLst/>
              <a:ahLst/>
              <a:cxnLst/>
              <a:rect l="l" t="t" r="r" b="b"/>
              <a:pathLst>
                <a:path w="3108960" h="658368">
                  <a:moveTo>
                    <a:pt x="0" y="0"/>
                  </a:moveTo>
                  <a:lnTo>
                    <a:pt x="3108960" y="0"/>
                  </a:lnTo>
                  <a:lnTo>
                    <a:pt x="3108960" y="658368"/>
                  </a:lnTo>
                  <a:lnTo>
                    <a:pt x="0" y="658368"/>
                  </a:lnTo>
                  <a:close/>
                </a:path>
              </a:pathLst>
            </a:custGeom>
            <a:blipFill>
              <a:blip r:embed="rId3">
                <a:alphaModFix amt="0"/>
              </a:blip>
              <a:stretch>
                <a:fillRect t="-42012" b="-42012"/>
              </a:stretch>
            </a:blipFill>
          </p:spPr>
          <p:txBody>
            <a:bodyPr/>
            <a:lstStyle/>
            <a:p>
              <a:endParaRPr lang="en-US"/>
            </a:p>
          </p:txBody>
        </p:sp>
        <p:sp>
          <p:nvSpPr>
            <p:cNvPr id="54" name="TextBox 54"/>
            <p:cNvSpPr txBox="1"/>
            <p:nvPr/>
          </p:nvSpPr>
          <p:spPr>
            <a:xfrm>
              <a:off x="0" y="-38100"/>
              <a:ext cx="3108960" cy="696468"/>
            </a:xfrm>
            <a:prstGeom prst="rect">
              <a:avLst/>
            </a:prstGeom>
          </p:spPr>
          <p:txBody>
            <a:bodyPr lIns="0" tIns="0" rIns="0" bIns="0" rtlCol="0" anchor="ctr"/>
            <a:lstStyle/>
            <a:p>
              <a:pPr algn="l">
                <a:lnSpc>
                  <a:spcPts val="1800"/>
                </a:lnSpc>
              </a:pPr>
              <a:r>
                <a:rPr lang="en-US" sz="1500" b="1">
                  <a:solidFill>
                    <a:srgbClr val="FFB703"/>
                  </a:solidFill>
                  <a:latin typeface="Calibri (MS) Bold"/>
                  <a:ea typeface="Calibri (MS) Bold"/>
                  <a:cs typeface="Calibri (MS) Bold"/>
                  <a:sym typeface="Calibri (MS) Bold"/>
                </a:rPr>
                <a:t>Export</a:t>
              </a:r>
            </a:p>
          </p:txBody>
        </p:sp>
      </p:grpSp>
      <p:grpSp>
        <p:nvGrpSpPr>
          <p:cNvPr id="55" name="Group 55"/>
          <p:cNvGrpSpPr/>
          <p:nvPr/>
        </p:nvGrpSpPr>
        <p:grpSpPr>
          <a:xfrm>
            <a:off x="3566160" y="6761988"/>
            <a:ext cx="5143500" cy="493776"/>
            <a:chOff x="0" y="0"/>
            <a:chExt cx="6858000" cy="658368"/>
          </a:xfrm>
        </p:grpSpPr>
        <p:sp>
          <p:nvSpPr>
            <p:cNvPr id="56" name="Freeform 56"/>
            <p:cNvSpPr/>
            <p:nvPr/>
          </p:nvSpPr>
          <p:spPr>
            <a:xfrm>
              <a:off x="0" y="0"/>
              <a:ext cx="6858000" cy="658368"/>
            </a:xfrm>
            <a:custGeom>
              <a:avLst/>
              <a:gdLst/>
              <a:ahLst/>
              <a:cxnLst/>
              <a:rect l="l" t="t" r="r" b="b"/>
              <a:pathLst>
                <a:path w="6858000" h="658368">
                  <a:moveTo>
                    <a:pt x="0" y="0"/>
                  </a:moveTo>
                  <a:lnTo>
                    <a:pt x="6858000" y="0"/>
                  </a:lnTo>
                  <a:lnTo>
                    <a:pt x="6858000" y="658368"/>
                  </a:lnTo>
                  <a:lnTo>
                    <a:pt x="0" y="658368"/>
                  </a:lnTo>
                  <a:close/>
                </a:path>
              </a:pathLst>
            </a:custGeom>
            <a:blipFill>
              <a:blip r:embed="rId3">
                <a:alphaModFix amt="0"/>
              </a:blip>
              <a:stretch>
                <a:fillRect t="-152969" b="-152969"/>
              </a:stretch>
            </a:blipFill>
          </p:spPr>
          <p:txBody>
            <a:bodyPr/>
            <a:lstStyle/>
            <a:p>
              <a:endParaRPr lang="en-US"/>
            </a:p>
          </p:txBody>
        </p:sp>
        <p:sp>
          <p:nvSpPr>
            <p:cNvPr id="57" name="TextBox 57"/>
            <p:cNvSpPr txBox="1"/>
            <p:nvPr/>
          </p:nvSpPr>
          <p:spPr>
            <a:xfrm>
              <a:off x="0" y="-38100"/>
              <a:ext cx="6858000" cy="696468"/>
            </a:xfrm>
            <a:prstGeom prst="rect">
              <a:avLst/>
            </a:prstGeom>
          </p:spPr>
          <p:txBody>
            <a:bodyPr lIns="0" tIns="0" rIns="0" bIns="0" rtlCol="0" anchor="ctr"/>
            <a:lstStyle/>
            <a:p>
              <a:pPr algn="l">
                <a:lnSpc>
                  <a:spcPts val="1709"/>
                </a:lnSpc>
              </a:pPr>
              <a:r>
                <a:rPr lang="en-US" sz="1425">
                  <a:solidFill>
                    <a:srgbClr val="C9D6CE"/>
                  </a:solidFill>
                  <a:latin typeface="Calibri (MS)"/>
                  <a:ea typeface="Calibri (MS)"/>
                  <a:cs typeface="Calibri (MS)"/>
                  <a:sym typeface="Calibri (MS)"/>
                </a:rPr>
                <a:t>Traced to ONNX (opset 14), dynamic batch axis</a:t>
              </a:r>
            </a:p>
          </p:txBody>
        </p:sp>
      </p:grpSp>
      <p:grpSp>
        <p:nvGrpSpPr>
          <p:cNvPr id="58" name="Group 58"/>
          <p:cNvGrpSpPr/>
          <p:nvPr/>
        </p:nvGrpSpPr>
        <p:grpSpPr>
          <a:xfrm>
            <a:off x="9454515" y="2185035"/>
            <a:ext cx="7974330" cy="3448050"/>
            <a:chOff x="0" y="0"/>
            <a:chExt cx="10632440" cy="4597400"/>
          </a:xfrm>
        </p:grpSpPr>
        <p:sp>
          <p:nvSpPr>
            <p:cNvPr id="59" name="Freeform 59"/>
            <p:cNvSpPr/>
            <p:nvPr/>
          </p:nvSpPr>
          <p:spPr>
            <a:xfrm>
              <a:off x="0" y="0"/>
              <a:ext cx="10632439" cy="4597400"/>
            </a:xfrm>
            <a:custGeom>
              <a:avLst/>
              <a:gdLst/>
              <a:ahLst/>
              <a:cxnLst/>
              <a:rect l="l" t="t" r="r" b="b"/>
              <a:pathLst>
                <a:path w="10632439" h="4597400">
                  <a:moveTo>
                    <a:pt x="0" y="183896"/>
                  </a:moveTo>
                  <a:cubicBezTo>
                    <a:pt x="0" y="82296"/>
                    <a:pt x="82296" y="0"/>
                    <a:pt x="183896" y="0"/>
                  </a:cubicBezTo>
                  <a:lnTo>
                    <a:pt x="10448544" y="0"/>
                  </a:lnTo>
                  <a:cubicBezTo>
                    <a:pt x="10550144" y="0"/>
                    <a:pt x="10632439" y="82296"/>
                    <a:pt x="10632439" y="183896"/>
                  </a:cubicBezTo>
                  <a:lnTo>
                    <a:pt x="10632439" y="4413504"/>
                  </a:lnTo>
                  <a:cubicBezTo>
                    <a:pt x="10632439" y="4515104"/>
                    <a:pt x="10550144" y="4597400"/>
                    <a:pt x="10448544" y="4597400"/>
                  </a:cubicBezTo>
                  <a:lnTo>
                    <a:pt x="183896" y="4597400"/>
                  </a:lnTo>
                  <a:cubicBezTo>
                    <a:pt x="82296" y="4597400"/>
                    <a:pt x="0" y="4515104"/>
                    <a:pt x="0" y="4413504"/>
                  </a:cubicBezTo>
                  <a:close/>
                </a:path>
              </a:pathLst>
            </a:custGeom>
            <a:solidFill>
              <a:srgbClr val="FFFFFF"/>
            </a:solidFill>
            <a:ln w="19050" cap="sq">
              <a:solidFill>
                <a:srgbClr val="DCE7E0"/>
              </a:solidFill>
              <a:prstDash val="solid"/>
              <a:miter/>
            </a:ln>
          </p:spPr>
          <p:txBody>
            <a:bodyPr/>
            <a:lstStyle/>
            <a:p>
              <a:endParaRPr lang="en-US"/>
            </a:p>
          </p:txBody>
        </p:sp>
      </p:grpSp>
      <p:grpSp>
        <p:nvGrpSpPr>
          <p:cNvPr id="60" name="Group 60"/>
          <p:cNvGrpSpPr/>
          <p:nvPr/>
        </p:nvGrpSpPr>
        <p:grpSpPr>
          <a:xfrm>
            <a:off x="9806940" y="2441448"/>
            <a:ext cx="6858000" cy="438912"/>
            <a:chOff x="0" y="0"/>
            <a:chExt cx="9144000" cy="585216"/>
          </a:xfrm>
        </p:grpSpPr>
        <p:sp>
          <p:nvSpPr>
            <p:cNvPr id="61" name="Freeform 61"/>
            <p:cNvSpPr/>
            <p:nvPr/>
          </p:nvSpPr>
          <p:spPr>
            <a:xfrm>
              <a:off x="0" y="0"/>
              <a:ext cx="9144000" cy="585216"/>
            </a:xfrm>
            <a:custGeom>
              <a:avLst/>
              <a:gdLst/>
              <a:ahLst/>
              <a:cxnLst/>
              <a:rect l="l" t="t" r="r" b="b"/>
              <a:pathLst>
                <a:path w="9144000" h="585216">
                  <a:moveTo>
                    <a:pt x="0" y="0"/>
                  </a:moveTo>
                  <a:lnTo>
                    <a:pt x="9144000" y="0"/>
                  </a:lnTo>
                  <a:lnTo>
                    <a:pt x="9144000" y="585216"/>
                  </a:lnTo>
                  <a:lnTo>
                    <a:pt x="0" y="585216"/>
                  </a:lnTo>
                  <a:close/>
                </a:path>
              </a:pathLst>
            </a:custGeom>
            <a:blipFill>
              <a:blip r:embed="rId3">
                <a:alphaModFix amt="0"/>
              </a:blip>
              <a:stretch>
                <a:fillRect t="-254453" b="-254453"/>
              </a:stretch>
            </a:blipFill>
          </p:spPr>
          <p:txBody>
            <a:bodyPr/>
            <a:lstStyle/>
            <a:p>
              <a:endParaRPr lang="en-US"/>
            </a:p>
          </p:txBody>
        </p:sp>
        <p:sp>
          <p:nvSpPr>
            <p:cNvPr id="62" name="TextBox 62"/>
            <p:cNvSpPr txBox="1"/>
            <p:nvPr/>
          </p:nvSpPr>
          <p:spPr>
            <a:xfrm>
              <a:off x="0" y="-28575"/>
              <a:ext cx="9144000" cy="613791"/>
            </a:xfrm>
            <a:prstGeom prst="rect">
              <a:avLst/>
            </a:prstGeom>
          </p:spPr>
          <p:txBody>
            <a:bodyPr lIns="0" tIns="0" rIns="0" bIns="0" rtlCol="0" anchor="ctr"/>
            <a:lstStyle/>
            <a:p>
              <a:pPr algn="l">
                <a:lnSpc>
                  <a:spcPts val="1980"/>
                </a:lnSpc>
              </a:pPr>
              <a:r>
                <a:rPr lang="en-US" sz="1650" b="1" spc="180">
                  <a:solidFill>
                    <a:srgbClr val="40916C"/>
                  </a:solidFill>
                  <a:latin typeface="Calibri (MS) Bold"/>
                  <a:ea typeface="Calibri (MS) Bold"/>
                  <a:cs typeface="Calibri (MS) Bold"/>
                  <a:sym typeface="Calibri (MS) Bold"/>
                </a:rPr>
                <a:t>PREPROCESSING</a:t>
              </a:r>
            </a:p>
          </p:txBody>
        </p:sp>
      </p:grpSp>
      <p:grpSp>
        <p:nvGrpSpPr>
          <p:cNvPr id="63" name="Group 63"/>
          <p:cNvGrpSpPr/>
          <p:nvPr/>
        </p:nvGrpSpPr>
        <p:grpSpPr>
          <a:xfrm>
            <a:off x="9875520" y="3072384"/>
            <a:ext cx="109728" cy="109728"/>
            <a:chOff x="0" y="0"/>
            <a:chExt cx="146304" cy="146304"/>
          </a:xfrm>
        </p:grpSpPr>
        <p:sp>
          <p:nvSpPr>
            <p:cNvPr id="64" name="Freeform 64"/>
            <p:cNvSpPr/>
            <p:nvPr/>
          </p:nvSpPr>
          <p:spPr>
            <a:xfrm>
              <a:off x="0" y="0"/>
              <a:ext cx="146304" cy="146304"/>
            </a:xfrm>
            <a:custGeom>
              <a:avLst/>
              <a:gdLst/>
              <a:ahLst/>
              <a:cxnLst/>
              <a:rect l="l" t="t" r="r" b="b"/>
              <a:pathLst>
                <a:path w="146304" h="146304">
                  <a:moveTo>
                    <a:pt x="0" y="73152"/>
                  </a:moveTo>
                  <a:cubicBezTo>
                    <a:pt x="0" y="32766"/>
                    <a:pt x="32766" y="0"/>
                    <a:pt x="73152" y="0"/>
                  </a:cubicBezTo>
                  <a:cubicBezTo>
                    <a:pt x="113538" y="0"/>
                    <a:pt x="146304" y="32766"/>
                    <a:pt x="146304" y="73152"/>
                  </a:cubicBezTo>
                  <a:cubicBezTo>
                    <a:pt x="146304" y="113538"/>
                    <a:pt x="113538" y="146304"/>
                    <a:pt x="73152" y="146304"/>
                  </a:cubicBezTo>
                  <a:cubicBezTo>
                    <a:pt x="32766" y="146304"/>
                    <a:pt x="0" y="113538"/>
                    <a:pt x="0" y="73152"/>
                  </a:cubicBezTo>
                  <a:close/>
                </a:path>
              </a:pathLst>
            </a:custGeom>
            <a:solidFill>
              <a:srgbClr val="40916C"/>
            </a:solidFill>
          </p:spPr>
          <p:txBody>
            <a:bodyPr/>
            <a:lstStyle/>
            <a:p>
              <a:endParaRPr lang="en-US"/>
            </a:p>
          </p:txBody>
        </p:sp>
      </p:grpSp>
      <p:grpSp>
        <p:nvGrpSpPr>
          <p:cNvPr id="65" name="Group 65"/>
          <p:cNvGrpSpPr/>
          <p:nvPr/>
        </p:nvGrpSpPr>
        <p:grpSpPr>
          <a:xfrm>
            <a:off x="10177272" y="2907792"/>
            <a:ext cx="7063740" cy="521208"/>
            <a:chOff x="0" y="0"/>
            <a:chExt cx="9418320" cy="694944"/>
          </a:xfrm>
        </p:grpSpPr>
        <p:sp>
          <p:nvSpPr>
            <p:cNvPr id="66" name="Freeform 66"/>
            <p:cNvSpPr/>
            <p:nvPr/>
          </p:nvSpPr>
          <p:spPr>
            <a:xfrm>
              <a:off x="0" y="0"/>
              <a:ext cx="9418320" cy="694944"/>
            </a:xfrm>
            <a:custGeom>
              <a:avLst/>
              <a:gdLst/>
              <a:ahLst/>
              <a:cxnLst/>
              <a:rect l="l" t="t" r="r" b="b"/>
              <a:pathLst>
                <a:path w="9418320" h="694944">
                  <a:moveTo>
                    <a:pt x="0" y="0"/>
                  </a:moveTo>
                  <a:lnTo>
                    <a:pt x="9418320" y="0"/>
                  </a:lnTo>
                  <a:lnTo>
                    <a:pt x="9418320" y="694944"/>
                  </a:lnTo>
                  <a:lnTo>
                    <a:pt x="0" y="694944"/>
                  </a:lnTo>
                  <a:close/>
                </a:path>
              </a:pathLst>
            </a:custGeom>
            <a:blipFill>
              <a:blip r:embed="rId3">
                <a:alphaModFix amt="0"/>
              </a:blip>
              <a:stretch>
                <a:fillRect t="-214073" b="-214073"/>
              </a:stretch>
            </a:blipFill>
          </p:spPr>
          <p:txBody>
            <a:bodyPr/>
            <a:lstStyle/>
            <a:p>
              <a:endParaRPr lang="en-US"/>
            </a:p>
          </p:txBody>
        </p:sp>
        <p:sp>
          <p:nvSpPr>
            <p:cNvPr id="67" name="TextBox 67"/>
            <p:cNvSpPr txBox="1"/>
            <p:nvPr/>
          </p:nvSpPr>
          <p:spPr>
            <a:xfrm>
              <a:off x="0" y="-38100"/>
              <a:ext cx="9418320" cy="733044"/>
            </a:xfrm>
            <a:prstGeom prst="rect">
              <a:avLst/>
            </a:prstGeom>
          </p:spPr>
          <p:txBody>
            <a:bodyPr lIns="0" tIns="0" rIns="0" bIns="0" rtlCol="0" anchor="ctr"/>
            <a:lstStyle/>
            <a:p>
              <a:pPr algn="l">
                <a:lnSpc>
                  <a:spcPts val="1800"/>
                </a:lnSpc>
              </a:pPr>
              <a:r>
                <a:rPr lang="en-US" sz="1500">
                  <a:solidFill>
                    <a:srgbClr val="0D1B2A"/>
                  </a:solidFill>
                  <a:latin typeface="Calibri (MS)"/>
                  <a:ea typeface="Calibri (MS)"/>
                  <a:cs typeface="Calibri (MS)"/>
                  <a:sym typeface="Calibri (MS)"/>
                </a:rPr>
                <a:t>Cyclical hour encoding: sin/cos of 2π×hour/24</a:t>
              </a:r>
            </a:p>
          </p:txBody>
        </p:sp>
      </p:grpSp>
      <p:grpSp>
        <p:nvGrpSpPr>
          <p:cNvPr id="68" name="Group 68"/>
          <p:cNvGrpSpPr/>
          <p:nvPr/>
        </p:nvGrpSpPr>
        <p:grpSpPr>
          <a:xfrm>
            <a:off x="9875520" y="3675888"/>
            <a:ext cx="109728" cy="109728"/>
            <a:chOff x="0" y="0"/>
            <a:chExt cx="146304" cy="146304"/>
          </a:xfrm>
        </p:grpSpPr>
        <p:sp>
          <p:nvSpPr>
            <p:cNvPr id="69" name="Freeform 69"/>
            <p:cNvSpPr/>
            <p:nvPr/>
          </p:nvSpPr>
          <p:spPr>
            <a:xfrm>
              <a:off x="0" y="0"/>
              <a:ext cx="146304" cy="146304"/>
            </a:xfrm>
            <a:custGeom>
              <a:avLst/>
              <a:gdLst/>
              <a:ahLst/>
              <a:cxnLst/>
              <a:rect l="l" t="t" r="r" b="b"/>
              <a:pathLst>
                <a:path w="146304" h="146304">
                  <a:moveTo>
                    <a:pt x="0" y="73152"/>
                  </a:moveTo>
                  <a:cubicBezTo>
                    <a:pt x="0" y="32766"/>
                    <a:pt x="32766" y="0"/>
                    <a:pt x="73152" y="0"/>
                  </a:cubicBezTo>
                  <a:cubicBezTo>
                    <a:pt x="113538" y="0"/>
                    <a:pt x="146304" y="32766"/>
                    <a:pt x="146304" y="73152"/>
                  </a:cubicBezTo>
                  <a:cubicBezTo>
                    <a:pt x="146304" y="113538"/>
                    <a:pt x="113538" y="146304"/>
                    <a:pt x="73152" y="146304"/>
                  </a:cubicBezTo>
                  <a:cubicBezTo>
                    <a:pt x="32766" y="146304"/>
                    <a:pt x="0" y="113538"/>
                    <a:pt x="0" y="73152"/>
                  </a:cubicBezTo>
                  <a:close/>
                </a:path>
              </a:pathLst>
            </a:custGeom>
            <a:solidFill>
              <a:srgbClr val="40916C"/>
            </a:solidFill>
          </p:spPr>
          <p:txBody>
            <a:bodyPr/>
            <a:lstStyle/>
            <a:p>
              <a:endParaRPr lang="en-US"/>
            </a:p>
          </p:txBody>
        </p:sp>
      </p:grpSp>
      <p:grpSp>
        <p:nvGrpSpPr>
          <p:cNvPr id="70" name="Group 70"/>
          <p:cNvGrpSpPr/>
          <p:nvPr/>
        </p:nvGrpSpPr>
        <p:grpSpPr>
          <a:xfrm>
            <a:off x="10177272" y="3511296"/>
            <a:ext cx="7063740" cy="521208"/>
            <a:chOff x="0" y="0"/>
            <a:chExt cx="9418320" cy="694944"/>
          </a:xfrm>
        </p:grpSpPr>
        <p:sp>
          <p:nvSpPr>
            <p:cNvPr id="71" name="Freeform 71"/>
            <p:cNvSpPr/>
            <p:nvPr/>
          </p:nvSpPr>
          <p:spPr>
            <a:xfrm>
              <a:off x="0" y="0"/>
              <a:ext cx="9418320" cy="694944"/>
            </a:xfrm>
            <a:custGeom>
              <a:avLst/>
              <a:gdLst/>
              <a:ahLst/>
              <a:cxnLst/>
              <a:rect l="l" t="t" r="r" b="b"/>
              <a:pathLst>
                <a:path w="9418320" h="694944">
                  <a:moveTo>
                    <a:pt x="0" y="0"/>
                  </a:moveTo>
                  <a:lnTo>
                    <a:pt x="9418320" y="0"/>
                  </a:lnTo>
                  <a:lnTo>
                    <a:pt x="9418320" y="694944"/>
                  </a:lnTo>
                  <a:lnTo>
                    <a:pt x="0" y="694944"/>
                  </a:lnTo>
                  <a:close/>
                </a:path>
              </a:pathLst>
            </a:custGeom>
            <a:blipFill>
              <a:blip r:embed="rId3">
                <a:alphaModFix amt="0"/>
              </a:blip>
              <a:stretch>
                <a:fillRect t="-214073" b="-214073"/>
              </a:stretch>
            </a:blipFill>
          </p:spPr>
          <p:txBody>
            <a:bodyPr/>
            <a:lstStyle/>
            <a:p>
              <a:endParaRPr lang="en-US"/>
            </a:p>
          </p:txBody>
        </p:sp>
        <p:sp>
          <p:nvSpPr>
            <p:cNvPr id="72" name="TextBox 72"/>
            <p:cNvSpPr txBox="1"/>
            <p:nvPr/>
          </p:nvSpPr>
          <p:spPr>
            <a:xfrm>
              <a:off x="0" y="-38100"/>
              <a:ext cx="9418320" cy="733044"/>
            </a:xfrm>
            <a:prstGeom prst="rect">
              <a:avLst/>
            </a:prstGeom>
          </p:spPr>
          <p:txBody>
            <a:bodyPr lIns="0" tIns="0" rIns="0" bIns="0" rtlCol="0" anchor="ctr"/>
            <a:lstStyle/>
            <a:p>
              <a:pPr algn="l">
                <a:lnSpc>
                  <a:spcPts val="1800"/>
                </a:lnSpc>
              </a:pPr>
              <a:r>
                <a:rPr lang="en-US" sz="1500">
                  <a:solidFill>
                    <a:srgbClr val="0D1B2A"/>
                  </a:solidFill>
                  <a:latin typeface="Calibri (MS)"/>
                  <a:ea typeface="Calibri (MS)"/>
                  <a:cs typeface="Calibri (MS)"/>
                  <a:sym typeface="Calibri (MS)"/>
                </a:rPr>
                <a:t>Daylight masking at IRRADIATION &gt; 0.05 W/m²</a:t>
              </a:r>
            </a:p>
          </p:txBody>
        </p:sp>
      </p:grpSp>
      <p:grpSp>
        <p:nvGrpSpPr>
          <p:cNvPr id="73" name="Group 73"/>
          <p:cNvGrpSpPr/>
          <p:nvPr/>
        </p:nvGrpSpPr>
        <p:grpSpPr>
          <a:xfrm>
            <a:off x="9875520" y="4279392"/>
            <a:ext cx="109728" cy="109728"/>
            <a:chOff x="0" y="0"/>
            <a:chExt cx="146304" cy="146304"/>
          </a:xfrm>
        </p:grpSpPr>
        <p:sp>
          <p:nvSpPr>
            <p:cNvPr id="74" name="Freeform 74"/>
            <p:cNvSpPr/>
            <p:nvPr/>
          </p:nvSpPr>
          <p:spPr>
            <a:xfrm>
              <a:off x="0" y="0"/>
              <a:ext cx="146304" cy="146304"/>
            </a:xfrm>
            <a:custGeom>
              <a:avLst/>
              <a:gdLst/>
              <a:ahLst/>
              <a:cxnLst/>
              <a:rect l="l" t="t" r="r" b="b"/>
              <a:pathLst>
                <a:path w="146304" h="146304">
                  <a:moveTo>
                    <a:pt x="0" y="73152"/>
                  </a:moveTo>
                  <a:cubicBezTo>
                    <a:pt x="0" y="32766"/>
                    <a:pt x="32766" y="0"/>
                    <a:pt x="73152" y="0"/>
                  </a:cubicBezTo>
                  <a:cubicBezTo>
                    <a:pt x="113538" y="0"/>
                    <a:pt x="146304" y="32766"/>
                    <a:pt x="146304" y="73152"/>
                  </a:cubicBezTo>
                  <a:cubicBezTo>
                    <a:pt x="146304" y="113538"/>
                    <a:pt x="113538" y="146304"/>
                    <a:pt x="73152" y="146304"/>
                  </a:cubicBezTo>
                  <a:cubicBezTo>
                    <a:pt x="32766" y="146304"/>
                    <a:pt x="0" y="113538"/>
                    <a:pt x="0" y="73152"/>
                  </a:cubicBezTo>
                  <a:close/>
                </a:path>
              </a:pathLst>
            </a:custGeom>
            <a:solidFill>
              <a:srgbClr val="40916C"/>
            </a:solidFill>
          </p:spPr>
          <p:txBody>
            <a:bodyPr/>
            <a:lstStyle/>
            <a:p>
              <a:endParaRPr lang="en-US"/>
            </a:p>
          </p:txBody>
        </p:sp>
      </p:grpSp>
      <p:grpSp>
        <p:nvGrpSpPr>
          <p:cNvPr id="75" name="Group 75"/>
          <p:cNvGrpSpPr/>
          <p:nvPr/>
        </p:nvGrpSpPr>
        <p:grpSpPr>
          <a:xfrm>
            <a:off x="10177272" y="4114800"/>
            <a:ext cx="7063740" cy="521208"/>
            <a:chOff x="0" y="0"/>
            <a:chExt cx="9418320" cy="694944"/>
          </a:xfrm>
        </p:grpSpPr>
        <p:sp>
          <p:nvSpPr>
            <p:cNvPr id="76" name="Freeform 76"/>
            <p:cNvSpPr/>
            <p:nvPr/>
          </p:nvSpPr>
          <p:spPr>
            <a:xfrm>
              <a:off x="0" y="0"/>
              <a:ext cx="9418320" cy="694944"/>
            </a:xfrm>
            <a:custGeom>
              <a:avLst/>
              <a:gdLst/>
              <a:ahLst/>
              <a:cxnLst/>
              <a:rect l="l" t="t" r="r" b="b"/>
              <a:pathLst>
                <a:path w="9418320" h="694944">
                  <a:moveTo>
                    <a:pt x="0" y="0"/>
                  </a:moveTo>
                  <a:lnTo>
                    <a:pt x="9418320" y="0"/>
                  </a:lnTo>
                  <a:lnTo>
                    <a:pt x="9418320" y="694944"/>
                  </a:lnTo>
                  <a:lnTo>
                    <a:pt x="0" y="694944"/>
                  </a:lnTo>
                  <a:close/>
                </a:path>
              </a:pathLst>
            </a:custGeom>
            <a:blipFill>
              <a:blip r:embed="rId3">
                <a:alphaModFix amt="0"/>
              </a:blip>
              <a:stretch>
                <a:fillRect t="-214073" b="-214073"/>
              </a:stretch>
            </a:blipFill>
          </p:spPr>
          <p:txBody>
            <a:bodyPr/>
            <a:lstStyle/>
            <a:p>
              <a:endParaRPr lang="en-US"/>
            </a:p>
          </p:txBody>
        </p:sp>
        <p:sp>
          <p:nvSpPr>
            <p:cNvPr id="77" name="TextBox 77"/>
            <p:cNvSpPr txBox="1"/>
            <p:nvPr/>
          </p:nvSpPr>
          <p:spPr>
            <a:xfrm>
              <a:off x="0" y="-38100"/>
              <a:ext cx="9418320" cy="733044"/>
            </a:xfrm>
            <a:prstGeom prst="rect">
              <a:avLst/>
            </a:prstGeom>
          </p:spPr>
          <p:txBody>
            <a:bodyPr lIns="0" tIns="0" rIns="0" bIns="0" rtlCol="0" anchor="ctr"/>
            <a:lstStyle/>
            <a:p>
              <a:pPr algn="l">
                <a:lnSpc>
                  <a:spcPts val="1800"/>
                </a:lnSpc>
              </a:pPr>
              <a:r>
                <a:rPr lang="en-US" sz="1500">
                  <a:solidFill>
                    <a:srgbClr val="0D1B2A"/>
                  </a:solidFill>
                  <a:latin typeface="Calibri (MS)"/>
                  <a:ea typeface="Calibri (MS)"/>
                  <a:cs typeface="Calibri (MS)"/>
                  <a:sym typeface="Calibri (MS)"/>
                </a:rPr>
                <a:t>StandardScaler fit &amp; saved for identical live transform</a:t>
              </a:r>
            </a:p>
          </p:txBody>
        </p:sp>
      </p:grpSp>
      <p:grpSp>
        <p:nvGrpSpPr>
          <p:cNvPr id="78" name="Group 78"/>
          <p:cNvGrpSpPr/>
          <p:nvPr/>
        </p:nvGrpSpPr>
        <p:grpSpPr>
          <a:xfrm>
            <a:off x="9875520" y="4882896"/>
            <a:ext cx="109728" cy="109728"/>
            <a:chOff x="0" y="0"/>
            <a:chExt cx="146304" cy="146304"/>
          </a:xfrm>
        </p:grpSpPr>
        <p:sp>
          <p:nvSpPr>
            <p:cNvPr id="79" name="Freeform 79"/>
            <p:cNvSpPr/>
            <p:nvPr/>
          </p:nvSpPr>
          <p:spPr>
            <a:xfrm>
              <a:off x="0" y="0"/>
              <a:ext cx="146304" cy="146304"/>
            </a:xfrm>
            <a:custGeom>
              <a:avLst/>
              <a:gdLst/>
              <a:ahLst/>
              <a:cxnLst/>
              <a:rect l="l" t="t" r="r" b="b"/>
              <a:pathLst>
                <a:path w="146304" h="146304">
                  <a:moveTo>
                    <a:pt x="0" y="73152"/>
                  </a:moveTo>
                  <a:cubicBezTo>
                    <a:pt x="0" y="32766"/>
                    <a:pt x="32766" y="0"/>
                    <a:pt x="73152" y="0"/>
                  </a:cubicBezTo>
                  <a:cubicBezTo>
                    <a:pt x="113538" y="0"/>
                    <a:pt x="146304" y="32766"/>
                    <a:pt x="146304" y="73152"/>
                  </a:cubicBezTo>
                  <a:cubicBezTo>
                    <a:pt x="146304" y="113538"/>
                    <a:pt x="113538" y="146304"/>
                    <a:pt x="73152" y="146304"/>
                  </a:cubicBezTo>
                  <a:cubicBezTo>
                    <a:pt x="32766" y="146304"/>
                    <a:pt x="0" y="113538"/>
                    <a:pt x="0" y="73152"/>
                  </a:cubicBezTo>
                  <a:close/>
                </a:path>
              </a:pathLst>
            </a:custGeom>
            <a:solidFill>
              <a:srgbClr val="40916C"/>
            </a:solidFill>
          </p:spPr>
          <p:txBody>
            <a:bodyPr/>
            <a:lstStyle/>
            <a:p>
              <a:endParaRPr lang="en-US"/>
            </a:p>
          </p:txBody>
        </p:sp>
      </p:grpSp>
      <p:grpSp>
        <p:nvGrpSpPr>
          <p:cNvPr id="80" name="Group 80"/>
          <p:cNvGrpSpPr/>
          <p:nvPr/>
        </p:nvGrpSpPr>
        <p:grpSpPr>
          <a:xfrm>
            <a:off x="10177272" y="4718304"/>
            <a:ext cx="7063740" cy="521208"/>
            <a:chOff x="0" y="0"/>
            <a:chExt cx="9418320" cy="694944"/>
          </a:xfrm>
        </p:grpSpPr>
        <p:sp>
          <p:nvSpPr>
            <p:cNvPr id="81" name="Freeform 81"/>
            <p:cNvSpPr/>
            <p:nvPr/>
          </p:nvSpPr>
          <p:spPr>
            <a:xfrm>
              <a:off x="0" y="0"/>
              <a:ext cx="9418320" cy="694944"/>
            </a:xfrm>
            <a:custGeom>
              <a:avLst/>
              <a:gdLst/>
              <a:ahLst/>
              <a:cxnLst/>
              <a:rect l="l" t="t" r="r" b="b"/>
              <a:pathLst>
                <a:path w="9418320" h="694944">
                  <a:moveTo>
                    <a:pt x="0" y="0"/>
                  </a:moveTo>
                  <a:lnTo>
                    <a:pt x="9418320" y="0"/>
                  </a:lnTo>
                  <a:lnTo>
                    <a:pt x="9418320" y="694944"/>
                  </a:lnTo>
                  <a:lnTo>
                    <a:pt x="0" y="694944"/>
                  </a:lnTo>
                  <a:close/>
                </a:path>
              </a:pathLst>
            </a:custGeom>
            <a:blipFill>
              <a:blip r:embed="rId3">
                <a:alphaModFix amt="0"/>
              </a:blip>
              <a:stretch>
                <a:fillRect t="-214073" b="-214073"/>
              </a:stretch>
            </a:blipFill>
          </p:spPr>
          <p:txBody>
            <a:bodyPr/>
            <a:lstStyle/>
            <a:p>
              <a:endParaRPr lang="en-US"/>
            </a:p>
          </p:txBody>
        </p:sp>
        <p:sp>
          <p:nvSpPr>
            <p:cNvPr id="82" name="TextBox 82"/>
            <p:cNvSpPr txBox="1"/>
            <p:nvPr/>
          </p:nvSpPr>
          <p:spPr>
            <a:xfrm>
              <a:off x="0" y="-38100"/>
              <a:ext cx="9418320" cy="733044"/>
            </a:xfrm>
            <a:prstGeom prst="rect">
              <a:avLst/>
            </a:prstGeom>
          </p:spPr>
          <p:txBody>
            <a:bodyPr lIns="0" tIns="0" rIns="0" bIns="0" rtlCol="0" anchor="ctr"/>
            <a:lstStyle/>
            <a:p>
              <a:pPr algn="l">
                <a:lnSpc>
                  <a:spcPts val="1800"/>
                </a:lnSpc>
              </a:pPr>
              <a:r>
                <a:rPr lang="en-US" sz="1500">
                  <a:solidFill>
                    <a:srgbClr val="0D1B2A"/>
                  </a:solidFill>
                  <a:latin typeface="Calibri (MS)"/>
                  <a:ea typeface="Calibri (MS)"/>
                  <a:cs typeface="Calibri (MS)"/>
                  <a:sym typeface="Calibri (MS)"/>
                </a:rPr>
                <a:t>Chronological 70/15/15 train/val/test split</a:t>
              </a:r>
            </a:p>
          </p:txBody>
        </p:sp>
      </p:grpSp>
      <p:grpSp>
        <p:nvGrpSpPr>
          <p:cNvPr id="83" name="Group 83"/>
          <p:cNvGrpSpPr/>
          <p:nvPr/>
        </p:nvGrpSpPr>
        <p:grpSpPr>
          <a:xfrm>
            <a:off x="9464040" y="5897880"/>
            <a:ext cx="7955280" cy="3497580"/>
            <a:chOff x="0" y="0"/>
            <a:chExt cx="10607040" cy="4663440"/>
          </a:xfrm>
        </p:grpSpPr>
        <p:sp>
          <p:nvSpPr>
            <p:cNvPr id="84" name="Freeform 84"/>
            <p:cNvSpPr/>
            <p:nvPr/>
          </p:nvSpPr>
          <p:spPr>
            <a:xfrm>
              <a:off x="0" y="0"/>
              <a:ext cx="10607040" cy="4663440"/>
            </a:xfrm>
            <a:custGeom>
              <a:avLst/>
              <a:gdLst/>
              <a:ahLst/>
              <a:cxnLst/>
              <a:rect l="l" t="t" r="r" b="b"/>
              <a:pathLst>
                <a:path w="10607040" h="4663440">
                  <a:moveTo>
                    <a:pt x="0" y="182880"/>
                  </a:moveTo>
                  <a:cubicBezTo>
                    <a:pt x="0" y="81915"/>
                    <a:pt x="81915" y="0"/>
                    <a:pt x="182880" y="0"/>
                  </a:cubicBezTo>
                  <a:lnTo>
                    <a:pt x="10424160" y="0"/>
                  </a:lnTo>
                  <a:cubicBezTo>
                    <a:pt x="10525125" y="0"/>
                    <a:pt x="10607040" y="81915"/>
                    <a:pt x="10607040" y="182880"/>
                  </a:cubicBezTo>
                  <a:lnTo>
                    <a:pt x="10607040" y="4480560"/>
                  </a:lnTo>
                  <a:cubicBezTo>
                    <a:pt x="10607040" y="4581525"/>
                    <a:pt x="10525125" y="4663440"/>
                    <a:pt x="10424160" y="4663440"/>
                  </a:cubicBezTo>
                  <a:lnTo>
                    <a:pt x="182880" y="4663440"/>
                  </a:lnTo>
                  <a:cubicBezTo>
                    <a:pt x="81915" y="4663440"/>
                    <a:pt x="0" y="4581525"/>
                    <a:pt x="0" y="4480560"/>
                  </a:cubicBezTo>
                  <a:close/>
                </a:path>
              </a:pathLst>
            </a:custGeom>
            <a:solidFill>
              <a:srgbClr val="EAF2ED"/>
            </a:solidFill>
          </p:spPr>
          <p:txBody>
            <a:bodyPr/>
            <a:lstStyle/>
            <a:p>
              <a:endParaRPr lang="en-US"/>
            </a:p>
          </p:txBody>
        </p:sp>
      </p:grpSp>
      <p:grpSp>
        <p:nvGrpSpPr>
          <p:cNvPr id="85" name="Group 85"/>
          <p:cNvGrpSpPr/>
          <p:nvPr/>
        </p:nvGrpSpPr>
        <p:grpSpPr>
          <a:xfrm>
            <a:off x="9806940" y="6144768"/>
            <a:ext cx="7269480" cy="438912"/>
            <a:chOff x="0" y="0"/>
            <a:chExt cx="9692640" cy="585216"/>
          </a:xfrm>
        </p:grpSpPr>
        <p:sp>
          <p:nvSpPr>
            <p:cNvPr id="86" name="Freeform 86"/>
            <p:cNvSpPr/>
            <p:nvPr/>
          </p:nvSpPr>
          <p:spPr>
            <a:xfrm>
              <a:off x="0" y="0"/>
              <a:ext cx="9692640" cy="585216"/>
            </a:xfrm>
            <a:custGeom>
              <a:avLst/>
              <a:gdLst/>
              <a:ahLst/>
              <a:cxnLst/>
              <a:rect l="l" t="t" r="r" b="b"/>
              <a:pathLst>
                <a:path w="9692640" h="585216">
                  <a:moveTo>
                    <a:pt x="0" y="0"/>
                  </a:moveTo>
                  <a:lnTo>
                    <a:pt x="9692640" y="0"/>
                  </a:lnTo>
                  <a:lnTo>
                    <a:pt x="9692640" y="585216"/>
                  </a:lnTo>
                  <a:lnTo>
                    <a:pt x="0" y="585216"/>
                  </a:lnTo>
                  <a:close/>
                </a:path>
              </a:pathLst>
            </a:custGeom>
            <a:blipFill>
              <a:blip r:embed="rId3">
                <a:alphaModFix amt="0"/>
              </a:blip>
              <a:stretch>
                <a:fillRect t="-272720" b="-272720"/>
              </a:stretch>
            </a:blipFill>
          </p:spPr>
          <p:txBody>
            <a:bodyPr/>
            <a:lstStyle/>
            <a:p>
              <a:endParaRPr lang="en-US"/>
            </a:p>
          </p:txBody>
        </p:sp>
        <p:sp>
          <p:nvSpPr>
            <p:cNvPr id="87" name="TextBox 87"/>
            <p:cNvSpPr txBox="1"/>
            <p:nvPr/>
          </p:nvSpPr>
          <p:spPr>
            <a:xfrm>
              <a:off x="0" y="-28575"/>
              <a:ext cx="9692640" cy="613791"/>
            </a:xfrm>
            <a:prstGeom prst="rect">
              <a:avLst/>
            </a:prstGeom>
          </p:spPr>
          <p:txBody>
            <a:bodyPr lIns="0" tIns="0" rIns="0" bIns="0" rtlCol="0" anchor="ctr"/>
            <a:lstStyle/>
            <a:p>
              <a:pPr algn="l">
                <a:lnSpc>
                  <a:spcPts val="1980"/>
                </a:lnSpc>
              </a:pPr>
              <a:r>
                <a:rPr lang="en-US" sz="1650" b="1" spc="150">
                  <a:solidFill>
                    <a:srgbClr val="FFB703"/>
                  </a:solidFill>
                  <a:latin typeface="Calibri (MS) Bold"/>
                  <a:ea typeface="Calibri (MS) Bold"/>
                  <a:cs typeface="Calibri (MS) Bold"/>
                  <a:sym typeface="Calibri (MS) Bold"/>
                </a:rPr>
                <a:t>SOLAR SOILING &amp; DEGRADATION ENGINE</a:t>
              </a:r>
            </a:p>
          </p:txBody>
        </p:sp>
      </p:grpSp>
      <p:grpSp>
        <p:nvGrpSpPr>
          <p:cNvPr id="88" name="Group 88"/>
          <p:cNvGrpSpPr/>
          <p:nvPr/>
        </p:nvGrpSpPr>
        <p:grpSpPr>
          <a:xfrm>
            <a:off x="9806940" y="6652260"/>
            <a:ext cx="7269480" cy="1028700"/>
            <a:chOff x="0" y="0"/>
            <a:chExt cx="9692640" cy="1371600"/>
          </a:xfrm>
        </p:grpSpPr>
        <p:sp>
          <p:nvSpPr>
            <p:cNvPr id="89" name="Freeform 89"/>
            <p:cNvSpPr/>
            <p:nvPr/>
          </p:nvSpPr>
          <p:spPr>
            <a:xfrm>
              <a:off x="0" y="0"/>
              <a:ext cx="9692640" cy="1371600"/>
            </a:xfrm>
            <a:custGeom>
              <a:avLst/>
              <a:gdLst/>
              <a:ahLst/>
              <a:cxnLst/>
              <a:rect l="l" t="t" r="r" b="b"/>
              <a:pathLst>
                <a:path w="9692640" h="1371600">
                  <a:moveTo>
                    <a:pt x="0" y="0"/>
                  </a:moveTo>
                  <a:lnTo>
                    <a:pt x="9692640" y="0"/>
                  </a:lnTo>
                  <a:lnTo>
                    <a:pt x="9692640" y="1371600"/>
                  </a:lnTo>
                  <a:lnTo>
                    <a:pt x="0" y="1371600"/>
                  </a:lnTo>
                  <a:close/>
                </a:path>
              </a:pathLst>
            </a:custGeom>
            <a:blipFill>
              <a:blip r:embed="rId3">
                <a:alphaModFix amt="0"/>
              </a:blip>
              <a:stretch>
                <a:fillRect t="-87694" b="-87694"/>
              </a:stretch>
            </a:blipFill>
          </p:spPr>
          <p:txBody>
            <a:bodyPr/>
            <a:lstStyle/>
            <a:p>
              <a:endParaRPr lang="en-US"/>
            </a:p>
          </p:txBody>
        </p:sp>
        <p:sp>
          <p:nvSpPr>
            <p:cNvPr id="90" name="TextBox 90"/>
            <p:cNvSpPr txBox="1"/>
            <p:nvPr/>
          </p:nvSpPr>
          <p:spPr>
            <a:xfrm>
              <a:off x="0" y="-76200"/>
              <a:ext cx="9692640" cy="1447800"/>
            </a:xfrm>
            <a:prstGeom prst="rect">
              <a:avLst/>
            </a:prstGeom>
          </p:spPr>
          <p:txBody>
            <a:bodyPr lIns="0" tIns="0" rIns="0" bIns="0" rtlCol="0" anchor="ctr"/>
            <a:lstStyle/>
            <a:p>
              <a:pPr algn="l">
                <a:lnSpc>
                  <a:spcPts val="2250"/>
                </a:lnSpc>
              </a:pPr>
              <a:r>
                <a:rPr lang="en-US" sz="1500">
                  <a:solidFill>
                    <a:srgbClr val="5B6B72"/>
                  </a:solidFill>
                  <a:latin typeface="Calibri (MS)"/>
                  <a:ea typeface="Calibri (MS)"/>
                  <a:cs typeface="Calibri (MS)"/>
                  <a:sym typeface="Calibri (MS)"/>
                </a:rPr>
                <a:t>HistGradientBoostingRegressor predicts "perfect" DC_POWER from irradiation and temperatures; the gap to actual output becomes a diagnostic signal.</a:t>
              </a:r>
            </a:p>
          </p:txBody>
        </p:sp>
      </p:grpSp>
      <p:grpSp>
        <p:nvGrpSpPr>
          <p:cNvPr id="91" name="Group 91"/>
          <p:cNvGrpSpPr/>
          <p:nvPr/>
        </p:nvGrpSpPr>
        <p:grpSpPr>
          <a:xfrm>
            <a:off x="9806940" y="7749540"/>
            <a:ext cx="3703320" cy="1303020"/>
            <a:chOff x="0" y="0"/>
            <a:chExt cx="4937760" cy="1737360"/>
          </a:xfrm>
        </p:grpSpPr>
        <p:sp>
          <p:nvSpPr>
            <p:cNvPr id="92" name="Freeform 92"/>
            <p:cNvSpPr/>
            <p:nvPr/>
          </p:nvSpPr>
          <p:spPr>
            <a:xfrm>
              <a:off x="0" y="0"/>
              <a:ext cx="4937760" cy="1737360"/>
            </a:xfrm>
            <a:custGeom>
              <a:avLst/>
              <a:gdLst/>
              <a:ahLst/>
              <a:cxnLst/>
              <a:rect l="l" t="t" r="r" b="b"/>
              <a:pathLst>
                <a:path w="4937760" h="1737360">
                  <a:moveTo>
                    <a:pt x="0" y="146304"/>
                  </a:moveTo>
                  <a:cubicBezTo>
                    <a:pt x="0" y="65532"/>
                    <a:pt x="65532" y="0"/>
                    <a:pt x="146304" y="0"/>
                  </a:cubicBezTo>
                  <a:lnTo>
                    <a:pt x="4791456" y="0"/>
                  </a:lnTo>
                  <a:cubicBezTo>
                    <a:pt x="4872228" y="0"/>
                    <a:pt x="4937760" y="65532"/>
                    <a:pt x="4937760" y="146304"/>
                  </a:cubicBezTo>
                  <a:lnTo>
                    <a:pt x="4937760" y="1591056"/>
                  </a:lnTo>
                  <a:cubicBezTo>
                    <a:pt x="4937760" y="1671828"/>
                    <a:pt x="4872228" y="1737360"/>
                    <a:pt x="4791456" y="1737360"/>
                  </a:cubicBezTo>
                  <a:lnTo>
                    <a:pt x="146304" y="1737360"/>
                  </a:lnTo>
                  <a:cubicBezTo>
                    <a:pt x="65532" y="1737360"/>
                    <a:pt x="0" y="1671828"/>
                    <a:pt x="0" y="1591056"/>
                  </a:cubicBezTo>
                  <a:close/>
                </a:path>
              </a:pathLst>
            </a:custGeom>
            <a:solidFill>
              <a:srgbClr val="FFFFFF"/>
            </a:solidFill>
          </p:spPr>
          <p:txBody>
            <a:bodyPr/>
            <a:lstStyle/>
            <a:p>
              <a:endParaRPr lang="en-US"/>
            </a:p>
          </p:txBody>
        </p:sp>
      </p:grpSp>
      <p:grpSp>
        <p:nvGrpSpPr>
          <p:cNvPr id="93" name="Group 93"/>
          <p:cNvGrpSpPr/>
          <p:nvPr/>
        </p:nvGrpSpPr>
        <p:grpSpPr>
          <a:xfrm>
            <a:off x="9806940" y="7845552"/>
            <a:ext cx="3703320" cy="576072"/>
            <a:chOff x="0" y="0"/>
            <a:chExt cx="4937760" cy="768096"/>
          </a:xfrm>
        </p:grpSpPr>
        <p:sp>
          <p:nvSpPr>
            <p:cNvPr id="94" name="Freeform 94"/>
            <p:cNvSpPr/>
            <p:nvPr/>
          </p:nvSpPr>
          <p:spPr>
            <a:xfrm>
              <a:off x="0" y="0"/>
              <a:ext cx="4937760" cy="768096"/>
            </a:xfrm>
            <a:custGeom>
              <a:avLst/>
              <a:gdLst/>
              <a:ahLst/>
              <a:cxnLst/>
              <a:rect l="l" t="t" r="r" b="b"/>
              <a:pathLst>
                <a:path w="4937760" h="768096">
                  <a:moveTo>
                    <a:pt x="0" y="0"/>
                  </a:moveTo>
                  <a:lnTo>
                    <a:pt x="4937760" y="0"/>
                  </a:lnTo>
                  <a:lnTo>
                    <a:pt x="4937760" y="768096"/>
                  </a:lnTo>
                  <a:lnTo>
                    <a:pt x="0" y="768096"/>
                  </a:lnTo>
                  <a:close/>
                </a:path>
              </a:pathLst>
            </a:custGeom>
            <a:blipFill>
              <a:blip r:embed="rId3">
                <a:alphaModFix amt="0"/>
              </a:blip>
              <a:stretch>
                <a:fillRect t="-75260" b="-75260"/>
              </a:stretch>
            </a:blipFill>
          </p:spPr>
          <p:txBody>
            <a:bodyPr/>
            <a:lstStyle/>
            <a:p>
              <a:endParaRPr lang="en-US"/>
            </a:p>
          </p:txBody>
        </p:sp>
        <p:sp>
          <p:nvSpPr>
            <p:cNvPr id="95" name="TextBox 95"/>
            <p:cNvSpPr txBox="1"/>
            <p:nvPr/>
          </p:nvSpPr>
          <p:spPr>
            <a:xfrm>
              <a:off x="0" y="-9525"/>
              <a:ext cx="4937760" cy="777621"/>
            </a:xfrm>
            <a:prstGeom prst="rect">
              <a:avLst/>
            </a:prstGeom>
          </p:spPr>
          <p:txBody>
            <a:bodyPr lIns="0" tIns="0" rIns="0" bIns="0" rtlCol="0" anchor="ctr"/>
            <a:lstStyle/>
            <a:p>
              <a:pPr algn="ctr">
                <a:lnSpc>
                  <a:spcPts val="3960"/>
                </a:lnSpc>
              </a:pPr>
              <a:r>
                <a:rPr lang="en-US" sz="3300" b="1">
                  <a:solidFill>
                    <a:srgbClr val="FFB703"/>
                  </a:solidFill>
                  <a:latin typeface="Cambria Bold"/>
                  <a:ea typeface="Cambria Bold"/>
                  <a:cs typeface="Cambria Bold"/>
                  <a:sym typeface="Cambria Bold"/>
                </a:rPr>
                <a:t>15%</a:t>
              </a:r>
            </a:p>
          </p:txBody>
        </p:sp>
      </p:grpSp>
      <p:grpSp>
        <p:nvGrpSpPr>
          <p:cNvPr id="96" name="Group 96"/>
          <p:cNvGrpSpPr/>
          <p:nvPr/>
        </p:nvGrpSpPr>
        <p:grpSpPr>
          <a:xfrm>
            <a:off x="9806940" y="8435340"/>
            <a:ext cx="3703320" cy="480060"/>
            <a:chOff x="0" y="0"/>
            <a:chExt cx="4937760" cy="640080"/>
          </a:xfrm>
        </p:grpSpPr>
        <p:sp>
          <p:nvSpPr>
            <p:cNvPr id="97" name="Freeform 97"/>
            <p:cNvSpPr/>
            <p:nvPr/>
          </p:nvSpPr>
          <p:spPr>
            <a:xfrm>
              <a:off x="0" y="0"/>
              <a:ext cx="4937760" cy="640080"/>
            </a:xfrm>
            <a:custGeom>
              <a:avLst/>
              <a:gdLst/>
              <a:ahLst/>
              <a:cxnLst/>
              <a:rect l="l" t="t" r="r" b="b"/>
              <a:pathLst>
                <a:path w="4937760" h="640080">
                  <a:moveTo>
                    <a:pt x="0" y="0"/>
                  </a:moveTo>
                  <a:lnTo>
                    <a:pt x="4937760" y="0"/>
                  </a:lnTo>
                  <a:lnTo>
                    <a:pt x="4937760" y="640080"/>
                  </a:lnTo>
                  <a:lnTo>
                    <a:pt x="0" y="640080"/>
                  </a:lnTo>
                  <a:close/>
                </a:path>
              </a:pathLst>
            </a:custGeom>
            <a:blipFill>
              <a:blip r:embed="rId3">
                <a:alphaModFix amt="0"/>
              </a:blip>
              <a:stretch>
                <a:fillRect t="-100313" b="-100313"/>
              </a:stretch>
            </a:blipFill>
          </p:spPr>
          <p:txBody>
            <a:bodyPr/>
            <a:lstStyle/>
            <a:p>
              <a:endParaRPr lang="en-US"/>
            </a:p>
          </p:txBody>
        </p:sp>
        <p:sp>
          <p:nvSpPr>
            <p:cNvPr id="98" name="TextBox 98"/>
            <p:cNvSpPr txBox="1"/>
            <p:nvPr/>
          </p:nvSpPr>
          <p:spPr>
            <a:xfrm>
              <a:off x="0" y="-28575"/>
              <a:ext cx="4937760" cy="668655"/>
            </a:xfrm>
            <a:prstGeom prst="rect">
              <a:avLst/>
            </a:prstGeom>
          </p:spPr>
          <p:txBody>
            <a:bodyPr lIns="0" tIns="0" rIns="0" bIns="0" rtlCol="0" anchor="ctr"/>
            <a:lstStyle/>
            <a:p>
              <a:pPr algn="ctr">
                <a:lnSpc>
                  <a:spcPts val="1530"/>
                </a:lnSpc>
              </a:pPr>
              <a:r>
                <a:rPr lang="en-US" sz="1275">
                  <a:solidFill>
                    <a:srgbClr val="5B6B72"/>
                  </a:solidFill>
                  <a:latin typeface="Calibri (MS)"/>
                  <a:ea typeface="Calibri (MS)"/>
                  <a:cs typeface="Calibri (MS)"/>
                  <a:sym typeface="Calibri (MS)"/>
                </a:rPr>
                <a:t>efficiency-loss threshold</a:t>
              </a:r>
            </a:p>
          </p:txBody>
        </p:sp>
      </p:grpSp>
      <p:grpSp>
        <p:nvGrpSpPr>
          <p:cNvPr id="99" name="Group 99"/>
          <p:cNvGrpSpPr/>
          <p:nvPr/>
        </p:nvGrpSpPr>
        <p:grpSpPr>
          <a:xfrm>
            <a:off x="13716000" y="7749540"/>
            <a:ext cx="3703320" cy="1303020"/>
            <a:chOff x="0" y="0"/>
            <a:chExt cx="4937760" cy="1737360"/>
          </a:xfrm>
        </p:grpSpPr>
        <p:sp>
          <p:nvSpPr>
            <p:cNvPr id="100" name="Freeform 100"/>
            <p:cNvSpPr/>
            <p:nvPr/>
          </p:nvSpPr>
          <p:spPr>
            <a:xfrm>
              <a:off x="0" y="0"/>
              <a:ext cx="4937760" cy="1737360"/>
            </a:xfrm>
            <a:custGeom>
              <a:avLst/>
              <a:gdLst/>
              <a:ahLst/>
              <a:cxnLst/>
              <a:rect l="l" t="t" r="r" b="b"/>
              <a:pathLst>
                <a:path w="4937760" h="1737360">
                  <a:moveTo>
                    <a:pt x="0" y="146304"/>
                  </a:moveTo>
                  <a:cubicBezTo>
                    <a:pt x="0" y="65532"/>
                    <a:pt x="65532" y="0"/>
                    <a:pt x="146304" y="0"/>
                  </a:cubicBezTo>
                  <a:lnTo>
                    <a:pt x="4791456" y="0"/>
                  </a:lnTo>
                  <a:cubicBezTo>
                    <a:pt x="4872228" y="0"/>
                    <a:pt x="4937760" y="65532"/>
                    <a:pt x="4937760" y="146304"/>
                  </a:cubicBezTo>
                  <a:lnTo>
                    <a:pt x="4937760" y="1591056"/>
                  </a:lnTo>
                  <a:cubicBezTo>
                    <a:pt x="4937760" y="1671828"/>
                    <a:pt x="4872228" y="1737360"/>
                    <a:pt x="4791456" y="1737360"/>
                  </a:cubicBezTo>
                  <a:lnTo>
                    <a:pt x="146304" y="1737360"/>
                  </a:lnTo>
                  <a:cubicBezTo>
                    <a:pt x="65532" y="1737360"/>
                    <a:pt x="0" y="1671828"/>
                    <a:pt x="0" y="1591056"/>
                  </a:cubicBezTo>
                  <a:close/>
                </a:path>
              </a:pathLst>
            </a:custGeom>
            <a:solidFill>
              <a:srgbClr val="FFFFFF"/>
            </a:solidFill>
          </p:spPr>
          <p:txBody>
            <a:bodyPr/>
            <a:lstStyle/>
            <a:p>
              <a:endParaRPr lang="en-US"/>
            </a:p>
          </p:txBody>
        </p:sp>
      </p:grpSp>
      <p:grpSp>
        <p:nvGrpSpPr>
          <p:cNvPr id="101" name="Group 101"/>
          <p:cNvGrpSpPr/>
          <p:nvPr/>
        </p:nvGrpSpPr>
        <p:grpSpPr>
          <a:xfrm>
            <a:off x="13716000" y="7845552"/>
            <a:ext cx="3703320" cy="576072"/>
            <a:chOff x="0" y="0"/>
            <a:chExt cx="4937760" cy="768096"/>
          </a:xfrm>
        </p:grpSpPr>
        <p:sp>
          <p:nvSpPr>
            <p:cNvPr id="102" name="Freeform 102"/>
            <p:cNvSpPr/>
            <p:nvPr/>
          </p:nvSpPr>
          <p:spPr>
            <a:xfrm>
              <a:off x="0" y="0"/>
              <a:ext cx="4937760" cy="768096"/>
            </a:xfrm>
            <a:custGeom>
              <a:avLst/>
              <a:gdLst/>
              <a:ahLst/>
              <a:cxnLst/>
              <a:rect l="l" t="t" r="r" b="b"/>
              <a:pathLst>
                <a:path w="4937760" h="768096">
                  <a:moveTo>
                    <a:pt x="0" y="0"/>
                  </a:moveTo>
                  <a:lnTo>
                    <a:pt x="4937760" y="0"/>
                  </a:lnTo>
                  <a:lnTo>
                    <a:pt x="4937760" y="768096"/>
                  </a:lnTo>
                  <a:lnTo>
                    <a:pt x="0" y="768096"/>
                  </a:lnTo>
                  <a:close/>
                </a:path>
              </a:pathLst>
            </a:custGeom>
            <a:blipFill>
              <a:blip r:embed="rId3">
                <a:alphaModFix amt="0"/>
              </a:blip>
              <a:stretch>
                <a:fillRect t="-75260" b="-75260"/>
              </a:stretch>
            </a:blipFill>
          </p:spPr>
          <p:txBody>
            <a:bodyPr/>
            <a:lstStyle/>
            <a:p>
              <a:endParaRPr lang="en-US"/>
            </a:p>
          </p:txBody>
        </p:sp>
        <p:sp>
          <p:nvSpPr>
            <p:cNvPr id="103" name="TextBox 103"/>
            <p:cNvSpPr txBox="1"/>
            <p:nvPr/>
          </p:nvSpPr>
          <p:spPr>
            <a:xfrm>
              <a:off x="0" y="-9525"/>
              <a:ext cx="4937760" cy="777621"/>
            </a:xfrm>
            <a:prstGeom prst="rect">
              <a:avLst/>
            </a:prstGeom>
          </p:spPr>
          <p:txBody>
            <a:bodyPr lIns="0" tIns="0" rIns="0" bIns="0" rtlCol="0" anchor="ctr"/>
            <a:lstStyle/>
            <a:p>
              <a:pPr algn="ctr">
                <a:lnSpc>
                  <a:spcPts val="3960"/>
                </a:lnSpc>
              </a:pPr>
              <a:r>
                <a:rPr lang="en-US" sz="3300" b="1">
                  <a:solidFill>
                    <a:srgbClr val="FFB703"/>
                  </a:solidFill>
                  <a:latin typeface="Cambria Bold"/>
                  <a:ea typeface="Cambria Bold"/>
                  <a:cs typeface="Cambria Bold"/>
                  <a:sym typeface="Cambria Bold"/>
                </a:rPr>
                <a:t>72 hrs</a:t>
              </a:r>
            </a:p>
          </p:txBody>
        </p:sp>
      </p:grpSp>
      <p:grpSp>
        <p:nvGrpSpPr>
          <p:cNvPr id="104" name="Group 104"/>
          <p:cNvGrpSpPr/>
          <p:nvPr/>
        </p:nvGrpSpPr>
        <p:grpSpPr>
          <a:xfrm>
            <a:off x="13716000" y="8435340"/>
            <a:ext cx="3703320" cy="480060"/>
            <a:chOff x="0" y="0"/>
            <a:chExt cx="4937760" cy="640080"/>
          </a:xfrm>
        </p:grpSpPr>
        <p:sp>
          <p:nvSpPr>
            <p:cNvPr id="105" name="Freeform 105"/>
            <p:cNvSpPr/>
            <p:nvPr/>
          </p:nvSpPr>
          <p:spPr>
            <a:xfrm>
              <a:off x="0" y="0"/>
              <a:ext cx="4937760" cy="640080"/>
            </a:xfrm>
            <a:custGeom>
              <a:avLst/>
              <a:gdLst/>
              <a:ahLst/>
              <a:cxnLst/>
              <a:rect l="l" t="t" r="r" b="b"/>
              <a:pathLst>
                <a:path w="4937760" h="640080">
                  <a:moveTo>
                    <a:pt x="0" y="0"/>
                  </a:moveTo>
                  <a:lnTo>
                    <a:pt x="4937760" y="0"/>
                  </a:lnTo>
                  <a:lnTo>
                    <a:pt x="4937760" y="640080"/>
                  </a:lnTo>
                  <a:lnTo>
                    <a:pt x="0" y="640080"/>
                  </a:lnTo>
                  <a:close/>
                </a:path>
              </a:pathLst>
            </a:custGeom>
            <a:blipFill>
              <a:blip r:embed="rId3">
                <a:alphaModFix amt="0"/>
              </a:blip>
              <a:stretch>
                <a:fillRect t="-100313" b="-100313"/>
              </a:stretch>
            </a:blipFill>
          </p:spPr>
          <p:txBody>
            <a:bodyPr/>
            <a:lstStyle/>
            <a:p>
              <a:endParaRPr lang="en-US"/>
            </a:p>
          </p:txBody>
        </p:sp>
        <p:sp>
          <p:nvSpPr>
            <p:cNvPr id="106" name="TextBox 106"/>
            <p:cNvSpPr txBox="1"/>
            <p:nvPr/>
          </p:nvSpPr>
          <p:spPr>
            <a:xfrm>
              <a:off x="0" y="-28575"/>
              <a:ext cx="4937760" cy="668655"/>
            </a:xfrm>
            <a:prstGeom prst="rect">
              <a:avLst/>
            </a:prstGeom>
          </p:spPr>
          <p:txBody>
            <a:bodyPr lIns="0" tIns="0" rIns="0" bIns="0" rtlCol="0" anchor="ctr"/>
            <a:lstStyle/>
            <a:p>
              <a:pPr algn="ctr">
                <a:lnSpc>
                  <a:spcPts val="1530"/>
                </a:lnSpc>
              </a:pPr>
              <a:r>
                <a:rPr lang="en-US" sz="1275">
                  <a:solidFill>
                    <a:srgbClr val="5B6B72"/>
                  </a:solidFill>
                  <a:latin typeface="Calibri (MS)"/>
                  <a:ea typeface="Calibri (MS)"/>
                  <a:cs typeface="Calibri (MS)"/>
                  <a:sym typeface="Calibri (MS)"/>
                </a:rPr>
                <a:t>rolling window (288 × 15-min)</a:t>
              </a:r>
            </a:p>
          </p:txBody>
        </p:sp>
      </p:grpSp>
      <p:grpSp>
        <p:nvGrpSpPr>
          <p:cNvPr id="107" name="Group 107"/>
          <p:cNvGrpSpPr/>
          <p:nvPr/>
        </p:nvGrpSpPr>
        <p:grpSpPr>
          <a:xfrm>
            <a:off x="17282160" y="9710928"/>
            <a:ext cx="822960" cy="411480"/>
            <a:chOff x="0" y="0"/>
            <a:chExt cx="1097280" cy="548640"/>
          </a:xfrm>
        </p:grpSpPr>
        <p:sp>
          <p:nvSpPr>
            <p:cNvPr id="108" name="Freeform 108"/>
            <p:cNvSpPr/>
            <p:nvPr/>
          </p:nvSpPr>
          <p:spPr>
            <a:xfrm>
              <a:off x="0" y="0"/>
              <a:ext cx="1097280" cy="548640"/>
            </a:xfrm>
            <a:custGeom>
              <a:avLst/>
              <a:gdLst/>
              <a:ahLst/>
              <a:cxnLst/>
              <a:rect l="l" t="t" r="r" b="b"/>
              <a:pathLst>
                <a:path w="1097280" h="548640">
                  <a:moveTo>
                    <a:pt x="0" y="0"/>
                  </a:moveTo>
                  <a:lnTo>
                    <a:pt x="1097280" y="0"/>
                  </a:lnTo>
                  <a:lnTo>
                    <a:pt x="1097280" y="548640"/>
                  </a:lnTo>
                  <a:lnTo>
                    <a:pt x="0" y="548640"/>
                  </a:lnTo>
                  <a:close/>
                </a:path>
              </a:pathLst>
            </a:custGeom>
            <a:blipFill>
              <a:blip r:embed="rId3">
                <a:alphaModFix amt="0"/>
              </a:blip>
              <a:stretch>
                <a:fillRect l="-14151" r="-14151"/>
              </a:stretch>
            </a:blipFill>
          </p:spPr>
          <p:txBody>
            <a:bodyPr/>
            <a:lstStyle/>
            <a:p>
              <a:endParaRPr lang="en-US"/>
            </a:p>
          </p:txBody>
        </p:sp>
        <p:sp>
          <p:nvSpPr>
            <p:cNvPr id="109" name="TextBox 109"/>
            <p:cNvSpPr txBox="1"/>
            <p:nvPr/>
          </p:nvSpPr>
          <p:spPr>
            <a:xfrm>
              <a:off x="0" y="-38100"/>
              <a:ext cx="1097280" cy="586740"/>
            </a:xfrm>
            <a:prstGeom prst="rect">
              <a:avLst/>
            </a:prstGeom>
          </p:spPr>
          <p:txBody>
            <a:bodyPr lIns="0" tIns="0" rIns="0" bIns="0" rtlCol="0" anchor="ctr"/>
            <a:lstStyle/>
            <a:p>
              <a:pPr algn="r">
                <a:lnSpc>
                  <a:spcPts val="1800"/>
                </a:lnSpc>
              </a:pPr>
              <a:r>
                <a:rPr lang="en-US" sz="1500">
                  <a:solidFill>
                    <a:srgbClr val="5B6B72"/>
                  </a:solidFill>
                  <a:latin typeface="Calibri (MS)"/>
                  <a:ea typeface="Calibri (MS)"/>
                  <a:cs typeface="Calibri (MS)"/>
                  <a:sym typeface="Calibri (MS)"/>
                </a:rPr>
                <a:t>11</a:t>
              </a: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grpSp>
        <p:nvGrpSpPr>
          <p:cNvPr id="2" name="Group 2"/>
          <p:cNvGrpSpPr/>
          <p:nvPr/>
        </p:nvGrpSpPr>
        <p:grpSpPr>
          <a:xfrm>
            <a:off x="813435" y="-9525"/>
            <a:ext cx="19050" cy="10306050"/>
            <a:chOff x="0" y="0"/>
            <a:chExt cx="25400" cy="13741400"/>
          </a:xfrm>
        </p:grpSpPr>
        <p:sp>
          <p:nvSpPr>
            <p:cNvPr id="3" name="Freeform 3"/>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4" name="Group 4"/>
          <p:cNvGrpSpPr/>
          <p:nvPr/>
        </p:nvGrpSpPr>
        <p:grpSpPr>
          <a:xfrm>
            <a:off x="2253615" y="-9525"/>
            <a:ext cx="19050" cy="10306050"/>
            <a:chOff x="0" y="0"/>
            <a:chExt cx="25400" cy="13741400"/>
          </a:xfrm>
        </p:grpSpPr>
        <p:sp>
          <p:nvSpPr>
            <p:cNvPr id="5" name="Freeform 5"/>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6" name="Group 6"/>
          <p:cNvGrpSpPr/>
          <p:nvPr/>
        </p:nvGrpSpPr>
        <p:grpSpPr>
          <a:xfrm>
            <a:off x="3693795" y="-9525"/>
            <a:ext cx="19050" cy="10306050"/>
            <a:chOff x="0" y="0"/>
            <a:chExt cx="25400" cy="13741400"/>
          </a:xfrm>
        </p:grpSpPr>
        <p:sp>
          <p:nvSpPr>
            <p:cNvPr id="7" name="Freeform 7"/>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8" name="Group 8"/>
          <p:cNvGrpSpPr/>
          <p:nvPr/>
        </p:nvGrpSpPr>
        <p:grpSpPr>
          <a:xfrm>
            <a:off x="5133975" y="-9525"/>
            <a:ext cx="19050" cy="10306050"/>
            <a:chOff x="0" y="0"/>
            <a:chExt cx="25400" cy="13741400"/>
          </a:xfrm>
        </p:grpSpPr>
        <p:sp>
          <p:nvSpPr>
            <p:cNvPr id="9" name="Freeform 9"/>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10" name="Group 10"/>
          <p:cNvGrpSpPr/>
          <p:nvPr/>
        </p:nvGrpSpPr>
        <p:grpSpPr>
          <a:xfrm>
            <a:off x="6574155" y="-9525"/>
            <a:ext cx="19050" cy="10306050"/>
            <a:chOff x="0" y="0"/>
            <a:chExt cx="25400" cy="13741400"/>
          </a:xfrm>
        </p:grpSpPr>
        <p:sp>
          <p:nvSpPr>
            <p:cNvPr id="11" name="Freeform 11"/>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12" name="Group 12"/>
          <p:cNvGrpSpPr/>
          <p:nvPr/>
        </p:nvGrpSpPr>
        <p:grpSpPr>
          <a:xfrm>
            <a:off x="8014335" y="-9525"/>
            <a:ext cx="19050" cy="10306050"/>
            <a:chOff x="0" y="0"/>
            <a:chExt cx="25400" cy="13741400"/>
          </a:xfrm>
        </p:grpSpPr>
        <p:sp>
          <p:nvSpPr>
            <p:cNvPr id="13" name="Freeform 13"/>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14" name="Group 14"/>
          <p:cNvGrpSpPr/>
          <p:nvPr/>
        </p:nvGrpSpPr>
        <p:grpSpPr>
          <a:xfrm>
            <a:off x="9454515" y="-9525"/>
            <a:ext cx="19050" cy="10306050"/>
            <a:chOff x="0" y="0"/>
            <a:chExt cx="25400" cy="13741400"/>
          </a:xfrm>
        </p:grpSpPr>
        <p:sp>
          <p:nvSpPr>
            <p:cNvPr id="15" name="Freeform 15"/>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16" name="Group 16"/>
          <p:cNvGrpSpPr/>
          <p:nvPr/>
        </p:nvGrpSpPr>
        <p:grpSpPr>
          <a:xfrm>
            <a:off x="10894695" y="-9525"/>
            <a:ext cx="19050" cy="10306050"/>
            <a:chOff x="0" y="0"/>
            <a:chExt cx="25400" cy="13741400"/>
          </a:xfrm>
        </p:grpSpPr>
        <p:sp>
          <p:nvSpPr>
            <p:cNvPr id="17" name="Freeform 17"/>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18" name="Group 18"/>
          <p:cNvGrpSpPr/>
          <p:nvPr/>
        </p:nvGrpSpPr>
        <p:grpSpPr>
          <a:xfrm>
            <a:off x="12334875" y="-9525"/>
            <a:ext cx="19050" cy="10306050"/>
            <a:chOff x="0" y="0"/>
            <a:chExt cx="25400" cy="13741400"/>
          </a:xfrm>
        </p:grpSpPr>
        <p:sp>
          <p:nvSpPr>
            <p:cNvPr id="19" name="Freeform 19"/>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20" name="Group 20"/>
          <p:cNvGrpSpPr/>
          <p:nvPr/>
        </p:nvGrpSpPr>
        <p:grpSpPr>
          <a:xfrm>
            <a:off x="13775055" y="-9525"/>
            <a:ext cx="19050" cy="10306050"/>
            <a:chOff x="0" y="0"/>
            <a:chExt cx="25400" cy="13741400"/>
          </a:xfrm>
        </p:grpSpPr>
        <p:sp>
          <p:nvSpPr>
            <p:cNvPr id="21" name="Freeform 21"/>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22" name="Group 22"/>
          <p:cNvGrpSpPr/>
          <p:nvPr/>
        </p:nvGrpSpPr>
        <p:grpSpPr>
          <a:xfrm>
            <a:off x="15215235" y="-9525"/>
            <a:ext cx="19050" cy="10306050"/>
            <a:chOff x="0" y="0"/>
            <a:chExt cx="25400" cy="13741400"/>
          </a:xfrm>
        </p:grpSpPr>
        <p:sp>
          <p:nvSpPr>
            <p:cNvPr id="23" name="Freeform 23"/>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24" name="Group 24"/>
          <p:cNvGrpSpPr/>
          <p:nvPr/>
        </p:nvGrpSpPr>
        <p:grpSpPr>
          <a:xfrm>
            <a:off x="16655415" y="-9525"/>
            <a:ext cx="19050" cy="10306050"/>
            <a:chOff x="0" y="0"/>
            <a:chExt cx="25400" cy="13741400"/>
          </a:xfrm>
        </p:grpSpPr>
        <p:sp>
          <p:nvSpPr>
            <p:cNvPr id="25" name="Freeform 25"/>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26" name="Group 26"/>
          <p:cNvGrpSpPr/>
          <p:nvPr/>
        </p:nvGrpSpPr>
        <p:grpSpPr>
          <a:xfrm>
            <a:off x="960120" y="2057400"/>
            <a:ext cx="6172200" cy="3017520"/>
            <a:chOff x="0" y="0"/>
            <a:chExt cx="8229600" cy="4023360"/>
          </a:xfrm>
        </p:grpSpPr>
        <p:sp>
          <p:nvSpPr>
            <p:cNvPr id="27" name="Freeform 27"/>
            <p:cNvSpPr/>
            <p:nvPr/>
          </p:nvSpPr>
          <p:spPr>
            <a:xfrm>
              <a:off x="0" y="0"/>
              <a:ext cx="8229600" cy="4023360"/>
            </a:xfrm>
            <a:custGeom>
              <a:avLst/>
              <a:gdLst/>
              <a:ahLst/>
              <a:cxnLst/>
              <a:rect l="l" t="t" r="r" b="b"/>
              <a:pathLst>
                <a:path w="8229600" h="4023360">
                  <a:moveTo>
                    <a:pt x="0" y="0"/>
                  </a:moveTo>
                  <a:lnTo>
                    <a:pt x="8229600" y="0"/>
                  </a:lnTo>
                  <a:lnTo>
                    <a:pt x="8229600" y="4023360"/>
                  </a:lnTo>
                  <a:lnTo>
                    <a:pt x="0" y="4023360"/>
                  </a:lnTo>
                  <a:close/>
                </a:path>
              </a:pathLst>
            </a:custGeom>
            <a:blipFill>
              <a:blip r:embed="rId3">
                <a:alphaModFix amt="0"/>
              </a:blip>
              <a:stretch>
                <a:fillRect l="-12726" r="-12726"/>
              </a:stretch>
            </a:blipFill>
          </p:spPr>
          <p:txBody>
            <a:bodyPr/>
            <a:lstStyle/>
            <a:p>
              <a:endParaRPr lang="en-US"/>
            </a:p>
          </p:txBody>
        </p:sp>
        <p:sp>
          <p:nvSpPr>
            <p:cNvPr id="28" name="TextBox 28"/>
            <p:cNvSpPr txBox="1"/>
            <p:nvPr/>
          </p:nvSpPr>
          <p:spPr>
            <a:xfrm>
              <a:off x="0" y="-9525"/>
              <a:ext cx="8229600" cy="4032885"/>
            </a:xfrm>
            <a:prstGeom prst="rect">
              <a:avLst/>
            </a:prstGeom>
          </p:spPr>
          <p:txBody>
            <a:bodyPr lIns="0" tIns="0" rIns="0" bIns="0" rtlCol="0" anchor="ctr"/>
            <a:lstStyle/>
            <a:p>
              <a:pPr algn="l">
                <a:lnSpc>
                  <a:spcPts val="23400"/>
                </a:lnSpc>
              </a:pPr>
              <a:r>
                <a:rPr lang="en-US" sz="19500" b="1">
                  <a:solidFill>
                    <a:srgbClr val="74C69D"/>
                  </a:solidFill>
                  <a:latin typeface="Cambria Bold"/>
                  <a:ea typeface="Cambria Bold"/>
                  <a:cs typeface="Cambria Bold"/>
                  <a:sym typeface="Cambria Bold"/>
                </a:rPr>
                <a:t>04</a:t>
              </a:r>
            </a:p>
          </p:txBody>
        </p:sp>
      </p:grpSp>
      <p:grpSp>
        <p:nvGrpSpPr>
          <p:cNvPr id="29" name="Group 29"/>
          <p:cNvGrpSpPr/>
          <p:nvPr/>
        </p:nvGrpSpPr>
        <p:grpSpPr>
          <a:xfrm>
            <a:off x="1234440" y="4869180"/>
            <a:ext cx="12344400" cy="548640"/>
            <a:chOff x="0" y="0"/>
            <a:chExt cx="16459200" cy="731520"/>
          </a:xfrm>
        </p:grpSpPr>
        <p:sp>
          <p:nvSpPr>
            <p:cNvPr id="30" name="Freeform 30"/>
            <p:cNvSpPr/>
            <p:nvPr/>
          </p:nvSpPr>
          <p:spPr>
            <a:xfrm>
              <a:off x="0" y="0"/>
              <a:ext cx="16459200" cy="731520"/>
            </a:xfrm>
            <a:custGeom>
              <a:avLst/>
              <a:gdLst/>
              <a:ahLst/>
              <a:cxnLst/>
              <a:rect l="l" t="t" r="r" b="b"/>
              <a:pathLst>
                <a:path w="16459200" h="731520">
                  <a:moveTo>
                    <a:pt x="0" y="0"/>
                  </a:moveTo>
                  <a:lnTo>
                    <a:pt x="16459200" y="0"/>
                  </a:lnTo>
                  <a:lnTo>
                    <a:pt x="16459200" y="731520"/>
                  </a:lnTo>
                  <a:lnTo>
                    <a:pt x="0" y="731520"/>
                  </a:lnTo>
                  <a:close/>
                </a:path>
              </a:pathLst>
            </a:custGeom>
            <a:blipFill>
              <a:blip r:embed="rId3">
                <a:alphaModFix amt="0"/>
              </a:blip>
              <a:stretch>
                <a:fillRect t="-388413" b="-388413"/>
              </a:stretch>
            </a:blipFill>
          </p:spPr>
          <p:txBody>
            <a:bodyPr/>
            <a:lstStyle/>
            <a:p>
              <a:endParaRPr lang="en-US"/>
            </a:p>
          </p:txBody>
        </p:sp>
        <p:sp>
          <p:nvSpPr>
            <p:cNvPr id="31" name="TextBox 31"/>
            <p:cNvSpPr txBox="1"/>
            <p:nvPr/>
          </p:nvSpPr>
          <p:spPr>
            <a:xfrm>
              <a:off x="0" y="-47625"/>
              <a:ext cx="16459200" cy="779145"/>
            </a:xfrm>
            <a:prstGeom prst="rect">
              <a:avLst/>
            </a:prstGeom>
          </p:spPr>
          <p:txBody>
            <a:bodyPr lIns="0" tIns="0" rIns="0" bIns="0" rtlCol="0" anchor="ctr"/>
            <a:lstStyle/>
            <a:p>
              <a:pPr algn="l">
                <a:lnSpc>
                  <a:spcPts val="2340"/>
                </a:lnSpc>
              </a:pPr>
              <a:r>
                <a:rPr lang="en-US" sz="1950" b="1" spc="300">
                  <a:solidFill>
                    <a:srgbClr val="74C69D"/>
                  </a:solidFill>
                  <a:latin typeface="Calibri (MS) Bold"/>
                  <a:ea typeface="Calibri (MS) Bold"/>
                  <a:cs typeface="Calibri (MS) Bold"/>
                  <a:sym typeface="Calibri (MS) Bold"/>
                </a:rPr>
                <a:t>PART FOUR</a:t>
              </a:r>
            </a:p>
          </p:txBody>
        </p:sp>
      </p:grpSp>
      <p:grpSp>
        <p:nvGrpSpPr>
          <p:cNvPr id="32" name="Group 32"/>
          <p:cNvGrpSpPr/>
          <p:nvPr/>
        </p:nvGrpSpPr>
        <p:grpSpPr>
          <a:xfrm>
            <a:off x="1165860" y="5417820"/>
            <a:ext cx="14813280" cy="1783080"/>
            <a:chOff x="0" y="0"/>
            <a:chExt cx="19751040" cy="2377440"/>
          </a:xfrm>
        </p:grpSpPr>
        <p:sp>
          <p:nvSpPr>
            <p:cNvPr id="33" name="Freeform 33"/>
            <p:cNvSpPr/>
            <p:nvPr/>
          </p:nvSpPr>
          <p:spPr>
            <a:xfrm>
              <a:off x="0" y="0"/>
              <a:ext cx="19751039" cy="2377440"/>
            </a:xfrm>
            <a:custGeom>
              <a:avLst/>
              <a:gdLst/>
              <a:ahLst/>
              <a:cxnLst/>
              <a:rect l="l" t="t" r="r" b="b"/>
              <a:pathLst>
                <a:path w="19751039" h="2377440">
                  <a:moveTo>
                    <a:pt x="0" y="0"/>
                  </a:moveTo>
                  <a:lnTo>
                    <a:pt x="19751039" y="0"/>
                  </a:lnTo>
                  <a:lnTo>
                    <a:pt x="19751039" y="2377440"/>
                  </a:lnTo>
                  <a:lnTo>
                    <a:pt x="0" y="2377440"/>
                  </a:lnTo>
                  <a:close/>
                </a:path>
              </a:pathLst>
            </a:custGeom>
            <a:blipFill>
              <a:blip r:embed="rId3">
                <a:alphaModFix amt="0"/>
              </a:blip>
              <a:stretch>
                <a:fillRect t="-111875" b="-111875"/>
              </a:stretch>
            </a:blipFill>
          </p:spPr>
          <p:txBody>
            <a:bodyPr/>
            <a:lstStyle/>
            <a:p>
              <a:endParaRPr lang="en-US"/>
            </a:p>
          </p:txBody>
        </p:sp>
        <p:sp>
          <p:nvSpPr>
            <p:cNvPr id="34" name="TextBox 34"/>
            <p:cNvSpPr txBox="1"/>
            <p:nvPr/>
          </p:nvSpPr>
          <p:spPr>
            <a:xfrm>
              <a:off x="0" y="-19050"/>
              <a:ext cx="19751040" cy="2396490"/>
            </a:xfrm>
            <a:prstGeom prst="rect">
              <a:avLst/>
            </a:prstGeom>
          </p:spPr>
          <p:txBody>
            <a:bodyPr lIns="0" tIns="0" rIns="0" bIns="0" rtlCol="0" anchor="ctr"/>
            <a:lstStyle/>
            <a:p>
              <a:pPr algn="l">
                <a:lnSpc>
                  <a:spcPts val="7559"/>
                </a:lnSpc>
              </a:pPr>
              <a:r>
                <a:rPr lang="en-US" sz="6300" b="1">
                  <a:solidFill>
                    <a:srgbClr val="FFFFFF"/>
                  </a:solidFill>
                  <a:latin typeface="Cambria Bold"/>
                  <a:ea typeface="Cambria Bold"/>
                  <a:cs typeface="Cambria Bold"/>
                  <a:sym typeface="Cambria Bold"/>
                </a:rPr>
                <a:t>API, Dashboard &amp; RAG</a:t>
              </a:r>
            </a:p>
          </p:txBody>
        </p:sp>
      </p:grpSp>
      <p:grpSp>
        <p:nvGrpSpPr>
          <p:cNvPr id="35" name="Group 35"/>
          <p:cNvGrpSpPr/>
          <p:nvPr/>
        </p:nvGrpSpPr>
        <p:grpSpPr>
          <a:xfrm>
            <a:off x="1205865" y="7172325"/>
            <a:ext cx="3623310" cy="57150"/>
            <a:chOff x="0" y="0"/>
            <a:chExt cx="4831080" cy="76200"/>
          </a:xfrm>
        </p:grpSpPr>
        <p:sp>
          <p:nvSpPr>
            <p:cNvPr id="36" name="Freeform 36"/>
            <p:cNvSpPr/>
            <p:nvPr/>
          </p:nvSpPr>
          <p:spPr>
            <a:xfrm>
              <a:off x="0" y="0"/>
              <a:ext cx="4831080" cy="76200"/>
            </a:xfrm>
            <a:custGeom>
              <a:avLst/>
              <a:gdLst/>
              <a:ahLst/>
              <a:cxnLst/>
              <a:rect l="l" t="t" r="r" b="b"/>
              <a:pathLst>
                <a:path w="4831080" h="76200">
                  <a:moveTo>
                    <a:pt x="0" y="0"/>
                  </a:moveTo>
                  <a:lnTo>
                    <a:pt x="4831080" y="76200"/>
                  </a:lnTo>
                </a:path>
              </a:pathLst>
            </a:custGeom>
            <a:blipFill>
              <a:blip r:embed="rId3">
                <a:alphaModFix amt="0"/>
              </a:blip>
              <a:stretch>
                <a:fillRect t="-1185351" b="-1185351"/>
              </a:stretch>
            </a:blipFill>
            <a:ln w="57150" cap="sq">
              <a:solidFill>
                <a:srgbClr val="40916C"/>
              </a:solidFill>
              <a:prstDash val="solid"/>
              <a:miter/>
            </a:ln>
          </p:spPr>
          <p:txBody>
            <a:bodyPr/>
            <a:lstStyle/>
            <a:p>
              <a:endParaRPr lang="en-US"/>
            </a:p>
          </p:txBody>
        </p:sp>
      </p:grpSp>
      <p:grpSp>
        <p:nvGrpSpPr>
          <p:cNvPr id="37" name="Group 37"/>
          <p:cNvGrpSpPr/>
          <p:nvPr/>
        </p:nvGrpSpPr>
        <p:grpSpPr>
          <a:xfrm>
            <a:off x="1234440" y="7475220"/>
            <a:ext cx="13030200" cy="822960"/>
            <a:chOff x="0" y="0"/>
            <a:chExt cx="17373600" cy="1097280"/>
          </a:xfrm>
        </p:grpSpPr>
        <p:sp>
          <p:nvSpPr>
            <p:cNvPr id="38" name="Freeform 38"/>
            <p:cNvSpPr/>
            <p:nvPr/>
          </p:nvSpPr>
          <p:spPr>
            <a:xfrm>
              <a:off x="0" y="0"/>
              <a:ext cx="17373600" cy="1097280"/>
            </a:xfrm>
            <a:custGeom>
              <a:avLst/>
              <a:gdLst/>
              <a:ahLst/>
              <a:cxnLst/>
              <a:rect l="l" t="t" r="r" b="b"/>
              <a:pathLst>
                <a:path w="17373600" h="1097280">
                  <a:moveTo>
                    <a:pt x="0" y="0"/>
                  </a:moveTo>
                  <a:lnTo>
                    <a:pt x="17373600" y="0"/>
                  </a:lnTo>
                  <a:lnTo>
                    <a:pt x="17373600" y="1097280"/>
                  </a:lnTo>
                  <a:lnTo>
                    <a:pt x="0" y="1097280"/>
                  </a:lnTo>
                  <a:close/>
                </a:path>
              </a:pathLst>
            </a:custGeom>
            <a:blipFill>
              <a:blip r:embed="rId3">
                <a:alphaModFix amt="0"/>
              </a:blip>
              <a:stretch>
                <a:fillRect t="-258513" b="-258513"/>
              </a:stretch>
            </a:blipFill>
          </p:spPr>
          <p:txBody>
            <a:bodyPr/>
            <a:lstStyle/>
            <a:p>
              <a:endParaRPr lang="en-US"/>
            </a:p>
          </p:txBody>
        </p:sp>
        <p:sp>
          <p:nvSpPr>
            <p:cNvPr id="39" name="TextBox 39"/>
            <p:cNvSpPr txBox="1"/>
            <p:nvPr/>
          </p:nvSpPr>
          <p:spPr>
            <a:xfrm>
              <a:off x="0" y="-47625"/>
              <a:ext cx="17373600" cy="1144905"/>
            </a:xfrm>
            <a:prstGeom prst="rect">
              <a:avLst/>
            </a:prstGeom>
          </p:spPr>
          <p:txBody>
            <a:bodyPr lIns="0" tIns="0" rIns="0" bIns="0" rtlCol="0" anchor="ctr"/>
            <a:lstStyle/>
            <a:p>
              <a:pPr algn="l">
                <a:lnSpc>
                  <a:spcPts val="2520"/>
                </a:lnSpc>
              </a:pPr>
              <a:r>
                <a:rPr lang="en-US" sz="2100">
                  <a:solidFill>
                    <a:srgbClr val="C9D6CE"/>
                  </a:solidFill>
                  <a:latin typeface="Calibri (MS)"/>
                  <a:ea typeface="Calibri (MS)"/>
                  <a:cs typeface="Calibri (MS)"/>
                  <a:sym typeface="Calibri (MS)"/>
                </a:rPr>
                <a:t>Turning model outputs into live visuals and Gemini-authored repair instructions.</a:t>
              </a: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8F6"/>
        </a:solidFill>
        <a:effectLst/>
      </p:bgPr>
    </p:bg>
    <p:spTree>
      <p:nvGrpSpPr>
        <p:cNvPr id="1" name=""/>
        <p:cNvGrpSpPr/>
        <p:nvPr/>
      </p:nvGrpSpPr>
      <p:grpSpPr>
        <a:xfrm>
          <a:off x="0" y="0"/>
          <a:ext cx="0" cy="0"/>
          <a:chOff x="0" y="0"/>
          <a:chExt cx="0" cy="0"/>
        </a:xfrm>
      </p:grpSpPr>
      <p:grpSp>
        <p:nvGrpSpPr>
          <p:cNvPr id="2" name="Group 2"/>
          <p:cNvGrpSpPr/>
          <p:nvPr/>
        </p:nvGrpSpPr>
        <p:grpSpPr>
          <a:xfrm>
            <a:off x="822960" y="576072"/>
            <a:ext cx="10972800" cy="480060"/>
            <a:chOff x="0" y="0"/>
            <a:chExt cx="14630400" cy="640080"/>
          </a:xfrm>
        </p:grpSpPr>
        <p:sp>
          <p:nvSpPr>
            <p:cNvPr id="3" name="Freeform 3"/>
            <p:cNvSpPr/>
            <p:nvPr/>
          </p:nvSpPr>
          <p:spPr>
            <a:xfrm>
              <a:off x="0" y="0"/>
              <a:ext cx="14630400" cy="640080"/>
            </a:xfrm>
            <a:custGeom>
              <a:avLst/>
              <a:gdLst/>
              <a:ahLst/>
              <a:cxnLst/>
              <a:rect l="l" t="t" r="r" b="b"/>
              <a:pathLst>
                <a:path w="14630400" h="640080">
                  <a:moveTo>
                    <a:pt x="0" y="0"/>
                  </a:moveTo>
                  <a:lnTo>
                    <a:pt x="14630400" y="0"/>
                  </a:lnTo>
                  <a:lnTo>
                    <a:pt x="14630400" y="640080"/>
                  </a:lnTo>
                  <a:lnTo>
                    <a:pt x="0" y="640080"/>
                  </a:lnTo>
                  <a:close/>
                </a:path>
              </a:pathLst>
            </a:custGeom>
            <a:blipFill>
              <a:blip r:embed="rId3">
                <a:alphaModFix amt="0"/>
              </a:blip>
              <a:stretch>
                <a:fillRect t="-395372" b="-395372"/>
              </a:stretch>
            </a:blipFill>
          </p:spPr>
          <p:txBody>
            <a:bodyPr/>
            <a:lstStyle/>
            <a:p>
              <a:endParaRPr lang="en-US"/>
            </a:p>
          </p:txBody>
        </p:sp>
        <p:sp>
          <p:nvSpPr>
            <p:cNvPr id="4" name="TextBox 4"/>
            <p:cNvSpPr txBox="1"/>
            <p:nvPr/>
          </p:nvSpPr>
          <p:spPr>
            <a:xfrm>
              <a:off x="0" y="-38100"/>
              <a:ext cx="14630400" cy="678180"/>
            </a:xfrm>
            <a:prstGeom prst="rect">
              <a:avLst/>
            </a:prstGeom>
          </p:spPr>
          <p:txBody>
            <a:bodyPr lIns="0" tIns="0" rIns="0" bIns="0" rtlCol="0" anchor="ctr"/>
            <a:lstStyle/>
            <a:p>
              <a:pPr algn="l">
                <a:lnSpc>
                  <a:spcPts val="2160"/>
                </a:lnSpc>
              </a:pPr>
              <a:r>
                <a:rPr lang="en-US" sz="1800" b="1" spc="299">
                  <a:solidFill>
                    <a:srgbClr val="40916C"/>
                  </a:solidFill>
                  <a:latin typeface="Calibri (MS) Bold"/>
                  <a:ea typeface="Calibri (MS) Bold"/>
                  <a:cs typeface="Calibri (MS) Bold"/>
                  <a:sym typeface="Calibri (MS) Bold"/>
                </a:rPr>
                <a:t>PART 04 · API &amp; DASHBOARD</a:t>
              </a:r>
            </a:p>
          </p:txBody>
        </p:sp>
      </p:grpSp>
      <p:grpSp>
        <p:nvGrpSpPr>
          <p:cNvPr id="5" name="Group 5"/>
          <p:cNvGrpSpPr/>
          <p:nvPr/>
        </p:nvGrpSpPr>
        <p:grpSpPr>
          <a:xfrm>
            <a:off x="822960" y="987552"/>
            <a:ext cx="15773400" cy="1234440"/>
            <a:chOff x="0" y="0"/>
            <a:chExt cx="21031200" cy="1645920"/>
          </a:xfrm>
        </p:grpSpPr>
        <p:sp>
          <p:nvSpPr>
            <p:cNvPr id="6" name="Freeform 6"/>
            <p:cNvSpPr/>
            <p:nvPr/>
          </p:nvSpPr>
          <p:spPr>
            <a:xfrm>
              <a:off x="0" y="0"/>
              <a:ext cx="21031200" cy="1645920"/>
            </a:xfrm>
            <a:custGeom>
              <a:avLst/>
              <a:gdLst/>
              <a:ahLst/>
              <a:cxnLst/>
              <a:rect l="l" t="t" r="r" b="b"/>
              <a:pathLst>
                <a:path w="21031200" h="1645920">
                  <a:moveTo>
                    <a:pt x="0" y="0"/>
                  </a:moveTo>
                  <a:lnTo>
                    <a:pt x="21031200" y="0"/>
                  </a:lnTo>
                  <a:lnTo>
                    <a:pt x="21031200" y="1645920"/>
                  </a:lnTo>
                  <a:lnTo>
                    <a:pt x="0" y="1645920"/>
                  </a:lnTo>
                  <a:close/>
                </a:path>
              </a:pathLst>
            </a:custGeom>
            <a:blipFill>
              <a:blip r:embed="rId3">
                <a:alphaModFix amt="0"/>
              </a:blip>
              <a:stretch>
                <a:fillRect t="-198975" b="-198975"/>
              </a:stretch>
            </a:blipFill>
          </p:spPr>
          <p:txBody>
            <a:bodyPr/>
            <a:lstStyle/>
            <a:p>
              <a:endParaRPr lang="en-US"/>
            </a:p>
          </p:txBody>
        </p:sp>
        <p:sp>
          <p:nvSpPr>
            <p:cNvPr id="7" name="TextBox 7"/>
            <p:cNvSpPr txBox="1"/>
            <p:nvPr/>
          </p:nvSpPr>
          <p:spPr>
            <a:xfrm>
              <a:off x="0" y="-9525"/>
              <a:ext cx="21031200" cy="1655445"/>
            </a:xfrm>
            <a:prstGeom prst="rect">
              <a:avLst/>
            </a:prstGeom>
          </p:spPr>
          <p:txBody>
            <a:bodyPr lIns="0" tIns="0" rIns="0" bIns="0" rtlCol="0" anchor="ctr"/>
            <a:lstStyle/>
            <a:p>
              <a:pPr algn="l">
                <a:lnSpc>
                  <a:spcPts val="5759"/>
                </a:lnSpc>
              </a:pPr>
              <a:r>
                <a:rPr lang="en-US" sz="4800" b="1">
                  <a:solidFill>
                    <a:srgbClr val="0D1B2A"/>
                  </a:solidFill>
                  <a:latin typeface="Cambria Bold"/>
                  <a:ea typeface="Cambria Bold"/>
                  <a:cs typeface="Cambria Bold"/>
                  <a:sym typeface="Cambria Bold"/>
                </a:rPr>
                <a:t>main.py — FastAPI Orchestrator</a:t>
              </a:r>
            </a:p>
          </p:txBody>
        </p:sp>
      </p:grpSp>
      <p:grpSp>
        <p:nvGrpSpPr>
          <p:cNvPr id="8" name="Group 8"/>
          <p:cNvGrpSpPr/>
          <p:nvPr/>
        </p:nvGrpSpPr>
        <p:grpSpPr>
          <a:xfrm>
            <a:off x="822960" y="2125980"/>
            <a:ext cx="15773400" cy="548640"/>
            <a:chOff x="0" y="0"/>
            <a:chExt cx="21031200" cy="731520"/>
          </a:xfrm>
        </p:grpSpPr>
        <p:sp>
          <p:nvSpPr>
            <p:cNvPr id="9" name="Freeform 9"/>
            <p:cNvSpPr/>
            <p:nvPr/>
          </p:nvSpPr>
          <p:spPr>
            <a:xfrm>
              <a:off x="0" y="0"/>
              <a:ext cx="21031200" cy="731520"/>
            </a:xfrm>
            <a:custGeom>
              <a:avLst/>
              <a:gdLst/>
              <a:ahLst/>
              <a:cxnLst/>
              <a:rect l="l" t="t" r="r" b="b"/>
              <a:pathLst>
                <a:path w="21031200" h="731520">
                  <a:moveTo>
                    <a:pt x="0" y="0"/>
                  </a:moveTo>
                  <a:lnTo>
                    <a:pt x="21031200" y="0"/>
                  </a:lnTo>
                  <a:lnTo>
                    <a:pt x="21031200" y="731520"/>
                  </a:lnTo>
                  <a:lnTo>
                    <a:pt x="0" y="731520"/>
                  </a:lnTo>
                  <a:close/>
                </a:path>
              </a:pathLst>
            </a:custGeom>
            <a:blipFill>
              <a:blip r:embed="rId3">
                <a:alphaModFix amt="0"/>
              </a:blip>
              <a:stretch>
                <a:fillRect t="-510194" b="-510194"/>
              </a:stretch>
            </a:blipFill>
          </p:spPr>
          <p:txBody>
            <a:bodyPr/>
            <a:lstStyle/>
            <a:p>
              <a:endParaRPr lang="en-US"/>
            </a:p>
          </p:txBody>
        </p:sp>
        <p:sp>
          <p:nvSpPr>
            <p:cNvPr id="10" name="TextBox 10"/>
            <p:cNvSpPr txBox="1"/>
            <p:nvPr/>
          </p:nvSpPr>
          <p:spPr>
            <a:xfrm>
              <a:off x="0" y="-38100"/>
              <a:ext cx="21031200" cy="769620"/>
            </a:xfrm>
            <a:prstGeom prst="rect">
              <a:avLst/>
            </a:prstGeom>
          </p:spPr>
          <p:txBody>
            <a:bodyPr lIns="0" tIns="0" rIns="0" bIns="0" rtlCol="0" anchor="ctr"/>
            <a:lstStyle/>
            <a:p>
              <a:pPr algn="l">
                <a:lnSpc>
                  <a:spcPts val="2250"/>
                </a:lnSpc>
              </a:pPr>
              <a:r>
                <a:rPr lang="en-US" sz="1875">
                  <a:solidFill>
                    <a:srgbClr val="5B6B72"/>
                  </a:solidFill>
                  <a:latin typeface="Calibri (MS)"/>
                  <a:ea typeface="Calibri (MS)"/>
                  <a:cs typeface="Calibri (MS)"/>
                  <a:sym typeface="Calibri (MS)"/>
                </a:rPr>
                <a:t>The API gateway wiring together the database, ML inference, FAISS vector store, and the Gemini LLM.</a:t>
              </a:r>
            </a:p>
          </p:txBody>
        </p:sp>
      </p:grpSp>
      <p:grpSp>
        <p:nvGrpSpPr>
          <p:cNvPr id="11" name="Group 11"/>
          <p:cNvGrpSpPr/>
          <p:nvPr/>
        </p:nvGrpSpPr>
        <p:grpSpPr>
          <a:xfrm>
            <a:off x="813435" y="2939415"/>
            <a:ext cx="16615410" cy="1088898"/>
            <a:chOff x="0" y="0"/>
            <a:chExt cx="22153880" cy="1451864"/>
          </a:xfrm>
        </p:grpSpPr>
        <p:sp>
          <p:nvSpPr>
            <p:cNvPr id="12" name="Freeform 12"/>
            <p:cNvSpPr/>
            <p:nvPr/>
          </p:nvSpPr>
          <p:spPr>
            <a:xfrm>
              <a:off x="0" y="0"/>
              <a:ext cx="22153880" cy="1451864"/>
            </a:xfrm>
            <a:custGeom>
              <a:avLst/>
              <a:gdLst/>
              <a:ahLst/>
              <a:cxnLst/>
              <a:rect l="l" t="t" r="r" b="b"/>
              <a:pathLst>
                <a:path w="22153880" h="1451864">
                  <a:moveTo>
                    <a:pt x="0" y="130302"/>
                  </a:moveTo>
                  <a:cubicBezTo>
                    <a:pt x="0" y="58293"/>
                    <a:pt x="58293" y="0"/>
                    <a:pt x="130302" y="0"/>
                  </a:cubicBezTo>
                  <a:lnTo>
                    <a:pt x="22023578" y="0"/>
                  </a:lnTo>
                  <a:cubicBezTo>
                    <a:pt x="22095588" y="0"/>
                    <a:pt x="22153880" y="58293"/>
                    <a:pt x="22153880" y="130302"/>
                  </a:cubicBezTo>
                  <a:lnTo>
                    <a:pt x="22153880" y="1321562"/>
                  </a:lnTo>
                  <a:cubicBezTo>
                    <a:pt x="22153880" y="1393571"/>
                    <a:pt x="22095588" y="1451864"/>
                    <a:pt x="22023578" y="1451864"/>
                  </a:cubicBezTo>
                  <a:lnTo>
                    <a:pt x="130302" y="1451864"/>
                  </a:lnTo>
                  <a:cubicBezTo>
                    <a:pt x="58293" y="1451864"/>
                    <a:pt x="0" y="1393571"/>
                    <a:pt x="0" y="1321562"/>
                  </a:cubicBezTo>
                  <a:close/>
                </a:path>
              </a:pathLst>
            </a:custGeom>
            <a:solidFill>
              <a:srgbClr val="FFFFFF"/>
            </a:solidFill>
            <a:ln w="19050" cap="sq">
              <a:solidFill>
                <a:srgbClr val="DCE7E0"/>
              </a:solidFill>
              <a:prstDash val="solid"/>
              <a:miter/>
            </a:ln>
          </p:spPr>
          <p:txBody>
            <a:bodyPr/>
            <a:lstStyle/>
            <a:p>
              <a:endParaRPr lang="en-US"/>
            </a:p>
          </p:txBody>
        </p:sp>
      </p:grpSp>
      <p:grpSp>
        <p:nvGrpSpPr>
          <p:cNvPr id="13" name="Group 13"/>
          <p:cNvGrpSpPr/>
          <p:nvPr/>
        </p:nvGrpSpPr>
        <p:grpSpPr>
          <a:xfrm>
            <a:off x="1069848" y="3223260"/>
            <a:ext cx="1165860" cy="521208"/>
            <a:chOff x="0" y="0"/>
            <a:chExt cx="1554480" cy="694944"/>
          </a:xfrm>
        </p:grpSpPr>
        <p:sp>
          <p:nvSpPr>
            <p:cNvPr id="14" name="Freeform 14"/>
            <p:cNvSpPr/>
            <p:nvPr/>
          </p:nvSpPr>
          <p:spPr>
            <a:xfrm>
              <a:off x="0" y="0"/>
              <a:ext cx="1554480" cy="694944"/>
            </a:xfrm>
            <a:custGeom>
              <a:avLst/>
              <a:gdLst/>
              <a:ahLst/>
              <a:cxnLst/>
              <a:rect l="l" t="t" r="r" b="b"/>
              <a:pathLst>
                <a:path w="1554480" h="694944">
                  <a:moveTo>
                    <a:pt x="0" y="347472"/>
                  </a:moveTo>
                  <a:cubicBezTo>
                    <a:pt x="0" y="155575"/>
                    <a:pt x="155575" y="0"/>
                    <a:pt x="347472" y="0"/>
                  </a:cubicBezTo>
                  <a:lnTo>
                    <a:pt x="1207008" y="0"/>
                  </a:lnTo>
                  <a:cubicBezTo>
                    <a:pt x="1398905" y="0"/>
                    <a:pt x="1554480" y="155575"/>
                    <a:pt x="1554480" y="347472"/>
                  </a:cubicBezTo>
                  <a:cubicBezTo>
                    <a:pt x="1554480" y="539369"/>
                    <a:pt x="1398905" y="694944"/>
                    <a:pt x="1207008" y="694944"/>
                  </a:cubicBezTo>
                  <a:lnTo>
                    <a:pt x="347472" y="694944"/>
                  </a:lnTo>
                  <a:cubicBezTo>
                    <a:pt x="155575" y="694944"/>
                    <a:pt x="0" y="539369"/>
                    <a:pt x="0" y="347472"/>
                  </a:cubicBezTo>
                  <a:close/>
                </a:path>
              </a:pathLst>
            </a:custGeom>
            <a:solidFill>
              <a:srgbClr val="5B6B72"/>
            </a:solidFill>
          </p:spPr>
          <p:txBody>
            <a:bodyPr/>
            <a:lstStyle/>
            <a:p>
              <a:endParaRPr lang="en-US"/>
            </a:p>
          </p:txBody>
        </p:sp>
      </p:grpSp>
      <p:grpSp>
        <p:nvGrpSpPr>
          <p:cNvPr id="15" name="Group 15"/>
          <p:cNvGrpSpPr/>
          <p:nvPr/>
        </p:nvGrpSpPr>
        <p:grpSpPr>
          <a:xfrm>
            <a:off x="1069848" y="3223260"/>
            <a:ext cx="1165860" cy="521208"/>
            <a:chOff x="0" y="0"/>
            <a:chExt cx="1554480" cy="694944"/>
          </a:xfrm>
        </p:grpSpPr>
        <p:sp>
          <p:nvSpPr>
            <p:cNvPr id="16" name="Freeform 16"/>
            <p:cNvSpPr/>
            <p:nvPr/>
          </p:nvSpPr>
          <p:spPr>
            <a:xfrm>
              <a:off x="0" y="0"/>
              <a:ext cx="1554480" cy="694944"/>
            </a:xfrm>
            <a:custGeom>
              <a:avLst/>
              <a:gdLst/>
              <a:ahLst/>
              <a:cxnLst/>
              <a:rect l="l" t="t" r="r" b="b"/>
              <a:pathLst>
                <a:path w="1554480" h="694944">
                  <a:moveTo>
                    <a:pt x="0" y="0"/>
                  </a:moveTo>
                  <a:lnTo>
                    <a:pt x="1554480" y="0"/>
                  </a:lnTo>
                  <a:lnTo>
                    <a:pt x="1554480" y="694944"/>
                  </a:lnTo>
                  <a:lnTo>
                    <a:pt x="0" y="694944"/>
                  </a:lnTo>
                  <a:close/>
                </a:path>
              </a:pathLst>
            </a:custGeom>
            <a:blipFill>
              <a:blip r:embed="rId3">
                <a:alphaModFix amt="0"/>
              </a:blip>
              <a:stretch>
                <a:fillRect l="-7359" r="-7359"/>
              </a:stretch>
            </a:blipFill>
          </p:spPr>
          <p:txBody>
            <a:bodyPr/>
            <a:lstStyle/>
            <a:p>
              <a:endParaRPr lang="en-US"/>
            </a:p>
          </p:txBody>
        </p:sp>
        <p:sp>
          <p:nvSpPr>
            <p:cNvPr id="17" name="TextBox 17"/>
            <p:cNvSpPr txBox="1"/>
            <p:nvPr/>
          </p:nvSpPr>
          <p:spPr>
            <a:xfrm>
              <a:off x="0" y="-38100"/>
              <a:ext cx="1554480" cy="733044"/>
            </a:xfrm>
            <a:prstGeom prst="rect">
              <a:avLst/>
            </a:prstGeom>
          </p:spPr>
          <p:txBody>
            <a:bodyPr lIns="0" tIns="0" rIns="0" bIns="0" rtlCol="0" anchor="ctr"/>
            <a:lstStyle/>
            <a:p>
              <a:pPr algn="ctr">
                <a:lnSpc>
                  <a:spcPts val="1800"/>
                </a:lnSpc>
              </a:pPr>
              <a:r>
                <a:rPr lang="en-US" sz="1500" b="1">
                  <a:solidFill>
                    <a:srgbClr val="FFFFFF"/>
                  </a:solidFill>
                  <a:latin typeface="Calibri (MS) Bold"/>
                  <a:ea typeface="Calibri (MS) Bold"/>
                  <a:cs typeface="Calibri (MS) Bold"/>
                  <a:sym typeface="Calibri (MS) Bold"/>
                </a:rPr>
                <a:t>GET</a:t>
              </a:r>
            </a:p>
          </p:txBody>
        </p:sp>
      </p:grpSp>
      <p:grpSp>
        <p:nvGrpSpPr>
          <p:cNvPr id="18" name="Group 18"/>
          <p:cNvGrpSpPr/>
          <p:nvPr/>
        </p:nvGrpSpPr>
        <p:grpSpPr>
          <a:xfrm>
            <a:off x="2537460" y="3086100"/>
            <a:ext cx="5074920" cy="795528"/>
            <a:chOff x="0" y="0"/>
            <a:chExt cx="6766560" cy="1060704"/>
          </a:xfrm>
        </p:grpSpPr>
        <p:sp>
          <p:nvSpPr>
            <p:cNvPr id="19" name="Freeform 19"/>
            <p:cNvSpPr/>
            <p:nvPr/>
          </p:nvSpPr>
          <p:spPr>
            <a:xfrm>
              <a:off x="0" y="0"/>
              <a:ext cx="6766560" cy="1060704"/>
            </a:xfrm>
            <a:custGeom>
              <a:avLst/>
              <a:gdLst/>
              <a:ahLst/>
              <a:cxnLst/>
              <a:rect l="l" t="t" r="r" b="b"/>
              <a:pathLst>
                <a:path w="6766560" h="1060704">
                  <a:moveTo>
                    <a:pt x="0" y="0"/>
                  </a:moveTo>
                  <a:lnTo>
                    <a:pt x="6766560" y="0"/>
                  </a:lnTo>
                  <a:lnTo>
                    <a:pt x="6766560" y="1060704"/>
                  </a:lnTo>
                  <a:lnTo>
                    <a:pt x="0" y="1060704"/>
                  </a:lnTo>
                  <a:close/>
                </a:path>
              </a:pathLst>
            </a:custGeom>
            <a:blipFill>
              <a:blip r:embed="rId3">
                <a:alphaModFix amt="0"/>
              </a:blip>
              <a:stretch>
                <a:fillRect t="-74301" b="-74301"/>
              </a:stretch>
            </a:blipFill>
          </p:spPr>
          <p:txBody>
            <a:bodyPr/>
            <a:lstStyle/>
            <a:p>
              <a:endParaRPr lang="en-US"/>
            </a:p>
          </p:txBody>
        </p:sp>
        <p:sp>
          <p:nvSpPr>
            <p:cNvPr id="20" name="TextBox 20"/>
            <p:cNvSpPr txBox="1"/>
            <p:nvPr/>
          </p:nvSpPr>
          <p:spPr>
            <a:xfrm>
              <a:off x="0" y="0"/>
              <a:ext cx="6766560" cy="1060704"/>
            </a:xfrm>
            <a:prstGeom prst="rect">
              <a:avLst/>
            </a:prstGeom>
          </p:spPr>
          <p:txBody>
            <a:bodyPr lIns="0" tIns="0" rIns="0" bIns="0" rtlCol="0" anchor="ctr"/>
            <a:lstStyle/>
            <a:p>
              <a:pPr algn="l">
                <a:lnSpc>
                  <a:spcPts val="2070"/>
                </a:lnSpc>
              </a:pPr>
              <a:r>
                <a:rPr lang="en-US" sz="1725" b="1">
                  <a:solidFill>
                    <a:srgbClr val="0D1B2A"/>
                  </a:solidFill>
                  <a:latin typeface="Courier New Bold"/>
                  <a:ea typeface="Courier New Bold"/>
                  <a:cs typeface="Courier New Bold"/>
                  <a:sym typeface="Courier New Bold"/>
                </a:rPr>
                <a:t>/</a:t>
              </a:r>
            </a:p>
          </p:txBody>
        </p:sp>
      </p:grpSp>
      <p:grpSp>
        <p:nvGrpSpPr>
          <p:cNvPr id="21" name="Group 21"/>
          <p:cNvGrpSpPr/>
          <p:nvPr/>
        </p:nvGrpSpPr>
        <p:grpSpPr>
          <a:xfrm>
            <a:off x="7818120" y="3086100"/>
            <a:ext cx="9395460" cy="795528"/>
            <a:chOff x="0" y="0"/>
            <a:chExt cx="12527280" cy="1060704"/>
          </a:xfrm>
        </p:grpSpPr>
        <p:sp>
          <p:nvSpPr>
            <p:cNvPr id="22" name="Freeform 22"/>
            <p:cNvSpPr/>
            <p:nvPr/>
          </p:nvSpPr>
          <p:spPr>
            <a:xfrm>
              <a:off x="0" y="0"/>
              <a:ext cx="12527280" cy="1060704"/>
            </a:xfrm>
            <a:custGeom>
              <a:avLst/>
              <a:gdLst/>
              <a:ahLst/>
              <a:cxnLst/>
              <a:rect l="l" t="t" r="r" b="b"/>
              <a:pathLst>
                <a:path w="12527280" h="1060704">
                  <a:moveTo>
                    <a:pt x="0" y="0"/>
                  </a:moveTo>
                  <a:lnTo>
                    <a:pt x="12527280" y="0"/>
                  </a:lnTo>
                  <a:lnTo>
                    <a:pt x="12527280" y="1060704"/>
                  </a:lnTo>
                  <a:lnTo>
                    <a:pt x="0" y="1060704"/>
                  </a:lnTo>
                  <a:close/>
                </a:path>
              </a:pathLst>
            </a:custGeom>
            <a:blipFill>
              <a:blip r:embed="rId3">
                <a:alphaModFix amt="0"/>
              </a:blip>
              <a:stretch>
                <a:fillRect t="-180125" b="-180125"/>
              </a:stretch>
            </a:blipFill>
          </p:spPr>
          <p:txBody>
            <a:bodyPr/>
            <a:lstStyle/>
            <a:p>
              <a:endParaRPr lang="en-US"/>
            </a:p>
          </p:txBody>
        </p:sp>
        <p:sp>
          <p:nvSpPr>
            <p:cNvPr id="23" name="TextBox 23"/>
            <p:cNvSpPr txBox="1"/>
            <p:nvPr/>
          </p:nvSpPr>
          <p:spPr>
            <a:xfrm>
              <a:off x="0" y="-19050"/>
              <a:ext cx="12527280" cy="1079754"/>
            </a:xfrm>
            <a:prstGeom prst="rect">
              <a:avLst/>
            </a:prstGeom>
          </p:spPr>
          <p:txBody>
            <a:bodyPr lIns="0" tIns="0" rIns="0" bIns="0" rtlCol="0" anchor="ctr"/>
            <a:lstStyle/>
            <a:p>
              <a:pPr algn="l">
                <a:lnSpc>
                  <a:spcPts val="1889"/>
                </a:lnSpc>
              </a:pPr>
              <a:r>
                <a:rPr lang="en-US" sz="1575">
                  <a:solidFill>
                    <a:srgbClr val="5B6B72"/>
                  </a:solidFill>
                  <a:latin typeface="Calibri (MS)"/>
                  <a:ea typeface="Calibri (MS)"/>
                  <a:cs typeface="Calibri (MS)"/>
                  <a:sym typeface="Calibri (MS)"/>
                </a:rPr>
                <a:t>Health check</a:t>
              </a:r>
            </a:p>
          </p:txBody>
        </p:sp>
      </p:grpSp>
      <p:grpSp>
        <p:nvGrpSpPr>
          <p:cNvPr id="24" name="Group 24"/>
          <p:cNvGrpSpPr/>
          <p:nvPr/>
        </p:nvGrpSpPr>
        <p:grpSpPr>
          <a:xfrm>
            <a:off x="813435" y="4173855"/>
            <a:ext cx="16615410" cy="1088898"/>
            <a:chOff x="0" y="0"/>
            <a:chExt cx="22153880" cy="1451864"/>
          </a:xfrm>
        </p:grpSpPr>
        <p:sp>
          <p:nvSpPr>
            <p:cNvPr id="25" name="Freeform 25"/>
            <p:cNvSpPr/>
            <p:nvPr/>
          </p:nvSpPr>
          <p:spPr>
            <a:xfrm>
              <a:off x="0" y="0"/>
              <a:ext cx="22153880" cy="1451864"/>
            </a:xfrm>
            <a:custGeom>
              <a:avLst/>
              <a:gdLst/>
              <a:ahLst/>
              <a:cxnLst/>
              <a:rect l="l" t="t" r="r" b="b"/>
              <a:pathLst>
                <a:path w="22153880" h="1451864">
                  <a:moveTo>
                    <a:pt x="0" y="130302"/>
                  </a:moveTo>
                  <a:cubicBezTo>
                    <a:pt x="0" y="58293"/>
                    <a:pt x="58293" y="0"/>
                    <a:pt x="130302" y="0"/>
                  </a:cubicBezTo>
                  <a:lnTo>
                    <a:pt x="22023578" y="0"/>
                  </a:lnTo>
                  <a:cubicBezTo>
                    <a:pt x="22095588" y="0"/>
                    <a:pt x="22153880" y="58293"/>
                    <a:pt x="22153880" y="130302"/>
                  </a:cubicBezTo>
                  <a:lnTo>
                    <a:pt x="22153880" y="1321562"/>
                  </a:lnTo>
                  <a:cubicBezTo>
                    <a:pt x="22153880" y="1393571"/>
                    <a:pt x="22095588" y="1451864"/>
                    <a:pt x="22023578" y="1451864"/>
                  </a:cubicBezTo>
                  <a:lnTo>
                    <a:pt x="130302" y="1451864"/>
                  </a:lnTo>
                  <a:cubicBezTo>
                    <a:pt x="58293" y="1451864"/>
                    <a:pt x="0" y="1393571"/>
                    <a:pt x="0" y="1321562"/>
                  </a:cubicBezTo>
                  <a:close/>
                </a:path>
              </a:pathLst>
            </a:custGeom>
            <a:solidFill>
              <a:srgbClr val="FFFFFF"/>
            </a:solidFill>
            <a:ln w="19050" cap="sq">
              <a:solidFill>
                <a:srgbClr val="DCE7E0"/>
              </a:solidFill>
              <a:prstDash val="solid"/>
              <a:miter/>
            </a:ln>
          </p:spPr>
          <p:txBody>
            <a:bodyPr/>
            <a:lstStyle/>
            <a:p>
              <a:endParaRPr lang="en-US"/>
            </a:p>
          </p:txBody>
        </p:sp>
      </p:grpSp>
      <p:grpSp>
        <p:nvGrpSpPr>
          <p:cNvPr id="26" name="Group 26"/>
          <p:cNvGrpSpPr/>
          <p:nvPr/>
        </p:nvGrpSpPr>
        <p:grpSpPr>
          <a:xfrm>
            <a:off x="1069848" y="4457700"/>
            <a:ext cx="1165860" cy="521208"/>
            <a:chOff x="0" y="0"/>
            <a:chExt cx="1554480" cy="694944"/>
          </a:xfrm>
        </p:grpSpPr>
        <p:sp>
          <p:nvSpPr>
            <p:cNvPr id="27" name="Freeform 27"/>
            <p:cNvSpPr/>
            <p:nvPr/>
          </p:nvSpPr>
          <p:spPr>
            <a:xfrm>
              <a:off x="0" y="0"/>
              <a:ext cx="1554480" cy="694944"/>
            </a:xfrm>
            <a:custGeom>
              <a:avLst/>
              <a:gdLst/>
              <a:ahLst/>
              <a:cxnLst/>
              <a:rect l="l" t="t" r="r" b="b"/>
              <a:pathLst>
                <a:path w="1554480" h="694944">
                  <a:moveTo>
                    <a:pt x="0" y="347472"/>
                  </a:moveTo>
                  <a:cubicBezTo>
                    <a:pt x="0" y="155575"/>
                    <a:pt x="155575" y="0"/>
                    <a:pt x="347472" y="0"/>
                  </a:cubicBezTo>
                  <a:lnTo>
                    <a:pt x="1207008" y="0"/>
                  </a:lnTo>
                  <a:cubicBezTo>
                    <a:pt x="1398905" y="0"/>
                    <a:pt x="1554480" y="155575"/>
                    <a:pt x="1554480" y="347472"/>
                  </a:cubicBezTo>
                  <a:cubicBezTo>
                    <a:pt x="1554480" y="539369"/>
                    <a:pt x="1398905" y="694944"/>
                    <a:pt x="1207008" y="694944"/>
                  </a:cubicBezTo>
                  <a:lnTo>
                    <a:pt x="347472" y="694944"/>
                  </a:lnTo>
                  <a:cubicBezTo>
                    <a:pt x="155575" y="694944"/>
                    <a:pt x="0" y="539369"/>
                    <a:pt x="0" y="347472"/>
                  </a:cubicBezTo>
                  <a:close/>
                </a:path>
              </a:pathLst>
            </a:custGeom>
            <a:solidFill>
              <a:srgbClr val="40916C"/>
            </a:solidFill>
          </p:spPr>
          <p:txBody>
            <a:bodyPr/>
            <a:lstStyle/>
            <a:p>
              <a:endParaRPr lang="en-US"/>
            </a:p>
          </p:txBody>
        </p:sp>
      </p:grpSp>
      <p:grpSp>
        <p:nvGrpSpPr>
          <p:cNvPr id="28" name="Group 28"/>
          <p:cNvGrpSpPr/>
          <p:nvPr/>
        </p:nvGrpSpPr>
        <p:grpSpPr>
          <a:xfrm>
            <a:off x="1069848" y="4457700"/>
            <a:ext cx="1165860" cy="521208"/>
            <a:chOff x="0" y="0"/>
            <a:chExt cx="1554480" cy="694944"/>
          </a:xfrm>
        </p:grpSpPr>
        <p:sp>
          <p:nvSpPr>
            <p:cNvPr id="29" name="Freeform 29"/>
            <p:cNvSpPr/>
            <p:nvPr/>
          </p:nvSpPr>
          <p:spPr>
            <a:xfrm>
              <a:off x="0" y="0"/>
              <a:ext cx="1554480" cy="694944"/>
            </a:xfrm>
            <a:custGeom>
              <a:avLst/>
              <a:gdLst/>
              <a:ahLst/>
              <a:cxnLst/>
              <a:rect l="l" t="t" r="r" b="b"/>
              <a:pathLst>
                <a:path w="1554480" h="694944">
                  <a:moveTo>
                    <a:pt x="0" y="0"/>
                  </a:moveTo>
                  <a:lnTo>
                    <a:pt x="1554480" y="0"/>
                  </a:lnTo>
                  <a:lnTo>
                    <a:pt x="1554480" y="694944"/>
                  </a:lnTo>
                  <a:lnTo>
                    <a:pt x="0" y="694944"/>
                  </a:lnTo>
                  <a:close/>
                </a:path>
              </a:pathLst>
            </a:custGeom>
            <a:blipFill>
              <a:blip r:embed="rId3">
                <a:alphaModFix amt="0"/>
              </a:blip>
              <a:stretch>
                <a:fillRect l="-7359" r="-7359"/>
              </a:stretch>
            </a:blipFill>
          </p:spPr>
          <p:txBody>
            <a:bodyPr/>
            <a:lstStyle/>
            <a:p>
              <a:endParaRPr lang="en-US"/>
            </a:p>
          </p:txBody>
        </p:sp>
        <p:sp>
          <p:nvSpPr>
            <p:cNvPr id="30" name="TextBox 30"/>
            <p:cNvSpPr txBox="1"/>
            <p:nvPr/>
          </p:nvSpPr>
          <p:spPr>
            <a:xfrm>
              <a:off x="0" y="-38100"/>
              <a:ext cx="1554480" cy="733044"/>
            </a:xfrm>
            <a:prstGeom prst="rect">
              <a:avLst/>
            </a:prstGeom>
          </p:spPr>
          <p:txBody>
            <a:bodyPr lIns="0" tIns="0" rIns="0" bIns="0" rtlCol="0" anchor="ctr"/>
            <a:lstStyle/>
            <a:p>
              <a:pPr algn="ctr">
                <a:lnSpc>
                  <a:spcPts val="1800"/>
                </a:lnSpc>
              </a:pPr>
              <a:r>
                <a:rPr lang="en-US" sz="1500" b="1">
                  <a:solidFill>
                    <a:srgbClr val="FFFFFF"/>
                  </a:solidFill>
                  <a:latin typeface="Calibri (MS) Bold"/>
                  <a:ea typeface="Calibri (MS) Bold"/>
                  <a:cs typeface="Calibri (MS) Bold"/>
                  <a:sym typeface="Calibri (MS) Bold"/>
                </a:rPr>
                <a:t>GET</a:t>
              </a:r>
            </a:p>
          </p:txBody>
        </p:sp>
      </p:grpSp>
      <p:grpSp>
        <p:nvGrpSpPr>
          <p:cNvPr id="31" name="Group 31"/>
          <p:cNvGrpSpPr/>
          <p:nvPr/>
        </p:nvGrpSpPr>
        <p:grpSpPr>
          <a:xfrm>
            <a:off x="2537460" y="4320540"/>
            <a:ext cx="5074920" cy="795528"/>
            <a:chOff x="0" y="0"/>
            <a:chExt cx="6766560" cy="1060704"/>
          </a:xfrm>
        </p:grpSpPr>
        <p:sp>
          <p:nvSpPr>
            <p:cNvPr id="32" name="Freeform 32"/>
            <p:cNvSpPr/>
            <p:nvPr/>
          </p:nvSpPr>
          <p:spPr>
            <a:xfrm>
              <a:off x="0" y="0"/>
              <a:ext cx="6766560" cy="1060704"/>
            </a:xfrm>
            <a:custGeom>
              <a:avLst/>
              <a:gdLst/>
              <a:ahLst/>
              <a:cxnLst/>
              <a:rect l="l" t="t" r="r" b="b"/>
              <a:pathLst>
                <a:path w="6766560" h="1060704">
                  <a:moveTo>
                    <a:pt x="0" y="0"/>
                  </a:moveTo>
                  <a:lnTo>
                    <a:pt x="6766560" y="0"/>
                  </a:lnTo>
                  <a:lnTo>
                    <a:pt x="6766560" y="1060704"/>
                  </a:lnTo>
                  <a:lnTo>
                    <a:pt x="0" y="1060704"/>
                  </a:lnTo>
                  <a:close/>
                </a:path>
              </a:pathLst>
            </a:custGeom>
            <a:blipFill>
              <a:blip r:embed="rId3">
                <a:alphaModFix amt="0"/>
              </a:blip>
              <a:stretch>
                <a:fillRect t="-74301" b="-74301"/>
              </a:stretch>
            </a:blipFill>
          </p:spPr>
          <p:txBody>
            <a:bodyPr/>
            <a:lstStyle/>
            <a:p>
              <a:endParaRPr lang="en-US"/>
            </a:p>
          </p:txBody>
        </p:sp>
        <p:sp>
          <p:nvSpPr>
            <p:cNvPr id="33" name="TextBox 33"/>
            <p:cNvSpPr txBox="1"/>
            <p:nvPr/>
          </p:nvSpPr>
          <p:spPr>
            <a:xfrm>
              <a:off x="0" y="0"/>
              <a:ext cx="6766560" cy="1060704"/>
            </a:xfrm>
            <a:prstGeom prst="rect">
              <a:avLst/>
            </a:prstGeom>
          </p:spPr>
          <p:txBody>
            <a:bodyPr lIns="0" tIns="0" rIns="0" bIns="0" rtlCol="0" anchor="ctr"/>
            <a:lstStyle/>
            <a:p>
              <a:pPr algn="l">
                <a:lnSpc>
                  <a:spcPts val="2070"/>
                </a:lnSpc>
              </a:pPr>
              <a:r>
                <a:rPr lang="en-US" sz="1725" b="1">
                  <a:solidFill>
                    <a:srgbClr val="0D1B2A"/>
                  </a:solidFill>
                  <a:latin typeface="Courier New Bold"/>
                  <a:ea typeface="Courier New Bold"/>
                  <a:cs typeface="Courier New Bold"/>
                  <a:sym typeface="Courier New Bold"/>
                </a:rPr>
                <a:t>/grid/live</a:t>
              </a:r>
            </a:p>
          </p:txBody>
        </p:sp>
      </p:grpSp>
      <p:grpSp>
        <p:nvGrpSpPr>
          <p:cNvPr id="34" name="Group 34"/>
          <p:cNvGrpSpPr/>
          <p:nvPr/>
        </p:nvGrpSpPr>
        <p:grpSpPr>
          <a:xfrm>
            <a:off x="7818120" y="4320540"/>
            <a:ext cx="9395460" cy="795528"/>
            <a:chOff x="0" y="0"/>
            <a:chExt cx="12527280" cy="1060704"/>
          </a:xfrm>
        </p:grpSpPr>
        <p:sp>
          <p:nvSpPr>
            <p:cNvPr id="35" name="Freeform 35"/>
            <p:cNvSpPr/>
            <p:nvPr/>
          </p:nvSpPr>
          <p:spPr>
            <a:xfrm>
              <a:off x="0" y="0"/>
              <a:ext cx="12527280" cy="1060704"/>
            </a:xfrm>
            <a:custGeom>
              <a:avLst/>
              <a:gdLst/>
              <a:ahLst/>
              <a:cxnLst/>
              <a:rect l="l" t="t" r="r" b="b"/>
              <a:pathLst>
                <a:path w="12527280" h="1060704">
                  <a:moveTo>
                    <a:pt x="0" y="0"/>
                  </a:moveTo>
                  <a:lnTo>
                    <a:pt x="12527280" y="0"/>
                  </a:lnTo>
                  <a:lnTo>
                    <a:pt x="12527280" y="1060704"/>
                  </a:lnTo>
                  <a:lnTo>
                    <a:pt x="0" y="1060704"/>
                  </a:lnTo>
                  <a:close/>
                </a:path>
              </a:pathLst>
            </a:custGeom>
            <a:blipFill>
              <a:blip r:embed="rId3">
                <a:alphaModFix amt="0"/>
              </a:blip>
              <a:stretch>
                <a:fillRect t="-180125" b="-180125"/>
              </a:stretch>
            </a:blipFill>
          </p:spPr>
          <p:txBody>
            <a:bodyPr/>
            <a:lstStyle/>
            <a:p>
              <a:endParaRPr lang="en-US"/>
            </a:p>
          </p:txBody>
        </p:sp>
        <p:sp>
          <p:nvSpPr>
            <p:cNvPr id="36" name="TextBox 36"/>
            <p:cNvSpPr txBox="1"/>
            <p:nvPr/>
          </p:nvSpPr>
          <p:spPr>
            <a:xfrm>
              <a:off x="0" y="-19050"/>
              <a:ext cx="12527280" cy="1079754"/>
            </a:xfrm>
            <a:prstGeom prst="rect">
              <a:avLst/>
            </a:prstGeom>
          </p:spPr>
          <p:txBody>
            <a:bodyPr lIns="0" tIns="0" rIns="0" bIns="0" rtlCol="0" anchor="ctr"/>
            <a:lstStyle/>
            <a:p>
              <a:pPr algn="l">
                <a:lnSpc>
                  <a:spcPts val="1889"/>
                </a:lnSpc>
              </a:pPr>
              <a:r>
                <a:rPr lang="en-US" sz="1575">
                  <a:solidFill>
                    <a:srgbClr val="5B6B72"/>
                  </a:solidFill>
                  <a:latin typeface="Calibri (MS)"/>
                  <a:ea typeface="Calibri (MS)"/>
                  <a:cs typeface="Calibri (MS)"/>
                  <a:sym typeface="Calibri (MS)"/>
                </a:rPr>
                <a:t>Latest 30 rows of wind &amp; solar telemetry, descending</a:t>
              </a:r>
            </a:p>
          </p:txBody>
        </p:sp>
      </p:grpSp>
      <p:grpSp>
        <p:nvGrpSpPr>
          <p:cNvPr id="37" name="Group 37"/>
          <p:cNvGrpSpPr/>
          <p:nvPr/>
        </p:nvGrpSpPr>
        <p:grpSpPr>
          <a:xfrm>
            <a:off x="813435" y="5408295"/>
            <a:ext cx="16615410" cy="1088898"/>
            <a:chOff x="0" y="0"/>
            <a:chExt cx="22153880" cy="1451864"/>
          </a:xfrm>
        </p:grpSpPr>
        <p:sp>
          <p:nvSpPr>
            <p:cNvPr id="38" name="Freeform 38"/>
            <p:cNvSpPr/>
            <p:nvPr/>
          </p:nvSpPr>
          <p:spPr>
            <a:xfrm>
              <a:off x="0" y="0"/>
              <a:ext cx="22153880" cy="1451864"/>
            </a:xfrm>
            <a:custGeom>
              <a:avLst/>
              <a:gdLst/>
              <a:ahLst/>
              <a:cxnLst/>
              <a:rect l="l" t="t" r="r" b="b"/>
              <a:pathLst>
                <a:path w="22153880" h="1451864">
                  <a:moveTo>
                    <a:pt x="0" y="130302"/>
                  </a:moveTo>
                  <a:cubicBezTo>
                    <a:pt x="0" y="58293"/>
                    <a:pt x="58293" y="0"/>
                    <a:pt x="130302" y="0"/>
                  </a:cubicBezTo>
                  <a:lnTo>
                    <a:pt x="22023578" y="0"/>
                  </a:lnTo>
                  <a:cubicBezTo>
                    <a:pt x="22095588" y="0"/>
                    <a:pt x="22153880" y="58293"/>
                    <a:pt x="22153880" y="130302"/>
                  </a:cubicBezTo>
                  <a:lnTo>
                    <a:pt x="22153880" y="1321562"/>
                  </a:lnTo>
                  <a:cubicBezTo>
                    <a:pt x="22153880" y="1393571"/>
                    <a:pt x="22095588" y="1451864"/>
                    <a:pt x="22023578" y="1451864"/>
                  </a:cubicBezTo>
                  <a:lnTo>
                    <a:pt x="130302" y="1451864"/>
                  </a:lnTo>
                  <a:cubicBezTo>
                    <a:pt x="58293" y="1451864"/>
                    <a:pt x="0" y="1393571"/>
                    <a:pt x="0" y="1321562"/>
                  </a:cubicBezTo>
                  <a:close/>
                </a:path>
              </a:pathLst>
            </a:custGeom>
            <a:solidFill>
              <a:srgbClr val="FFFFFF"/>
            </a:solidFill>
            <a:ln w="19050" cap="sq">
              <a:solidFill>
                <a:srgbClr val="DCE7E0"/>
              </a:solidFill>
              <a:prstDash val="solid"/>
              <a:miter/>
            </a:ln>
          </p:spPr>
          <p:txBody>
            <a:bodyPr/>
            <a:lstStyle/>
            <a:p>
              <a:endParaRPr lang="en-US"/>
            </a:p>
          </p:txBody>
        </p:sp>
      </p:grpSp>
      <p:grpSp>
        <p:nvGrpSpPr>
          <p:cNvPr id="39" name="Group 39"/>
          <p:cNvGrpSpPr/>
          <p:nvPr/>
        </p:nvGrpSpPr>
        <p:grpSpPr>
          <a:xfrm>
            <a:off x="1069848" y="5692140"/>
            <a:ext cx="1165860" cy="521208"/>
            <a:chOff x="0" y="0"/>
            <a:chExt cx="1554480" cy="694944"/>
          </a:xfrm>
        </p:grpSpPr>
        <p:sp>
          <p:nvSpPr>
            <p:cNvPr id="40" name="Freeform 40"/>
            <p:cNvSpPr/>
            <p:nvPr/>
          </p:nvSpPr>
          <p:spPr>
            <a:xfrm>
              <a:off x="0" y="0"/>
              <a:ext cx="1554480" cy="694944"/>
            </a:xfrm>
            <a:custGeom>
              <a:avLst/>
              <a:gdLst/>
              <a:ahLst/>
              <a:cxnLst/>
              <a:rect l="l" t="t" r="r" b="b"/>
              <a:pathLst>
                <a:path w="1554480" h="694944">
                  <a:moveTo>
                    <a:pt x="0" y="347472"/>
                  </a:moveTo>
                  <a:cubicBezTo>
                    <a:pt x="0" y="155575"/>
                    <a:pt x="155575" y="0"/>
                    <a:pt x="347472" y="0"/>
                  </a:cubicBezTo>
                  <a:lnTo>
                    <a:pt x="1207008" y="0"/>
                  </a:lnTo>
                  <a:cubicBezTo>
                    <a:pt x="1398905" y="0"/>
                    <a:pt x="1554480" y="155575"/>
                    <a:pt x="1554480" y="347472"/>
                  </a:cubicBezTo>
                  <a:cubicBezTo>
                    <a:pt x="1554480" y="539369"/>
                    <a:pt x="1398905" y="694944"/>
                    <a:pt x="1207008" y="694944"/>
                  </a:cubicBezTo>
                  <a:lnTo>
                    <a:pt x="347472" y="694944"/>
                  </a:lnTo>
                  <a:cubicBezTo>
                    <a:pt x="155575" y="694944"/>
                    <a:pt x="0" y="539369"/>
                    <a:pt x="0" y="347472"/>
                  </a:cubicBezTo>
                  <a:close/>
                </a:path>
              </a:pathLst>
            </a:custGeom>
            <a:solidFill>
              <a:srgbClr val="40916C"/>
            </a:solidFill>
          </p:spPr>
          <p:txBody>
            <a:bodyPr/>
            <a:lstStyle/>
            <a:p>
              <a:endParaRPr lang="en-US"/>
            </a:p>
          </p:txBody>
        </p:sp>
      </p:grpSp>
      <p:grpSp>
        <p:nvGrpSpPr>
          <p:cNvPr id="41" name="Group 41"/>
          <p:cNvGrpSpPr/>
          <p:nvPr/>
        </p:nvGrpSpPr>
        <p:grpSpPr>
          <a:xfrm>
            <a:off x="1069848" y="5692140"/>
            <a:ext cx="1165860" cy="521208"/>
            <a:chOff x="0" y="0"/>
            <a:chExt cx="1554480" cy="694944"/>
          </a:xfrm>
        </p:grpSpPr>
        <p:sp>
          <p:nvSpPr>
            <p:cNvPr id="42" name="Freeform 42"/>
            <p:cNvSpPr/>
            <p:nvPr/>
          </p:nvSpPr>
          <p:spPr>
            <a:xfrm>
              <a:off x="0" y="0"/>
              <a:ext cx="1554480" cy="694944"/>
            </a:xfrm>
            <a:custGeom>
              <a:avLst/>
              <a:gdLst/>
              <a:ahLst/>
              <a:cxnLst/>
              <a:rect l="l" t="t" r="r" b="b"/>
              <a:pathLst>
                <a:path w="1554480" h="694944">
                  <a:moveTo>
                    <a:pt x="0" y="0"/>
                  </a:moveTo>
                  <a:lnTo>
                    <a:pt x="1554480" y="0"/>
                  </a:lnTo>
                  <a:lnTo>
                    <a:pt x="1554480" y="694944"/>
                  </a:lnTo>
                  <a:lnTo>
                    <a:pt x="0" y="694944"/>
                  </a:lnTo>
                  <a:close/>
                </a:path>
              </a:pathLst>
            </a:custGeom>
            <a:blipFill>
              <a:blip r:embed="rId3">
                <a:alphaModFix amt="0"/>
              </a:blip>
              <a:stretch>
                <a:fillRect l="-7359" r="-7359"/>
              </a:stretch>
            </a:blipFill>
          </p:spPr>
          <p:txBody>
            <a:bodyPr/>
            <a:lstStyle/>
            <a:p>
              <a:endParaRPr lang="en-US"/>
            </a:p>
          </p:txBody>
        </p:sp>
        <p:sp>
          <p:nvSpPr>
            <p:cNvPr id="43" name="TextBox 43"/>
            <p:cNvSpPr txBox="1"/>
            <p:nvPr/>
          </p:nvSpPr>
          <p:spPr>
            <a:xfrm>
              <a:off x="0" y="-38100"/>
              <a:ext cx="1554480" cy="733044"/>
            </a:xfrm>
            <a:prstGeom prst="rect">
              <a:avLst/>
            </a:prstGeom>
          </p:spPr>
          <p:txBody>
            <a:bodyPr lIns="0" tIns="0" rIns="0" bIns="0" rtlCol="0" anchor="ctr"/>
            <a:lstStyle/>
            <a:p>
              <a:pPr algn="ctr">
                <a:lnSpc>
                  <a:spcPts val="1800"/>
                </a:lnSpc>
              </a:pPr>
              <a:r>
                <a:rPr lang="en-US" sz="1500" b="1">
                  <a:solidFill>
                    <a:srgbClr val="FFFFFF"/>
                  </a:solidFill>
                  <a:latin typeface="Calibri (MS) Bold"/>
                  <a:ea typeface="Calibri (MS) Bold"/>
                  <a:cs typeface="Calibri (MS) Bold"/>
                  <a:sym typeface="Calibri (MS) Bold"/>
                </a:rPr>
                <a:t>GET</a:t>
              </a:r>
            </a:p>
          </p:txBody>
        </p:sp>
      </p:grpSp>
      <p:grpSp>
        <p:nvGrpSpPr>
          <p:cNvPr id="44" name="Group 44"/>
          <p:cNvGrpSpPr/>
          <p:nvPr/>
        </p:nvGrpSpPr>
        <p:grpSpPr>
          <a:xfrm>
            <a:off x="2537460" y="5554980"/>
            <a:ext cx="5074920" cy="795528"/>
            <a:chOff x="0" y="0"/>
            <a:chExt cx="6766560" cy="1060704"/>
          </a:xfrm>
        </p:grpSpPr>
        <p:sp>
          <p:nvSpPr>
            <p:cNvPr id="45" name="Freeform 45"/>
            <p:cNvSpPr/>
            <p:nvPr/>
          </p:nvSpPr>
          <p:spPr>
            <a:xfrm>
              <a:off x="0" y="0"/>
              <a:ext cx="6766560" cy="1060704"/>
            </a:xfrm>
            <a:custGeom>
              <a:avLst/>
              <a:gdLst/>
              <a:ahLst/>
              <a:cxnLst/>
              <a:rect l="l" t="t" r="r" b="b"/>
              <a:pathLst>
                <a:path w="6766560" h="1060704">
                  <a:moveTo>
                    <a:pt x="0" y="0"/>
                  </a:moveTo>
                  <a:lnTo>
                    <a:pt x="6766560" y="0"/>
                  </a:lnTo>
                  <a:lnTo>
                    <a:pt x="6766560" y="1060704"/>
                  </a:lnTo>
                  <a:lnTo>
                    <a:pt x="0" y="1060704"/>
                  </a:lnTo>
                  <a:close/>
                </a:path>
              </a:pathLst>
            </a:custGeom>
            <a:blipFill>
              <a:blip r:embed="rId3">
                <a:alphaModFix amt="0"/>
              </a:blip>
              <a:stretch>
                <a:fillRect t="-74301" b="-74301"/>
              </a:stretch>
            </a:blipFill>
          </p:spPr>
          <p:txBody>
            <a:bodyPr/>
            <a:lstStyle/>
            <a:p>
              <a:endParaRPr lang="en-US"/>
            </a:p>
          </p:txBody>
        </p:sp>
        <p:sp>
          <p:nvSpPr>
            <p:cNvPr id="46" name="TextBox 46"/>
            <p:cNvSpPr txBox="1"/>
            <p:nvPr/>
          </p:nvSpPr>
          <p:spPr>
            <a:xfrm>
              <a:off x="0" y="0"/>
              <a:ext cx="6766560" cy="1060704"/>
            </a:xfrm>
            <a:prstGeom prst="rect">
              <a:avLst/>
            </a:prstGeom>
          </p:spPr>
          <p:txBody>
            <a:bodyPr lIns="0" tIns="0" rIns="0" bIns="0" rtlCol="0" anchor="ctr"/>
            <a:lstStyle/>
            <a:p>
              <a:pPr algn="l">
                <a:lnSpc>
                  <a:spcPts val="2070"/>
                </a:lnSpc>
              </a:pPr>
              <a:r>
                <a:rPr lang="en-US" sz="1725" b="1">
                  <a:solidFill>
                    <a:srgbClr val="0D1B2A"/>
                  </a:solidFill>
                  <a:latin typeface="Courier New Bold"/>
                  <a:ea typeface="Courier New Bold"/>
                  <a:cs typeface="Courier New Bold"/>
                  <a:sym typeface="Courier New Bold"/>
                </a:rPr>
                <a:t>/grid/forecast</a:t>
              </a:r>
            </a:p>
          </p:txBody>
        </p:sp>
      </p:grpSp>
      <p:grpSp>
        <p:nvGrpSpPr>
          <p:cNvPr id="47" name="Group 47"/>
          <p:cNvGrpSpPr/>
          <p:nvPr/>
        </p:nvGrpSpPr>
        <p:grpSpPr>
          <a:xfrm>
            <a:off x="7818120" y="5554980"/>
            <a:ext cx="9395460" cy="795528"/>
            <a:chOff x="0" y="0"/>
            <a:chExt cx="12527280" cy="1060704"/>
          </a:xfrm>
        </p:grpSpPr>
        <p:sp>
          <p:nvSpPr>
            <p:cNvPr id="48" name="Freeform 48"/>
            <p:cNvSpPr/>
            <p:nvPr/>
          </p:nvSpPr>
          <p:spPr>
            <a:xfrm>
              <a:off x="0" y="0"/>
              <a:ext cx="12527280" cy="1060704"/>
            </a:xfrm>
            <a:custGeom>
              <a:avLst/>
              <a:gdLst/>
              <a:ahLst/>
              <a:cxnLst/>
              <a:rect l="l" t="t" r="r" b="b"/>
              <a:pathLst>
                <a:path w="12527280" h="1060704">
                  <a:moveTo>
                    <a:pt x="0" y="0"/>
                  </a:moveTo>
                  <a:lnTo>
                    <a:pt x="12527280" y="0"/>
                  </a:lnTo>
                  <a:lnTo>
                    <a:pt x="12527280" y="1060704"/>
                  </a:lnTo>
                  <a:lnTo>
                    <a:pt x="0" y="1060704"/>
                  </a:lnTo>
                  <a:close/>
                </a:path>
              </a:pathLst>
            </a:custGeom>
            <a:blipFill>
              <a:blip r:embed="rId3">
                <a:alphaModFix amt="0"/>
              </a:blip>
              <a:stretch>
                <a:fillRect t="-180125" b="-180125"/>
              </a:stretch>
            </a:blipFill>
          </p:spPr>
          <p:txBody>
            <a:bodyPr/>
            <a:lstStyle/>
            <a:p>
              <a:endParaRPr lang="en-US"/>
            </a:p>
          </p:txBody>
        </p:sp>
        <p:sp>
          <p:nvSpPr>
            <p:cNvPr id="49" name="TextBox 49"/>
            <p:cNvSpPr txBox="1"/>
            <p:nvPr/>
          </p:nvSpPr>
          <p:spPr>
            <a:xfrm>
              <a:off x="0" y="-19050"/>
              <a:ext cx="12527280" cy="1079754"/>
            </a:xfrm>
            <a:prstGeom prst="rect">
              <a:avLst/>
            </a:prstGeom>
          </p:spPr>
          <p:txBody>
            <a:bodyPr lIns="0" tIns="0" rIns="0" bIns="0" rtlCol="0" anchor="ctr"/>
            <a:lstStyle/>
            <a:p>
              <a:pPr algn="l">
                <a:lnSpc>
                  <a:spcPts val="1889"/>
                </a:lnSpc>
              </a:pPr>
              <a:r>
                <a:rPr lang="en-US" sz="1575">
                  <a:solidFill>
                    <a:srgbClr val="5B6B72"/>
                  </a:solidFill>
                  <a:latin typeface="Calibri (MS)"/>
                  <a:ea typeface="Calibri (MS)"/>
                  <a:cs typeface="Calibri (MS)"/>
                  <a:sym typeface="Calibri (MS)"/>
                </a:rPr>
                <a:t>Last 24 rows across all tables → runs all 3 ML models → surplus/deficit status</a:t>
              </a:r>
            </a:p>
          </p:txBody>
        </p:sp>
      </p:grpSp>
      <p:grpSp>
        <p:nvGrpSpPr>
          <p:cNvPr id="50" name="Group 50"/>
          <p:cNvGrpSpPr/>
          <p:nvPr/>
        </p:nvGrpSpPr>
        <p:grpSpPr>
          <a:xfrm>
            <a:off x="813435" y="6642735"/>
            <a:ext cx="16615410" cy="1088898"/>
            <a:chOff x="0" y="0"/>
            <a:chExt cx="22153880" cy="1451864"/>
          </a:xfrm>
        </p:grpSpPr>
        <p:sp>
          <p:nvSpPr>
            <p:cNvPr id="51" name="Freeform 51"/>
            <p:cNvSpPr/>
            <p:nvPr/>
          </p:nvSpPr>
          <p:spPr>
            <a:xfrm>
              <a:off x="0" y="0"/>
              <a:ext cx="22153880" cy="1451864"/>
            </a:xfrm>
            <a:custGeom>
              <a:avLst/>
              <a:gdLst/>
              <a:ahLst/>
              <a:cxnLst/>
              <a:rect l="l" t="t" r="r" b="b"/>
              <a:pathLst>
                <a:path w="22153880" h="1451864">
                  <a:moveTo>
                    <a:pt x="0" y="130302"/>
                  </a:moveTo>
                  <a:cubicBezTo>
                    <a:pt x="0" y="58293"/>
                    <a:pt x="58293" y="0"/>
                    <a:pt x="130302" y="0"/>
                  </a:cubicBezTo>
                  <a:lnTo>
                    <a:pt x="22023578" y="0"/>
                  </a:lnTo>
                  <a:cubicBezTo>
                    <a:pt x="22095588" y="0"/>
                    <a:pt x="22153880" y="58293"/>
                    <a:pt x="22153880" y="130302"/>
                  </a:cubicBezTo>
                  <a:lnTo>
                    <a:pt x="22153880" y="1321562"/>
                  </a:lnTo>
                  <a:cubicBezTo>
                    <a:pt x="22153880" y="1393571"/>
                    <a:pt x="22095588" y="1451864"/>
                    <a:pt x="22023578" y="1451864"/>
                  </a:cubicBezTo>
                  <a:lnTo>
                    <a:pt x="130302" y="1451864"/>
                  </a:lnTo>
                  <a:cubicBezTo>
                    <a:pt x="58293" y="1451864"/>
                    <a:pt x="0" y="1393571"/>
                    <a:pt x="0" y="1321562"/>
                  </a:cubicBezTo>
                  <a:close/>
                </a:path>
              </a:pathLst>
            </a:custGeom>
            <a:solidFill>
              <a:srgbClr val="FFFFFF"/>
            </a:solidFill>
            <a:ln w="19050" cap="sq">
              <a:solidFill>
                <a:srgbClr val="DCE7E0"/>
              </a:solidFill>
              <a:prstDash val="solid"/>
              <a:miter/>
            </a:ln>
          </p:spPr>
          <p:txBody>
            <a:bodyPr/>
            <a:lstStyle/>
            <a:p>
              <a:endParaRPr lang="en-US"/>
            </a:p>
          </p:txBody>
        </p:sp>
      </p:grpSp>
      <p:grpSp>
        <p:nvGrpSpPr>
          <p:cNvPr id="52" name="Group 52"/>
          <p:cNvGrpSpPr/>
          <p:nvPr/>
        </p:nvGrpSpPr>
        <p:grpSpPr>
          <a:xfrm>
            <a:off x="1069848" y="6926580"/>
            <a:ext cx="1165860" cy="521208"/>
            <a:chOff x="0" y="0"/>
            <a:chExt cx="1554480" cy="694944"/>
          </a:xfrm>
        </p:grpSpPr>
        <p:sp>
          <p:nvSpPr>
            <p:cNvPr id="53" name="Freeform 53"/>
            <p:cNvSpPr/>
            <p:nvPr/>
          </p:nvSpPr>
          <p:spPr>
            <a:xfrm>
              <a:off x="0" y="0"/>
              <a:ext cx="1554480" cy="694944"/>
            </a:xfrm>
            <a:custGeom>
              <a:avLst/>
              <a:gdLst/>
              <a:ahLst/>
              <a:cxnLst/>
              <a:rect l="l" t="t" r="r" b="b"/>
              <a:pathLst>
                <a:path w="1554480" h="694944">
                  <a:moveTo>
                    <a:pt x="0" y="347472"/>
                  </a:moveTo>
                  <a:cubicBezTo>
                    <a:pt x="0" y="155575"/>
                    <a:pt x="155575" y="0"/>
                    <a:pt x="347472" y="0"/>
                  </a:cubicBezTo>
                  <a:lnTo>
                    <a:pt x="1207008" y="0"/>
                  </a:lnTo>
                  <a:cubicBezTo>
                    <a:pt x="1398905" y="0"/>
                    <a:pt x="1554480" y="155575"/>
                    <a:pt x="1554480" y="347472"/>
                  </a:cubicBezTo>
                  <a:cubicBezTo>
                    <a:pt x="1554480" y="539369"/>
                    <a:pt x="1398905" y="694944"/>
                    <a:pt x="1207008" y="694944"/>
                  </a:cubicBezTo>
                  <a:lnTo>
                    <a:pt x="347472" y="694944"/>
                  </a:lnTo>
                  <a:cubicBezTo>
                    <a:pt x="155575" y="694944"/>
                    <a:pt x="0" y="539369"/>
                    <a:pt x="0" y="347472"/>
                  </a:cubicBezTo>
                  <a:close/>
                </a:path>
              </a:pathLst>
            </a:custGeom>
            <a:solidFill>
              <a:srgbClr val="FFB703"/>
            </a:solidFill>
          </p:spPr>
          <p:txBody>
            <a:bodyPr/>
            <a:lstStyle/>
            <a:p>
              <a:endParaRPr lang="en-US"/>
            </a:p>
          </p:txBody>
        </p:sp>
      </p:grpSp>
      <p:grpSp>
        <p:nvGrpSpPr>
          <p:cNvPr id="54" name="Group 54"/>
          <p:cNvGrpSpPr/>
          <p:nvPr/>
        </p:nvGrpSpPr>
        <p:grpSpPr>
          <a:xfrm>
            <a:off x="1069848" y="6926580"/>
            <a:ext cx="1165860" cy="521208"/>
            <a:chOff x="0" y="0"/>
            <a:chExt cx="1554480" cy="694944"/>
          </a:xfrm>
        </p:grpSpPr>
        <p:sp>
          <p:nvSpPr>
            <p:cNvPr id="55" name="Freeform 55"/>
            <p:cNvSpPr/>
            <p:nvPr/>
          </p:nvSpPr>
          <p:spPr>
            <a:xfrm>
              <a:off x="0" y="0"/>
              <a:ext cx="1554480" cy="694944"/>
            </a:xfrm>
            <a:custGeom>
              <a:avLst/>
              <a:gdLst/>
              <a:ahLst/>
              <a:cxnLst/>
              <a:rect l="l" t="t" r="r" b="b"/>
              <a:pathLst>
                <a:path w="1554480" h="694944">
                  <a:moveTo>
                    <a:pt x="0" y="0"/>
                  </a:moveTo>
                  <a:lnTo>
                    <a:pt x="1554480" y="0"/>
                  </a:lnTo>
                  <a:lnTo>
                    <a:pt x="1554480" y="694944"/>
                  </a:lnTo>
                  <a:lnTo>
                    <a:pt x="0" y="694944"/>
                  </a:lnTo>
                  <a:close/>
                </a:path>
              </a:pathLst>
            </a:custGeom>
            <a:blipFill>
              <a:blip r:embed="rId3">
                <a:alphaModFix amt="0"/>
              </a:blip>
              <a:stretch>
                <a:fillRect l="-7359" r="-7359"/>
              </a:stretch>
            </a:blipFill>
          </p:spPr>
          <p:txBody>
            <a:bodyPr/>
            <a:lstStyle/>
            <a:p>
              <a:endParaRPr lang="en-US"/>
            </a:p>
          </p:txBody>
        </p:sp>
        <p:sp>
          <p:nvSpPr>
            <p:cNvPr id="56" name="TextBox 56"/>
            <p:cNvSpPr txBox="1"/>
            <p:nvPr/>
          </p:nvSpPr>
          <p:spPr>
            <a:xfrm>
              <a:off x="0" y="-38100"/>
              <a:ext cx="1554480" cy="733044"/>
            </a:xfrm>
            <a:prstGeom prst="rect">
              <a:avLst/>
            </a:prstGeom>
          </p:spPr>
          <p:txBody>
            <a:bodyPr lIns="0" tIns="0" rIns="0" bIns="0" rtlCol="0" anchor="ctr"/>
            <a:lstStyle/>
            <a:p>
              <a:pPr algn="ctr">
                <a:lnSpc>
                  <a:spcPts val="1800"/>
                </a:lnSpc>
              </a:pPr>
              <a:r>
                <a:rPr lang="en-US" sz="1500" b="1">
                  <a:solidFill>
                    <a:srgbClr val="FFFFFF"/>
                  </a:solidFill>
                  <a:latin typeface="Calibri (MS) Bold"/>
                  <a:ea typeface="Calibri (MS) Bold"/>
                  <a:cs typeface="Calibri (MS) Bold"/>
                  <a:sym typeface="Calibri (MS) Bold"/>
                </a:rPr>
                <a:t>POST</a:t>
              </a:r>
            </a:p>
          </p:txBody>
        </p:sp>
      </p:grpSp>
      <p:grpSp>
        <p:nvGrpSpPr>
          <p:cNvPr id="57" name="Group 57"/>
          <p:cNvGrpSpPr/>
          <p:nvPr/>
        </p:nvGrpSpPr>
        <p:grpSpPr>
          <a:xfrm>
            <a:off x="2537460" y="6789420"/>
            <a:ext cx="5074920" cy="795528"/>
            <a:chOff x="0" y="0"/>
            <a:chExt cx="6766560" cy="1060704"/>
          </a:xfrm>
        </p:grpSpPr>
        <p:sp>
          <p:nvSpPr>
            <p:cNvPr id="58" name="Freeform 58"/>
            <p:cNvSpPr/>
            <p:nvPr/>
          </p:nvSpPr>
          <p:spPr>
            <a:xfrm>
              <a:off x="0" y="0"/>
              <a:ext cx="6766560" cy="1060704"/>
            </a:xfrm>
            <a:custGeom>
              <a:avLst/>
              <a:gdLst/>
              <a:ahLst/>
              <a:cxnLst/>
              <a:rect l="l" t="t" r="r" b="b"/>
              <a:pathLst>
                <a:path w="6766560" h="1060704">
                  <a:moveTo>
                    <a:pt x="0" y="0"/>
                  </a:moveTo>
                  <a:lnTo>
                    <a:pt x="6766560" y="0"/>
                  </a:lnTo>
                  <a:lnTo>
                    <a:pt x="6766560" y="1060704"/>
                  </a:lnTo>
                  <a:lnTo>
                    <a:pt x="0" y="1060704"/>
                  </a:lnTo>
                  <a:close/>
                </a:path>
              </a:pathLst>
            </a:custGeom>
            <a:blipFill>
              <a:blip r:embed="rId3">
                <a:alphaModFix amt="0"/>
              </a:blip>
              <a:stretch>
                <a:fillRect t="-74301" b="-74301"/>
              </a:stretch>
            </a:blipFill>
          </p:spPr>
          <p:txBody>
            <a:bodyPr/>
            <a:lstStyle/>
            <a:p>
              <a:endParaRPr lang="en-US"/>
            </a:p>
          </p:txBody>
        </p:sp>
        <p:sp>
          <p:nvSpPr>
            <p:cNvPr id="59" name="TextBox 59"/>
            <p:cNvSpPr txBox="1"/>
            <p:nvPr/>
          </p:nvSpPr>
          <p:spPr>
            <a:xfrm>
              <a:off x="0" y="0"/>
              <a:ext cx="6766560" cy="1060704"/>
            </a:xfrm>
            <a:prstGeom prst="rect">
              <a:avLst/>
            </a:prstGeom>
          </p:spPr>
          <p:txBody>
            <a:bodyPr lIns="0" tIns="0" rIns="0" bIns="0" rtlCol="0" anchor="ctr"/>
            <a:lstStyle/>
            <a:p>
              <a:pPr algn="l">
                <a:lnSpc>
                  <a:spcPts val="2070"/>
                </a:lnSpc>
              </a:pPr>
              <a:r>
                <a:rPr lang="en-US" sz="1725" b="1">
                  <a:solidFill>
                    <a:srgbClr val="0D1B2A"/>
                  </a:solidFill>
                  <a:latin typeface="Courier New Bold"/>
                  <a:ea typeface="Courier New Bold"/>
                  <a:cs typeface="Courier New Bold"/>
                  <a:sym typeface="Courier New Bold"/>
                </a:rPr>
                <a:t>/diagnose/{asset_type}/{asset_id}</a:t>
              </a:r>
            </a:p>
          </p:txBody>
        </p:sp>
      </p:grpSp>
      <p:grpSp>
        <p:nvGrpSpPr>
          <p:cNvPr id="60" name="Group 60"/>
          <p:cNvGrpSpPr/>
          <p:nvPr/>
        </p:nvGrpSpPr>
        <p:grpSpPr>
          <a:xfrm>
            <a:off x="7818120" y="6789420"/>
            <a:ext cx="9395460" cy="795528"/>
            <a:chOff x="0" y="0"/>
            <a:chExt cx="12527280" cy="1060704"/>
          </a:xfrm>
        </p:grpSpPr>
        <p:sp>
          <p:nvSpPr>
            <p:cNvPr id="61" name="Freeform 61"/>
            <p:cNvSpPr/>
            <p:nvPr/>
          </p:nvSpPr>
          <p:spPr>
            <a:xfrm>
              <a:off x="0" y="0"/>
              <a:ext cx="12527280" cy="1060704"/>
            </a:xfrm>
            <a:custGeom>
              <a:avLst/>
              <a:gdLst/>
              <a:ahLst/>
              <a:cxnLst/>
              <a:rect l="l" t="t" r="r" b="b"/>
              <a:pathLst>
                <a:path w="12527280" h="1060704">
                  <a:moveTo>
                    <a:pt x="0" y="0"/>
                  </a:moveTo>
                  <a:lnTo>
                    <a:pt x="12527280" y="0"/>
                  </a:lnTo>
                  <a:lnTo>
                    <a:pt x="12527280" y="1060704"/>
                  </a:lnTo>
                  <a:lnTo>
                    <a:pt x="0" y="1060704"/>
                  </a:lnTo>
                  <a:close/>
                </a:path>
              </a:pathLst>
            </a:custGeom>
            <a:blipFill>
              <a:blip r:embed="rId3">
                <a:alphaModFix amt="0"/>
              </a:blip>
              <a:stretch>
                <a:fillRect t="-180125" b="-180125"/>
              </a:stretch>
            </a:blipFill>
          </p:spPr>
          <p:txBody>
            <a:bodyPr/>
            <a:lstStyle/>
            <a:p>
              <a:endParaRPr lang="en-US"/>
            </a:p>
          </p:txBody>
        </p:sp>
        <p:sp>
          <p:nvSpPr>
            <p:cNvPr id="62" name="TextBox 62"/>
            <p:cNvSpPr txBox="1"/>
            <p:nvPr/>
          </p:nvSpPr>
          <p:spPr>
            <a:xfrm>
              <a:off x="0" y="-19050"/>
              <a:ext cx="12527280" cy="1079754"/>
            </a:xfrm>
            <a:prstGeom prst="rect">
              <a:avLst/>
            </a:prstGeom>
          </p:spPr>
          <p:txBody>
            <a:bodyPr lIns="0" tIns="0" rIns="0" bIns="0" rtlCol="0" anchor="ctr"/>
            <a:lstStyle/>
            <a:p>
              <a:pPr algn="l">
                <a:lnSpc>
                  <a:spcPts val="1889"/>
                </a:lnSpc>
              </a:pPr>
              <a:r>
                <a:rPr lang="en-US" sz="1575">
                  <a:solidFill>
                    <a:srgbClr val="5B6B72"/>
                  </a:solidFill>
                  <a:latin typeface="Calibri (MS)"/>
                  <a:ea typeface="Calibri (MS)"/>
                  <a:cs typeface="Calibri (MS)"/>
                  <a:sym typeface="Calibri (MS)"/>
                </a:rPr>
                <a:t>Anomaly check; if flagged, retrieves top-4 FAISS excerpts and prompts Gemini for a repair blueprint</a:t>
              </a:r>
            </a:p>
          </p:txBody>
        </p:sp>
      </p:grpSp>
      <p:grpSp>
        <p:nvGrpSpPr>
          <p:cNvPr id="63" name="Group 63"/>
          <p:cNvGrpSpPr/>
          <p:nvPr/>
        </p:nvGrpSpPr>
        <p:grpSpPr>
          <a:xfrm>
            <a:off x="813435" y="7877175"/>
            <a:ext cx="16615410" cy="1088898"/>
            <a:chOff x="0" y="0"/>
            <a:chExt cx="22153880" cy="1451864"/>
          </a:xfrm>
        </p:grpSpPr>
        <p:sp>
          <p:nvSpPr>
            <p:cNvPr id="64" name="Freeform 64"/>
            <p:cNvSpPr/>
            <p:nvPr/>
          </p:nvSpPr>
          <p:spPr>
            <a:xfrm>
              <a:off x="0" y="0"/>
              <a:ext cx="22153880" cy="1451864"/>
            </a:xfrm>
            <a:custGeom>
              <a:avLst/>
              <a:gdLst/>
              <a:ahLst/>
              <a:cxnLst/>
              <a:rect l="l" t="t" r="r" b="b"/>
              <a:pathLst>
                <a:path w="22153880" h="1451864">
                  <a:moveTo>
                    <a:pt x="0" y="130302"/>
                  </a:moveTo>
                  <a:cubicBezTo>
                    <a:pt x="0" y="58293"/>
                    <a:pt x="58293" y="0"/>
                    <a:pt x="130302" y="0"/>
                  </a:cubicBezTo>
                  <a:lnTo>
                    <a:pt x="22023578" y="0"/>
                  </a:lnTo>
                  <a:cubicBezTo>
                    <a:pt x="22095588" y="0"/>
                    <a:pt x="22153880" y="58293"/>
                    <a:pt x="22153880" y="130302"/>
                  </a:cubicBezTo>
                  <a:lnTo>
                    <a:pt x="22153880" y="1321562"/>
                  </a:lnTo>
                  <a:cubicBezTo>
                    <a:pt x="22153880" y="1393571"/>
                    <a:pt x="22095588" y="1451864"/>
                    <a:pt x="22023578" y="1451864"/>
                  </a:cubicBezTo>
                  <a:lnTo>
                    <a:pt x="130302" y="1451864"/>
                  </a:lnTo>
                  <a:cubicBezTo>
                    <a:pt x="58293" y="1451864"/>
                    <a:pt x="0" y="1393571"/>
                    <a:pt x="0" y="1321562"/>
                  </a:cubicBezTo>
                  <a:close/>
                </a:path>
              </a:pathLst>
            </a:custGeom>
            <a:solidFill>
              <a:srgbClr val="FFFFFF"/>
            </a:solidFill>
            <a:ln w="19050" cap="sq">
              <a:solidFill>
                <a:srgbClr val="DCE7E0"/>
              </a:solidFill>
              <a:prstDash val="solid"/>
              <a:miter/>
            </a:ln>
          </p:spPr>
          <p:txBody>
            <a:bodyPr/>
            <a:lstStyle/>
            <a:p>
              <a:endParaRPr lang="en-US"/>
            </a:p>
          </p:txBody>
        </p:sp>
      </p:grpSp>
      <p:grpSp>
        <p:nvGrpSpPr>
          <p:cNvPr id="65" name="Group 65"/>
          <p:cNvGrpSpPr/>
          <p:nvPr/>
        </p:nvGrpSpPr>
        <p:grpSpPr>
          <a:xfrm>
            <a:off x="1069848" y="8161020"/>
            <a:ext cx="1165860" cy="521208"/>
            <a:chOff x="0" y="0"/>
            <a:chExt cx="1554480" cy="694944"/>
          </a:xfrm>
        </p:grpSpPr>
        <p:sp>
          <p:nvSpPr>
            <p:cNvPr id="66" name="Freeform 66"/>
            <p:cNvSpPr/>
            <p:nvPr/>
          </p:nvSpPr>
          <p:spPr>
            <a:xfrm>
              <a:off x="0" y="0"/>
              <a:ext cx="1554480" cy="694944"/>
            </a:xfrm>
            <a:custGeom>
              <a:avLst/>
              <a:gdLst/>
              <a:ahLst/>
              <a:cxnLst/>
              <a:rect l="l" t="t" r="r" b="b"/>
              <a:pathLst>
                <a:path w="1554480" h="694944">
                  <a:moveTo>
                    <a:pt x="0" y="347472"/>
                  </a:moveTo>
                  <a:cubicBezTo>
                    <a:pt x="0" y="155575"/>
                    <a:pt x="155575" y="0"/>
                    <a:pt x="347472" y="0"/>
                  </a:cubicBezTo>
                  <a:lnTo>
                    <a:pt x="1207008" y="0"/>
                  </a:lnTo>
                  <a:cubicBezTo>
                    <a:pt x="1398905" y="0"/>
                    <a:pt x="1554480" y="155575"/>
                    <a:pt x="1554480" y="347472"/>
                  </a:cubicBezTo>
                  <a:cubicBezTo>
                    <a:pt x="1554480" y="539369"/>
                    <a:pt x="1398905" y="694944"/>
                    <a:pt x="1207008" y="694944"/>
                  </a:cubicBezTo>
                  <a:lnTo>
                    <a:pt x="347472" y="694944"/>
                  </a:lnTo>
                  <a:cubicBezTo>
                    <a:pt x="155575" y="694944"/>
                    <a:pt x="0" y="539369"/>
                    <a:pt x="0" y="347472"/>
                  </a:cubicBezTo>
                  <a:close/>
                </a:path>
              </a:pathLst>
            </a:custGeom>
            <a:solidFill>
              <a:srgbClr val="FFB703"/>
            </a:solidFill>
          </p:spPr>
          <p:txBody>
            <a:bodyPr/>
            <a:lstStyle/>
            <a:p>
              <a:endParaRPr lang="en-US"/>
            </a:p>
          </p:txBody>
        </p:sp>
      </p:grpSp>
      <p:grpSp>
        <p:nvGrpSpPr>
          <p:cNvPr id="67" name="Group 67"/>
          <p:cNvGrpSpPr/>
          <p:nvPr/>
        </p:nvGrpSpPr>
        <p:grpSpPr>
          <a:xfrm>
            <a:off x="1069848" y="8161020"/>
            <a:ext cx="1165860" cy="521208"/>
            <a:chOff x="0" y="0"/>
            <a:chExt cx="1554480" cy="694944"/>
          </a:xfrm>
        </p:grpSpPr>
        <p:sp>
          <p:nvSpPr>
            <p:cNvPr id="68" name="Freeform 68"/>
            <p:cNvSpPr/>
            <p:nvPr/>
          </p:nvSpPr>
          <p:spPr>
            <a:xfrm>
              <a:off x="0" y="0"/>
              <a:ext cx="1554480" cy="694944"/>
            </a:xfrm>
            <a:custGeom>
              <a:avLst/>
              <a:gdLst/>
              <a:ahLst/>
              <a:cxnLst/>
              <a:rect l="l" t="t" r="r" b="b"/>
              <a:pathLst>
                <a:path w="1554480" h="694944">
                  <a:moveTo>
                    <a:pt x="0" y="0"/>
                  </a:moveTo>
                  <a:lnTo>
                    <a:pt x="1554480" y="0"/>
                  </a:lnTo>
                  <a:lnTo>
                    <a:pt x="1554480" y="694944"/>
                  </a:lnTo>
                  <a:lnTo>
                    <a:pt x="0" y="694944"/>
                  </a:lnTo>
                  <a:close/>
                </a:path>
              </a:pathLst>
            </a:custGeom>
            <a:blipFill>
              <a:blip r:embed="rId3">
                <a:alphaModFix amt="0"/>
              </a:blip>
              <a:stretch>
                <a:fillRect l="-7359" r="-7359"/>
              </a:stretch>
            </a:blipFill>
          </p:spPr>
          <p:txBody>
            <a:bodyPr/>
            <a:lstStyle/>
            <a:p>
              <a:endParaRPr lang="en-US"/>
            </a:p>
          </p:txBody>
        </p:sp>
        <p:sp>
          <p:nvSpPr>
            <p:cNvPr id="69" name="TextBox 69"/>
            <p:cNvSpPr txBox="1"/>
            <p:nvPr/>
          </p:nvSpPr>
          <p:spPr>
            <a:xfrm>
              <a:off x="0" y="-38100"/>
              <a:ext cx="1554480" cy="733044"/>
            </a:xfrm>
            <a:prstGeom prst="rect">
              <a:avLst/>
            </a:prstGeom>
          </p:spPr>
          <p:txBody>
            <a:bodyPr lIns="0" tIns="0" rIns="0" bIns="0" rtlCol="0" anchor="ctr"/>
            <a:lstStyle/>
            <a:p>
              <a:pPr algn="ctr">
                <a:lnSpc>
                  <a:spcPts val="1800"/>
                </a:lnSpc>
              </a:pPr>
              <a:r>
                <a:rPr lang="en-US" sz="1500" b="1">
                  <a:solidFill>
                    <a:srgbClr val="FFFFFF"/>
                  </a:solidFill>
                  <a:latin typeface="Calibri (MS) Bold"/>
                  <a:ea typeface="Calibri (MS) Bold"/>
                  <a:cs typeface="Calibri (MS) Bold"/>
                  <a:sym typeface="Calibri (MS) Bold"/>
                </a:rPr>
                <a:t>POST</a:t>
              </a:r>
            </a:p>
          </p:txBody>
        </p:sp>
      </p:grpSp>
      <p:grpSp>
        <p:nvGrpSpPr>
          <p:cNvPr id="70" name="Group 70"/>
          <p:cNvGrpSpPr/>
          <p:nvPr/>
        </p:nvGrpSpPr>
        <p:grpSpPr>
          <a:xfrm>
            <a:off x="2537460" y="8023860"/>
            <a:ext cx="5074920" cy="795528"/>
            <a:chOff x="0" y="0"/>
            <a:chExt cx="6766560" cy="1060704"/>
          </a:xfrm>
        </p:grpSpPr>
        <p:sp>
          <p:nvSpPr>
            <p:cNvPr id="71" name="Freeform 71"/>
            <p:cNvSpPr/>
            <p:nvPr/>
          </p:nvSpPr>
          <p:spPr>
            <a:xfrm>
              <a:off x="0" y="0"/>
              <a:ext cx="6766560" cy="1060704"/>
            </a:xfrm>
            <a:custGeom>
              <a:avLst/>
              <a:gdLst/>
              <a:ahLst/>
              <a:cxnLst/>
              <a:rect l="l" t="t" r="r" b="b"/>
              <a:pathLst>
                <a:path w="6766560" h="1060704">
                  <a:moveTo>
                    <a:pt x="0" y="0"/>
                  </a:moveTo>
                  <a:lnTo>
                    <a:pt x="6766560" y="0"/>
                  </a:lnTo>
                  <a:lnTo>
                    <a:pt x="6766560" y="1060704"/>
                  </a:lnTo>
                  <a:lnTo>
                    <a:pt x="0" y="1060704"/>
                  </a:lnTo>
                  <a:close/>
                </a:path>
              </a:pathLst>
            </a:custGeom>
            <a:blipFill>
              <a:blip r:embed="rId3">
                <a:alphaModFix amt="0"/>
              </a:blip>
              <a:stretch>
                <a:fillRect t="-74301" b="-74301"/>
              </a:stretch>
            </a:blipFill>
          </p:spPr>
          <p:txBody>
            <a:bodyPr/>
            <a:lstStyle/>
            <a:p>
              <a:endParaRPr lang="en-US"/>
            </a:p>
          </p:txBody>
        </p:sp>
        <p:sp>
          <p:nvSpPr>
            <p:cNvPr id="72" name="TextBox 72"/>
            <p:cNvSpPr txBox="1"/>
            <p:nvPr/>
          </p:nvSpPr>
          <p:spPr>
            <a:xfrm>
              <a:off x="0" y="0"/>
              <a:ext cx="6766560" cy="1060704"/>
            </a:xfrm>
            <a:prstGeom prst="rect">
              <a:avLst/>
            </a:prstGeom>
          </p:spPr>
          <p:txBody>
            <a:bodyPr lIns="0" tIns="0" rIns="0" bIns="0" rtlCol="0" anchor="ctr"/>
            <a:lstStyle/>
            <a:p>
              <a:pPr algn="l">
                <a:lnSpc>
                  <a:spcPts val="2070"/>
                </a:lnSpc>
              </a:pPr>
              <a:r>
                <a:rPr lang="en-US" sz="1725" b="1">
                  <a:solidFill>
                    <a:srgbClr val="0D1B2A"/>
                  </a:solidFill>
                  <a:latin typeface="Courier New Bold"/>
                  <a:ea typeface="Courier New Bold"/>
                  <a:cs typeface="Courier New Bold"/>
                  <a:sym typeface="Courier New Bold"/>
                </a:rPr>
                <a:t>/grid/inject_anomaly/{asset_type}</a:t>
              </a:r>
            </a:p>
          </p:txBody>
        </p:sp>
      </p:grpSp>
      <p:grpSp>
        <p:nvGrpSpPr>
          <p:cNvPr id="73" name="Group 73"/>
          <p:cNvGrpSpPr/>
          <p:nvPr/>
        </p:nvGrpSpPr>
        <p:grpSpPr>
          <a:xfrm>
            <a:off x="7818120" y="8023860"/>
            <a:ext cx="9395460" cy="795528"/>
            <a:chOff x="0" y="0"/>
            <a:chExt cx="12527280" cy="1060704"/>
          </a:xfrm>
        </p:grpSpPr>
        <p:sp>
          <p:nvSpPr>
            <p:cNvPr id="74" name="Freeform 74"/>
            <p:cNvSpPr/>
            <p:nvPr/>
          </p:nvSpPr>
          <p:spPr>
            <a:xfrm>
              <a:off x="0" y="0"/>
              <a:ext cx="12527280" cy="1060704"/>
            </a:xfrm>
            <a:custGeom>
              <a:avLst/>
              <a:gdLst/>
              <a:ahLst/>
              <a:cxnLst/>
              <a:rect l="l" t="t" r="r" b="b"/>
              <a:pathLst>
                <a:path w="12527280" h="1060704">
                  <a:moveTo>
                    <a:pt x="0" y="0"/>
                  </a:moveTo>
                  <a:lnTo>
                    <a:pt x="12527280" y="0"/>
                  </a:lnTo>
                  <a:lnTo>
                    <a:pt x="12527280" y="1060704"/>
                  </a:lnTo>
                  <a:lnTo>
                    <a:pt x="0" y="1060704"/>
                  </a:lnTo>
                  <a:close/>
                </a:path>
              </a:pathLst>
            </a:custGeom>
            <a:blipFill>
              <a:blip r:embed="rId3">
                <a:alphaModFix amt="0"/>
              </a:blip>
              <a:stretch>
                <a:fillRect t="-180125" b="-180125"/>
              </a:stretch>
            </a:blipFill>
          </p:spPr>
          <p:txBody>
            <a:bodyPr/>
            <a:lstStyle/>
            <a:p>
              <a:endParaRPr lang="en-US"/>
            </a:p>
          </p:txBody>
        </p:sp>
        <p:sp>
          <p:nvSpPr>
            <p:cNvPr id="75" name="TextBox 75"/>
            <p:cNvSpPr txBox="1"/>
            <p:nvPr/>
          </p:nvSpPr>
          <p:spPr>
            <a:xfrm>
              <a:off x="0" y="-19050"/>
              <a:ext cx="12527280" cy="1079754"/>
            </a:xfrm>
            <a:prstGeom prst="rect">
              <a:avLst/>
            </a:prstGeom>
          </p:spPr>
          <p:txBody>
            <a:bodyPr lIns="0" tIns="0" rIns="0" bIns="0" rtlCol="0" anchor="ctr"/>
            <a:lstStyle/>
            <a:p>
              <a:pPr algn="l">
                <a:lnSpc>
                  <a:spcPts val="1889"/>
                </a:lnSpc>
              </a:pPr>
              <a:r>
                <a:rPr lang="en-US" sz="1575">
                  <a:solidFill>
                    <a:srgbClr val="5B6B72"/>
                  </a:solidFill>
                  <a:latin typeface="Calibri (MS)"/>
                  <a:ea typeface="Calibri (MS)"/>
                  <a:cs typeface="Calibri (MS)"/>
                  <a:sym typeface="Calibri (MS)"/>
                </a:rPr>
                <a:t>Chaos engineering: inserts a future-timestamped extreme telemetry row</a:t>
              </a:r>
            </a:p>
          </p:txBody>
        </p:sp>
      </p:grpSp>
      <p:grpSp>
        <p:nvGrpSpPr>
          <p:cNvPr id="76" name="Group 76"/>
          <p:cNvGrpSpPr/>
          <p:nvPr/>
        </p:nvGrpSpPr>
        <p:grpSpPr>
          <a:xfrm>
            <a:off x="17282160" y="9710928"/>
            <a:ext cx="822960" cy="411480"/>
            <a:chOff x="0" y="0"/>
            <a:chExt cx="1097280" cy="548640"/>
          </a:xfrm>
        </p:grpSpPr>
        <p:sp>
          <p:nvSpPr>
            <p:cNvPr id="77" name="Freeform 77"/>
            <p:cNvSpPr/>
            <p:nvPr/>
          </p:nvSpPr>
          <p:spPr>
            <a:xfrm>
              <a:off x="0" y="0"/>
              <a:ext cx="1097280" cy="548640"/>
            </a:xfrm>
            <a:custGeom>
              <a:avLst/>
              <a:gdLst/>
              <a:ahLst/>
              <a:cxnLst/>
              <a:rect l="l" t="t" r="r" b="b"/>
              <a:pathLst>
                <a:path w="1097280" h="548640">
                  <a:moveTo>
                    <a:pt x="0" y="0"/>
                  </a:moveTo>
                  <a:lnTo>
                    <a:pt x="1097280" y="0"/>
                  </a:lnTo>
                  <a:lnTo>
                    <a:pt x="1097280" y="548640"/>
                  </a:lnTo>
                  <a:lnTo>
                    <a:pt x="0" y="548640"/>
                  </a:lnTo>
                  <a:close/>
                </a:path>
              </a:pathLst>
            </a:custGeom>
            <a:blipFill>
              <a:blip r:embed="rId3">
                <a:alphaModFix amt="0"/>
              </a:blip>
              <a:stretch>
                <a:fillRect l="-14151" r="-14151"/>
              </a:stretch>
            </a:blipFill>
          </p:spPr>
          <p:txBody>
            <a:bodyPr/>
            <a:lstStyle/>
            <a:p>
              <a:endParaRPr lang="en-US"/>
            </a:p>
          </p:txBody>
        </p:sp>
        <p:sp>
          <p:nvSpPr>
            <p:cNvPr id="78" name="TextBox 78"/>
            <p:cNvSpPr txBox="1"/>
            <p:nvPr/>
          </p:nvSpPr>
          <p:spPr>
            <a:xfrm>
              <a:off x="0" y="-38100"/>
              <a:ext cx="1097280" cy="586740"/>
            </a:xfrm>
            <a:prstGeom prst="rect">
              <a:avLst/>
            </a:prstGeom>
          </p:spPr>
          <p:txBody>
            <a:bodyPr lIns="0" tIns="0" rIns="0" bIns="0" rtlCol="0" anchor="ctr"/>
            <a:lstStyle/>
            <a:p>
              <a:pPr algn="r">
                <a:lnSpc>
                  <a:spcPts val="1800"/>
                </a:lnSpc>
              </a:pPr>
              <a:r>
                <a:rPr lang="en-US" sz="1500">
                  <a:solidFill>
                    <a:srgbClr val="5B6B72"/>
                  </a:solidFill>
                  <a:latin typeface="Calibri (MS)"/>
                  <a:ea typeface="Calibri (MS)"/>
                  <a:cs typeface="Calibri (MS)"/>
                  <a:sym typeface="Calibri (MS)"/>
                </a:rPr>
                <a:t>13</a:t>
              </a: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8F6"/>
        </a:solidFill>
        <a:effectLst/>
      </p:bgPr>
    </p:bg>
    <p:spTree>
      <p:nvGrpSpPr>
        <p:cNvPr id="1" name=""/>
        <p:cNvGrpSpPr/>
        <p:nvPr/>
      </p:nvGrpSpPr>
      <p:grpSpPr>
        <a:xfrm>
          <a:off x="0" y="0"/>
          <a:ext cx="0" cy="0"/>
          <a:chOff x="0" y="0"/>
          <a:chExt cx="0" cy="0"/>
        </a:xfrm>
      </p:grpSpPr>
      <p:grpSp>
        <p:nvGrpSpPr>
          <p:cNvPr id="2" name="Group 2"/>
          <p:cNvGrpSpPr/>
          <p:nvPr/>
        </p:nvGrpSpPr>
        <p:grpSpPr>
          <a:xfrm>
            <a:off x="822960" y="576072"/>
            <a:ext cx="10972800" cy="480060"/>
            <a:chOff x="0" y="0"/>
            <a:chExt cx="14630400" cy="640080"/>
          </a:xfrm>
        </p:grpSpPr>
        <p:sp>
          <p:nvSpPr>
            <p:cNvPr id="3" name="Freeform 3"/>
            <p:cNvSpPr/>
            <p:nvPr/>
          </p:nvSpPr>
          <p:spPr>
            <a:xfrm>
              <a:off x="0" y="0"/>
              <a:ext cx="14630400" cy="640080"/>
            </a:xfrm>
            <a:custGeom>
              <a:avLst/>
              <a:gdLst/>
              <a:ahLst/>
              <a:cxnLst/>
              <a:rect l="l" t="t" r="r" b="b"/>
              <a:pathLst>
                <a:path w="14630400" h="640080">
                  <a:moveTo>
                    <a:pt x="0" y="0"/>
                  </a:moveTo>
                  <a:lnTo>
                    <a:pt x="14630400" y="0"/>
                  </a:lnTo>
                  <a:lnTo>
                    <a:pt x="14630400" y="640080"/>
                  </a:lnTo>
                  <a:lnTo>
                    <a:pt x="0" y="640080"/>
                  </a:lnTo>
                  <a:close/>
                </a:path>
              </a:pathLst>
            </a:custGeom>
            <a:blipFill>
              <a:blip r:embed="rId3">
                <a:alphaModFix amt="0"/>
              </a:blip>
              <a:stretch>
                <a:fillRect t="-395372" b="-395372"/>
              </a:stretch>
            </a:blipFill>
          </p:spPr>
          <p:txBody>
            <a:bodyPr/>
            <a:lstStyle/>
            <a:p>
              <a:endParaRPr lang="en-US"/>
            </a:p>
          </p:txBody>
        </p:sp>
        <p:sp>
          <p:nvSpPr>
            <p:cNvPr id="4" name="TextBox 4"/>
            <p:cNvSpPr txBox="1"/>
            <p:nvPr/>
          </p:nvSpPr>
          <p:spPr>
            <a:xfrm>
              <a:off x="0" y="-38100"/>
              <a:ext cx="14630400" cy="678180"/>
            </a:xfrm>
            <a:prstGeom prst="rect">
              <a:avLst/>
            </a:prstGeom>
          </p:spPr>
          <p:txBody>
            <a:bodyPr lIns="0" tIns="0" rIns="0" bIns="0" rtlCol="0" anchor="ctr"/>
            <a:lstStyle/>
            <a:p>
              <a:pPr algn="l">
                <a:lnSpc>
                  <a:spcPts val="2160"/>
                </a:lnSpc>
              </a:pPr>
              <a:r>
                <a:rPr lang="en-US" sz="1800" b="1" spc="299">
                  <a:solidFill>
                    <a:srgbClr val="40916C"/>
                  </a:solidFill>
                  <a:latin typeface="Calibri (MS) Bold"/>
                  <a:ea typeface="Calibri (MS) Bold"/>
                  <a:cs typeface="Calibri (MS) Bold"/>
                  <a:sym typeface="Calibri (MS) Bold"/>
                </a:rPr>
                <a:t>PART 04 · API &amp; DASHBOARD</a:t>
              </a:r>
            </a:p>
          </p:txBody>
        </p:sp>
      </p:grpSp>
      <p:grpSp>
        <p:nvGrpSpPr>
          <p:cNvPr id="5" name="Group 5"/>
          <p:cNvGrpSpPr/>
          <p:nvPr/>
        </p:nvGrpSpPr>
        <p:grpSpPr>
          <a:xfrm>
            <a:off x="822960" y="987552"/>
            <a:ext cx="15773400" cy="1234440"/>
            <a:chOff x="0" y="0"/>
            <a:chExt cx="21031200" cy="1645920"/>
          </a:xfrm>
        </p:grpSpPr>
        <p:sp>
          <p:nvSpPr>
            <p:cNvPr id="6" name="Freeform 6"/>
            <p:cNvSpPr/>
            <p:nvPr/>
          </p:nvSpPr>
          <p:spPr>
            <a:xfrm>
              <a:off x="0" y="0"/>
              <a:ext cx="21031200" cy="1645920"/>
            </a:xfrm>
            <a:custGeom>
              <a:avLst/>
              <a:gdLst/>
              <a:ahLst/>
              <a:cxnLst/>
              <a:rect l="l" t="t" r="r" b="b"/>
              <a:pathLst>
                <a:path w="21031200" h="1645920">
                  <a:moveTo>
                    <a:pt x="0" y="0"/>
                  </a:moveTo>
                  <a:lnTo>
                    <a:pt x="21031200" y="0"/>
                  </a:lnTo>
                  <a:lnTo>
                    <a:pt x="21031200" y="1645920"/>
                  </a:lnTo>
                  <a:lnTo>
                    <a:pt x="0" y="1645920"/>
                  </a:lnTo>
                  <a:close/>
                </a:path>
              </a:pathLst>
            </a:custGeom>
            <a:blipFill>
              <a:blip r:embed="rId3">
                <a:alphaModFix amt="0"/>
              </a:blip>
              <a:stretch>
                <a:fillRect t="-198975" b="-198975"/>
              </a:stretch>
            </a:blipFill>
          </p:spPr>
          <p:txBody>
            <a:bodyPr/>
            <a:lstStyle/>
            <a:p>
              <a:endParaRPr lang="en-US"/>
            </a:p>
          </p:txBody>
        </p:sp>
        <p:sp>
          <p:nvSpPr>
            <p:cNvPr id="7" name="TextBox 7"/>
            <p:cNvSpPr txBox="1"/>
            <p:nvPr/>
          </p:nvSpPr>
          <p:spPr>
            <a:xfrm>
              <a:off x="0" y="-9525"/>
              <a:ext cx="21031200" cy="1655445"/>
            </a:xfrm>
            <a:prstGeom prst="rect">
              <a:avLst/>
            </a:prstGeom>
          </p:spPr>
          <p:txBody>
            <a:bodyPr lIns="0" tIns="0" rIns="0" bIns="0" rtlCol="0" anchor="ctr"/>
            <a:lstStyle/>
            <a:p>
              <a:pPr algn="l">
                <a:lnSpc>
                  <a:spcPts val="5759"/>
                </a:lnSpc>
              </a:pPr>
              <a:r>
                <a:rPr lang="en-US" sz="4800" b="1">
                  <a:solidFill>
                    <a:srgbClr val="0D1B2A"/>
                  </a:solidFill>
                  <a:latin typeface="Cambria Bold"/>
                  <a:ea typeface="Cambria Bold"/>
                  <a:cs typeface="Cambria Bold"/>
                  <a:sym typeface="Cambria Bold"/>
                </a:rPr>
                <a:t>The RAG Diagnostic Engine</a:t>
              </a:r>
            </a:p>
          </p:txBody>
        </p:sp>
      </p:grpSp>
      <p:grpSp>
        <p:nvGrpSpPr>
          <p:cNvPr id="8" name="Group 8"/>
          <p:cNvGrpSpPr/>
          <p:nvPr/>
        </p:nvGrpSpPr>
        <p:grpSpPr>
          <a:xfrm>
            <a:off x="822960" y="2125980"/>
            <a:ext cx="16047720" cy="617220"/>
            <a:chOff x="0" y="0"/>
            <a:chExt cx="21396960" cy="822960"/>
          </a:xfrm>
        </p:grpSpPr>
        <p:sp>
          <p:nvSpPr>
            <p:cNvPr id="9" name="Freeform 9"/>
            <p:cNvSpPr/>
            <p:nvPr/>
          </p:nvSpPr>
          <p:spPr>
            <a:xfrm>
              <a:off x="0" y="0"/>
              <a:ext cx="21396961" cy="822960"/>
            </a:xfrm>
            <a:custGeom>
              <a:avLst/>
              <a:gdLst/>
              <a:ahLst/>
              <a:cxnLst/>
              <a:rect l="l" t="t" r="r" b="b"/>
              <a:pathLst>
                <a:path w="21396961" h="822960">
                  <a:moveTo>
                    <a:pt x="0" y="0"/>
                  </a:moveTo>
                  <a:lnTo>
                    <a:pt x="21396961" y="0"/>
                  </a:lnTo>
                  <a:lnTo>
                    <a:pt x="21396961" y="822960"/>
                  </a:lnTo>
                  <a:lnTo>
                    <a:pt x="0" y="822960"/>
                  </a:lnTo>
                  <a:close/>
                </a:path>
              </a:pathLst>
            </a:custGeom>
            <a:blipFill>
              <a:blip r:embed="rId3">
                <a:alphaModFix amt="0"/>
              </a:blip>
              <a:stretch>
                <a:fillRect t="-456610" b="-456610"/>
              </a:stretch>
            </a:blipFill>
          </p:spPr>
          <p:txBody>
            <a:bodyPr/>
            <a:lstStyle/>
            <a:p>
              <a:endParaRPr lang="en-US"/>
            </a:p>
          </p:txBody>
        </p:sp>
        <p:sp>
          <p:nvSpPr>
            <p:cNvPr id="10" name="TextBox 10"/>
            <p:cNvSpPr txBox="1"/>
            <p:nvPr/>
          </p:nvSpPr>
          <p:spPr>
            <a:xfrm>
              <a:off x="0" y="-38100"/>
              <a:ext cx="21396960" cy="861060"/>
            </a:xfrm>
            <a:prstGeom prst="rect">
              <a:avLst/>
            </a:prstGeom>
          </p:spPr>
          <p:txBody>
            <a:bodyPr lIns="0" tIns="0" rIns="0" bIns="0" rtlCol="0" anchor="ctr"/>
            <a:lstStyle/>
            <a:p>
              <a:pPr algn="l">
                <a:lnSpc>
                  <a:spcPts val="2250"/>
                </a:lnSpc>
              </a:pPr>
              <a:r>
                <a:rPr lang="en-US" sz="1875">
                  <a:solidFill>
                    <a:srgbClr val="5B6B72"/>
                  </a:solidFill>
                  <a:latin typeface="Calibri (MS)"/>
                  <a:ea typeface="Calibri (MS)"/>
                  <a:cs typeface="Calibri (MS)"/>
                  <a:sym typeface="Calibri (MS)"/>
                </a:rPr>
                <a:t>When an anomaly fires, DEPI Grid moves from detection to explanation — retrieving real manual excerpts and asking Gemini to write the fix.</a:t>
              </a:r>
            </a:p>
          </p:txBody>
        </p:sp>
      </p:grpSp>
      <p:grpSp>
        <p:nvGrpSpPr>
          <p:cNvPr id="11" name="Group 11"/>
          <p:cNvGrpSpPr/>
          <p:nvPr/>
        </p:nvGrpSpPr>
        <p:grpSpPr>
          <a:xfrm>
            <a:off x="813435" y="3076575"/>
            <a:ext cx="4065270" cy="5093970"/>
            <a:chOff x="0" y="0"/>
            <a:chExt cx="5420360" cy="6791960"/>
          </a:xfrm>
        </p:grpSpPr>
        <p:sp>
          <p:nvSpPr>
            <p:cNvPr id="12" name="Freeform 12"/>
            <p:cNvSpPr/>
            <p:nvPr/>
          </p:nvSpPr>
          <p:spPr>
            <a:xfrm>
              <a:off x="0" y="0"/>
              <a:ext cx="5420360" cy="6791960"/>
            </a:xfrm>
            <a:custGeom>
              <a:avLst/>
              <a:gdLst/>
              <a:ahLst/>
              <a:cxnLst/>
              <a:rect l="l" t="t" r="r" b="b"/>
              <a:pathLst>
                <a:path w="5420360" h="6791960">
                  <a:moveTo>
                    <a:pt x="0" y="183769"/>
                  </a:moveTo>
                  <a:cubicBezTo>
                    <a:pt x="0" y="82296"/>
                    <a:pt x="82296" y="0"/>
                    <a:pt x="183769" y="0"/>
                  </a:cubicBezTo>
                  <a:lnTo>
                    <a:pt x="5236591" y="0"/>
                  </a:lnTo>
                  <a:cubicBezTo>
                    <a:pt x="5338064" y="0"/>
                    <a:pt x="5420360" y="82296"/>
                    <a:pt x="5420360" y="183769"/>
                  </a:cubicBezTo>
                  <a:lnTo>
                    <a:pt x="5420360" y="6608191"/>
                  </a:lnTo>
                  <a:cubicBezTo>
                    <a:pt x="5420360" y="6709664"/>
                    <a:pt x="5338064" y="6791960"/>
                    <a:pt x="5236591" y="6791960"/>
                  </a:cubicBezTo>
                  <a:lnTo>
                    <a:pt x="183769" y="6791960"/>
                  </a:lnTo>
                  <a:cubicBezTo>
                    <a:pt x="82296" y="6791960"/>
                    <a:pt x="0" y="6709664"/>
                    <a:pt x="0" y="6608191"/>
                  </a:cubicBezTo>
                  <a:close/>
                </a:path>
              </a:pathLst>
            </a:custGeom>
            <a:solidFill>
              <a:srgbClr val="FFFFFF"/>
            </a:solidFill>
            <a:ln w="19050" cap="sq">
              <a:solidFill>
                <a:srgbClr val="DCE7E0"/>
              </a:solidFill>
              <a:prstDash val="solid"/>
              <a:miter/>
            </a:ln>
          </p:spPr>
          <p:txBody>
            <a:bodyPr/>
            <a:lstStyle/>
            <a:p>
              <a:endParaRPr lang="en-US"/>
            </a:p>
          </p:txBody>
        </p:sp>
      </p:grpSp>
      <p:grpSp>
        <p:nvGrpSpPr>
          <p:cNvPr id="13" name="Group 13"/>
          <p:cNvGrpSpPr/>
          <p:nvPr/>
        </p:nvGrpSpPr>
        <p:grpSpPr>
          <a:xfrm>
            <a:off x="1165860" y="3429000"/>
            <a:ext cx="754380" cy="754380"/>
            <a:chOff x="0" y="0"/>
            <a:chExt cx="1005840" cy="1005840"/>
          </a:xfrm>
        </p:grpSpPr>
        <p:sp>
          <p:nvSpPr>
            <p:cNvPr id="14" name="Freeform 14"/>
            <p:cNvSpPr/>
            <p:nvPr/>
          </p:nvSpPr>
          <p:spPr>
            <a:xfrm>
              <a:off x="0" y="0"/>
              <a:ext cx="1005840" cy="1005840"/>
            </a:xfrm>
            <a:custGeom>
              <a:avLst/>
              <a:gdLst/>
              <a:ahLst/>
              <a:cxnLst/>
              <a:rect l="l" t="t" r="r" b="b"/>
              <a:pathLst>
                <a:path w="1005840" h="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40916C"/>
            </a:solidFill>
          </p:spPr>
          <p:txBody>
            <a:bodyPr/>
            <a:lstStyle/>
            <a:p>
              <a:endParaRPr lang="en-US"/>
            </a:p>
          </p:txBody>
        </p:sp>
      </p:grpSp>
      <p:grpSp>
        <p:nvGrpSpPr>
          <p:cNvPr id="15" name="Group 15"/>
          <p:cNvGrpSpPr/>
          <p:nvPr/>
        </p:nvGrpSpPr>
        <p:grpSpPr>
          <a:xfrm>
            <a:off x="1165860" y="3429000"/>
            <a:ext cx="754380" cy="754380"/>
            <a:chOff x="0" y="0"/>
            <a:chExt cx="1005840" cy="1005840"/>
          </a:xfrm>
        </p:grpSpPr>
        <p:sp>
          <p:nvSpPr>
            <p:cNvPr id="16" name="Freeform 16"/>
            <p:cNvSpPr/>
            <p:nvPr/>
          </p:nvSpPr>
          <p:spPr>
            <a:xfrm>
              <a:off x="0" y="0"/>
              <a:ext cx="1005840" cy="1005840"/>
            </a:xfrm>
            <a:custGeom>
              <a:avLst/>
              <a:gdLst/>
              <a:ahLst/>
              <a:cxnLst/>
              <a:rect l="l" t="t" r="r" b="b"/>
              <a:pathLst>
                <a:path w="1005840" h="1005840">
                  <a:moveTo>
                    <a:pt x="0" y="0"/>
                  </a:moveTo>
                  <a:lnTo>
                    <a:pt x="1005840" y="0"/>
                  </a:lnTo>
                  <a:lnTo>
                    <a:pt x="1005840" y="1005840"/>
                  </a:lnTo>
                  <a:lnTo>
                    <a:pt x="0" y="1005840"/>
                  </a:lnTo>
                  <a:close/>
                </a:path>
              </a:pathLst>
            </a:custGeom>
            <a:blipFill>
              <a:blip r:embed="rId3">
                <a:alphaModFix amt="0"/>
              </a:blip>
              <a:stretch>
                <a:fillRect l="-78303" r="-78303"/>
              </a:stretch>
            </a:blipFill>
          </p:spPr>
          <p:txBody>
            <a:bodyPr/>
            <a:lstStyle/>
            <a:p>
              <a:endParaRPr lang="en-US"/>
            </a:p>
          </p:txBody>
        </p:sp>
        <p:sp>
          <p:nvSpPr>
            <p:cNvPr id="17" name="TextBox 17"/>
            <p:cNvSpPr txBox="1"/>
            <p:nvPr/>
          </p:nvSpPr>
          <p:spPr>
            <a:xfrm>
              <a:off x="0" y="-38100"/>
              <a:ext cx="1005840" cy="1043940"/>
            </a:xfrm>
            <a:prstGeom prst="rect">
              <a:avLst/>
            </a:prstGeom>
          </p:spPr>
          <p:txBody>
            <a:bodyPr lIns="0" tIns="0" rIns="0" bIns="0" rtlCol="0" anchor="ctr"/>
            <a:lstStyle/>
            <a:p>
              <a:pPr algn="ctr">
                <a:lnSpc>
                  <a:spcPts val="2574"/>
                </a:lnSpc>
              </a:pPr>
              <a:r>
                <a:rPr lang="en-US" sz="2145" b="1">
                  <a:solidFill>
                    <a:srgbClr val="FFFFFF"/>
                  </a:solidFill>
                  <a:latin typeface="Calibri (MS) Bold"/>
                  <a:ea typeface="Calibri (MS) Bold"/>
                  <a:cs typeface="Calibri (MS) Bold"/>
                  <a:sym typeface="Calibri (MS) Bold"/>
                </a:rPr>
                <a:t>1</a:t>
              </a:r>
            </a:p>
          </p:txBody>
        </p:sp>
      </p:grpSp>
      <p:grpSp>
        <p:nvGrpSpPr>
          <p:cNvPr id="18" name="Group 18"/>
          <p:cNvGrpSpPr/>
          <p:nvPr/>
        </p:nvGrpSpPr>
        <p:grpSpPr>
          <a:xfrm>
            <a:off x="1165860" y="4457700"/>
            <a:ext cx="3360420" cy="891540"/>
            <a:chOff x="0" y="0"/>
            <a:chExt cx="4480560" cy="1188720"/>
          </a:xfrm>
        </p:grpSpPr>
        <p:sp>
          <p:nvSpPr>
            <p:cNvPr id="19" name="Freeform 19"/>
            <p:cNvSpPr/>
            <p:nvPr/>
          </p:nvSpPr>
          <p:spPr>
            <a:xfrm>
              <a:off x="0" y="0"/>
              <a:ext cx="4480560" cy="1188720"/>
            </a:xfrm>
            <a:custGeom>
              <a:avLst/>
              <a:gdLst/>
              <a:ahLst/>
              <a:cxnLst/>
              <a:rect l="l" t="t" r="r" b="b"/>
              <a:pathLst>
                <a:path w="4480560" h="1188720">
                  <a:moveTo>
                    <a:pt x="0" y="0"/>
                  </a:moveTo>
                  <a:lnTo>
                    <a:pt x="4480560" y="0"/>
                  </a:lnTo>
                  <a:lnTo>
                    <a:pt x="4480560" y="1188720"/>
                  </a:lnTo>
                  <a:lnTo>
                    <a:pt x="0" y="1188720"/>
                  </a:lnTo>
                  <a:close/>
                </a:path>
              </a:pathLst>
            </a:custGeom>
            <a:blipFill>
              <a:blip r:embed="rId3">
                <a:alphaModFix amt="0"/>
              </a:blip>
              <a:stretch>
                <a:fillRect t="-23443" b="-23443"/>
              </a:stretch>
            </a:blipFill>
          </p:spPr>
          <p:txBody>
            <a:bodyPr/>
            <a:lstStyle/>
            <a:p>
              <a:endParaRPr lang="en-US"/>
            </a:p>
          </p:txBody>
        </p:sp>
        <p:sp>
          <p:nvSpPr>
            <p:cNvPr id="20" name="TextBox 20"/>
            <p:cNvSpPr txBox="1"/>
            <p:nvPr/>
          </p:nvSpPr>
          <p:spPr>
            <a:xfrm>
              <a:off x="0" y="-47625"/>
              <a:ext cx="4480560" cy="1236345"/>
            </a:xfrm>
            <a:prstGeom prst="rect">
              <a:avLst/>
            </a:prstGeom>
          </p:spPr>
          <p:txBody>
            <a:bodyPr lIns="0" tIns="0" rIns="0" bIns="0" rtlCol="0" anchor="ctr"/>
            <a:lstStyle/>
            <a:p>
              <a:pPr algn="l">
                <a:lnSpc>
                  <a:spcPts val="2340"/>
                </a:lnSpc>
              </a:pPr>
              <a:r>
                <a:rPr lang="en-US" sz="1950" b="1">
                  <a:solidFill>
                    <a:srgbClr val="0D1B2A"/>
                  </a:solidFill>
                  <a:latin typeface="Calibri (MS) Bold"/>
                  <a:ea typeface="Calibri (MS) Bold"/>
                  <a:cs typeface="Calibri (MS) Bold"/>
                  <a:sym typeface="Calibri (MS) Bold"/>
                </a:rPr>
                <a:t>Ingest OEM Manuals</a:t>
              </a:r>
            </a:p>
          </p:txBody>
        </p:sp>
      </p:grpSp>
      <p:grpSp>
        <p:nvGrpSpPr>
          <p:cNvPr id="21" name="Group 21"/>
          <p:cNvGrpSpPr/>
          <p:nvPr/>
        </p:nvGrpSpPr>
        <p:grpSpPr>
          <a:xfrm>
            <a:off x="1165860" y="5417820"/>
            <a:ext cx="3360420" cy="2606040"/>
            <a:chOff x="0" y="0"/>
            <a:chExt cx="4480560" cy="3474720"/>
          </a:xfrm>
        </p:grpSpPr>
        <p:sp>
          <p:nvSpPr>
            <p:cNvPr id="22" name="Freeform 22"/>
            <p:cNvSpPr/>
            <p:nvPr/>
          </p:nvSpPr>
          <p:spPr>
            <a:xfrm>
              <a:off x="0" y="0"/>
              <a:ext cx="4480560" cy="3474720"/>
            </a:xfrm>
            <a:custGeom>
              <a:avLst/>
              <a:gdLst/>
              <a:ahLst/>
              <a:cxnLst/>
              <a:rect l="l" t="t" r="r" b="b"/>
              <a:pathLst>
                <a:path w="4480560" h="3474720">
                  <a:moveTo>
                    <a:pt x="0" y="0"/>
                  </a:moveTo>
                  <a:lnTo>
                    <a:pt x="4480560" y="0"/>
                  </a:lnTo>
                  <a:lnTo>
                    <a:pt x="4480560" y="3474720"/>
                  </a:lnTo>
                  <a:lnTo>
                    <a:pt x="0" y="3474720"/>
                  </a:lnTo>
                  <a:close/>
                </a:path>
              </a:pathLst>
            </a:custGeom>
            <a:blipFill>
              <a:blip r:embed="rId3">
                <a:alphaModFix amt="0"/>
              </a:blip>
              <a:stretch>
                <a:fillRect l="-49500" r="-49500"/>
              </a:stretch>
            </a:blipFill>
          </p:spPr>
          <p:txBody>
            <a:bodyPr/>
            <a:lstStyle/>
            <a:p>
              <a:endParaRPr lang="en-US"/>
            </a:p>
          </p:txBody>
        </p:sp>
        <p:sp>
          <p:nvSpPr>
            <p:cNvPr id="23" name="TextBox 23"/>
            <p:cNvSpPr txBox="1"/>
            <p:nvPr/>
          </p:nvSpPr>
          <p:spPr>
            <a:xfrm>
              <a:off x="0" y="-76200"/>
              <a:ext cx="4480560" cy="3550920"/>
            </a:xfrm>
            <a:prstGeom prst="rect">
              <a:avLst/>
            </a:prstGeom>
          </p:spPr>
          <p:txBody>
            <a:bodyPr lIns="0" tIns="0" rIns="0" bIns="0" rtlCol="0" anchor="ctr"/>
            <a:lstStyle/>
            <a:p>
              <a:pPr algn="l">
                <a:lnSpc>
                  <a:spcPts val="2234"/>
                </a:lnSpc>
              </a:pPr>
              <a:r>
                <a:rPr lang="en-US" sz="1455">
                  <a:solidFill>
                    <a:srgbClr val="5B6B72"/>
                  </a:solidFill>
                  <a:latin typeface="Calibri (MS)"/>
                  <a:ea typeface="Calibri (MS)"/>
                  <a:cs typeface="Calibri (MS)"/>
                  <a:sym typeface="Calibri (MS)"/>
                </a:rPr>
                <a:t>PyPDFLoader reads hardware manuals (e.g. ABB PVS800); RecursiveCharacterTextSplitter chunks text into 1,500-char pieces with 200-char overlap.</a:t>
              </a:r>
            </a:p>
          </p:txBody>
        </p:sp>
      </p:grpSp>
      <p:grpSp>
        <p:nvGrpSpPr>
          <p:cNvPr id="24" name="Group 24"/>
          <p:cNvGrpSpPr/>
          <p:nvPr/>
        </p:nvGrpSpPr>
        <p:grpSpPr>
          <a:xfrm>
            <a:off x="4877562" y="5535930"/>
            <a:ext cx="188976" cy="38100"/>
            <a:chOff x="0" y="0"/>
            <a:chExt cx="251968" cy="50800"/>
          </a:xfrm>
        </p:grpSpPr>
        <p:sp>
          <p:nvSpPr>
            <p:cNvPr id="25" name="Freeform 25"/>
            <p:cNvSpPr/>
            <p:nvPr/>
          </p:nvSpPr>
          <p:spPr>
            <a:xfrm>
              <a:off x="0" y="0"/>
              <a:ext cx="251968" cy="50800"/>
            </a:xfrm>
            <a:custGeom>
              <a:avLst/>
              <a:gdLst/>
              <a:ahLst/>
              <a:cxnLst/>
              <a:rect l="l" t="t" r="r" b="b"/>
              <a:pathLst>
                <a:path w="251968" h="50800">
                  <a:moveTo>
                    <a:pt x="0" y="0"/>
                  </a:moveTo>
                  <a:lnTo>
                    <a:pt x="251968" y="50800"/>
                  </a:lnTo>
                </a:path>
              </a:pathLst>
            </a:custGeom>
            <a:blipFill>
              <a:blip r:embed="rId3">
                <a:alphaModFix amt="0"/>
              </a:blip>
              <a:stretch>
                <a:fillRect t="-46645" b="-46645"/>
              </a:stretch>
            </a:blipFill>
            <a:ln w="38100" cap="sq">
              <a:solidFill>
                <a:srgbClr val="74C69D"/>
              </a:solidFill>
              <a:prstDash val="solid"/>
              <a:miter/>
            </a:ln>
          </p:spPr>
          <p:txBody>
            <a:bodyPr/>
            <a:lstStyle/>
            <a:p>
              <a:endParaRPr lang="en-US"/>
            </a:p>
          </p:txBody>
        </p:sp>
      </p:grpSp>
      <p:grpSp>
        <p:nvGrpSpPr>
          <p:cNvPr id="26" name="Group 26"/>
          <p:cNvGrpSpPr/>
          <p:nvPr/>
        </p:nvGrpSpPr>
        <p:grpSpPr>
          <a:xfrm>
            <a:off x="5065395" y="3076575"/>
            <a:ext cx="4065270" cy="5093970"/>
            <a:chOff x="0" y="0"/>
            <a:chExt cx="5420360" cy="6791960"/>
          </a:xfrm>
        </p:grpSpPr>
        <p:sp>
          <p:nvSpPr>
            <p:cNvPr id="27" name="Freeform 27"/>
            <p:cNvSpPr/>
            <p:nvPr/>
          </p:nvSpPr>
          <p:spPr>
            <a:xfrm>
              <a:off x="0" y="0"/>
              <a:ext cx="5420360" cy="6791960"/>
            </a:xfrm>
            <a:custGeom>
              <a:avLst/>
              <a:gdLst/>
              <a:ahLst/>
              <a:cxnLst/>
              <a:rect l="l" t="t" r="r" b="b"/>
              <a:pathLst>
                <a:path w="5420360" h="6791960">
                  <a:moveTo>
                    <a:pt x="0" y="183769"/>
                  </a:moveTo>
                  <a:cubicBezTo>
                    <a:pt x="0" y="82296"/>
                    <a:pt x="82296" y="0"/>
                    <a:pt x="183769" y="0"/>
                  </a:cubicBezTo>
                  <a:lnTo>
                    <a:pt x="5236591" y="0"/>
                  </a:lnTo>
                  <a:cubicBezTo>
                    <a:pt x="5338064" y="0"/>
                    <a:pt x="5420360" y="82296"/>
                    <a:pt x="5420360" y="183769"/>
                  </a:cubicBezTo>
                  <a:lnTo>
                    <a:pt x="5420360" y="6608191"/>
                  </a:lnTo>
                  <a:cubicBezTo>
                    <a:pt x="5420360" y="6709664"/>
                    <a:pt x="5338064" y="6791960"/>
                    <a:pt x="5236591" y="6791960"/>
                  </a:cubicBezTo>
                  <a:lnTo>
                    <a:pt x="183769" y="6791960"/>
                  </a:lnTo>
                  <a:cubicBezTo>
                    <a:pt x="82296" y="6791960"/>
                    <a:pt x="0" y="6709664"/>
                    <a:pt x="0" y="6608191"/>
                  </a:cubicBezTo>
                  <a:close/>
                </a:path>
              </a:pathLst>
            </a:custGeom>
            <a:solidFill>
              <a:srgbClr val="FFFFFF"/>
            </a:solidFill>
            <a:ln w="19050" cap="sq">
              <a:solidFill>
                <a:srgbClr val="DCE7E0"/>
              </a:solidFill>
              <a:prstDash val="solid"/>
              <a:miter/>
            </a:ln>
          </p:spPr>
          <p:txBody>
            <a:bodyPr/>
            <a:lstStyle/>
            <a:p>
              <a:endParaRPr lang="en-US"/>
            </a:p>
          </p:txBody>
        </p:sp>
      </p:grpSp>
      <p:grpSp>
        <p:nvGrpSpPr>
          <p:cNvPr id="28" name="Group 28"/>
          <p:cNvGrpSpPr/>
          <p:nvPr/>
        </p:nvGrpSpPr>
        <p:grpSpPr>
          <a:xfrm>
            <a:off x="5417820" y="3429000"/>
            <a:ext cx="754380" cy="754380"/>
            <a:chOff x="0" y="0"/>
            <a:chExt cx="1005840" cy="1005840"/>
          </a:xfrm>
        </p:grpSpPr>
        <p:sp>
          <p:nvSpPr>
            <p:cNvPr id="29" name="Freeform 29"/>
            <p:cNvSpPr/>
            <p:nvPr/>
          </p:nvSpPr>
          <p:spPr>
            <a:xfrm>
              <a:off x="0" y="0"/>
              <a:ext cx="1005840" cy="1005840"/>
            </a:xfrm>
            <a:custGeom>
              <a:avLst/>
              <a:gdLst/>
              <a:ahLst/>
              <a:cxnLst/>
              <a:rect l="l" t="t" r="r" b="b"/>
              <a:pathLst>
                <a:path w="1005840" h="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40916C"/>
            </a:solidFill>
          </p:spPr>
          <p:txBody>
            <a:bodyPr/>
            <a:lstStyle/>
            <a:p>
              <a:endParaRPr lang="en-US"/>
            </a:p>
          </p:txBody>
        </p:sp>
      </p:grpSp>
      <p:grpSp>
        <p:nvGrpSpPr>
          <p:cNvPr id="30" name="Group 30"/>
          <p:cNvGrpSpPr/>
          <p:nvPr/>
        </p:nvGrpSpPr>
        <p:grpSpPr>
          <a:xfrm>
            <a:off x="5417820" y="3429000"/>
            <a:ext cx="754380" cy="754380"/>
            <a:chOff x="0" y="0"/>
            <a:chExt cx="1005840" cy="1005840"/>
          </a:xfrm>
        </p:grpSpPr>
        <p:sp>
          <p:nvSpPr>
            <p:cNvPr id="31" name="Freeform 31"/>
            <p:cNvSpPr/>
            <p:nvPr/>
          </p:nvSpPr>
          <p:spPr>
            <a:xfrm>
              <a:off x="0" y="0"/>
              <a:ext cx="1005840" cy="1005840"/>
            </a:xfrm>
            <a:custGeom>
              <a:avLst/>
              <a:gdLst/>
              <a:ahLst/>
              <a:cxnLst/>
              <a:rect l="l" t="t" r="r" b="b"/>
              <a:pathLst>
                <a:path w="1005840" h="1005840">
                  <a:moveTo>
                    <a:pt x="0" y="0"/>
                  </a:moveTo>
                  <a:lnTo>
                    <a:pt x="1005840" y="0"/>
                  </a:lnTo>
                  <a:lnTo>
                    <a:pt x="1005840" y="1005840"/>
                  </a:lnTo>
                  <a:lnTo>
                    <a:pt x="0" y="1005840"/>
                  </a:lnTo>
                  <a:close/>
                </a:path>
              </a:pathLst>
            </a:custGeom>
            <a:blipFill>
              <a:blip r:embed="rId3">
                <a:alphaModFix amt="0"/>
              </a:blip>
              <a:stretch>
                <a:fillRect l="-78303" r="-78303"/>
              </a:stretch>
            </a:blipFill>
          </p:spPr>
          <p:txBody>
            <a:bodyPr/>
            <a:lstStyle/>
            <a:p>
              <a:endParaRPr lang="en-US"/>
            </a:p>
          </p:txBody>
        </p:sp>
        <p:sp>
          <p:nvSpPr>
            <p:cNvPr id="32" name="TextBox 32"/>
            <p:cNvSpPr txBox="1"/>
            <p:nvPr/>
          </p:nvSpPr>
          <p:spPr>
            <a:xfrm>
              <a:off x="0" y="-38100"/>
              <a:ext cx="1005840" cy="1043940"/>
            </a:xfrm>
            <a:prstGeom prst="rect">
              <a:avLst/>
            </a:prstGeom>
          </p:spPr>
          <p:txBody>
            <a:bodyPr lIns="0" tIns="0" rIns="0" bIns="0" rtlCol="0" anchor="ctr"/>
            <a:lstStyle/>
            <a:p>
              <a:pPr algn="ctr">
                <a:lnSpc>
                  <a:spcPts val="2574"/>
                </a:lnSpc>
              </a:pPr>
              <a:r>
                <a:rPr lang="en-US" sz="2145" b="1">
                  <a:solidFill>
                    <a:srgbClr val="FFFFFF"/>
                  </a:solidFill>
                  <a:latin typeface="Calibri (MS) Bold"/>
                  <a:ea typeface="Calibri (MS) Bold"/>
                  <a:cs typeface="Calibri (MS) Bold"/>
                  <a:sym typeface="Calibri (MS) Bold"/>
                </a:rPr>
                <a:t>2</a:t>
              </a:r>
            </a:p>
          </p:txBody>
        </p:sp>
      </p:grpSp>
      <p:grpSp>
        <p:nvGrpSpPr>
          <p:cNvPr id="33" name="Group 33"/>
          <p:cNvGrpSpPr/>
          <p:nvPr/>
        </p:nvGrpSpPr>
        <p:grpSpPr>
          <a:xfrm>
            <a:off x="5417820" y="4457700"/>
            <a:ext cx="3360420" cy="891540"/>
            <a:chOff x="0" y="0"/>
            <a:chExt cx="4480560" cy="1188720"/>
          </a:xfrm>
        </p:grpSpPr>
        <p:sp>
          <p:nvSpPr>
            <p:cNvPr id="34" name="Freeform 34"/>
            <p:cNvSpPr/>
            <p:nvPr/>
          </p:nvSpPr>
          <p:spPr>
            <a:xfrm>
              <a:off x="0" y="0"/>
              <a:ext cx="4480560" cy="1188720"/>
            </a:xfrm>
            <a:custGeom>
              <a:avLst/>
              <a:gdLst/>
              <a:ahLst/>
              <a:cxnLst/>
              <a:rect l="l" t="t" r="r" b="b"/>
              <a:pathLst>
                <a:path w="4480560" h="1188720">
                  <a:moveTo>
                    <a:pt x="0" y="0"/>
                  </a:moveTo>
                  <a:lnTo>
                    <a:pt x="4480560" y="0"/>
                  </a:lnTo>
                  <a:lnTo>
                    <a:pt x="4480560" y="1188720"/>
                  </a:lnTo>
                  <a:lnTo>
                    <a:pt x="0" y="1188720"/>
                  </a:lnTo>
                  <a:close/>
                </a:path>
              </a:pathLst>
            </a:custGeom>
            <a:blipFill>
              <a:blip r:embed="rId3">
                <a:alphaModFix amt="0"/>
              </a:blip>
              <a:stretch>
                <a:fillRect t="-23443" b="-23443"/>
              </a:stretch>
            </a:blipFill>
          </p:spPr>
          <p:txBody>
            <a:bodyPr/>
            <a:lstStyle/>
            <a:p>
              <a:endParaRPr lang="en-US"/>
            </a:p>
          </p:txBody>
        </p:sp>
        <p:sp>
          <p:nvSpPr>
            <p:cNvPr id="35" name="TextBox 35"/>
            <p:cNvSpPr txBox="1"/>
            <p:nvPr/>
          </p:nvSpPr>
          <p:spPr>
            <a:xfrm>
              <a:off x="0" y="-47625"/>
              <a:ext cx="4480560" cy="1236345"/>
            </a:xfrm>
            <a:prstGeom prst="rect">
              <a:avLst/>
            </a:prstGeom>
          </p:spPr>
          <p:txBody>
            <a:bodyPr lIns="0" tIns="0" rIns="0" bIns="0" rtlCol="0" anchor="ctr"/>
            <a:lstStyle/>
            <a:p>
              <a:pPr algn="l">
                <a:lnSpc>
                  <a:spcPts val="2340"/>
                </a:lnSpc>
              </a:pPr>
              <a:r>
                <a:rPr lang="en-US" sz="1950" b="1">
                  <a:solidFill>
                    <a:srgbClr val="0D1B2A"/>
                  </a:solidFill>
                  <a:latin typeface="Calibri (MS) Bold"/>
                  <a:ea typeface="Calibri (MS) Bold"/>
                  <a:cs typeface="Calibri (MS) Bold"/>
                  <a:sym typeface="Calibri (MS) Bold"/>
                </a:rPr>
                <a:t>Embed &amp; Store</a:t>
              </a:r>
            </a:p>
          </p:txBody>
        </p:sp>
      </p:grpSp>
      <p:grpSp>
        <p:nvGrpSpPr>
          <p:cNvPr id="36" name="Group 36"/>
          <p:cNvGrpSpPr/>
          <p:nvPr/>
        </p:nvGrpSpPr>
        <p:grpSpPr>
          <a:xfrm>
            <a:off x="5417820" y="5417820"/>
            <a:ext cx="3360420" cy="2606040"/>
            <a:chOff x="0" y="0"/>
            <a:chExt cx="4480560" cy="3474720"/>
          </a:xfrm>
        </p:grpSpPr>
        <p:sp>
          <p:nvSpPr>
            <p:cNvPr id="37" name="Freeform 37"/>
            <p:cNvSpPr/>
            <p:nvPr/>
          </p:nvSpPr>
          <p:spPr>
            <a:xfrm>
              <a:off x="0" y="0"/>
              <a:ext cx="4480560" cy="3474720"/>
            </a:xfrm>
            <a:custGeom>
              <a:avLst/>
              <a:gdLst/>
              <a:ahLst/>
              <a:cxnLst/>
              <a:rect l="l" t="t" r="r" b="b"/>
              <a:pathLst>
                <a:path w="4480560" h="3474720">
                  <a:moveTo>
                    <a:pt x="0" y="0"/>
                  </a:moveTo>
                  <a:lnTo>
                    <a:pt x="4480560" y="0"/>
                  </a:lnTo>
                  <a:lnTo>
                    <a:pt x="4480560" y="3474720"/>
                  </a:lnTo>
                  <a:lnTo>
                    <a:pt x="0" y="3474720"/>
                  </a:lnTo>
                  <a:close/>
                </a:path>
              </a:pathLst>
            </a:custGeom>
            <a:blipFill>
              <a:blip r:embed="rId3">
                <a:alphaModFix amt="0"/>
              </a:blip>
              <a:stretch>
                <a:fillRect l="-49500" r="-49500"/>
              </a:stretch>
            </a:blipFill>
          </p:spPr>
          <p:txBody>
            <a:bodyPr/>
            <a:lstStyle/>
            <a:p>
              <a:endParaRPr lang="en-US"/>
            </a:p>
          </p:txBody>
        </p:sp>
        <p:sp>
          <p:nvSpPr>
            <p:cNvPr id="38" name="TextBox 38"/>
            <p:cNvSpPr txBox="1"/>
            <p:nvPr/>
          </p:nvSpPr>
          <p:spPr>
            <a:xfrm>
              <a:off x="0" y="-76200"/>
              <a:ext cx="4480560" cy="3550920"/>
            </a:xfrm>
            <a:prstGeom prst="rect">
              <a:avLst/>
            </a:prstGeom>
          </p:spPr>
          <p:txBody>
            <a:bodyPr lIns="0" tIns="0" rIns="0" bIns="0" rtlCol="0" anchor="ctr"/>
            <a:lstStyle/>
            <a:p>
              <a:pPr algn="l">
                <a:lnSpc>
                  <a:spcPts val="2234"/>
                </a:lnSpc>
              </a:pPr>
              <a:r>
                <a:rPr lang="en-US" sz="1455">
                  <a:solidFill>
                    <a:srgbClr val="5B6B72"/>
                  </a:solidFill>
                  <a:latin typeface="Calibri (MS)"/>
                  <a:ea typeface="Calibri (MS)"/>
                  <a:cs typeface="Calibri (MS)"/>
                  <a:sym typeface="Calibri (MS)"/>
                </a:rPr>
                <a:t>Chunks embedded via models/gemini-embedding-001, persisted to FAISS or Chroma. Batches throttled ~65s per 90 chunks for rate limits.</a:t>
              </a:r>
            </a:p>
          </p:txBody>
        </p:sp>
      </p:grpSp>
      <p:grpSp>
        <p:nvGrpSpPr>
          <p:cNvPr id="39" name="Group 39"/>
          <p:cNvGrpSpPr/>
          <p:nvPr/>
        </p:nvGrpSpPr>
        <p:grpSpPr>
          <a:xfrm>
            <a:off x="9129522" y="5535930"/>
            <a:ext cx="188976" cy="38100"/>
            <a:chOff x="0" y="0"/>
            <a:chExt cx="251968" cy="50800"/>
          </a:xfrm>
        </p:grpSpPr>
        <p:sp>
          <p:nvSpPr>
            <p:cNvPr id="40" name="Freeform 40"/>
            <p:cNvSpPr/>
            <p:nvPr/>
          </p:nvSpPr>
          <p:spPr>
            <a:xfrm>
              <a:off x="0" y="0"/>
              <a:ext cx="251968" cy="50800"/>
            </a:xfrm>
            <a:custGeom>
              <a:avLst/>
              <a:gdLst/>
              <a:ahLst/>
              <a:cxnLst/>
              <a:rect l="l" t="t" r="r" b="b"/>
              <a:pathLst>
                <a:path w="251968" h="50800">
                  <a:moveTo>
                    <a:pt x="0" y="0"/>
                  </a:moveTo>
                  <a:lnTo>
                    <a:pt x="251968" y="50800"/>
                  </a:lnTo>
                </a:path>
              </a:pathLst>
            </a:custGeom>
            <a:blipFill>
              <a:blip r:embed="rId3">
                <a:alphaModFix amt="0"/>
              </a:blip>
              <a:stretch>
                <a:fillRect t="-46645" b="-46645"/>
              </a:stretch>
            </a:blipFill>
            <a:ln w="38100" cap="sq">
              <a:solidFill>
                <a:srgbClr val="74C69D"/>
              </a:solidFill>
              <a:prstDash val="solid"/>
              <a:miter/>
            </a:ln>
          </p:spPr>
          <p:txBody>
            <a:bodyPr/>
            <a:lstStyle/>
            <a:p>
              <a:endParaRPr lang="en-US"/>
            </a:p>
          </p:txBody>
        </p:sp>
      </p:grpSp>
      <p:grpSp>
        <p:nvGrpSpPr>
          <p:cNvPr id="41" name="Group 41"/>
          <p:cNvGrpSpPr/>
          <p:nvPr/>
        </p:nvGrpSpPr>
        <p:grpSpPr>
          <a:xfrm>
            <a:off x="9317355" y="3076575"/>
            <a:ext cx="4065270" cy="5093970"/>
            <a:chOff x="0" y="0"/>
            <a:chExt cx="5420360" cy="6791960"/>
          </a:xfrm>
        </p:grpSpPr>
        <p:sp>
          <p:nvSpPr>
            <p:cNvPr id="42" name="Freeform 42"/>
            <p:cNvSpPr/>
            <p:nvPr/>
          </p:nvSpPr>
          <p:spPr>
            <a:xfrm>
              <a:off x="0" y="0"/>
              <a:ext cx="5420360" cy="6791960"/>
            </a:xfrm>
            <a:custGeom>
              <a:avLst/>
              <a:gdLst/>
              <a:ahLst/>
              <a:cxnLst/>
              <a:rect l="l" t="t" r="r" b="b"/>
              <a:pathLst>
                <a:path w="5420360" h="6791960">
                  <a:moveTo>
                    <a:pt x="0" y="183769"/>
                  </a:moveTo>
                  <a:cubicBezTo>
                    <a:pt x="0" y="82296"/>
                    <a:pt x="82296" y="0"/>
                    <a:pt x="183769" y="0"/>
                  </a:cubicBezTo>
                  <a:lnTo>
                    <a:pt x="5236591" y="0"/>
                  </a:lnTo>
                  <a:cubicBezTo>
                    <a:pt x="5338064" y="0"/>
                    <a:pt x="5420360" y="82296"/>
                    <a:pt x="5420360" y="183769"/>
                  </a:cubicBezTo>
                  <a:lnTo>
                    <a:pt x="5420360" y="6608191"/>
                  </a:lnTo>
                  <a:cubicBezTo>
                    <a:pt x="5420360" y="6709664"/>
                    <a:pt x="5338064" y="6791960"/>
                    <a:pt x="5236591" y="6791960"/>
                  </a:cubicBezTo>
                  <a:lnTo>
                    <a:pt x="183769" y="6791960"/>
                  </a:lnTo>
                  <a:cubicBezTo>
                    <a:pt x="82296" y="6791960"/>
                    <a:pt x="0" y="6709664"/>
                    <a:pt x="0" y="6608191"/>
                  </a:cubicBezTo>
                  <a:close/>
                </a:path>
              </a:pathLst>
            </a:custGeom>
            <a:solidFill>
              <a:srgbClr val="FFFFFF"/>
            </a:solidFill>
            <a:ln w="19050" cap="sq">
              <a:solidFill>
                <a:srgbClr val="DCE7E0"/>
              </a:solidFill>
              <a:prstDash val="solid"/>
              <a:miter/>
            </a:ln>
          </p:spPr>
          <p:txBody>
            <a:bodyPr/>
            <a:lstStyle/>
            <a:p>
              <a:endParaRPr lang="en-US"/>
            </a:p>
          </p:txBody>
        </p:sp>
      </p:grpSp>
      <p:grpSp>
        <p:nvGrpSpPr>
          <p:cNvPr id="43" name="Group 43"/>
          <p:cNvGrpSpPr/>
          <p:nvPr/>
        </p:nvGrpSpPr>
        <p:grpSpPr>
          <a:xfrm>
            <a:off x="9669780" y="3429000"/>
            <a:ext cx="754380" cy="754380"/>
            <a:chOff x="0" y="0"/>
            <a:chExt cx="1005840" cy="1005840"/>
          </a:xfrm>
        </p:grpSpPr>
        <p:sp>
          <p:nvSpPr>
            <p:cNvPr id="44" name="Freeform 44"/>
            <p:cNvSpPr/>
            <p:nvPr/>
          </p:nvSpPr>
          <p:spPr>
            <a:xfrm>
              <a:off x="0" y="0"/>
              <a:ext cx="1005840" cy="1005840"/>
            </a:xfrm>
            <a:custGeom>
              <a:avLst/>
              <a:gdLst/>
              <a:ahLst/>
              <a:cxnLst/>
              <a:rect l="l" t="t" r="r" b="b"/>
              <a:pathLst>
                <a:path w="1005840" h="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40916C"/>
            </a:solidFill>
          </p:spPr>
          <p:txBody>
            <a:bodyPr/>
            <a:lstStyle/>
            <a:p>
              <a:endParaRPr lang="en-US"/>
            </a:p>
          </p:txBody>
        </p:sp>
      </p:grpSp>
      <p:grpSp>
        <p:nvGrpSpPr>
          <p:cNvPr id="45" name="Group 45"/>
          <p:cNvGrpSpPr/>
          <p:nvPr/>
        </p:nvGrpSpPr>
        <p:grpSpPr>
          <a:xfrm>
            <a:off x="9669780" y="3429000"/>
            <a:ext cx="754380" cy="754380"/>
            <a:chOff x="0" y="0"/>
            <a:chExt cx="1005840" cy="1005840"/>
          </a:xfrm>
        </p:grpSpPr>
        <p:sp>
          <p:nvSpPr>
            <p:cNvPr id="46" name="Freeform 46"/>
            <p:cNvSpPr/>
            <p:nvPr/>
          </p:nvSpPr>
          <p:spPr>
            <a:xfrm>
              <a:off x="0" y="0"/>
              <a:ext cx="1005840" cy="1005840"/>
            </a:xfrm>
            <a:custGeom>
              <a:avLst/>
              <a:gdLst/>
              <a:ahLst/>
              <a:cxnLst/>
              <a:rect l="l" t="t" r="r" b="b"/>
              <a:pathLst>
                <a:path w="1005840" h="1005840">
                  <a:moveTo>
                    <a:pt x="0" y="0"/>
                  </a:moveTo>
                  <a:lnTo>
                    <a:pt x="1005840" y="0"/>
                  </a:lnTo>
                  <a:lnTo>
                    <a:pt x="1005840" y="1005840"/>
                  </a:lnTo>
                  <a:lnTo>
                    <a:pt x="0" y="1005840"/>
                  </a:lnTo>
                  <a:close/>
                </a:path>
              </a:pathLst>
            </a:custGeom>
            <a:blipFill>
              <a:blip r:embed="rId3">
                <a:alphaModFix amt="0"/>
              </a:blip>
              <a:stretch>
                <a:fillRect l="-78303" r="-78303"/>
              </a:stretch>
            </a:blipFill>
          </p:spPr>
          <p:txBody>
            <a:bodyPr/>
            <a:lstStyle/>
            <a:p>
              <a:endParaRPr lang="en-US"/>
            </a:p>
          </p:txBody>
        </p:sp>
        <p:sp>
          <p:nvSpPr>
            <p:cNvPr id="47" name="TextBox 47"/>
            <p:cNvSpPr txBox="1"/>
            <p:nvPr/>
          </p:nvSpPr>
          <p:spPr>
            <a:xfrm>
              <a:off x="0" y="-38100"/>
              <a:ext cx="1005840" cy="1043940"/>
            </a:xfrm>
            <a:prstGeom prst="rect">
              <a:avLst/>
            </a:prstGeom>
          </p:spPr>
          <p:txBody>
            <a:bodyPr lIns="0" tIns="0" rIns="0" bIns="0" rtlCol="0" anchor="ctr"/>
            <a:lstStyle/>
            <a:p>
              <a:pPr algn="ctr">
                <a:lnSpc>
                  <a:spcPts val="2574"/>
                </a:lnSpc>
              </a:pPr>
              <a:r>
                <a:rPr lang="en-US" sz="2145" b="1">
                  <a:solidFill>
                    <a:srgbClr val="FFFFFF"/>
                  </a:solidFill>
                  <a:latin typeface="Calibri (MS) Bold"/>
                  <a:ea typeface="Calibri (MS) Bold"/>
                  <a:cs typeface="Calibri (MS) Bold"/>
                  <a:sym typeface="Calibri (MS) Bold"/>
                </a:rPr>
                <a:t>3</a:t>
              </a:r>
            </a:p>
          </p:txBody>
        </p:sp>
      </p:grpSp>
      <p:grpSp>
        <p:nvGrpSpPr>
          <p:cNvPr id="48" name="Group 48"/>
          <p:cNvGrpSpPr/>
          <p:nvPr/>
        </p:nvGrpSpPr>
        <p:grpSpPr>
          <a:xfrm>
            <a:off x="9669780" y="4457700"/>
            <a:ext cx="3360420" cy="891540"/>
            <a:chOff x="0" y="0"/>
            <a:chExt cx="4480560" cy="1188720"/>
          </a:xfrm>
        </p:grpSpPr>
        <p:sp>
          <p:nvSpPr>
            <p:cNvPr id="49" name="Freeform 49"/>
            <p:cNvSpPr/>
            <p:nvPr/>
          </p:nvSpPr>
          <p:spPr>
            <a:xfrm>
              <a:off x="0" y="0"/>
              <a:ext cx="4480560" cy="1188720"/>
            </a:xfrm>
            <a:custGeom>
              <a:avLst/>
              <a:gdLst/>
              <a:ahLst/>
              <a:cxnLst/>
              <a:rect l="l" t="t" r="r" b="b"/>
              <a:pathLst>
                <a:path w="4480560" h="1188720">
                  <a:moveTo>
                    <a:pt x="0" y="0"/>
                  </a:moveTo>
                  <a:lnTo>
                    <a:pt x="4480560" y="0"/>
                  </a:lnTo>
                  <a:lnTo>
                    <a:pt x="4480560" y="1188720"/>
                  </a:lnTo>
                  <a:lnTo>
                    <a:pt x="0" y="1188720"/>
                  </a:lnTo>
                  <a:close/>
                </a:path>
              </a:pathLst>
            </a:custGeom>
            <a:blipFill>
              <a:blip r:embed="rId3">
                <a:alphaModFix amt="0"/>
              </a:blip>
              <a:stretch>
                <a:fillRect t="-23443" b="-23443"/>
              </a:stretch>
            </a:blipFill>
          </p:spPr>
          <p:txBody>
            <a:bodyPr/>
            <a:lstStyle/>
            <a:p>
              <a:endParaRPr lang="en-US"/>
            </a:p>
          </p:txBody>
        </p:sp>
        <p:sp>
          <p:nvSpPr>
            <p:cNvPr id="50" name="TextBox 50"/>
            <p:cNvSpPr txBox="1"/>
            <p:nvPr/>
          </p:nvSpPr>
          <p:spPr>
            <a:xfrm>
              <a:off x="0" y="-47625"/>
              <a:ext cx="4480560" cy="1236345"/>
            </a:xfrm>
            <a:prstGeom prst="rect">
              <a:avLst/>
            </a:prstGeom>
          </p:spPr>
          <p:txBody>
            <a:bodyPr lIns="0" tIns="0" rIns="0" bIns="0" rtlCol="0" anchor="ctr"/>
            <a:lstStyle/>
            <a:p>
              <a:pPr algn="l">
                <a:lnSpc>
                  <a:spcPts val="2340"/>
                </a:lnSpc>
              </a:pPr>
              <a:r>
                <a:rPr lang="en-US" sz="1950" b="1">
                  <a:solidFill>
                    <a:srgbClr val="0D1B2A"/>
                  </a:solidFill>
                  <a:latin typeface="Calibri (MS) Bold"/>
                  <a:ea typeface="Calibri (MS) Bold"/>
                  <a:cs typeface="Calibri (MS) Bold"/>
                  <a:sym typeface="Calibri (MS) Bold"/>
                </a:rPr>
                <a:t>Retrieve on Anomaly</a:t>
              </a:r>
            </a:p>
          </p:txBody>
        </p:sp>
      </p:grpSp>
      <p:grpSp>
        <p:nvGrpSpPr>
          <p:cNvPr id="51" name="Group 51"/>
          <p:cNvGrpSpPr/>
          <p:nvPr/>
        </p:nvGrpSpPr>
        <p:grpSpPr>
          <a:xfrm>
            <a:off x="9669780" y="5417820"/>
            <a:ext cx="3360420" cy="2606040"/>
            <a:chOff x="0" y="0"/>
            <a:chExt cx="4480560" cy="3474720"/>
          </a:xfrm>
        </p:grpSpPr>
        <p:sp>
          <p:nvSpPr>
            <p:cNvPr id="52" name="Freeform 52"/>
            <p:cNvSpPr/>
            <p:nvPr/>
          </p:nvSpPr>
          <p:spPr>
            <a:xfrm>
              <a:off x="0" y="0"/>
              <a:ext cx="4480560" cy="3474720"/>
            </a:xfrm>
            <a:custGeom>
              <a:avLst/>
              <a:gdLst/>
              <a:ahLst/>
              <a:cxnLst/>
              <a:rect l="l" t="t" r="r" b="b"/>
              <a:pathLst>
                <a:path w="4480560" h="3474720">
                  <a:moveTo>
                    <a:pt x="0" y="0"/>
                  </a:moveTo>
                  <a:lnTo>
                    <a:pt x="4480560" y="0"/>
                  </a:lnTo>
                  <a:lnTo>
                    <a:pt x="4480560" y="3474720"/>
                  </a:lnTo>
                  <a:lnTo>
                    <a:pt x="0" y="3474720"/>
                  </a:lnTo>
                  <a:close/>
                </a:path>
              </a:pathLst>
            </a:custGeom>
            <a:blipFill>
              <a:blip r:embed="rId3">
                <a:alphaModFix amt="0"/>
              </a:blip>
              <a:stretch>
                <a:fillRect l="-49500" r="-49500"/>
              </a:stretch>
            </a:blipFill>
          </p:spPr>
          <p:txBody>
            <a:bodyPr/>
            <a:lstStyle/>
            <a:p>
              <a:endParaRPr lang="en-US"/>
            </a:p>
          </p:txBody>
        </p:sp>
        <p:sp>
          <p:nvSpPr>
            <p:cNvPr id="53" name="TextBox 53"/>
            <p:cNvSpPr txBox="1"/>
            <p:nvPr/>
          </p:nvSpPr>
          <p:spPr>
            <a:xfrm>
              <a:off x="0" y="-76200"/>
              <a:ext cx="4480560" cy="3550920"/>
            </a:xfrm>
            <a:prstGeom prst="rect">
              <a:avLst/>
            </a:prstGeom>
          </p:spPr>
          <p:txBody>
            <a:bodyPr lIns="0" tIns="0" rIns="0" bIns="0" rtlCol="0" anchor="ctr"/>
            <a:lstStyle/>
            <a:p>
              <a:pPr algn="l">
                <a:lnSpc>
                  <a:spcPts val="2234"/>
                </a:lnSpc>
              </a:pPr>
              <a:r>
                <a:rPr lang="en-US" sz="1455">
                  <a:solidFill>
                    <a:srgbClr val="5B6B72"/>
                  </a:solidFill>
                  <a:latin typeface="Calibri (MS)"/>
                  <a:ea typeface="Calibri (MS)"/>
                  <a:cs typeface="Calibri (MS)"/>
                  <a:sym typeface="Calibri (MS)"/>
                </a:rPr>
                <a:t>RAGDiagnosticEngine fetches the top-K most relevant excerpts for the flagged asset and fault type.</a:t>
              </a:r>
            </a:p>
          </p:txBody>
        </p:sp>
      </p:grpSp>
      <p:grpSp>
        <p:nvGrpSpPr>
          <p:cNvPr id="54" name="Group 54"/>
          <p:cNvGrpSpPr/>
          <p:nvPr/>
        </p:nvGrpSpPr>
        <p:grpSpPr>
          <a:xfrm>
            <a:off x="13381482" y="5535930"/>
            <a:ext cx="188976" cy="38100"/>
            <a:chOff x="0" y="0"/>
            <a:chExt cx="251968" cy="50800"/>
          </a:xfrm>
        </p:grpSpPr>
        <p:sp>
          <p:nvSpPr>
            <p:cNvPr id="55" name="Freeform 55"/>
            <p:cNvSpPr/>
            <p:nvPr/>
          </p:nvSpPr>
          <p:spPr>
            <a:xfrm>
              <a:off x="0" y="0"/>
              <a:ext cx="251968" cy="50800"/>
            </a:xfrm>
            <a:custGeom>
              <a:avLst/>
              <a:gdLst/>
              <a:ahLst/>
              <a:cxnLst/>
              <a:rect l="l" t="t" r="r" b="b"/>
              <a:pathLst>
                <a:path w="251968" h="50800">
                  <a:moveTo>
                    <a:pt x="0" y="0"/>
                  </a:moveTo>
                  <a:lnTo>
                    <a:pt x="251968" y="50800"/>
                  </a:lnTo>
                </a:path>
              </a:pathLst>
            </a:custGeom>
            <a:blipFill>
              <a:blip r:embed="rId3">
                <a:alphaModFix amt="0"/>
              </a:blip>
              <a:stretch>
                <a:fillRect t="-46645" b="-46645"/>
              </a:stretch>
            </a:blipFill>
            <a:ln w="38100" cap="sq">
              <a:solidFill>
                <a:srgbClr val="74C69D"/>
              </a:solidFill>
              <a:prstDash val="solid"/>
              <a:miter/>
            </a:ln>
          </p:spPr>
          <p:txBody>
            <a:bodyPr/>
            <a:lstStyle/>
            <a:p>
              <a:endParaRPr lang="en-US"/>
            </a:p>
          </p:txBody>
        </p:sp>
      </p:grpSp>
      <p:grpSp>
        <p:nvGrpSpPr>
          <p:cNvPr id="56" name="Group 56"/>
          <p:cNvGrpSpPr/>
          <p:nvPr/>
        </p:nvGrpSpPr>
        <p:grpSpPr>
          <a:xfrm>
            <a:off x="13569315" y="3076575"/>
            <a:ext cx="4065270" cy="5093970"/>
            <a:chOff x="0" y="0"/>
            <a:chExt cx="5420360" cy="6791960"/>
          </a:xfrm>
        </p:grpSpPr>
        <p:sp>
          <p:nvSpPr>
            <p:cNvPr id="57" name="Freeform 57"/>
            <p:cNvSpPr/>
            <p:nvPr/>
          </p:nvSpPr>
          <p:spPr>
            <a:xfrm>
              <a:off x="0" y="0"/>
              <a:ext cx="5420360" cy="6791960"/>
            </a:xfrm>
            <a:custGeom>
              <a:avLst/>
              <a:gdLst/>
              <a:ahLst/>
              <a:cxnLst/>
              <a:rect l="l" t="t" r="r" b="b"/>
              <a:pathLst>
                <a:path w="5420360" h="6791960">
                  <a:moveTo>
                    <a:pt x="0" y="183769"/>
                  </a:moveTo>
                  <a:cubicBezTo>
                    <a:pt x="0" y="82296"/>
                    <a:pt x="82296" y="0"/>
                    <a:pt x="183769" y="0"/>
                  </a:cubicBezTo>
                  <a:lnTo>
                    <a:pt x="5236591" y="0"/>
                  </a:lnTo>
                  <a:cubicBezTo>
                    <a:pt x="5338064" y="0"/>
                    <a:pt x="5420360" y="82296"/>
                    <a:pt x="5420360" y="183769"/>
                  </a:cubicBezTo>
                  <a:lnTo>
                    <a:pt x="5420360" y="6608191"/>
                  </a:lnTo>
                  <a:cubicBezTo>
                    <a:pt x="5420360" y="6709664"/>
                    <a:pt x="5338064" y="6791960"/>
                    <a:pt x="5236591" y="6791960"/>
                  </a:cubicBezTo>
                  <a:lnTo>
                    <a:pt x="183769" y="6791960"/>
                  </a:lnTo>
                  <a:cubicBezTo>
                    <a:pt x="82296" y="6791960"/>
                    <a:pt x="0" y="6709664"/>
                    <a:pt x="0" y="6608191"/>
                  </a:cubicBezTo>
                  <a:close/>
                </a:path>
              </a:pathLst>
            </a:custGeom>
            <a:solidFill>
              <a:srgbClr val="FFFFFF"/>
            </a:solidFill>
            <a:ln w="19050" cap="sq">
              <a:solidFill>
                <a:srgbClr val="DCE7E0"/>
              </a:solidFill>
              <a:prstDash val="solid"/>
              <a:miter/>
            </a:ln>
          </p:spPr>
          <p:txBody>
            <a:bodyPr/>
            <a:lstStyle/>
            <a:p>
              <a:endParaRPr lang="en-US"/>
            </a:p>
          </p:txBody>
        </p:sp>
      </p:grpSp>
      <p:grpSp>
        <p:nvGrpSpPr>
          <p:cNvPr id="58" name="Group 58"/>
          <p:cNvGrpSpPr/>
          <p:nvPr/>
        </p:nvGrpSpPr>
        <p:grpSpPr>
          <a:xfrm>
            <a:off x="13921740" y="3429000"/>
            <a:ext cx="754380" cy="754380"/>
            <a:chOff x="0" y="0"/>
            <a:chExt cx="1005840" cy="1005840"/>
          </a:xfrm>
        </p:grpSpPr>
        <p:sp>
          <p:nvSpPr>
            <p:cNvPr id="59" name="Freeform 59"/>
            <p:cNvSpPr/>
            <p:nvPr/>
          </p:nvSpPr>
          <p:spPr>
            <a:xfrm>
              <a:off x="0" y="0"/>
              <a:ext cx="1005840" cy="1005840"/>
            </a:xfrm>
            <a:custGeom>
              <a:avLst/>
              <a:gdLst/>
              <a:ahLst/>
              <a:cxnLst/>
              <a:rect l="l" t="t" r="r" b="b"/>
              <a:pathLst>
                <a:path w="1005840" h="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40916C"/>
            </a:solidFill>
          </p:spPr>
          <p:txBody>
            <a:bodyPr/>
            <a:lstStyle/>
            <a:p>
              <a:endParaRPr lang="en-US"/>
            </a:p>
          </p:txBody>
        </p:sp>
      </p:grpSp>
      <p:grpSp>
        <p:nvGrpSpPr>
          <p:cNvPr id="60" name="Group 60"/>
          <p:cNvGrpSpPr/>
          <p:nvPr/>
        </p:nvGrpSpPr>
        <p:grpSpPr>
          <a:xfrm>
            <a:off x="13921740" y="3429000"/>
            <a:ext cx="754380" cy="754380"/>
            <a:chOff x="0" y="0"/>
            <a:chExt cx="1005840" cy="1005840"/>
          </a:xfrm>
        </p:grpSpPr>
        <p:sp>
          <p:nvSpPr>
            <p:cNvPr id="61" name="Freeform 61"/>
            <p:cNvSpPr/>
            <p:nvPr/>
          </p:nvSpPr>
          <p:spPr>
            <a:xfrm>
              <a:off x="0" y="0"/>
              <a:ext cx="1005840" cy="1005840"/>
            </a:xfrm>
            <a:custGeom>
              <a:avLst/>
              <a:gdLst/>
              <a:ahLst/>
              <a:cxnLst/>
              <a:rect l="l" t="t" r="r" b="b"/>
              <a:pathLst>
                <a:path w="1005840" h="1005840">
                  <a:moveTo>
                    <a:pt x="0" y="0"/>
                  </a:moveTo>
                  <a:lnTo>
                    <a:pt x="1005840" y="0"/>
                  </a:lnTo>
                  <a:lnTo>
                    <a:pt x="1005840" y="1005840"/>
                  </a:lnTo>
                  <a:lnTo>
                    <a:pt x="0" y="1005840"/>
                  </a:lnTo>
                  <a:close/>
                </a:path>
              </a:pathLst>
            </a:custGeom>
            <a:blipFill>
              <a:blip r:embed="rId3">
                <a:alphaModFix amt="0"/>
              </a:blip>
              <a:stretch>
                <a:fillRect l="-78303" r="-78303"/>
              </a:stretch>
            </a:blipFill>
          </p:spPr>
          <p:txBody>
            <a:bodyPr/>
            <a:lstStyle/>
            <a:p>
              <a:endParaRPr lang="en-US"/>
            </a:p>
          </p:txBody>
        </p:sp>
        <p:sp>
          <p:nvSpPr>
            <p:cNvPr id="62" name="TextBox 62"/>
            <p:cNvSpPr txBox="1"/>
            <p:nvPr/>
          </p:nvSpPr>
          <p:spPr>
            <a:xfrm>
              <a:off x="0" y="-38100"/>
              <a:ext cx="1005840" cy="1043940"/>
            </a:xfrm>
            <a:prstGeom prst="rect">
              <a:avLst/>
            </a:prstGeom>
          </p:spPr>
          <p:txBody>
            <a:bodyPr lIns="0" tIns="0" rIns="0" bIns="0" rtlCol="0" anchor="ctr"/>
            <a:lstStyle/>
            <a:p>
              <a:pPr algn="ctr">
                <a:lnSpc>
                  <a:spcPts val="2574"/>
                </a:lnSpc>
              </a:pPr>
              <a:r>
                <a:rPr lang="en-US" sz="2145" b="1">
                  <a:solidFill>
                    <a:srgbClr val="FFFFFF"/>
                  </a:solidFill>
                  <a:latin typeface="Calibri (MS) Bold"/>
                  <a:ea typeface="Calibri (MS) Bold"/>
                  <a:cs typeface="Calibri (MS) Bold"/>
                  <a:sym typeface="Calibri (MS) Bold"/>
                </a:rPr>
                <a:t>4</a:t>
              </a:r>
            </a:p>
          </p:txBody>
        </p:sp>
      </p:grpSp>
      <p:grpSp>
        <p:nvGrpSpPr>
          <p:cNvPr id="63" name="Group 63"/>
          <p:cNvGrpSpPr/>
          <p:nvPr/>
        </p:nvGrpSpPr>
        <p:grpSpPr>
          <a:xfrm>
            <a:off x="13921740" y="4457700"/>
            <a:ext cx="3360420" cy="891540"/>
            <a:chOff x="0" y="0"/>
            <a:chExt cx="4480560" cy="1188720"/>
          </a:xfrm>
        </p:grpSpPr>
        <p:sp>
          <p:nvSpPr>
            <p:cNvPr id="64" name="Freeform 64"/>
            <p:cNvSpPr/>
            <p:nvPr/>
          </p:nvSpPr>
          <p:spPr>
            <a:xfrm>
              <a:off x="0" y="0"/>
              <a:ext cx="4480560" cy="1188720"/>
            </a:xfrm>
            <a:custGeom>
              <a:avLst/>
              <a:gdLst/>
              <a:ahLst/>
              <a:cxnLst/>
              <a:rect l="l" t="t" r="r" b="b"/>
              <a:pathLst>
                <a:path w="4480560" h="1188720">
                  <a:moveTo>
                    <a:pt x="0" y="0"/>
                  </a:moveTo>
                  <a:lnTo>
                    <a:pt x="4480560" y="0"/>
                  </a:lnTo>
                  <a:lnTo>
                    <a:pt x="4480560" y="1188720"/>
                  </a:lnTo>
                  <a:lnTo>
                    <a:pt x="0" y="1188720"/>
                  </a:lnTo>
                  <a:close/>
                </a:path>
              </a:pathLst>
            </a:custGeom>
            <a:blipFill>
              <a:blip r:embed="rId3">
                <a:alphaModFix amt="0"/>
              </a:blip>
              <a:stretch>
                <a:fillRect t="-23443" b="-23443"/>
              </a:stretch>
            </a:blipFill>
          </p:spPr>
          <p:txBody>
            <a:bodyPr/>
            <a:lstStyle/>
            <a:p>
              <a:endParaRPr lang="en-US"/>
            </a:p>
          </p:txBody>
        </p:sp>
        <p:sp>
          <p:nvSpPr>
            <p:cNvPr id="65" name="TextBox 65"/>
            <p:cNvSpPr txBox="1"/>
            <p:nvPr/>
          </p:nvSpPr>
          <p:spPr>
            <a:xfrm>
              <a:off x="0" y="-47625"/>
              <a:ext cx="4480560" cy="1236345"/>
            </a:xfrm>
            <a:prstGeom prst="rect">
              <a:avLst/>
            </a:prstGeom>
          </p:spPr>
          <p:txBody>
            <a:bodyPr lIns="0" tIns="0" rIns="0" bIns="0" rtlCol="0" anchor="ctr"/>
            <a:lstStyle/>
            <a:p>
              <a:pPr algn="l">
                <a:lnSpc>
                  <a:spcPts val="2340"/>
                </a:lnSpc>
              </a:pPr>
              <a:r>
                <a:rPr lang="en-US" sz="1950" b="1">
                  <a:solidFill>
                    <a:srgbClr val="0D1B2A"/>
                  </a:solidFill>
                  <a:latin typeface="Calibri (MS) Bold"/>
                  <a:ea typeface="Calibri (MS) Bold"/>
                  <a:cs typeface="Calibri (MS) Bold"/>
                  <a:sym typeface="Calibri (MS) Bold"/>
                </a:rPr>
                <a:t>Generate Blueprint</a:t>
              </a:r>
            </a:p>
          </p:txBody>
        </p:sp>
      </p:grpSp>
      <p:grpSp>
        <p:nvGrpSpPr>
          <p:cNvPr id="66" name="Group 66"/>
          <p:cNvGrpSpPr/>
          <p:nvPr/>
        </p:nvGrpSpPr>
        <p:grpSpPr>
          <a:xfrm>
            <a:off x="13921740" y="5417820"/>
            <a:ext cx="3360420" cy="2606040"/>
            <a:chOff x="0" y="0"/>
            <a:chExt cx="4480560" cy="3474720"/>
          </a:xfrm>
        </p:grpSpPr>
        <p:sp>
          <p:nvSpPr>
            <p:cNvPr id="67" name="Freeform 67"/>
            <p:cNvSpPr/>
            <p:nvPr/>
          </p:nvSpPr>
          <p:spPr>
            <a:xfrm>
              <a:off x="0" y="0"/>
              <a:ext cx="4480560" cy="3474720"/>
            </a:xfrm>
            <a:custGeom>
              <a:avLst/>
              <a:gdLst/>
              <a:ahLst/>
              <a:cxnLst/>
              <a:rect l="l" t="t" r="r" b="b"/>
              <a:pathLst>
                <a:path w="4480560" h="3474720">
                  <a:moveTo>
                    <a:pt x="0" y="0"/>
                  </a:moveTo>
                  <a:lnTo>
                    <a:pt x="4480560" y="0"/>
                  </a:lnTo>
                  <a:lnTo>
                    <a:pt x="4480560" y="3474720"/>
                  </a:lnTo>
                  <a:lnTo>
                    <a:pt x="0" y="3474720"/>
                  </a:lnTo>
                  <a:close/>
                </a:path>
              </a:pathLst>
            </a:custGeom>
            <a:blipFill>
              <a:blip r:embed="rId3">
                <a:alphaModFix amt="0"/>
              </a:blip>
              <a:stretch>
                <a:fillRect l="-49500" r="-49500"/>
              </a:stretch>
            </a:blipFill>
          </p:spPr>
          <p:txBody>
            <a:bodyPr/>
            <a:lstStyle/>
            <a:p>
              <a:endParaRPr lang="en-US"/>
            </a:p>
          </p:txBody>
        </p:sp>
        <p:sp>
          <p:nvSpPr>
            <p:cNvPr id="68" name="TextBox 68"/>
            <p:cNvSpPr txBox="1"/>
            <p:nvPr/>
          </p:nvSpPr>
          <p:spPr>
            <a:xfrm>
              <a:off x="0" y="-76200"/>
              <a:ext cx="4480560" cy="3550920"/>
            </a:xfrm>
            <a:prstGeom prst="rect">
              <a:avLst/>
            </a:prstGeom>
          </p:spPr>
          <p:txBody>
            <a:bodyPr lIns="0" tIns="0" rIns="0" bIns="0" rtlCol="0" anchor="ctr"/>
            <a:lstStyle/>
            <a:p>
              <a:pPr algn="l">
                <a:lnSpc>
                  <a:spcPts val="2234"/>
                </a:lnSpc>
              </a:pPr>
              <a:r>
                <a:rPr lang="en-US" sz="1455">
                  <a:solidFill>
                    <a:srgbClr val="5B6B72"/>
                  </a:solidFill>
                  <a:latin typeface="Calibri (MS)"/>
                  <a:ea typeface="Calibri (MS)"/>
                  <a:cs typeface="Calibri (MS)"/>
                  <a:sym typeface="Calibri (MS)"/>
                </a:rPr>
                <a:t>gemini-flash-latest (temp = 0.0) returns strict JSON: STATUS, ERROR_CODE, METRIC_EXPLANATION, RECOMMENDED_ACTION.</a:t>
              </a:r>
            </a:p>
          </p:txBody>
        </p:sp>
      </p:grpSp>
      <p:grpSp>
        <p:nvGrpSpPr>
          <p:cNvPr id="69" name="Group 69"/>
          <p:cNvGrpSpPr/>
          <p:nvPr/>
        </p:nvGrpSpPr>
        <p:grpSpPr>
          <a:xfrm>
            <a:off x="822960" y="8435340"/>
            <a:ext cx="16596360" cy="685800"/>
            <a:chOff x="0" y="0"/>
            <a:chExt cx="22128480" cy="914400"/>
          </a:xfrm>
        </p:grpSpPr>
        <p:sp>
          <p:nvSpPr>
            <p:cNvPr id="70" name="Freeform 70"/>
            <p:cNvSpPr/>
            <p:nvPr/>
          </p:nvSpPr>
          <p:spPr>
            <a:xfrm>
              <a:off x="0" y="0"/>
              <a:ext cx="22128480" cy="914400"/>
            </a:xfrm>
            <a:custGeom>
              <a:avLst/>
              <a:gdLst/>
              <a:ahLst/>
              <a:cxnLst/>
              <a:rect l="l" t="t" r="r" b="b"/>
              <a:pathLst>
                <a:path w="22128480" h="914400">
                  <a:moveTo>
                    <a:pt x="0" y="0"/>
                  </a:moveTo>
                  <a:lnTo>
                    <a:pt x="22128480" y="0"/>
                  </a:lnTo>
                  <a:lnTo>
                    <a:pt x="22128480" y="914400"/>
                  </a:lnTo>
                  <a:lnTo>
                    <a:pt x="0" y="914400"/>
                  </a:lnTo>
                  <a:close/>
                </a:path>
              </a:pathLst>
            </a:custGeom>
            <a:blipFill>
              <a:blip r:embed="rId3">
                <a:alphaModFix amt="0"/>
              </a:blip>
              <a:stretch>
                <a:fillRect t="-421537" b="-421537"/>
              </a:stretch>
            </a:blipFill>
          </p:spPr>
          <p:txBody>
            <a:bodyPr/>
            <a:lstStyle/>
            <a:p>
              <a:endParaRPr lang="en-US"/>
            </a:p>
          </p:txBody>
        </p:sp>
        <p:sp>
          <p:nvSpPr>
            <p:cNvPr id="71" name="TextBox 71"/>
            <p:cNvSpPr txBox="1"/>
            <p:nvPr/>
          </p:nvSpPr>
          <p:spPr>
            <a:xfrm>
              <a:off x="0" y="-19050"/>
              <a:ext cx="22128480" cy="933450"/>
            </a:xfrm>
            <a:prstGeom prst="rect">
              <a:avLst/>
            </a:prstGeom>
          </p:spPr>
          <p:txBody>
            <a:bodyPr lIns="0" tIns="0" rIns="0" bIns="0" rtlCol="0" anchor="ctr"/>
            <a:lstStyle/>
            <a:p>
              <a:pPr algn="l">
                <a:lnSpc>
                  <a:spcPts val="1889"/>
                </a:lnSpc>
              </a:pPr>
              <a:r>
                <a:rPr lang="en-US" sz="1575" i="1">
                  <a:solidFill>
                    <a:srgbClr val="5B6B72"/>
                  </a:solidFill>
                  <a:latin typeface="Calibri (MS) Italics"/>
                  <a:ea typeface="Calibri (MS) Italics"/>
                  <a:cs typeface="Calibri (MS) Italics"/>
                  <a:sym typeface="Calibri (MS) Italics"/>
                </a:rPr>
                <a:t>Final response is stripped of Markdown fences and parsed into a strict dictionary so the Streamlit dashboard can render it safely.</a:t>
              </a:r>
            </a:p>
          </p:txBody>
        </p:sp>
      </p:grpSp>
      <p:grpSp>
        <p:nvGrpSpPr>
          <p:cNvPr id="72" name="Group 72"/>
          <p:cNvGrpSpPr/>
          <p:nvPr/>
        </p:nvGrpSpPr>
        <p:grpSpPr>
          <a:xfrm>
            <a:off x="17282160" y="9710928"/>
            <a:ext cx="822960" cy="411480"/>
            <a:chOff x="0" y="0"/>
            <a:chExt cx="1097280" cy="548640"/>
          </a:xfrm>
        </p:grpSpPr>
        <p:sp>
          <p:nvSpPr>
            <p:cNvPr id="73" name="Freeform 73"/>
            <p:cNvSpPr/>
            <p:nvPr/>
          </p:nvSpPr>
          <p:spPr>
            <a:xfrm>
              <a:off x="0" y="0"/>
              <a:ext cx="1097280" cy="548640"/>
            </a:xfrm>
            <a:custGeom>
              <a:avLst/>
              <a:gdLst/>
              <a:ahLst/>
              <a:cxnLst/>
              <a:rect l="l" t="t" r="r" b="b"/>
              <a:pathLst>
                <a:path w="1097280" h="548640">
                  <a:moveTo>
                    <a:pt x="0" y="0"/>
                  </a:moveTo>
                  <a:lnTo>
                    <a:pt x="1097280" y="0"/>
                  </a:lnTo>
                  <a:lnTo>
                    <a:pt x="1097280" y="548640"/>
                  </a:lnTo>
                  <a:lnTo>
                    <a:pt x="0" y="548640"/>
                  </a:lnTo>
                  <a:close/>
                </a:path>
              </a:pathLst>
            </a:custGeom>
            <a:blipFill>
              <a:blip r:embed="rId3">
                <a:alphaModFix amt="0"/>
              </a:blip>
              <a:stretch>
                <a:fillRect l="-14151" r="-14151"/>
              </a:stretch>
            </a:blipFill>
          </p:spPr>
          <p:txBody>
            <a:bodyPr/>
            <a:lstStyle/>
            <a:p>
              <a:endParaRPr lang="en-US"/>
            </a:p>
          </p:txBody>
        </p:sp>
        <p:sp>
          <p:nvSpPr>
            <p:cNvPr id="74" name="TextBox 74"/>
            <p:cNvSpPr txBox="1"/>
            <p:nvPr/>
          </p:nvSpPr>
          <p:spPr>
            <a:xfrm>
              <a:off x="0" y="-38100"/>
              <a:ext cx="1097280" cy="586740"/>
            </a:xfrm>
            <a:prstGeom prst="rect">
              <a:avLst/>
            </a:prstGeom>
          </p:spPr>
          <p:txBody>
            <a:bodyPr lIns="0" tIns="0" rIns="0" bIns="0" rtlCol="0" anchor="ctr"/>
            <a:lstStyle/>
            <a:p>
              <a:pPr algn="r">
                <a:lnSpc>
                  <a:spcPts val="1800"/>
                </a:lnSpc>
              </a:pPr>
              <a:r>
                <a:rPr lang="en-US" sz="1500">
                  <a:solidFill>
                    <a:srgbClr val="5B6B72"/>
                  </a:solidFill>
                  <a:latin typeface="Calibri (MS)"/>
                  <a:ea typeface="Calibri (MS)"/>
                  <a:cs typeface="Calibri (MS)"/>
                  <a:sym typeface="Calibri (MS)"/>
                </a:rPr>
                <a:t>14</a:t>
              </a: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8F6"/>
        </a:solidFill>
        <a:effectLst/>
      </p:bgPr>
    </p:bg>
    <p:spTree>
      <p:nvGrpSpPr>
        <p:cNvPr id="1" name=""/>
        <p:cNvGrpSpPr/>
        <p:nvPr/>
      </p:nvGrpSpPr>
      <p:grpSpPr>
        <a:xfrm>
          <a:off x="0" y="0"/>
          <a:ext cx="0" cy="0"/>
          <a:chOff x="0" y="0"/>
          <a:chExt cx="0" cy="0"/>
        </a:xfrm>
      </p:grpSpPr>
      <p:grpSp>
        <p:nvGrpSpPr>
          <p:cNvPr id="2" name="Group 2"/>
          <p:cNvGrpSpPr/>
          <p:nvPr/>
        </p:nvGrpSpPr>
        <p:grpSpPr>
          <a:xfrm>
            <a:off x="822960" y="576072"/>
            <a:ext cx="10972800" cy="480060"/>
            <a:chOff x="0" y="0"/>
            <a:chExt cx="14630400" cy="640080"/>
          </a:xfrm>
        </p:grpSpPr>
        <p:sp>
          <p:nvSpPr>
            <p:cNvPr id="3" name="Freeform 3"/>
            <p:cNvSpPr/>
            <p:nvPr/>
          </p:nvSpPr>
          <p:spPr>
            <a:xfrm>
              <a:off x="0" y="0"/>
              <a:ext cx="14630400" cy="640080"/>
            </a:xfrm>
            <a:custGeom>
              <a:avLst/>
              <a:gdLst/>
              <a:ahLst/>
              <a:cxnLst/>
              <a:rect l="l" t="t" r="r" b="b"/>
              <a:pathLst>
                <a:path w="14630400" h="640080">
                  <a:moveTo>
                    <a:pt x="0" y="0"/>
                  </a:moveTo>
                  <a:lnTo>
                    <a:pt x="14630400" y="0"/>
                  </a:lnTo>
                  <a:lnTo>
                    <a:pt x="14630400" y="640080"/>
                  </a:lnTo>
                  <a:lnTo>
                    <a:pt x="0" y="640080"/>
                  </a:lnTo>
                  <a:close/>
                </a:path>
              </a:pathLst>
            </a:custGeom>
            <a:blipFill>
              <a:blip r:embed="rId3">
                <a:alphaModFix amt="0"/>
              </a:blip>
              <a:stretch>
                <a:fillRect t="-395372" b="-395372"/>
              </a:stretch>
            </a:blipFill>
          </p:spPr>
          <p:txBody>
            <a:bodyPr/>
            <a:lstStyle/>
            <a:p>
              <a:endParaRPr lang="en-US"/>
            </a:p>
          </p:txBody>
        </p:sp>
        <p:sp>
          <p:nvSpPr>
            <p:cNvPr id="4" name="TextBox 4"/>
            <p:cNvSpPr txBox="1"/>
            <p:nvPr/>
          </p:nvSpPr>
          <p:spPr>
            <a:xfrm>
              <a:off x="0" y="-38100"/>
              <a:ext cx="14630400" cy="678180"/>
            </a:xfrm>
            <a:prstGeom prst="rect">
              <a:avLst/>
            </a:prstGeom>
          </p:spPr>
          <p:txBody>
            <a:bodyPr lIns="0" tIns="0" rIns="0" bIns="0" rtlCol="0" anchor="ctr"/>
            <a:lstStyle/>
            <a:p>
              <a:pPr algn="l">
                <a:lnSpc>
                  <a:spcPts val="2160"/>
                </a:lnSpc>
              </a:pPr>
              <a:r>
                <a:rPr lang="en-US" sz="1800" b="1" spc="299">
                  <a:solidFill>
                    <a:srgbClr val="40916C"/>
                  </a:solidFill>
                  <a:latin typeface="Calibri (MS) Bold"/>
                  <a:ea typeface="Calibri (MS) Bold"/>
                  <a:cs typeface="Calibri (MS) Bold"/>
                  <a:sym typeface="Calibri (MS) Bold"/>
                </a:rPr>
                <a:t>PART 04 · API &amp; DASHBOARD</a:t>
              </a:r>
            </a:p>
          </p:txBody>
        </p:sp>
      </p:grpSp>
      <p:grpSp>
        <p:nvGrpSpPr>
          <p:cNvPr id="5" name="Group 5"/>
          <p:cNvGrpSpPr/>
          <p:nvPr/>
        </p:nvGrpSpPr>
        <p:grpSpPr>
          <a:xfrm>
            <a:off x="822960" y="987552"/>
            <a:ext cx="15773400" cy="1234440"/>
            <a:chOff x="0" y="0"/>
            <a:chExt cx="21031200" cy="1645920"/>
          </a:xfrm>
        </p:grpSpPr>
        <p:sp>
          <p:nvSpPr>
            <p:cNvPr id="6" name="Freeform 6"/>
            <p:cNvSpPr/>
            <p:nvPr/>
          </p:nvSpPr>
          <p:spPr>
            <a:xfrm>
              <a:off x="0" y="0"/>
              <a:ext cx="21031200" cy="1645920"/>
            </a:xfrm>
            <a:custGeom>
              <a:avLst/>
              <a:gdLst/>
              <a:ahLst/>
              <a:cxnLst/>
              <a:rect l="l" t="t" r="r" b="b"/>
              <a:pathLst>
                <a:path w="21031200" h="1645920">
                  <a:moveTo>
                    <a:pt x="0" y="0"/>
                  </a:moveTo>
                  <a:lnTo>
                    <a:pt x="21031200" y="0"/>
                  </a:lnTo>
                  <a:lnTo>
                    <a:pt x="21031200" y="1645920"/>
                  </a:lnTo>
                  <a:lnTo>
                    <a:pt x="0" y="1645920"/>
                  </a:lnTo>
                  <a:close/>
                </a:path>
              </a:pathLst>
            </a:custGeom>
            <a:blipFill>
              <a:blip r:embed="rId3">
                <a:alphaModFix amt="0"/>
              </a:blip>
              <a:stretch>
                <a:fillRect t="-198975" b="-198975"/>
              </a:stretch>
            </a:blipFill>
          </p:spPr>
          <p:txBody>
            <a:bodyPr/>
            <a:lstStyle/>
            <a:p>
              <a:endParaRPr lang="en-US"/>
            </a:p>
          </p:txBody>
        </p:sp>
        <p:sp>
          <p:nvSpPr>
            <p:cNvPr id="7" name="TextBox 7"/>
            <p:cNvSpPr txBox="1"/>
            <p:nvPr/>
          </p:nvSpPr>
          <p:spPr>
            <a:xfrm>
              <a:off x="0" y="-9525"/>
              <a:ext cx="21031200" cy="1655445"/>
            </a:xfrm>
            <a:prstGeom prst="rect">
              <a:avLst/>
            </a:prstGeom>
          </p:spPr>
          <p:txBody>
            <a:bodyPr lIns="0" tIns="0" rIns="0" bIns="0" rtlCol="0" anchor="ctr"/>
            <a:lstStyle/>
            <a:p>
              <a:pPr algn="l">
                <a:lnSpc>
                  <a:spcPts val="5759"/>
                </a:lnSpc>
              </a:pPr>
              <a:r>
                <a:rPr lang="en-US" sz="4800" b="1">
                  <a:solidFill>
                    <a:srgbClr val="0D1B2A"/>
                  </a:solidFill>
                  <a:latin typeface="Cambria Bold"/>
                  <a:ea typeface="Cambria Bold"/>
                  <a:cs typeface="Cambria Bold"/>
                  <a:sym typeface="Cambria Bold"/>
                </a:rPr>
                <a:t>dashboard.py — The Streamlit Control Panel</a:t>
              </a:r>
            </a:p>
          </p:txBody>
        </p:sp>
      </p:grpSp>
      <p:grpSp>
        <p:nvGrpSpPr>
          <p:cNvPr id="8" name="Group 8"/>
          <p:cNvGrpSpPr/>
          <p:nvPr/>
        </p:nvGrpSpPr>
        <p:grpSpPr>
          <a:xfrm>
            <a:off x="813435" y="2253615"/>
            <a:ext cx="8180070" cy="3516630"/>
            <a:chOff x="0" y="0"/>
            <a:chExt cx="10906760" cy="4688840"/>
          </a:xfrm>
        </p:grpSpPr>
        <p:sp>
          <p:nvSpPr>
            <p:cNvPr id="9" name="Freeform 9"/>
            <p:cNvSpPr/>
            <p:nvPr/>
          </p:nvSpPr>
          <p:spPr>
            <a:xfrm>
              <a:off x="0" y="0"/>
              <a:ext cx="10906760" cy="4688840"/>
            </a:xfrm>
            <a:custGeom>
              <a:avLst/>
              <a:gdLst/>
              <a:ahLst/>
              <a:cxnLst/>
              <a:rect l="l" t="t" r="r" b="b"/>
              <a:pathLst>
                <a:path w="10906760" h="4688840">
                  <a:moveTo>
                    <a:pt x="0" y="183896"/>
                  </a:moveTo>
                  <a:cubicBezTo>
                    <a:pt x="0" y="82296"/>
                    <a:pt x="82296" y="0"/>
                    <a:pt x="183896" y="0"/>
                  </a:cubicBezTo>
                  <a:lnTo>
                    <a:pt x="10722864" y="0"/>
                  </a:lnTo>
                  <a:cubicBezTo>
                    <a:pt x="10824464" y="0"/>
                    <a:pt x="10906760" y="82296"/>
                    <a:pt x="10906760" y="183896"/>
                  </a:cubicBezTo>
                  <a:lnTo>
                    <a:pt x="10906760" y="4504944"/>
                  </a:lnTo>
                  <a:cubicBezTo>
                    <a:pt x="10906760" y="4606544"/>
                    <a:pt x="10824464" y="4688840"/>
                    <a:pt x="10722864" y="4688840"/>
                  </a:cubicBezTo>
                  <a:lnTo>
                    <a:pt x="183896" y="4688840"/>
                  </a:lnTo>
                  <a:cubicBezTo>
                    <a:pt x="82296" y="4688840"/>
                    <a:pt x="0" y="4606544"/>
                    <a:pt x="0" y="4504944"/>
                  </a:cubicBezTo>
                  <a:close/>
                </a:path>
              </a:pathLst>
            </a:custGeom>
            <a:solidFill>
              <a:srgbClr val="FFFFFF"/>
            </a:solidFill>
            <a:ln w="19050" cap="sq">
              <a:solidFill>
                <a:srgbClr val="DCE7E0"/>
              </a:solidFill>
              <a:prstDash val="solid"/>
              <a:miter/>
            </a:ln>
          </p:spPr>
          <p:txBody>
            <a:bodyPr/>
            <a:lstStyle/>
            <a:p>
              <a:endParaRPr lang="en-US"/>
            </a:p>
          </p:txBody>
        </p:sp>
      </p:grpSp>
      <p:grpSp>
        <p:nvGrpSpPr>
          <p:cNvPr id="10" name="Group 10"/>
          <p:cNvGrpSpPr/>
          <p:nvPr/>
        </p:nvGrpSpPr>
        <p:grpSpPr>
          <a:xfrm>
            <a:off x="822960" y="2263140"/>
            <a:ext cx="192024" cy="3497580"/>
            <a:chOff x="0" y="0"/>
            <a:chExt cx="256032" cy="4663440"/>
          </a:xfrm>
        </p:grpSpPr>
        <p:sp>
          <p:nvSpPr>
            <p:cNvPr id="11" name="Freeform 11"/>
            <p:cNvSpPr/>
            <p:nvPr/>
          </p:nvSpPr>
          <p:spPr>
            <a:xfrm>
              <a:off x="0" y="0"/>
              <a:ext cx="256032" cy="4663440"/>
            </a:xfrm>
            <a:custGeom>
              <a:avLst/>
              <a:gdLst/>
              <a:ahLst/>
              <a:cxnLst/>
              <a:rect l="l" t="t" r="r" b="b"/>
              <a:pathLst>
                <a:path w="256032" h="4663440">
                  <a:moveTo>
                    <a:pt x="0" y="42672"/>
                  </a:moveTo>
                  <a:cubicBezTo>
                    <a:pt x="0" y="19050"/>
                    <a:pt x="19050" y="0"/>
                    <a:pt x="42672" y="0"/>
                  </a:cubicBezTo>
                  <a:lnTo>
                    <a:pt x="213360" y="0"/>
                  </a:lnTo>
                  <a:cubicBezTo>
                    <a:pt x="236982" y="0"/>
                    <a:pt x="256032" y="19050"/>
                    <a:pt x="256032" y="42672"/>
                  </a:cubicBezTo>
                  <a:lnTo>
                    <a:pt x="256032" y="4620768"/>
                  </a:lnTo>
                  <a:cubicBezTo>
                    <a:pt x="256032" y="4644390"/>
                    <a:pt x="236982" y="4663440"/>
                    <a:pt x="213360" y="4663440"/>
                  </a:cubicBezTo>
                  <a:lnTo>
                    <a:pt x="42672" y="4663440"/>
                  </a:lnTo>
                  <a:cubicBezTo>
                    <a:pt x="19050" y="4663440"/>
                    <a:pt x="0" y="4644390"/>
                    <a:pt x="0" y="4620768"/>
                  </a:cubicBezTo>
                  <a:close/>
                </a:path>
              </a:pathLst>
            </a:custGeom>
            <a:solidFill>
              <a:srgbClr val="40916C"/>
            </a:solidFill>
          </p:spPr>
          <p:txBody>
            <a:bodyPr/>
            <a:lstStyle/>
            <a:p>
              <a:endParaRPr lang="en-US"/>
            </a:p>
          </p:txBody>
        </p:sp>
      </p:grpSp>
      <p:grpSp>
        <p:nvGrpSpPr>
          <p:cNvPr id="12" name="Group 12"/>
          <p:cNvGrpSpPr/>
          <p:nvPr/>
        </p:nvGrpSpPr>
        <p:grpSpPr>
          <a:xfrm>
            <a:off x="1303020" y="2606040"/>
            <a:ext cx="7269480" cy="685800"/>
            <a:chOff x="0" y="0"/>
            <a:chExt cx="9692640" cy="914400"/>
          </a:xfrm>
        </p:grpSpPr>
        <p:sp>
          <p:nvSpPr>
            <p:cNvPr id="13" name="Freeform 13"/>
            <p:cNvSpPr/>
            <p:nvPr/>
          </p:nvSpPr>
          <p:spPr>
            <a:xfrm>
              <a:off x="0" y="0"/>
              <a:ext cx="9692640" cy="914400"/>
            </a:xfrm>
            <a:custGeom>
              <a:avLst/>
              <a:gdLst/>
              <a:ahLst/>
              <a:cxnLst/>
              <a:rect l="l" t="t" r="r" b="b"/>
              <a:pathLst>
                <a:path w="9692640" h="914400">
                  <a:moveTo>
                    <a:pt x="0" y="0"/>
                  </a:moveTo>
                  <a:lnTo>
                    <a:pt x="9692640" y="0"/>
                  </a:lnTo>
                  <a:lnTo>
                    <a:pt x="9692640" y="914400"/>
                  </a:lnTo>
                  <a:lnTo>
                    <a:pt x="0" y="914400"/>
                  </a:lnTo>
                  <a:close/>
                </a:path>
              </a:pathLst>
            </a:custGeom>
            <a:blipFill>
              <a:blip r:embed="rId3">
                <a:alphaModFix amt="0"/>
              </a:blip>
              <a:stretch>
                <a:fillRect t="-156541" b="-156541"/>
              </a:stretch>
            </a:blipFill>
          </p:spPr>
          <p:txBody>
            <a:bodyPr/>
            <a:lstStyle/>
            <a:p>
              <a:endParaRPr lang="en-US"/>
            </a:p>
          </p:txBody>
        </p:sp>
        <p:sp>
          <p:nvSpPr>
            <p:cNvPr id="14" name="TextBox 14"/>
            <p:cNvSpPr txBox="1"/>
            <p:nvPr/>
          </p:nvSpPr>
          <p:spPr>
            <a:xfrm>
              <a:off x="0" y="-9525"/>
              <a:ext cx="9692640" cy="923925"/>
            </a:xfrm>
            <a:prstGeom prst="rect">
              <a:avLst/>
            </a:prstGeom>
          </p:spPr>
          <p:txBody>
            <a:bodyPr lIns="0" tIns="0" rIns="0" bIns="0" rtlCol="0" anchor="ctr"/>
            <a:lstStyle/>
            <a:p>
              <a:pPr algn="l">
                <a:lnSpc>
                  <a:spcPts val="2879"/>
                </a:lnSpc>
              </a:pPr>
              <a:r>
                <a:rPr lang="en-US" sz="2400" b="1">
                  <a:solidFill>
                    <a:srgbClr val="0D1B2A"/>
                  </a:solidFill>
                  <a:latin typeface="Cambria Bold"/>
                  <a:ea typeface="Cambria Bold"/>
                  <a:cs typeface="Cambria Bold"/>
                  <a:sym typeface="Cambria Bold"/>
                </a:rPr>
                <a:t>Sidebar Control Panel</a:t>
              </a:r>
            </a:p>
          </p:txBody>
        </p:sp>
      </p:grpSp>
      <p:grpSp>
        <p:nvGrpSpPr>
          <p:cNvPr id="15" name="Group 15"/>
          <p:cNvGrpSpPr/>
          <p:nvPr/>
        </p:nvGrpSpPr>
        <p:grpSpPr>
          <a:xfrm>
            <a:off x="1303020" y="3429000"/>
            <a:ext cx="7269480" cy="2057400"/>
            <a:chOff x="0" y="0"/>
            <a:chExt cx="9692640" cy="2743200"/>
          </a:xfrm>
        </p:grpSpPr>
        <p:sp>
          <p:nvSpPr>
            <p:cNvPr id="16" name="Freeform 16"/>
            <p:cNvSpPr/>
            <p:nvPr/>
          </p:nvSpPr>
          <p:spPr>
            <a:xfrm>
              <a:off x="0" y="0"/>
              <a:ext cx="9692640" cy="2743200"/>
            </a:xfrm>
            <a:custGeom>
              <a:avLst/>
              <a:gdLst/>
              <a:ahLst/>
              <a:cxnLst/>
              <a:rect l="l" t="t" r="r" b="b"/>
              <a:pathLst>
                <a:path w="9692640" h="2743200">
                  <a:moveTo>
                    <a:pt x="0" y="0"/>
                  </a:moveTo>
                  <a:lnTo>
                    <a:pt x="9692640" y="0"/>
                  </a:lnTo>
                  <a:lnTo>
                    <a:pt x="9692640" y="2743200"/>
                  </a:lnTo>
                  <a:lnTo>
                    <a:pt x="0" y="2743200"/>
                  </a:lnTo>
                  <a:close/>
                </a:path>
              </a:pathLst>
            </a:custGeom>
            <a:blipFill>
              <a:blip r:embed="rId3">
                <a:alphaModFix amt="0"/>
              </a:blip>
              <a:stretch>
                <a:fillRect t="-18847" b="-18847"/>
              </a:stretch>
            </a:blipFill>
          </p:spPr>
          <p:txBody>
            <a:bodyPr/>
            <a:lstStyle/>
            <a:p>
              <a:endParaRPr lang="en-US"/>
            </a:p>
          </p:txBody>
        </p:sp>
        <p:sp>
          <p:nvSpPr>
            <p:cNvPr id="17" name="TextBox 17"/>
            <p:cNvSpPr txBox="1"/>
            <p:nvPr/>
          </p:nvSpPr>
          <p:spPr>
            <a:xfrm>
              <a:off x="0" y="-85725"/>
              <a:ext cx="9692640" cy="2828925"/>
            </a:xfrm>
            <a:prstGeom prst="rect">
              <a:avLst/>
            </a:prstGeom>
          </p:spPr>
          <p:txBody>
            <a:bodyPr lIns="0" tIns="0" rIns="0" bIns="0" rtlCol="0" anchor="ctr"/>
            <a:lstStyle/>
            <a:p>
              <a:pPr algn="l">
                <a:lnSpc>
                  <a:spcPts val="2574"/>
                </a:lnSpc>
              </a:pPr>
              <a:r>
                <a:rPr lang="en-US" sz="1650">
                  <a:solidFill>
                    <a:srgbClr val="5B6B72"/>
                  </a:solidFill>
                  <a:latin typeface="Calibri (MS)"/>
                  <a:ea typeface="Calibri (MS)"/>
                  <a:cs typeface="Calibri (MS)"/>
                  <a:sym typeface="Calibri (MS)"/>
                </a:rPr>
                <a:t>Toggles live data sync and offers a Fault Injection dropdown that triggers /grid/inject_anomaly and auto-launches a diagnostic scan.</a:t>
              </a:r>
            </a:p>
          </p:txBody>
        </p:sp>
      </p:grpSp>
      <p:grpSp>
        <p:nvGrpSpPr>
          <p:cNvPr id="18" name="Group 18"/>
          <p:cNvGrpSpPr/>
          <p:nvPr/>
        </p:nvGrpSpPr>
        <p:grpSpPr>
          <a:xfrm>
            <a:off x="9248775" y="2253615"/>
            <a:ext cx="8180070" cy="3516630"/>
            <a:chOff x="0" y="0"/>
            <a:chExt cx="10906760" cy="4688840"/>
          </a:xfrm>
        </p:grpSpPr>
        <p:sp>
          <p:nvSpPr>
            <p:cNvPr id="19" name="Freeform 19"/>
            <p:cNvSpPr/>
            <p:nvPr/>
          </p:nvSpPr>
          <p:spPr>
            <a:xfrm>
              <a:off x="0" y="0"/>
              <a:ext cx="10906760" cy="4688840"/>
            </a:xfrm>
            <a:custGeom>
              <a:avLst/>
              <a:gdLst/>
              <a:ahLst/>
              <a:cxnLst/>
              <a:rect l="l" t="t" r="r" b="b"/>
              <a:pathLst>
                <a:path w="10906760" h="4688840">
                  <a:moveTo>
                    <a:pt x="0" y="183896"/>
                  </a:moveTo>
                  <a:cubicBezTo>
                    <a:pt x="0" y="82296"/>
                    <a:pt x="82296" y="0"/>
                    <a:pt x="183896" y="0"/>
                  </a:cubicBezTo>
                  <a:lnTo>
                    <a:pt x="10722864" y="0"/>
                  </a:lnTo>
                  <a:cubicBezTo>
                    <a:pt x="10824464" y="0"/>
                    <a:pt x="10906760" y="82296"/>
                    <a:pt x="10906760" y="183896"/>
                  </a:cubicBezTo>
                  <a:lnTo>
                    <a:pt x="10906760" y="4504944"/>
                  </a:lnTo>
                  <a:cubicBezTo>
                    <a:pt x="10906760" y="4606544"/>
                    <a:pt x="10824464" y="4688840"/>
                    <a:pt x="10722864" y="4688840"/>
                  </a:cubicBezTo>
                  <a:lnTo>
                    <a:pt x="183896" y="4688840"/>
                  </a:lnTo>
                  <a:cubicBezTo>
                    <a:pt x="82296" y="4688840"/>
                    <a:pt x="0" y="4606544"/>
                    <a:pt x="0" y="4504944"/>
                  </a:cubicBezTo>
                  <a:close/>
                </a:path>
              </a:pathLst>
            </a:custGeom>
            <a:solidFill>
              <a:srgbClr val="FFFFFF"/>
            </a:solidFill>
            <a:ln w="19050" cap="sq">
              <a:solidFill>
                <a:srgbClr val="DCE7E0"/>
              </a:solidFill>
              <a:prstDash val="solid"/>
              <a:miter/>
            </a:ln>
          </p:spPr>
          <p:txBody>
            <a:bodyPr/>
            <a:lstStyle/>
            <a:p>
              <a:endParaRPr lang="en-US"/>
            </a:p>
          </p:txBody>
        </p:sp>
      </p:grpSp>
      <p:grpSp>
        <p:nvGrpSpPr>
          <p:cNvPr id="20" name="Group 20"/>
          <p:cNvGrpSpPr/>
          <p:nvPr/>
        </p:nvGrpSpPr>
        <p:grpSpPr>
          <a:xfrm>
            <a:off x="9258300" y="2263140"/>
            <a:ext cx="192024" cy="3497580"/>
            <a:chOff x="0" y="0"/>
            <a:chExt cx="256032" cy="4663440"/>
          </a:xfrm>
        </p:grpSpPr>
        <p:sp>
          <p:nvSpPr>
            <p:cNvPr id="21" name="Freeform 21"/>
            <p:cNvSpPr/>
            <p:nvPr/>
          </p:nvSpPr>
          <p:spPr>
            <a:xfrm>
              <a:off x="0" y="0"/>
              <a:ext cx="256032" cy="4663440"/>
            </a:xfrm>
            <a:custGeom>
              <a:avLst/>
              <a:gdLst/>
              <a:ahLst/>
              <a:cxnLst/>
              <a:rect l="l" t="t" r="r" b="b"/>
              <a:pathLst>
                <a:path w="256032" h="4663440">
                  <a:moveTo>
                    <a:pt x="0" y="42672"/>
                  </a:moveTo>
                  <a:cubicBezTo>
                    <a:pt x="0" y="19050"/>
                    <a:pt x="19050" y="0"/>
                    <a:pt x="42672" y="0"/>
                  </a:cubicBezTo>
                  <a:lnTo>
                    <a:pt x="213360" y="0"/>
                  </a:lnTo>
                  <a:cubicBezTo>
                    <a:pt x="236982" y="0"/>
                    <a:pt x="256032" y="19050"/>
                    <a:pt x="256032" y="42672"/>
                  </a:cubicBezTo>
                  <a:lnTo>
                    <a:pt x="256032" y="4620768"/>
                  </a:lnTo>
                  <a:cubicBezTo>
                    <a:pt x="256032" y="4644390"/>
                    <a:pt x="236982" y="4663440"/>
                    <a:pt x="213360" y="4663440"/>
                  </a:cubicBezTo>
                  <a:lnTo>
                    <a:pt x="42672" y="4663440"/>
                  </a:lnTo>
                  <a:cubicBezTo>
                    <a:pt x="19050" y="4663440"/>
                    <a:pt x="0" y="4644390"/>
                    <a:pt x="0" y="4620768"/>
                  </a:cubicBezTo>
                  <a:close/>
                </a:path>
              </a:pathLst>
            </a:custGeom>
            <a:solidFill>
              <a:srgbClr val="74C69D"/>
            </a:solidFill>
          </p:spPr>
          <p:txBody>
            <a:bodyPr/>
            <a:lstStyle/>
            <a:p>
              <a:endParaRPr lang="en-US"/>
            </a:p>
          </p:txBody>
        </p:sp>
      </p:grpSp>
      <p:grpSp>
        <p:nvGrpSpPr>
          <p:cNvPr id="22" name="Group 22"/>
          <p:cNvGrpSpPr/>
          <p:nvPr/>
        </p:nvGrpSpPr>
        <p:grpSpPr>
          <a:xfrm>
            <a:off x="9738360" y="2606040"/>
            <a:ext cx="7269480" cy="685800"/>
            <a:chOff x="0" y="0"/>
            <a:chExt cx="9692640" cy="914400"/>
          </a:xfrm>
        </p:grpSpPr>
        <p:sp>
          <p:nvSpPr>
            <p:cNvPr id="23" name="Freeform 23"/>
            <p:cNvSpPr/>
            <p:nvPr/>
          </p:nvSpPr>
          <p:spPr>
            <a:xfrm>
              <a:off x="0" y="0"/>
              <a:ext cx="9692640" cy="914400"/>
            </a:xfrm>
            <a:custGeom>
              <a:avLst/>
              <a:gdLst/>
              <a:ahLst/>
              <a:cxnLst/>
              <a:rect l="l" t="t" r="r" b="b"/>
              <a:pathLst>
                <a:path w="9692640" h="914400">
                  <a:moveTo>
                    <a:pt x="0" y="0"/>
                  </a:moveTo>
                  <a:lnTo>
                    <a:pt x="9692640" y="0"/>
                  </a:lnTo>
                  <a:lnTo>
                    <a:pt x="9692640" y="914400"/>
                  </a:lnTo>
                  <a:lnTo>
                    <a:pt x="0" y="914400"/>
                  </a:lnTo>
                  <a:close/>
                </a:path>
              </a:pathLst>
            </a:custGeom>
            <a:blipFill>
              <a:blip r:embed="rId3">
                <a:alphaModFix amt="0"/>
              </a:blip>
              <a:stretch>
                <a:fillRect t="-156541" b="-156541"/>
              </a:stretch>
            </a:blipFill>
          </p:spPr>
          <p:txBody>
            <a:bodyPr/>
            <a:lstStyle/>
            <a:p>
              <a:endParaRPr lang="en-US"/>
            </a:p>
          </p:txBody>
        </p:sp>
        <p:sp>
          <p:nvSpPr>
            <p:cNvPr id="24" name="TextBox 24"/>
            <p:cNvSpPr txBox="1"/>
            <p:nvPr/>
          </p:nvSpPr>
          <p:spPr>
            <a:xfrm>
              <a:off x="0" y="-9525"/>
              <a:ext cx="9692640" cy="923925"/>
            </a:xfrm>
            <a:prstGeom prst="rect">
              <a:avLst/>
            </a:prstGeom>
          </p:spPr>
          <p:txBody>
            <a:bodyPr lIns="0" tIns="0" rIns="0" bIns="0" rtlCol="0" anchor="ctr"/>
            <a:lstStyle/>
            <a:p>
              <a:pPr algn="l">
                <a:lnSpc>
                  <a:spcPts val="2879"/>
                </a:lnSpc>
              </a:pPr>
              <a:r>
                <a:rPr lang="en-US" sz="2400" b="1">
                  <a:solidFill>
                    <a:srgbClr val="0D1B2A"/>
                  </a:solidFill>
                  <a:latin typeface="Cambria Bold"/>
                  <a:ea typeface="Cambria Bold"/>
                  <a:cs typeface="Cambria Bold"/>
                  <a:sym typeface="Cambria Bold"/>
                </a:rPr>
                <a:t>Grid Balance Meter</a:t>
              </a:r>
            </a:p>
          </p:txBody>
        </p:sp>
      </p:grpSp>
      <p:grpSp>
        <p:nvGrpSpPr>
          <p:cNvPr id="25" name="Group 25"/>
          <p:cNvGrpSpPr/>
          <p:nvPr/>
        </p:nvGrpSpPr>
        <p:grpSpPr>
          <a:xfrm>
            <a:off x="9738360" y="3429000"/>
            <a:ext cx="7269480" cy="2057400"/>
            <a:chOff x="0" y="0"/>
            <a:chExt cx="9692640" cy="2743200"/>
          </a:xfrm>
        </p:grpSpPr>
        <p:sp>
          <p:nvSpPr>
            <p:cNvPr id="26" name="Freeform 26"/>
            <p:cNvSpPr/>
            <p:nvPr/>
          </p:nvSpPr>
          <p:spPr>
            <a:xfrm>
              <a:off x="0" y="0"/>
              <a:ext cx="9692640" cy="2743200"/>
            </a:xfrm>
            <a:custGeom>
              <a:avLst/>
              <a:gdLst/>
              <a:ahLst/>
              <a:cxnLst/>
              <a:rect l="l" t="t" r="r" b="b"/>
              <a:pathLst>
                <a:path w="9692640" h="2743200">
                  <a:moveTo>
                    <a:pt x="0" y="0"/>
                  </a:moveTo>
                  <a:lnTo>
                    <a:pt x="9692640" y="0"/>
                  </a:lnTo>
                  <a:lnTo>
                    <a:pt x="9692640" y="2743200"/>
                  </a:lnTo>
                  <a:lnTo>
                    <a:pt x="0" y="2743200"/>
                  </a:lnTo>
                  <a:close/>
                </a:path>
              </a:pathLst>
            </a:custGeom>
            <a:blipFill>
              <a:blip r:embed="rId3">
                <a:alphaModFix amt="0"/>
              </a:blip>
              <a:stretch>
                <a:fillRect t="-18847" b="-18847"/>
              </a:stretch>
            </a:blipFill>
          </p:spPr>
          <p:txBody>
            <a:bodyPr/>
            <a:lstStyle/>
            <a:p>
              <a:endParaRPr lang="en-US"/>
            </a:p>
          </p:txBody>
        </p:sp>
        <p:sp>
          <p:nvSpPr>
            <p:cNvPr id="27" name="TextBox 27"/>
            <p:cNvSpPr txBox="1"/>
            <p:nvPr/>
          </p:nvSpPr>
          <p:spPr>
            <a:xfrm>
              <a:off x="0" y="-85725"/>
              <a:ext cx="9692640" cy="2828925"/>
            </a:xfrm>
            <a:prstGeom prst="rect">
              <a:avLst/>
            </a:prstGeom>
          </p:spPr>
          <p:txBody>
            <a:bodyPr lIns="0" tIns="0" rIns="0" bIns="0" rtlCol="0" anchor="ctr"/>
            <a:lstStyle/>
            <a:p>
              <a:pPr algn="l">
                <a:lnSpc>
                  <a:spcPts val="2574"/>
                </a:lnSpc>
              </a:pPr>
              <a:r>
                <a:rPr lang="en-US" sz="1650">
                  <a:solidFill>
                    <a:srgbClr val="5B6B72"/>
                  </a:solidFill>
                  <a:latin typeface="Calibri (MS)"/>
                  <a:ea typeface="Calibri (MS)"/>
                  <a:cs typeface="Calibri (MS)"/>
                  <a:sym typeface="Calibri (MS)"/>
                </a:rPr>
                <a:t>Computes generation-vs-demand ratios and renders a custom HTML/CSS bar showing Surplus (green) or Deficit (red).</a:t>
              </a:r>
            </a:p>
          </p:txBody>
        </p:sp>
      </p:grpSp>
      <p:grpSp>
        <p:nvGrpSpPr>
          <p:cNvPr id="28" name="Group 28"/>
          <p:cNvGrpSpPr/>
          <p:nvPr/>
        </p:nvGrpSpPr>
        <p:grpSpPr>
          <a:xfrm>
            <a:off x="813435" y="6025515"/>
            <a:ext cx="8180070" cy="3516630"/>
            <a:chOff x="0" y="0"/>
            <a:chExt cx="10906760" cy="4688840"/>
          </a:xfrm>
        </p:grpSpPr>
        <p:sp>
          <p:nvSpPr>
            <p:cNvPr id="29" name="Freeform 29"/>
            <p:cNvSpPr/>
            <p:nvPr/>
          </p:nvSpPr>
          <p:spPr>
            <a:xfrm>
              <a:off x="0" y="0"/>
              <a:ext cx="10906760" cy="4688840"/>
            </a:xfrm>
            <a:custGeom>
              <a:avLst/>
              <a:gdLst/>
              <a:ahLst/>
              <a:cxnLst/>
              <a:rect l="l" t="t" r="r" b="b"/>
              <a:pathLst>
                <a:path w="10906760" h="4688840">
                  <a:moveTo>
                    <a:pt x="0" y="183896"/>
                  </a:moveTo>
                  <a:cubicBezTo>
                    <a:pt x="0" y="82296"/>
                    <a:pt x="82296" y="0"/>
                    <a:pt x="183896" y="0"/>
                  </a:cubicBezTo>
                  <a:lnTo>
                    <a:pt x="10722864" y="0"/>
                  </a:lnTo>
                  <a:cubicBezTo>
                    <a:pt x="10824464" y="0"/>
                    <a:pt x="10906760" y="82296"/>
                    <a:pt x="10906760" y="183896"/>
                  </a:cubicBezTo>
                  <a:lnTo>
                    <a:pt x="10906760" y="4504944"/>
                  </a:lnTo>
                  <a:cubicBezTo>
                    <a:pt x="10906760" y="4606544"/>
                    <a:pt x="10824464" y="4688840"/>
                    <a:pt x="10722864" y="4688840"/>
                  </a:cubicBezTo>
                  <a:lnTo>
                    <a:pt x="183896" y="4688840"/>
                  </a:lnTo>
                  <a:cubicBezTo>
                    <a:pt x="82296" y="4688840"/>
                    <a:pt x="0" y="4606544"/>
                    <a:pt x="0" y="4504944"/>
                  </a:cubicBezTo>
                  <a:close/>
                </a:path>
              </a:pathLst>
            </a:custGeom>
            <a:solidFill>
              <a:srgbClr val="FFFFFF"/>
            </a:solidFill>
            <a:ln w="19050" cap="sq">
              <a:solidFill>
                <a:srgbClr val="DCE7E0"/>
              </a:solidFill>
              <a:prstDash val="solid"/>
              <a:miter/>
            </a:ln>
          </p:spPr>
          <p:txBody>
            <a:bodyPr/>
            <a:lstStyle/>
            <a:p>
              <a:endParaRPr lang="en-US"/>
            </a:p>
          </p:txBody>
        </p:sp>
      </p:grpSp>
      <p:grpSp>
        <p:nvGrpSpPr>
          <p:cNvPr id="30" name="Group 30"/>
          <p:cNvGrpSpPr/>
          <p:nvPr/>
        </p:nvGrpSpPr>
        <p:grpSpPr>
          <a:xfrm>
            <a:off x="822960" y="6035040"/>
            <a:ext cx="192024" cy="3497580"/>
            <a:chOff x="0" y="0"/>
            <a:chExt cx="256032" cy="4663440"/>
          </a:xfrm>
        </p:grpSpPr>
        <p:sp>
          <p:nvSpPr>
            <p:cNvPr id="31" name="Freeform 31"/>
            <p:cNvSpPr/>
            <p:nvPr/>
          </p:nvSpPr>
          <p:spPr>
            <a:xfrm>
              <a:off x="0" y="0"/>
              <a:ext cx="256032" cy="4663440"/>
            </a:xfrm>
            <a:custGeom>
              <a:avLst/>
              <a:gdLst/>
              <a:ahLst/>
              <a:cxnLst/>
              <a:rect l="l" t="t" r="r" b="b"/>
              <a:pathLst>
                <a:path w="256032" h="4663440">
                  <a:moveTo>
                    <a:pt x="0" y="42672"/>
                  </a:moveTo>
                  <a:cubicBezTo>
                    <a:pt x="0" y="19050"/>
                    <a:pt x="19050" y="0"/>
                    <a:pt x="42672" y="0"/>
                  </a:cubicBezTo>
                  <a:lnTo>
                    <a:pt x="213360" y="0"/>
                  </a:lnTo>
                  <a:cubicBezTo>
                    <a:pt x="236982" y="0"/>
                    <a:pt x="256032" y="19050"/>
                    <a:pt x="256032" y="42672"/>
                  </a:cubicBezTo>
                  <a:lnTo>
                    <a:pt x="256032" y="4620768"/>
                  </a:lnTo>
                  <a:cubicBezTo>
                    <a:pt x="256032" y="4644390"/>
                    <a:pt x="236982" y="4663440"/>
                    <a:pt x="213360" y="4663440"/>
                  </a:cubicBezTo>
                  <a:lnTo>
                    <a:pt x="42672" y="4663440"/>
                  </a:lnTo>
                  <a:cubicBezTo>
                    <a:pt x="19050" y="4663440"/>
                    <a:pt x="0" y="4644390"/>
                    <a:pt x="0" y="4620768"/>
                  </a:cubicBezTo>
                  <a:close/>
                </a:path>
              </a:pathLst>
            </a:custGeom>
            <a:solidFill>
              <a:srgbClr val="FFB703"/>
            </a:solidFill>
          </p:spPr>
          <p:txBody>
            <a:bodyPr/>
            <a:lstStyle/>
            <a:p>
              <a:endParaRPr lang="en-US"/>
            </a:p>
          </p:txBody>
        </p:sp>
      </p:grpSp>
      <p:grpSp>
        <p:nvGrpSpPr>
          <p:cNvPr id="32" name="Group 32"/>
          <p:cNvGrpSpPr/>
          <p:nvPr/>
        </p:nvGrpSpPr>
        <p:grpSpPr>
          <a:xfrm>
            <a:off x="1303020" y="6377940"/>
            <a:ext cx="7269480" cy="685800"/>
            <a:chOff x="0" y="0"/>
            <a:chExt cx="9692640" cy="914400"/>
          </a:xfrm>
        </p:grpSpPr>
        <p:sp>
          <p:nvSpPr>
            <p:cNvPr id="33" name="Freeform 33"/>
            <p:cNvSpPr/>
            <p:nvPr/>
          </p:nvSpPr>
          <p:spPr>
            <a:xfrm>
              <a:off x="0" y="0"/>
              <a:ext cx="9692640" cy="914400"/>
            </a:xfrm>
            <a:custGeom>
              <a:avLst/>
              <a:gdLst/>
              <a:ahLst/>
              <a:cxnLst/>
              <a:rect l="l" t="t" r="r" b="b"/>
              <a:pathLst>
                <a:path w="9692640" h="914400">
                  <a:moveTo>
                    <a:pt x="0" y="0"/>
                  </a:moveTo>
                  <a:lnTo>
                    <a:pt x="9692640" y="0"/>
                  </a:lnTo>
                  <a:lnTo>
                    <a:pt x="9692640" y="914400"/>
                  </a:lnTo>
                  <a:lnTo>
                    <a:pt x="0" y="914400"/>
                  </a:lnTo>
                  <a:close/>
                </a:path>
              </a:pathLst>
            </a:custGeom>
            <a:blipFill>
              <a:blip r:embed="rId3">
                <a:alphaModFix amt="0"/>
              </a:blip>
              <a:stretch>
                <a:fillRect t="-156541" b="-156541"/>
              </a:stretch>
            </a:blipFill>
          </p:spPr>
          <p:txBody>
            <a:bodyPr/>
            <a:lstStyle/>
            <a:p>
              <a:endParaRPr lang="en-US"/>
            </a:p>
          </p:txBody>
        </p:sp>
        <p:sp>
          <p:nvSpPr>
            <p:cNvPr id="34" name="TextBox 34"/>
            <p:cNvSpPr txBox="1"/>
            <p:nvPr/>
          </p:nvSpPr>
          <p:spPr>
            <a:xfrm>
              <a:off x="0" y="-9525"/>
              <a:ext cx="9692640" cy="923925"/>
            </a:xfrm>
            <a:prstGeom prst="rect">
              <a:avLst/>
            </a:prstGeom>
          </p:spPr>
          <p:txBody>
            <a:bodyPr lIns="0" tIns="0" rIns="0" bIns="0" rtlCol="0" anchor="ctr"/>
            <a:lstStyle/>
            <a:p>
              <a:pPr algn="l">
                <a:lnSpc>
                  <a:spcPts val="2879"/>
                </a:lnSpc>
              </a:pPr>
              <a:r>
                <a:rPr lang="en-US" sz="2400" b="1">
                  <a:solidFill>
                    <a:srgbClr val="0D1B2A"/>
                  </a:solidFill>
                  <a:latin typeface="Cambria Bold"/>
                  <a:ea typeface="Cambria Bold"/>
                  <a:cs typeface="Cambria Bold"/>
                  <a:sym typeface="Cambria Bold"/>
                </a:rPr>
                <a:t>Live Telemetry Graphs</a:t>
              </a:r>
            </a:p>
          </p:txBody>
        </p:sp>
      </p:grpSp>
      <p:grpSp>
        <p:nvGrpSpPr>
          <p:cNvPr id="35" name="Group 35"/>
          <p:cNvGrpSpPr/>
          <p:nvPr/>
        </p:nvGrpSpPr>
        <p:grpSpPr>
          <a:xfrm>
            <a:off x="1303020" y="7200900"/>
            <a:ext cx="7269480" cy="2057400"/>
            <a:chOff x="0" y="0"/>
            <a:chExt cx="9692640" cy="2743200"/>
          </a:xfrm>
        </p:grpSpPr>
        <p:sp>
          <p:nvSpPr>
            <p:cNvPr id="36" name="Freeform 36"/>
            <p:cNvSpPr/>
            <p:nvPr/>
          </p:nvSpPr>
          <p:spPr>
            <a:xfrm>
              <a:off x="0" y="0"/>
              <a:ext cx="9692640" cy="2743200"/>
            </a:xfrm>
            <a:custGeom>
              <a:avLst/>
              <a:gdLst/>
              <a:ahLst/>
              <a:cxnLst/>
              <a:rect l="l" t="t" r="r" b="b"/>
              <a:pathLst>
                <a:path w="9692640" h="2743200">
                  <a:moveTo>
                    <a:pt x="0" y="0"/>
                  </a:moveTo>
                  <a:lnTo>
                    <a:pt x="9692640" y="0"/>
                  </a:lnTo>
                  <a:lnTo>
                    <a:pt x="9692640" y="2743200"/>
                  </a:lnTo>
                  <a:lnTo>
                    <a:pt x="0" y="2743200"/>
                  </a:lnTo>
                  <a:close/>
                </a:path>
              </a:pathLst>
            </a:custGeom>
            <a:blipFill>
              <a:blip r:embed="rId3">
                <a:alphaModFix amt="0"/>
              </a:blip>
              <a:stretch>
                <a:fillRect t="-18847" b="-18847"/>
              </a:stretch>
            </a:blipFill>
          </p:spPr>
          <p:txBody>
            <a:bodyPr/>
            <a:lstStyle/>
            <a:p>
              <a:endParaRPr lang="en-US"/>
            </a:p>
          </p:txBody>
        </p:sp>
        <p:sp>
          <p:nvSpPr>
            <p:cNvPr id="37" name="TextBox 37"/>
            <p:cNvSpPr txBox="1"/>
            <p:nvPr/>
          </p:nvSpPr>
          <p:spPr>
            <a:xfrm>
              <a:off x="0" y="-85725"/>
              <a:ext cx="9692640" cy="2828925"/>
            </a:xfrm>
            <a:prstGeom prst="rect">
              <a:avLst/>
            </a:prstGeom>
          </p:spPr>
          <p:txBody>
            <a:bodyPr lIns="0" tIns="0" rIns="0" bIns="0" rtlCol="0" anchor="ctr"/>
            <a:lstStyle/>
            <a:p>
              <a:pPr algn="l">
                <a:lnSpc>
                  <a:spcPts val="2574"/>
                </a:lnSpc>
              </a:pPr>
              <a:r>
                <a:rPr lang="en-US" sz="1650">
                  <a:solidFill>
                    <a:srgbClr val="5B6B72"/>
                  </a:solidFill>
                  <a:latin typeface="Calibri (MS)"/>
                  <a:ea typeface="Calibri (MS)"/>
                  <a:cs typeface="Calibri (MS)"/>
                  <a:sym typeface="Calibri (MS)"/>
                </a:rPr>
                <a:t>Dual-trace Plotly charts: solid line for physics-derived actual power, dashed line for AI forecast history from session state.</a:t>
              </a:r>
            </a:p>
          </p:txBody>
        </p:sp>
      </p:grpSp>
      <p:grpSp>
        <p:nvGrpSpPr>
          <p:cNvPr id="38" name="Group 38"/>
          <p:cNvGrpSpPr/>
          <p:nvPr/>
        </p:nvGrpSpPr>
        <p:grpSpPr>
          <a:xfrm>
            <a:off x="9248775" y="6025515"/>
            <a:ext cx="8180070" cy="3516630"/>
            <a:chOff x="0" y="0"/>
            <a:chExt cx="10906760" cy="4688840"/>
          </a:xfrm>
        </p:grpSpPr>
        <p:sp>
          <p:nvSpPr>
            <p:cNvPr id="39" name="Freeform 39"/>
            <p:cNvSpPr/>
            <p:nvPr/>
          </p:nvSpPr>
          <p:spPr>
            <a:xfrm>
              <a:off x="0" y="0"/>
              <a:ext cx="10906760" cy="4688840"/>
            </a:xfrm>
            <a:custGeom>
              <a:avLst/>
              <a:gdLst/>
              <a:ahLst/>
              <a:cxnLst/>
              <a:rect l="l" t="t" r="r" b="b"/>
              <a:pathLst>
                <a:path w="10906760" h="4688840">
                  <a:moveTo>
                    <a:pt x="0" y="183896"/>
                  </a:moveTo>
                  <a:cubicBezTo>
                    <a:pt x="0" y="82296"/>
                    <a:pt x="82296" y="0"/>
                    <a:pt x="183896" y="0"/>
                  </a:cubicBezTo>
                  <a:lnTo>
                    <a:pt x="10722864" y="0"/>
                  </a:lnTo>
                  <a:cubicBezTo>
                    <a:pt x="10824464" y="0"/>
                    <a:pt x="10906760" y="82296"/>
                    <a:pt x="10906760" y="183896"/>
                  </a:cubicBezTo>
                  <a:lnTo>
                    <a:pt x="10906760" y="4504944"/>
                  </a:lnTo>
                  <a:cubicBezTo>
                    <a:pt x="10906760" y="4606544"/>
                    <a:pt x="10824464" y="4688840"/>
                    <a:pt x="10722864" y="4688840"/>
                  </a:cubicBezTo>
                  <a:lnTo>
                    <a:pt x="183896" y="4688840"/>
                  </a:lnTo>
                  <a:cubicBezTo>
                    <a:pt x="82296" y="4688840"/>
                    <a:pt x="0" y="4606544"/>
                    <a:pt x="0" y="4504944"/>
                  </a:cubicBezTo>
                  <a:close/>
                </a:path>
              </a:pathLst>
            </a:custGeom>
            <a:solidFill>
              <a:srgbClr val="FFFFFF"/>
            </a:solidFill>
            <a:ln w="19050" cap="sq">
              <a:solidFill>
                <a:srgbClr val="DCE7E0"/>
              </a:solidFill>
              <a:prstDash val="solid"/>
              <a:miter/>
            </a:ln>
          </p:spPr>
          <p:txBody>
            <a:bodyPr/>
            <a:lstStyle/>
            <a:p>
              <a:endParaRPr lang="en-US"/>
            </a:p>
          </p:txBody>
        </p:sp>
      </p:grpSp>
      <p:grpSp>
        <p:nvGrpSpPr>
          <p:cNvPr id="40" name="Group 40"/>
          <p:cNvGrpSpPr/>
          <p:nvPr/>
        </p:nvGrpSpPr>
        <p:grpSpPr>
          <a:xfrm>
            <a:off x="9258300" y="6035040"/>
            <a:ext cx="192024" cy="3497580"/>
            <a:chOff x="0" y="0"/>
            <a:chExt cx="256032" cy="4663440"/>
          </a:xfrm>
        </p:grpSpPr>
        <p:sp>
          <p:nvSpPr>
            <p:cNvPr id="41" name="Freeform 41"/>
            <p:cNvSpPr/>
            <p:nvPr/>
          </p:nvSpPr>
          <p:spPr>
            <a:xfrm>
              <a:off x="0" y="0"/>
              <a:ext cx="256032" cy="4663440"/>
            </a:xfrm>
            <a:custGeom>
              <a:avLst/>
              <a:gdLst/>
              <a:ahLst/>
              <a:cxnLst/>
              <a:rect l="l" t="t" r="r" b="b"/>
              <a:pathLst>
                <a:path w="256032" h="4663440">
                  <a:moveTo>
                    <a:pt x="0" y="42672"/>
                  </a:moveTo>
                  <a:cubicBezTo>
                    <a:pt x="0" y="19050"/>
                    <a:pt x="19050" y="0"/>
                    <a:pt x="42672" y="0"/>
                  </a:cubicBezTo>
                  <a:lnTo>
                    <a:pt x="213360" y="0"/>
                  </a:lnTo>
                  <a:cubicBezTo>
                    <a:pt x="236982" y="0"/>
                    <a:pt x="256032" y="19050"/>
                    <a:pt x="256032" y="42672"/>
                  </a:cubicBezTo>
                  <a:lnTo>
                    <a:pt x="256032" y="4620768"/>
                  </a:lnTo>
                  <a:cubicBezTo>
                    <a:pt x="256032" y="4644390"/>
                    <a:pt x="236982" y="4663440"/>
                    <a:pt x="213360" y="4663440"/>
                  </a:cubicBezTo>
                  <a:lnTo>
                    <a:pt x="42672" y="4663440"/>
                  </a:lnTo>
                  <a:cubicBezTo>
                    <a:pt x="19050" y="4663440"/>
                    <a:pt x="0" y="4644390"/>
                    <a:pt x="0" y="4620768"/>
                  </a:cubicBezTo>
                  <a:close/>
                </a:path>
              </a:pathLst>
            </a:custGeom>
            <a:solidFill>
              <a:srgbClr val="40916C"/>
            </a:solidFill>
          </p:spPr>
          <p:txBody>
            <a:bodyPr/>
            <a:lstStyle/>
            <a:p>
              <a:endParaRPr lang="en-US"/>
            </a:p>
          </p:txBody>
        </p:sp>
      </p:grpSp>
      <p:grpSp>
        <p:nvGrpSpPr>
          <p:cNvPr id="42" name="Group 42"/>
          <p:cNvGrpSpPr/>
          <p:nvPr/>
        </p:nvGrpSpPr>
        <p:grpSpPr>
          <a:xfrm>
            <a:off x="9738360" y="6377940"/>
            <a:ext cx="7269480" cy="685800"/>
            <a:chOff x="0" y="0"/>
            <a:chExt cx="9692640" cy="914400"/>
          </a:xfrm>
        </p:grpSpPr>
        <p:sp>
          <p:nvSpPr>
            <p:cNvPr id="43" name="Freeform 43"/>
            <p:cNvSpPr/>
            <p:nvPr/>
          </p:nvSpPr>
          <p:spPr>
            <a:xfrm>
              <a:off x="0" y="0"/>
              <a:ext cx="9692640" cy="914400"/>
            </a:xfrm>
            <a:custGeom>
              <a:avLst/>
              <a:gdLst/>
              <a:ahLst/>
              <a:cxnLst/>
              <a:rect l="l" t="t" r="r" b="b"/>
              <a:pathLst>
                <a:path w="9692640" h="914400">
                  <a:moveTo>
                    <a:pt x="0" y="0"/>
                  </a:moveTo>
                  <a:lnTo>
                    <a:pt x="9692640" y="0"/>
                  </a:lnTo>
                  <a:lnTo>
                    <a:pt x="9692640" y="914400"/>
                  </a:lnTo>
                  <a:lnTo>
                    <a:pt x="0" y="914400"/>
                  </a:lnTo>
                  <a:close/>
                </a:path>
              </a:pathLst>
            </a:custGeom>
            <a:blipFill>
              <a:blip r:embed="rId3">
                <a:alphaModFix amt="0"/>
              </a:blip>
              <a:stretch>
                <a:fillRect t="-156541" b="-156541"/>
              </a:stretch>
            </a:blipFill>
          </p:spPr>
          <p:txBody>
            <a:bodyPr/>
            <a:lstStyle/>
            <a:p>
              <a:endParaRPr lang="en-US"/>
            </a:p>
          </p:txBody>
        </p:sp>
        <p:sp>
          <p:nvSpPr>
            <p:cNvPr id="44" name="TextBox 44"/>
            <p:cNvSpPr txBox="1"/>
            <p:nvPr/>
          </p:nvSpPr>
          <p:spPr>
            <a:xfrm>
              <a:off x="0" y="-9525"/>
              <a:ext cx="9692640" cy="923925"/>
            </a:xfrm>
            <a:prstGeom prst="rect">
              <a:avLst/>
            </a:prstGeom>
          </p:spPr>
          <p:txBody>
            <a:bodyPr lIns="0" tIns="0" rIns="0" bIns="0" rtlCol="0" anchor="ctr"/>
            <a:lstStyle/>
            <a:p>
              <a:pPr algn="l">
                <a:lnSpc>
                  <a:spcPts val="2879"/>
                </a:lnSpc>
              </a:pPr>
              <a:r>
                <a:rPr lang="en-US" sz="2400" b="1">
                  <a:solidFill>
                    <a:srgbClr val="0D1B2A"/>
                  </a:solidFill>
                  <a:latin typeface="Cambria Bold"/>
                  <a:ea typeface="Cambria Bold"/>
                  <a:cs typeface="Cambria Bold"/>
                  <a:sym typeface="Cambria Bold"/>
                </a:rPr>
                <a:t>Diagnostic Center</a:t>
              </a:r>
            </a:p>
          </p:txBody>
        </p:sp>
      </p:grpSp>
      <p:grpSp>
        <p:nvGrpSpPr>
          <p:cNvPr id="45" name="Group 45"/>
          <p:cNvGrpSpPr/>
          <p:nvPr/>
        </p:nvGrpSpPr>
        <p:grpSpPr>
          <a:xfrm>
            <a:off x="9738360" y="7200900"/>
            <a:ext cx="7269480" cy="2057400"/>
            <a:chOff x="0" y="0"/>
            <a:chExt cx="9692640" cy="2743200"/>
          </a:xfrm>
        </p:grpSpPr>
        <p:sp>
          <p:nvSpPr>
            <p:cNvPr id="46" name="Freeform 46"/>
            <p:cNvSpPr/>
            <p:nvPr/>
          </p:nvSpPr>
          <p:spPr>
            <a:xfrm>
              <a:off x="0" y="0"/>
              <a:ext cx="9692640" cy="2743200"/>
            </a:xfrm>
            <a:custGeom>
              <a:avLst/>
              <a:gdLst/>
              <a:ahLst/>
              <a:cxnLst/>
              <a:rect l="l" t="t" r="r" b="b"/>
              <a:pathLst>
                <a:path w="9692640" h="2743200">
                  <a:moveTo>
                    <a:pt x="0" y="0"/>
                  </a:moveTo>
                  <a:lnTo>
                    <a:pt x="9692640" y="0"/>
                  </a:lnTo>
                  <a:lnTo>
                    <a:pt x="9692640" y="2743200"/>
                  </a:lnTo>
                  <a:lnTo>
                    <a:pt x="0" y="2743200"/>
                  </a:lnTo>
                  <a:close/>
                </a:path>
              </a:pathLst>
            </a:custGeom>
            <a:blipFill>
              <a:blip r:embed="rId3">
                <a:alphaModFix amt="0"/>
              </a:blip>
              <a:stretch>
                <a:fillRect t="-18847" b="-18847"/>
              </a:stretch>
            </a:blipFill>
          </p:spPr>
          <p:txBody>
            <a:bodyPr/>
            <a:lstStyle/>
            <a:p>
              <a:endParaRPr lang="en-US"/>
            </a:p>
          </p:txBody>
        </p:sp>
        <p:sp>
          <p:nvSpPr>
            <p:cNvPr id="47" name="TextBox 47"/>
            <p:cNvSpPr txBox="1"/>
            <p:nvPr/>
          </p:nvSpPr>
          <p:spPr>
            <a:xfrm>
              <a:off x="0" y="-85725"/>
              <a:ext cx="9692640" cy="2828925"/>
            </a:xfrm>
            <a:prstGeom prst="rect">
              <a:avLst/>
            </a:prstGeom>
          </p:spPr>
          <p:txBody>
            <a:bodyPr lIns="0" tIns="0" rIns="0" bIns="0" rtlCol="0" anchor="ctr"/>
            <a:lstStyle/>
            <a:p>
              <a:pPr algn="l">
                <a:lnSpc>
                  <a:spcPts val="2574"/>
                </a:lnSpc>
              </a:pPr>
              <a:r>
                <a:rPr lang="en-US" sz="1650">
                  <a:solidFill>
                    <a:srgbClr val="5B6B72"/>
                  </a:solidFill>
                  <a:latin typeface="Calibri (MS)"/>
                  <a:ea typeface="Calibri (MS)"/>
                  <a:cs typeface="Calibri (MS)"/>
                  <a:sym typeface="Calibri (MS)"/>
                </a:rPr>
                <a:t>Two-column UI for manual or auto-scan results — anomaly badges plus a text area rendering the RAG repair blueprint.</a:t>
              </a:r>
            </a:p>
          </p:txBody>
        </p:sp>
      </p:grpSp>
      <p:grpSp>
        <p:nvGrpSpPr>
          <p:cNvPr id="48" name="Group 48"/>
          <p:cNvGrpSpPr/>
          <p:nvPr/>
        </p:nvGrpSpPr>
        <p:grpSpPr>
          <a:xfrm>
            <a:off x="17282160" y="9710928"/>
            <a:ext cx="822960" cy="411480"/>
            <a:chOff x="0" y="0"/>
            <a:chExt cx="1097280" cy="548640"/>
          </a:xfrm>
        </p:grpSpPr>
        <p:sp>
          <p:nvSpPr>
            <p:cNvPr id="49" name="Freeform 49"/>
            <p:cNvSpPr/>
            <p:nvPr/>
          </p:nvSpPr>
          <p:spPr>
            <a:xfrm>
              <a:off x="0" y="0"/>
              <a:ext cx="1097280" cy="548640"/>
            </a:xfrm>
            <a:custGeom>
              <a:avLst/>
              <a:gdLst/>
              <a:ahLst/>
              <a:cxnLst/>
              <a:rect l="l" t="t" r="r" b="b"/>
              <a:pathLst>
                <a:path w="1097280" h="548640">
                  <a:moveTo>
                    <a:pt x="0" y="0"/>
                  </a:moveTo>
                  <a:lnTo>
                    <a:pt x="1097280" y="0"/>
                  </a:lnTo>
                  <a:lnTo>
                    <a:pt x="1097280" y="548640"/>
                  </a:lnTo>
                  <a:lnTo>
                    <a:pt x="0" y="548640"/>
                  </a:lnTo>
                  <a:close/>
                </a:path>
              </a:pathLst>
            </a:custGeom>
            <a:blipFill>
              <a:blip r:embed="rId3">
                <a:alphaModFix amt="0"/>
              </a:blip>
              <a:stretch>
                <a:fillRect l="-14151" r="-14151"/>
              </a:stretch>
            </a:blipFill>
          </p:spPr>
          <p:txBody>
            <a:bodyPr/>
            <a:lstStyle/>
            <a:p>
              <a:endParaRPr lang="en-US"/>
            </a:p>
          </p:txBody>
        </p:sp>
        <p:sp>
          <p:nvSpPr>
            <p:cNvPr id="50" name="TextBox 50"/>
            <p:cNvSpPr txBox="1"/>
            <p:nvPr/>
          </p:nvSpPr>
          <p:spPr>
            <a:xfrm>
              <a:off x="0" y="-38100"/>
              <a:ext cx="1097280" cy="586740"/>
            </a:xfrm>
            <a:prstGeom prst="rect">
              <a:avLst/>
            </a:prstGeom>
          </p:spPr>
          <p:txBody>
            <a:bodyPr lIns="0" tIns="0" rIns="0" bIns="0" rtlCol="0" anchor="ctr"/>
            <a:lstStyle/>
            <a:p>
              <a:pPr algn="r">
                <a:lnSpc>
                  <a:spcPts val="1800"/>
                </a:lnSpc>
              </a:pPr>
              <a:r>
                <a:rPr lang="en-US" sz="1500">
                  <a:solidFill>
                    <a:srgbClr val="5B6B72"/>
                  </a:solidFill>
                  <a:latin typeface="Calibri (MS)"/>
                  <a:ea typeface="Calibri (MS)"/>
                  <a:cs typeface="Calibri (MS)"/>
                  <a:sym typeface="Calibri (MS)"/>
                </a:rPr>
                <a:t>15</a:t>
              </a: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grpSp>
        <p:nvGrpSpPr>
          <p:cNvPr id="2" name="Group 2"/>
          <p:cNvGrpSpPr/>
          <p:nvPr/>
        </p:nvGrpSpPr>
        <p:grpSpPr>
          <a:xfrm>
            <a:off x="813435" y="-9525"/>
            <a:ext cx="19050" cy="10306050"/>
            <a:chOff x="0" y="0"/>
            <a:chExt cx="25400" cy="13741400"/>
          </a:xfrm>
        </p:grpSpPr>
        <p:sp>
          <p:nvSpPr>
            <p:cNvPr id="3" name="Freeform 3"/>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4" name="Group 4"/>
          <p:cNvGrpSpPr/>
          <p:nvPr/>
        </p:nvGrpSpPr>
        <p:grpSpPr>
          <a:xfrm>
            <a:off x="2253615" y="-9525"/>
            <a:ext cx="19050" cy="10306050"/>
            <a:chOff x="0" y="0"/>
            <a:chExt cx="25400" cy="13741400"/>
          </a:xfrm>
        </p:grpSpPr>
        <p:sp>
          <p:nvSpPr>
            <p:cNvPr id="5" name="Freeform 5"/>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6" name="Group 6"/>
          <p:cNvGrpSpPr/>
          <p:nvPr/>
        </p:nvGrpSpPr>
        <p:grpSpPr>
          <a:xfrm>
            <a:off x="3693795" y="-9525"/>
            <a:ext cx="19050" cy="10306050"/>
            <a:chOff x="0" y="0"/>
            <a:chExt cx="25400" cy="13741400"/>
          </a:xfrm>
        </p:grpSpPr>
        <p:sp>
          <p:nvSpPr>
            <p:cNvPr id="7" name="Freeform 7"/>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8" name="Group 8"/>
          <p:cNvGrpSpPr/>
          <p:nvPr/>
        </p:nvGrpSpPr>
        <p:grpSpPr>
          <a:xfrm>
            <a:off x="5133975" y="-9525"/>
            <a:ext cx="19050" cy="10306050"/>
            <a:chOff x="0" y="0"/>
            <a:chExt cx="25400" cy="13741400"/>
          </a:xfrm>
        </p:grpSpPr>
        <p:sp>
          <p:nvSpPr>
            <p:cNvPr id="9" name="Freeform 9"/>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10" name="Group 10"/>
          <p:cNvGrpSpPr/>
          <p:nvPr/>
        </p:nvGrpSpPr>
        <p:grpSpPr>
          <a:xfrm>
            <a:off x="6574155" y="-9525"/>
            <a:ext cx="19050" cy="10306050"/>
            <a:chOff x="0" y="0"/>
            <a:chExt cx="25400" cy="13741400"/>
          </a:xfrm>
        </p:grpSpPr>
        <p:sp>
          <p:nvSpPr>
            <p:cNvPr id="11" name="Freeform 11"/>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12" name="Group 12"/>
          <p:cNvGrpSpPr/>
          <p:nvPr/>
        </p:nvGrpSpPr>
        <p:grpSpPr>
          <a:xfrm>
            <a:off x="8014335" y="-9525"/>
            <a:ext cx="19050" cy="10306050"/>
            <a:chOff x="0" y="0"/>
            <a:chExt cx="25400" cy="13741400"/>
          </a:xfrm>
        </p:grpSpPr>
        <p:sp>
          <p:nvSpPr>
            <p:cNvPr id="13" name="Freeform 13"/>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14" name="Group 14"/>
          <p:cNvGrpSpPr/>
          <p:nvPr/>
        </p:nvGrpSpPr>
        <p:grpSpPr>
          <a:xfrm>
            <a:off x="9454515" y="-9525"/>
            <a:ext cx="19050" cy="10306050"/>
            <a:chOff x="0" y="0"/>
            <a:chExt cx="25400" cy="13741400"/>
          </a:xfrm>
        </p:grpSpPr>
        <p:sp>
          <p:nvSpPr>
            <p:cNvPr id="15" name="Freeform 15"/>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16" name="Group 16"/>
          <p:cNvGrpSpPr/>
          <p:nvPr/>
        </p:nvGrpSpPr>
        <p:grpSpPr>
          <a:xfrm>
            <a:off x="10894695" y="-9525"/>
            <a:ext cx="19050" cy="10306050"/>
            <a:chOff x="0" y="0"/>
            <a:chExt cx="25400" cy="13741400"/>
          </a:xfrm>
        </p:grpSpPr>
        <p:sp>
          <p:nvSpPr>
            <p:cNvPr id="17" name="Freeform 17"/>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18" name="Group 18"/>
          <p:cNvGrpSpPr/>
          <p:nvPr/>
        </p:nvGrpSpPr>
        <p:grpSpPr>
          <a:xfrm>
            <a:off x="12334875" y="-9525"/>
            <a:ext cx="19050" cy="10306050"/>
            <a:chOff x="0" y="0"/>
            <a:chExt cx="25400" cy="13741400"/>
          </a:xfrm>
        </p:grpSpPr>
        <p:sp>
          <p:nvSpPr>
            <p:cNvPr id="19" name="Freeform 19"/>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20" name="Group 20"/>
          <p:cNvGrpSpPr/>
          <p:nvPr/>
        </p:nvGrpSpPr>
        <p:grpSpPr>
          <a:xfrm>
            <a:off x="13775055" y="-9525"/>
            <a:ext cx="19050" cy="10306050"/>
            <a:chOff x="0" y="0"/>
            <a:chExt cx="25400" cy="13741400"/>
          </a:xfrm>
        </p:grpSpPr>
        <p:sp>
          <p:nvSpPr>
            <p:cNvPr id="21" name="Freeform 21"/>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22" name="Group 22"/>
          <p:cNvGrpSpPr/>
          <p:nvPr/>
        </p:nvGrpSpPr>
        <p:grpSpPr>
          <a:xfrm>
            <a:off x="15215235" y="-9525"/>
            <a:ext cx="19050" cy="10306050"/>
            <a:chOff x="0" y="0"/>
            <a:chExt cx="25400" cy="13741400"/>
          </a:xfrm>
        </p:grpSpPr>
        <p:sp>
          <p:nvSpPr>
            <p:cNvPr id="23" name="Freeform 23"/>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24" name="Group 24"/>
          <p:cNvGrpSpPr/>
          <p:nvPr/>
        </p:nvGrpSpPr>
        <p:grpSpPr>
          <a:xfrm>
            <a:off x="16655415" y="-9525"/>
            <a:ext cx="19050" cy="10306050"/>
            <a:chOff x="0" y="0"/>
            <a:chExt cx="25400" cy="13741400"/>
          </a:xfrm>
        </p:grpSpPr>
        <p:sp>
          <p:nvSpPr>
            <p:cNvPr id="25" name="Freeform 25"/>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26" name="Group 26"/>
          <p:cNvGrpSpPr/>
          <p:nvPr/>
        </p:nvGrpSpPr>
        <p:grpSpPr>
          <a:xfrm>
            <a:off x="960120" y="2057400"/>
            <a:ext cx="6172200" cy="3017520"/>
            <a:chOff x="0" y="0"/>
            <a:chExt cx="8229600" cy="4023360"/>
          </a:xfrm>
        </p:grpSpPr>
        <p:sp>
          <p:nvSpPr>
            <p:cNvPr id="27" name="Freeform 27"/>
            <p:cNvSpPr/>
            <p:nvPr/>
          </p:nvSpPr>
          <p:spPr>
            <a:xfrm>
              <a:off x="0" y="0"/>
              <a:ext cx="8229600" cy="4023360"/>
            </a:xfrm>
            <a:custGeom>
              <a:avLst/>
              <a:gdLst/>
              <a:ahLst/>
              <a:cxnLst/>
              <a:rect l="l" t="t" r="r" b="b"/>
              <a:pathLst>
                <a:path w="8229600" h="4023360">
                  <a:moveTo>
                    <a:pt x="0" y="0"/>
                  </a:moveTo>
                  <a:lnTo>
                    <a:pt x="8229600" y="0"/>
                  </a:lnTo>
                  <a:lnTo>
                    <a:pt x="8229600" y="4023360"/>
                  </a:lnTo>
                  <a:lnTo>
                    <a:pt x="0" y="4023360"/>
                  </a:lnTo>
                  <a:close/>
                </a:path>
              </a:pathLst>
            </a:custGeom>
            <a:blipFill>
              <a:blip r:embed="rId3">
                <a:alphaModFix amt="0"/>
              </a:blip>
              <a:stretch>
                <a:fillRect l="-12726" r="-12726"/>
              </a:stretch>
            </a:blipFill>
          </p:spPr>
          <p:txBody>
            <a:bodyPr/>
            <a:lstStyle/>
            <a:p>
              <a:endParaRPr lang="en-US"/>
            </a:p>
          </p:txBody>
        </p:sp>
        <p:sp>
          <p:nvSpPr>
            <p:cNvPr id="28" name="TextBox 28"/>
            <p:cNvSpPr txBox="1"/>
            <p:nvPr/>
          </p:nvSpPr>
          <p:spPr>
            <a:xfrm>
              <a:off x="0" y="-9525"/>
              <a:ext cx="8229600" cy="4032885"/>
            </a:xfrm>
            <a:prstGeom prst="rect">
              <a:avLst/>
            </a:prstGeom>
          </p:spPr>
          <p:txBody>
            <a:bodyPr lIns="0" tIns="0" rIns="0" bIns="0" rtlCol="0" anchor="ctr"/>
            <a:lstStyle/>
            <a:p>
              <a:pPr algn="l">
                <a:lnSpc>
                  <a:spcPts val="23400"/>
                </a:lnSpc>
              </a:pPr>
              <a:r>
                <a:rPr lang="en-US" sz="19500" b="1">
                  <a:solidFill>
                    <a:srgbClr val="74C69D"/>
                  </a:solidFill>
                  <a:latin typeface="Cambria Bold"/>
                  <a:ea typeface="Cambria Bold"/>
                  <a:cs typeface="Cambria Bold"/>
                  <a:sym typeface="Cambria Bold"/>
                </a:rPr>
                <a:t>05</a:t>
              </a:r>
            </a:p>
          </p:txBody>
        </p:sp>
      </p:grpSp>
      <p:grpSp>
        <p:nvGrpSpPr>
          <p:cNvPr id="29" name="Group 29"/>
          <p:cNvGrpSpPr/>
          <p:nvPr/>
        </p:nvGrpSpPr>
        <p:grpSpPr>
          <a:xfrm>
            <a:off x="1234440" y="4869180"/>
            <a:ext cx="12344400" cy="548640"/>
            <a:chOff x="0" y="0"/>
            <a:chExt cx="16459200" cy="731520"/>
          </a:xfrm>
        </p:grpSpPr>
        <p:sp>
          <p:nvSpPr>
            <p:cNvPr id="30" name="Freeform 30"/>
            <p:cNvSpPr/>
            <p:nvPr/>
          </p:nvSpPr>
          <p:spPr>
            <a:xfrm>
              <a:off x="0" y="0"/>
              <a:ext cx="16459200" cy="731520"/>
            </a:xfrm>
            <a:custGeom>
              <a:avLst/>
              <a:gdLst/>
              <a:ahLst/>
              <a:cxnLst/>
              <a:rect l="l" t="t" r="r" b="b"/>
              <a:pathLst>
                <a:path w="16459200" h="731520">
                  <a:moveTo>
                    <a:pt x="0" y="0"/>
                  </a:moveTo>
                  <a:lnTo>
                    <a:pt x="16459200" y="0"/>
                  </a:lnTo>
                  <a:lnTo>
                    <a:pt x="16459200" y="731520"/>
                  </a:lnTo>
                  <a:lnTo>
                    <a:pt x="0" y="731520"/>
                  </a:lnTo>
                  <a:close/>
                </a:path>
              </a:pathLst>
            </a:custGeom>
            <a:blipFill>
              <a:blip r:embed="rId3">
                <a:alphaModFix amt="0"/>
              </a:blip>
              <a:stretch>
                <a:fillRect t="-388413" b="-388413"/>
              </a:stretch>
            </a:blipFill>
          </p:spPr>
          <p:txBody>
            <a:bodyPr/>
            <a:lstStyle/>
            <a:p>
              <a:endParaRPr lang="en-US"/>
            </a:p>
          </p:txBody>
        </p:sp>
        <p:sp>
          <p:nvSpPr>
            <p:cNvPr id="31" name="TextBox 31"/>
            <p:cNvSpPr txBox="1"/>
            <p:nvPr/>
          </p:nvSpPr>
          <p:spPr>
            <a:xfrm>
              <a:off x="0" y="-47625"/>
              <a:ext cx="16459200" cy="779145"/>
            </a:xfrm>
            <a:prstGeom prst="rect">
              <a:avLst/>
            </a:prstGeom>
          </p:spPr>
          <p:txBody>
            <a:bodyPr lIns="0" tIns="0" rIns="0" bIns="0" rtlCol="0" anchor="ctr"/>
            <a:lstStyle/>
            <a:p>
              <a:pPr algn="l">
                <a:lnSpc>
                  <a:spcPts val="2340"/>
                </a:lnSpc>
              </a:pPr>
              <a:r>
                <a:rPr lang="en-US" sz="1950" b="1" spc="300">
                  <a:solidFill>
                    <a:srgbClr val="74C69D"/>
                  </a:solidFill>
                  <a:latin typeface="Calibri (MS) Bold"/>
                  <a:ea typeface="Calibri (MS) Bold"/>
                  <a:cs typeface="Calibri (MS) Bold"/>
                  <a:sym typeface="Calibri (MS) Bold"/>
                </a:rPr>
                <a:t>PART FIVE</a:t>
              </a:r>
            </a:p>
          </p:txBody>
        </p:sp>
      </p:grpSp>
      <p:grpSp>
        <p:nvGrpSpPr>
          <p:cNvPr id="32" name="Group 32"/>
          <p:cNvGrpSpPr/>
          <p:nvPr/>
        </p:nvGrpSpPr>
        <p:grpSpPr>
          <a:xfrm>
            <a:off x="1165860" y="5417820"/>
            <a:ext cx="14813280" cy="1783080"/>
            <a:chOff x="0" y="0"/>
            <a:chExt cx="19751040" cy="2377440"/>
          </a:xfrm>
        </p:grpSpPr>
        <p:sp>
          <p:nvSpPr>
            <p:cNvPr id="33" name="Freeform 33"/>
            <p:cNvSpPr/>
            <p:nvPr/>
          </p:nvSpPr>
          <p:spPr>
            <a:xfrm>
              <a:off x="0" y="0"/>
              <a:ext cx="19751039" cy="2377440"/>
            </a:xfrm>
            <a:custGeom>
              <a:avLst/>
              <a:gdLst/>
              <a:ahLst/>
              <a:cxnLst/>
              <a:rect l="l" t="t" r="r" b="b"/>
              <a:pathLst>
                <a:path w="19751039" h="2377440">
                  <a:moveTo>
                    <a:pt x="0" y="0"/>
                  </a:moveTo>
                  <a:lnTo>
                    <a:pt x="19751039" y="0"/>
                  </a:lnTo>
                  <a:lnTo>
                    <a:pt x="19751039" y="2377440"/>
                  </a:lnTo>
                  <a:lnTo>
                    <a:pt x="0" y="2377440"/>
                  </a:lnTo>
                  <a:close/>
                </a:path>
              </a:pathLst>
            </a:custGeom>
            <a:blipFill>
              <a:blip r:embed="rId3">
                <a:alphaModFix amt="0"/>
              </a:blip>
              <a:stretch>
                <a:fillRect t="-111875" b="-111875"/>
              </a:stretch>
            </a:blipFill>
          </p:spPr>
          <p:txBody>
            <a:bodyPr/>
            <a:lstStyle/>
            <a:p>
              <a:endParaRPr lang="en-US"/>
            </a:p>
          </p:txBody>
        </p:sp>
        <p:sp>
          <p:nvSpPr>
            <p:cNvPr id="34" name="TextBox 34"/>
            <p:cNvSpPr txBox="1"/>
            <p:nvPr/>
          </p:nvSpPr>
          <p:spPr>
            <a:xfrm>
              <a:off x="0" y="-19050"/>
              <a:ext cx="19751040" cy="2396490"/>
            </a:xfrm>
            <a:prstGeom prst="rect">
              <a:avLst/>
            </a:prstGeom>
          </p:spPr>
          <p:txBody>
            <a:bodyPr lIns="0" tIns="0" rIns="0" bIns="0" rtlCol="0" anchor="ctr"/>
            <a:lstStyle/>
            <a:p>
              <a:pPr algn="l">
                <a:lnSpc>
                  <a:spcPts val="7559"/>
                </a:lnSpc>
              </a:pPr>
              <a:r>
                <a:rPr lang="en-US" sz="6300" b="1">
                  <a:solidFill>
                    <a:srgbClr val="FFFFFF"/>
                  </a:solidFill>
                  <a:latin typeface="Cambria Bold"/>
                  <a:ea typeface="Cambria Bold"/>
                  <a:cs typeface="Cambria Bold"/>
                  <a:sym typeface="Cambria Bold"/>
                </a:rPr>
                <a:t>Engineering, Setup &amp; Lessons Learned</a:t>
              </a:r>
            </a:p>
          </p:txBody>
        </p:sp>
      </p:grpSp>
      <p:grpSp>
        <p:nvGrpSpPr>
          <p:cNvPr id="35" name="Group 35"/>
          <p:cNvGrpSpPr/>
          <p:nvPr/>
        </p:nvGrpSpPr>
        <p:grpSpPr>
          <a:xfrm>
            <a:off x="1205865" y="7172325"/>
            <a:ext cx="3623310" cy="57150"/>
            <a:chOff x="0" y="0"/>
            <a:chExt cx="4831080" cy="76200"/>
          </a:xfrm>
        </p:grpSpPr>
        <p:sp>
          <p:nvSpPr>
            <p:cNvPr id="36" name="Freeform 36"/>
            <p:cNvSpPr/>
            <p:nvPr/>
          </p:nvSpPr>
          <p:spPr>
            <a:xfrm>
              <a:off x="0" y="0"/>
              <a:ext cx="4831080" cy="76200"/>
            </a:xfrm>
            <a:custGeom>
              <a:avLst/>
              <a:gdLst/>
              <a:ahLst/>
              <a:cxnLst/>
              <a:rect l="l" t="t" r="r" b="b"/>
              <a:pathLst>
                <a:path w="4831080" h="76200">
                  <a:moveTo>
                    <a:pt x="0" y="0"/>
                  </a:moveTo>
                  <a:lnTo>
                    <a:pt x="4831080" y="76200"/>
                  </a:lnTo>
                </a:path>
              </a:pathLst>
            </a:custGeom>
            <a:blipFill>
              <a:blip r:embed="rId3">
                <a:alphaModFix amt="0"/>
              </a:blip>
              <a:stretch>
                <a:fillRect t="-1185351" b="-1185351"/>
              </a:stretch>
            </a:blipFill>
            <a:ln w="57150" cap="sq">
              <a:solidFill>
                <a:srgbClr val="40916C"/>
              </a:solidFill>
              <a:prstDash val="solid"/>
              <a:miter/>
            </a:ln>
          </p:spPr>
          <p:txBody>
            <a:bodyPr/>
            <a:lstStyle/>
            <a:p>
              <a:endParaRPr lang="en-US"/>
            </a:p>
          </p:txBody>
        </p:sp>
      </p:grpSp>
      <p:grpSp>
        <p:nvGrpSpPr>
          <p:cNvPr id="37" name="Group 37"/>
          <p:cNvGrpSpPr/>
          <p:nvPr/>
        </p:nvGrpSpPr>
        <p:grpSpPr>
          <a:xfrm>
            <a:off x="1234440" y="7475220"/>
            <a:ext cx="13030200" cy="822960"/>
            <a:chOff x="0" y="0"/>
            <a:chExt cx="17373600" cy="1097280"/>
          </a:xfrm>
        </p:grpSpPr>
        <p:sp>
          <p:nvSpPr>
            <p:cNvPr id="38" name="Freeform 38"/>
            <p:cNvSpPr/>
            <p:nvPr/>
          </p:nvSpPr>
          <p:spPr>
            <a:xfrm>
              <a:off x="0" y="0"/>
              <a:ext cx="17373600" cy="1097280"/>
            </a:xfrm>
            <a:custGeom>
              <a:avLst/>
              <a:gdLst/>
              <a:ahLst/>
              <a:cxnLst/>
              <a:rect l="l" t="t" r="r" b="b"/>
              <a:pathLst>
                <a:path w="17373600" h="1097280">
                  <a:moveTo>
                    <a:pt x="0" y="0"/>
                  </a:moveTo>
                  <a:lnTo>
                    <a:pt x="17373600" y="0"/>
                  </a:lnTo>
                  <a:lnTo>
                    <a:pt x="17373600" y="1097280"/>
                  </a:lnTo>
                  <a:lnTo>
                    <a:pt x="0" y="1097280"/>
                  </a:lnTo>
                  <a:close/>
                </a:path>
              </a:pathLst>
            </a:custGeom>
            <a:blipFill>
              <a:blip r:embed="rId3">
                <a:alphaModFix amt="0"/>
              </a:blip>
              <a:stretch>
                <a:fillRect t="-258513" b="-258513"/>
              </a:stretch>
            </a:blipFill>
          </p:spPr>
          <p:txBody>
            <a:bodyPr/>
            <a:lstStyle/>
            <a:p>
              <a:endParaRPr lang="en-US"/>
            </a:p>
          </p:txBody>
        </p:sp>
        <p:sp>
          <p:nvSpPr>
            <p:cNvPr id="39" name="TextBox 39"/>
            <p:cNvSpPr txBox="1"/>
            <p:nvPr/>
          </p:nvSpPr>
          <p:spPr>
            <a:xfrm>
              <a:off x="0" y="-47625"/>
              <a:ext cx="17373600" cy="1144905"/>
            </a:xfrm>
            <a:prstGeom prst="rect">
              <a:avLst/>
            </a:prstGeom>
          </p:spPr>
          <p:txBody>
            <a:bodyPr lIns="0" tIns="0" rIns="0" bIns="0" rtlCol="0" anchor="ctr"/>
            <a:lstStyle/>
            <a:p>
              <a:pPr algn="l">
                <a:lnSpc>
                  <a:spcPts val="2520"/>
                </a:lnSpc>
              </a:pPr>
              <a:r>
                <a:rPr lang="en-US" sz="2100">
                  <a:solidFill>
                    <a:srgbClr val="C9D6CE"/>
                  </a:solidFill>
                  <a:latin typeface="Calibri (MS)"/>
                  <a:ea typeface="Calibri (MS)"/>
                  <a:cs typeface="Calibri (MS)"/>
                  <a:sym typeface="Calibri (MS)"/>
                </a:rPr>
                <a:t>Why the system is built this way, how to run it, and what broke along the way.</a:t>
              </a: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5F8F6"/>
        </a:solidFill>
        <a:effectLst/>
      </p:bgPr>
    </p:bg>
    <p:spTree>
      <p:nvGrpSpPr>
        <p:cNvPr id="1" name=""/>
        <p:cNvGrpSpPr/>
        <p:nvPr/>
      </p:nvGrpSpPr>
      <p:grpSpPr>
        <a:xfrm>
          <a:off x="0" y="0"/>
          <a:ext cx="0" cy="0"/>
          <a:chOff x="0" y="0"/>
          <a:chExt cx="0" cy="0"/>
        </a:xfrm>
      </p:grpSpPr>
      <p:grpSp>
        <p:nvGrpSpPr>
          <p:cNvPr id="2" name="Group 2"/>
          <p:cNvGrpSpPr/>
          <p:nvPr/>
        </p:nvGrpSpPr>
        <p:grpSpPr>
          <a:xfrm>
            <a:off x="822960" y="576072"/>
            <a:ext cx="10972800" cy="480060"/>
            <a:chOff x="0" y="0"/>
            <a:chExt cx="14630400" cy="640080"/>
          </a:xfrm>
        </p:grpSpPr>
        <p:sp>
          <p:nvSpPr>
            <p:cNvPr id="3" name="Freeform 3"/>
            <p:cNvSpPr/>
            <p:nvPr/>
          </p:nvSpPr>
          <p:spPr>
            <a:xfrm>
              <a:off x="0" y="0"/>
              <a:ext cx="14630400" cy="640080"/>
            </a:xfrm>
            <a:custGeom>
              <a:avLst/>
              <a:gdLst/>
              <a:ahLst/>
              <a:cxnLst/>
              <a:rect l="l" t="t" r="r" b="b"/>
              <a:pathLst>
                <a:path w="14630400" h="640080">
                  <a:moveTo>
                    <a:pt x="0" y="0"/>
                  </a:moveTo>
                  <a:lnTo>
                    <a:pt x="14630400" y="0"/>
                  </a:lnTo>
                  <a:lnTo>
                    <a:pt x="14630400" y="640080"/>
                  </a:lnTo>
                  <a:lnTo>
                    <a:pt x="0" y="640080"/>
                  </a:lnTo>
                  <a:close/>
                </a:path>
              </a:pathLst>
            </a:custGeom>
            <a:blipFill>
              <a:blip r:embed="rId3">
                <a:alphaModFix amt="0"/>
              </a:blip>
              <a:stretch>
                <a:fillRect t="-395372" b="-395372"/>
              </a:stretch>
            </a:blipFill>
          </p:spPr>
          <p:txBody>
            <a:bodyPr/>
            <a:lstStyle/>
            <a:p>
              <a:endParaRPr lang="en-US"/>
            </a:p>
          </p:txBody>
        </p:sp>
        <p:sp>
          <p:nvSpPr>
            <p:cNvPr id="4" name="TextBox 4"/>
            <p:cNvSpPr txBox="1"/>
            <p:nvPr/>
          </p:nvSpPr>
          <p:spPr>
            <a:xfrm>
              <a:off x="0" y="-38100"/>
              <a:ext cx="14630400" cy="678180"/>
            </a:xfrm>
            <a:prstGeom prst="rect">
              <a:avLst/>
            </a:prstGeom>
          </p:spPr>
          <p:txBody>
            <a:bodyPr lIns="0" tIns="0" rIns="0" bIns="0" rtlCol="0" anchor="ctr"/>
            <a:lstStyle/>
            <a:p>
              <a:pPr algn="l">
                <a:lnSpc>
                  <a:spcPts val="2160"/>
                </a:lnSpc>
              </a:pPr>
              <a:r>
                <a:rPr lang="en-US" sz="1800" b="1" spc="299">
                  <a:solidFill>
                    <a:srgbClr val="40916C"/>
                  </a:solidFill>
                  <a:latin typeface="Calibri (MS) Bold"/>
                  <a:ea typeface="Calibri (MS) Bold"/>
                  <a:cs typeface="Calibri (MS) Bold"/>
                  <a:sym typeface="Calibri (MS) Bold"/>
                </a:rPr>
                <a:t>PART 05 · ENGINEERING &amp; SETUP</a:t>
              </a:r>
            </a:p>
          </p:txBody>
        </p:sp>
      </p:grpSp>
      <p:grpSp>
        <p:nvGrpSpPr>
          <p:cNvPr id="5" name="Group 5"/>
          <p:cNvGrpSpPr/>
          <p:nvPr/>
        </p:nvGrpSpPr>
        <p:grpSpPr>
          <a:xfrm>
            <a:off x="822960" y="987552"/>
            <a:ext cx="15773400" cy="1234440"/>
            <a:chOff x="0" y="0"/>
            <a:chExt cx="21031200" cy="1645920"/>
          </a:xfrm>
        </p:grpSpPr>
        <p:sp>
          <p:nvSpPr>
            <p:cNvPr id="6" name="Freeform 6"/>
            <p:cNvSpPr/>
            <p:nvPr/>
          </p:nvSpPr>
          <p:spPr>
            <a:xfrm>
              <a:off x="0" y="0"/>
              <a:ext cx="21031200" cy="1645920"/>
            </a:xfrm>
            <a:custGeom>
              <a:avLst/>
              <a:gdLst/>
              <a:ahLst/>
              <a:cxnLst/>
              <a:rect l="l" t="t" r="r" b="b"/>
              <a:pathLst>
                <a:path w="21031200" h="1645920">
                  <a:moveTo>
                    <a:pt x="0" y="0"/>
                  </a:moveTo>
                  <a:lnTo>
                    <a:pt x="21031200" y="0"/>
                  </a:lnTo>
                  <a:lnTo>
                    <a:pt x="21031200" y="1645920"/>
                  </a:lnTo>
                  <a:lnTo>
                    <a:pt x="0" y="1645920"/>
                  </a:lnTo>
                  <a:close/>
                </a:path>
              </a:pathLst>
            </a:custGeom>
            <a:blipFill>
              <a:blip r:embed="rId3">
                <a:alphaModFix amt="0"/>
              </a:blip>
              <a:stretch>
                <a:fillRect t="-198975" b="-198975"/>
              </a:stretch>
            </a:blipFill>
          </p:spPr>
          <p:txBody>
            <a:bodyPr/>
            <a:lstStyle/>
            <a:p>
              <a:endParaRPr lang="en-US"/>
            </a:p>
          </p:txBody>
        </p:sp>
        <p:sp>
          <p:nvSpPr>
            <p:cNvPr id="7" name="TextBox 7"/>
            <p:cNvSpPr txBox="1"/>
            <p:nvPr/>
          </p:nvSpPr>
          <p:spPr>
            <a:xfrm>
              <a:off x="0" y="-9525"/>
              <a:ext cx="21031200" cy="1655445"/>
            </a:xfrm>
            <a:prstGeom prst="rect">
              <a:avLst/>
            </a:prstGeom>
          </p:spPr>
          <p:txBody>
            <a:bodyPr lIns="0" tIns="0" rIns="0" bIns="0" rtlCol="0" anchor="ctr"/>
            <a:lstStyle/>
            <a:p>
              <a:pPr algn="l">
                <a:lnSpc>
                  <a:spcPts val="5759"/>
                </a:lnSpc>
              </a:pPr>
              <a:r>
                <a:rPr lang="en-US" sz="4800" b="1">
                  <a:solidFill>
                    <a:srgbClr val="0D1B2A"/>
                  </a:solidFill>
                  <a:latin typeface="Cambria Bold"/>
                  <a:ea typeface="Cambria Bold"/>
                  <a:cs typeface="Cambria Bold"/>
                  <a:sym typeface="Cambria Bold"/>
                </a:rPr>
                <a:t>Key Engineering Decisions</a:t>
              </a:r>
            </a:p>
          </p:txBody>
        </p:sp>
      </p:grpSp>
      <p:grpSp>
        <p:nvGrpSpPr>
          <p:cNvPr id="8" name="Group 8"/>
          <p:cNvGrpSpPr/>
          <p:nvPr/>
        </p:nvGrpSpPr>
        <p:grpSpPr>
          <a:xfrm>
            <a:off x="822960" y="2263140"/>
            <a:ext cx="16596360" cy="617220"/>
            <a:chOff x="0" y="0"/>
            <a:chExt cx="22128480" cy="822960"/>
          </a:xfrm>
        </p:grpSpPr>
        <p:sp>
          <p:nvSpPr>
            <p:cNvPr id="9" name="Freeform 9"/>
            <p:cNvSpPr/>
            <p:nvPr/>
          </p:nvSpPr>
          <p:spPr>
            <a:xfrm>
              <a:off x="0" y="0"/>
              <a:ext cx="22128480" cy="822960"/>
            </a:xfrm>
            <a:custGeom>
              <a:avLst/>
              <a:gdLst/>
              <a:ahLst/>
              <a:cxnLst/>
              <a:rect l="l" t="t" r="r" b="b"/>
              <a:pathLst>
                <a:path w="22128480" h="822960">
                  <a:moveTo>
                    <a:pt x="0" y="0"/>
                  </a:moveTo>
                  <a:lnTo>
                    <a:pt x="22128480" y="0"/>
                  </a:lnTo>
                  <a:lnTo>
                    <a:pt x="22128480" y="822960"/>
                  </a:lnTo>
                  <a:lnTo>
                    <a:pt x="0" y="822960"/>
                  </a:lnTo>
                  <a:close/>
                </a:path>
              </a:pathLst>
            </a:custGeom>
            <a:solidFill>
              <a:srgbClr val="0D1B2A"/>
            </a:solidFill>
          </p:spPr>
          <p:txBody>
            <a:bodyPr/>
            <a:lstStyle/>
            <a:p>
              <a:endParaRPr lang="en-US"/>
            </a:p>
          </p:txBody>
        </p:sp>
      </p:grpSp>
      <p:grpSp>
        <p:nvGrpSpPr>
          <p:cNvPr id="10" name="Group 10"/>
          <p:cNvGrpSpPr/>
          <p:nvPr/>
        </p:nvGrpSpPr>
        <p:grpSpPr>
          <a:xfrm>
            <a:off x="1028700" y="2263140"/>
            <a:ext cx="3566160" cy="617220"/>
            <a:chOff x="0" y="0"/>
            <a:chExt cx="4754880" cy="822960"/>
          </a:xfrm>
        </p:grpSpPr>
        <p:sp>
          <p:nvSpPr>
            <p:cNvPr id="11" name="Freeform 11"/>
            <p:cNvSpPr/>
            <p:nvPr/>
          </p:nvSpPr>
          <p:spPr>
            <a:xfrm>
              <a:off x="0" y="0"/>
              <a:ext cx="4754880" cy="822960"/>
            </a:xfrm>
            <a:custGeom>
              <a:avLst/>
              <a:gdLst/>
              <a:ahLst/>
              <a:cxnLst/>
              <a:rect l="l" t="t" r="r" b="b"/>
              <a:pathLst>
                <a:path w="4754880" h="822960">
                  <a:moveTo>
                    <a:pt x="0" y="0"/>
                  </a:moveTo>
                  <a:lnTo>
                    <a:pt x="4754880" y="0"/>
                  </a:lnTo>
                  <a:lnTo>
                    <a:pt x="4754880" y="822960"/>
                  </a:lnTo>
                  <a:lnTo>
                    <a:pt x="0" y="822960"/>
                  </a:lnTo>
                  <a:close/>
                </a:path>
              </a:pathLst>
            </a:custGeom>
            <a:blipFill>
              <a:blip r:embed="rId3">
                <a:alphaModFix amt="0"/>
              </a:blip>
              <a:stretch>
                <a:fillRect t="-62580" b="-62580"/>
              </a:stretch>
            </a:blipFill>
          </p:spPr>
          <p:txBody>
            <a:bodyPr/>
            <a:lstStyle/>
            <a:p>
              <a:endParaRPr lang="en-US"/>
            </a:p>
          </p:txBody>
        </p:sp>
        <p:sp>
          <p:nvSpPr>
            <p:cNvPr id="12" name="TextBox 12"/>
            <p:cNvSpPr txBox="1"/>
            <p:nvPr/>
          </p:nvSpPr>
          <p:spPr>
            <a:xfrm>
              <a:off x="0" y="-19050"/>
              <a:ext cx="4754880" cy="842010"/>
            </a:xfrm>
            <a:prstGeom prst="rect">
              <a:avLst/>
            </a:prstGeom>
          </p:spPr>
          <p:txBody>
            <a:bodyPr lIns="0" tIns="0" rIns="0" bIns="0" rtlCol="0" anchor="ctr"/>
            <a:lstStyle/>
            <a:p>
              <a:pPr algn="l">
                <a:lnSpc>
                  <a:spcPts val="1889"/>
                </a:lnSpc>
              </a:pPr>
              <a:r>
                <a:rPr lang="en-US" sz="1575" b="1">
                  <a:solidFill>
                    <a:srgbClr val="74C69D"/>
                  </a:solidFill>
                  <a:latin typeface="Calibri (MS) Bold"/>
                  <a:ea typeface="Calibri (MS) Bold"/>
                  <a:cs typeface="Calibri (MS) Bold"/>
                  <a:sym typeface="Calibri (MS) Bold"/>
                </a:rPr>
                <a:t>CONCERN</a:t>
              </a:r>
            </a:p>
          </p:txBody>
        </p:sp>
      </p:grpSp>
      <p:grpSp>
        <p:nvGrpSpPr>
          <p:cNvPr id="13" name="Group 13"/>
          <p:cNvGrpSpPr/>
          <p:nvPr/>
        </p:nvGrpSpPr>
        <p:grpSpPr>
          <a:xfrm>
            <a:off x="4869180" y="2263140"/>
            <a:ext cx="3566160" cy="617220"/>
            <a:chOff x="0" y="0"/>
            <a:chExt cx="4754880" cy="822960"/>
          </a:xfrm>
        </p:grpSpPr>
        <p:sp>
          <p:nvSpPr>
            <p:cNvPr id="14" name="Freeform 14"/>
            <p:cNvSpPr/>
            <p:nvPr/>
          </p:nvSpPr>
          <p:spPr>
            <a:xfrm>
              <a:off x="0" y="0"/>
              <a:ext cx="4754880" cy="822960"/>
            </a:xfrm>
            <a:custGeom>
              <a:avLst/>
              <a:gdLst/>
              <a:ahLst/>
              <a:cxnLst/>
              <a:rect l="l" t="t" r="r" b="b"/>
              <a:pathLst>
                <a:path w="4754880" h="822960">
                  <a:moveTo>
                    <a:pt x="0" y="0"/>
                  </a:moveTo>
                  <a:lnTo>
                    <a:pt x="4754880" y="0"/>
                  </a:lnTo>
                  <a:lnTo>
                    <a:pt x="4754880" y="822960"/>
                  </a:lnTo>
                  <a:lnTo>
                    <a:pt x="0" y="822960"/>
                  </a:lnTo>
                  <a:close/>
                </a:path>
              </a:pathLst>
            </a:custGeom>
            <a:blipFill>
              <a:blip r:embed="rId3">
                <a:alphaModFix amt="0"/>
              </a:blip>
              <a:stretch>
                <a:fillRect t="-62580" b="-62580"/>
              </a:stretch>
            </a:blipFill>
          </p:spPr>
          <p:txBody>
            <a:bodyPr/>
            <a:lstStyle/>
            <a:p>
              <a:endParaRPr lang="en-US"/>
            </a:p>
          </p:txBody>
        </p:sp>
        <p:sp>
          <p:nvSpPr>
            <p:cNvPr id="15" name="TextBox 15"/>
            <p:cNvSpPr txBox="1"/>
            <p:nvPr/>
          </p:nvSpPr>
          <p:spPr>
            <a:xfrm>
              <a:off x="0" y="-19050"/>
              <a:ext cx="4754880" cy="842010"/>
            </a:xfrm>
            <a:prstGeom prst="rect">
              <a:avLst/>
            </a:prstGeom>
          </p:spPr>
          <p:txBody>
            <a:bodyPr lIns="0" tIns="0" rIns="0" bIns="0" rtlCol="0" anchor="ctr"/>
            <a:lstStyle/>
            <a:p>
              <a:pPr algn="l">
                <a:lnSpc>
                  <a:spcPts val="1889"/>
                </a:lnSpc>
              </a:pPr>
              <a:r>
                <a:rPr lang="en-US" sz="1575" b="1">
                  <a:solidFill>
                    <a:srgbClr val="74C69D"/>
                  </a:solidFill>
                  <a:latin typeface="Calibri (MS) Bold"/>
                  <a:ea typeface="Calibri (MS) Bold"/>
                  <a:cs typeface="Calibri (MS) Bold"/>
                  <a:sym typeface="Calibri (MS) Bold"/>
                </a:rPr>
                <a:t>DECISION</a:t>
              </a:r>
            </a:p>
          </p:txBody>
        </p:sp>
      </p:grpSp>
      <p:grpSp>
        <p:nvGrpSpPr>
          <p:cNvPr id="16" name="Group 16"/>
          <p:cNvGrpSpPr/>
          <p:nvPr/>
        </p:nvGrpSpPr>
        <p:grpSpPr>
          <a:xfrm>
            <a:off x="8641080" y="2263140"/>
            <a:ext cx="8503920" cy="617220"/>
            <a:chOff x="0" y="0"/>
            <a:chExt cx="11338560" cy="822960"/>
          </a:xfrm>
        </p:grpSpPr>
        <p:sp>
          <p:nvSpPr>
            <p:cNvPr id="17" name="Freeform 17"/>
            <p:cNvSpPr/>
            <p:nvPr/>
          </p:nvSpPr>
          <p:spPr>
            <a:xfrm>
              <a:off x="0" y="0"/>
              <a:ext cx="11338560" cy="822960"/>
            </a:xfrm>
            <a:custGeom>
              <a:avLst/>
              <a:gdLst/>
              <a:ahLst/>
              <a:cxnLst/>
              <a:rect l="l" t="t" r="r" b="b"/>
              <a:pathLst>
                <a:path w="11338560" h="822960">
                  <a:moveTo>
                    <a:pt x="0" y="0"/>
                  </a:moveTo>
                  <a:lnTo>
                    <a:pt x="11338560" y="0"/>
                  </a:lnTo>
                  <a:lnTo>
                    <a:pt x="11338560" y="822960"/>
                  </a:lnTo>
                  <a:lnTo>
                    <a:pt x="0" y="822960"/>
                  </a:lnTo>
                  <a:close/>
                </a:path>
              </a:pathLst>
            </a:custGeom>
            <a:blipFill>
              <a:blip r:embed="rId3">
                <a:alphaModFix amt="0"/>
              </a:blip>
              <a:stretch>
                <a:fillRect t="-218460" b="-218460"/>
              </a:stretch>
            </a:blipFill>
          </p:spPr>
          <p:txBody>
            <a:bodyPr/>
            <a:lstStyle/>
            <a:p>
              <a:endParaRPr lang="en-US"/>
            </a:p>
          </p:txBody>
        </p:sp>
        <p:sp>
          <p:nvSpPr>
            <p:cNvPr id="18" name="TextBox 18"/>
            <p:cNvSpPr txBox="1"/>
            <p:nvPr/>
          </p:nvSpPr>
          <p:spPr>
            <a:xfrm>
              <a:off x="0" y="-19050"/>
              <a:ext cx="11338560" cy="842010"/>
            </a:xfrm>
            <a:prstGeom prst="rect">
              <a:avLst/>
            </a:prstGeom>
          </p:spPr>
          <p:txBody>
            <a:bodyPr lIns="0" tIns="0" rIns="0" bIns="0" rtlCol="0" anchor="ctr"/>
            <a:lstStyle/>
            <a:p>
              <a:pPr algn="l">
                <a:lnSpc>
                  <a:spcPts val="1889"/>
                </a:lnSpc>
              </a:pPr>
              <a:r>
                <a:rPr lang="en-US" sz="1575" b="1">
                  <a:solidFill>
                    <a:srgbClr val="74C69D"/>
                  </a:solidFill>
                  <a:latin typeface="Calibri (MS) Bold"/>
                  <a:ea typeface="Calibri (MS) Bold"/>
                  <a:cs typeface="Calibri (MS) Bold"/>
                  <a:sym typeface="Calibri (MS) Bold"/>
                </a:rPr>
                <a:t>RATIONALE</a:t>
              </a:r>
            </a:p>
          </p:txBody>
        </p:sp>
      </p:grpSp>
      <p:grpSp>
        <p:nvGrpSpPr>
          <p:cNvPr id="19" name="Group 19"/>
          <p:cNvGrpSpPr/>
          <p:nvPr/>
        </p:nvGrpSpPr>
        <p:grpSpPr>
          <a:xfrm>
            <a:off x="822960" y="2880360"/>
            <a:ext cx="16596360" cy="864108"/>
            <a:chOff x="0" y="0"/>
            <a:chExt cx="22128480" cy="1152144"/>
          </a:xfrm>
        </p:grpSpPr>
        <p:sp>
          <p:nvSpPr>
            <p:cNvPr id="20" name="Freeform 20"/>
            <p:cNvSpPr/>
            <p:nvPr/>
          </p:nvSpPr>
          <p:spPr>
            <a:xfrm>
              <a:off x="0" y="0"/>
              <a:ext cx="22128480" cy="1152144"/>
            </a:xfrm>
            <a:custGeom>
              <a:avLst/>
              <a:gdLst/>
              <a:ahLst/>
              <a:cxnLst/>
              <a:rect l="l" t="t" r="r" b="b"/>
              <a:pathLst>
                <a:path w="22128480" h="1152144">
                  <a:moveTo>
                    <a:pt x="0" y="0"/>
                  </a:moveTo>
                  <a:lnTo>
                    <a:pt x="22128480" y="0"/>
                  </a:lnTo>
                  <a:lnTo>
                    <a:pt x="22128480" y="1152144"/>
                  </a:lnTo>
                  <a:lnTo>
                    <a:pt x="0" y="1152144"/>
                  </a:lnTo>
                  <a:close/>
                </a:path>
              </a:pathLst>
            </a:custGeom>
            <a:solidFill>
              <a:srgbClr val="FFFFFF"/>
            </a:solidFill>
          </p:spPr>
          <p:txBody>
            <a:bodyPr/>
            <a:lstStyle/>
            <a:p>
              <a:endParaRPr lang="en-US"/>
            </a:p>
          </p:txBody>
        </p:sp>
      </p:grpSp>
      <p:grpSp>
        <p:nvGrpSpPr>
          <p:cNvPr id="21" name="Group 21"/>
          <p:cNvGrpSpPr/>
          <p:nvPr/>
        </p:nvGrpSpPr>
        <p:grpSpPr>
          <a:xfrm>
            <a:off x="1028700" y="2880360"/>
            <a:ext cx="3566160" cy="864108"/>
            <a:chOff x="0" y="0"/>
            <a:chExt cx="4754880" cy="1152144"/>
          </a:xfrm>
        </p:grpSpPr>
        <p:sp>
          <p:nvSpPr>
            <p:cNvPr id="22" name="Freeform 22"/>
            <p:cNvSpPr/>
            <p:nvPr/>
          </p:nvSpPr>
          <p:spPr>
            <a:xfrm>
              <a:off x="0" y="0"/>
              <a:ext cx="4754880" cy="1152144"/>
            </a:xfrm>
            <a:custGeom>
              <a:avLst/>
              <a:gdLst/>
              <a:ahLst/>
              <a:cxnLst/>
              <a:rect l="l" t="t" r="r" b="b"/>
              <a:pathLst>
                <a:path w="4754880" h="1152144">
                  <a:moveTo>
                    <a:pt x="0" y="0"/>
                  </a:moveTo>
                  <a:lnTo>
                    <a:pt x="4754880" y="0"/>
                  </a:lnTo>
                  <a:lnTo>
                    <a:pt x="4754880" y="1152144"/>
                  </a:lnTo>
                  <a:lnTo>
                    <a:pt x="0" y="1152144"/>
                  </a:lnTo>
                  <a:close/>
                </a:path>
              </a:pathLst>
            </a:custGeom>
            <a:blipFill>
              <a:blip r:embed="rId3">
                <a:alphaModFix amt="0"/>
              </a:blip>
              <a:stretch>
                <a:fillRect t="-30414" b="-30414"/>
              </a:stretch>
            </a:blipFill>
          </p:spPr>
          <p:txBody>
            <a:bodyPr/>
            <a:lstStyle/>
            <a:p>
              <a:endParaRPr lang="en-US"/>
            </a:p>
          </p:txBody>
        </p:sp>
        <p:sp>
          <p:nvSpPr>
            <p:cNvPr id="23" name="TextBox 23"/>
            <p:cNvSpPr txBox="1"/>
            <p:nvPr/>
          </p:nvSpPr>
          <p:spPr>
            <a:xfrm>
              <a:off x="0" y="-19050"/>
              <a:ext cx="4754880" cy="1171194"/>
            </a:xfrm>
            <a:prstGeom prst="rect">
              <a:avLst/>
            </a:prstGeom>
          </p:spPr>
          <p:txBody>
            <a:bodyPr lIns="0" tIns="0" rIns="0" bIns="0" rtlCol="0" anchor="ctr"/>
            <a:lstStyle/>
            <a:p>
              <a:pPr algn="l">
                <a:lnSpc>
                  <a:spcPts val="1889"/>
                </a:lnSpc>
              </a:pPr>
              <a:r>
                <a:rPr lang="en-US" sz="1575" b="1">
                  <a:solidFill>
                    <a:srgbClr val="0D1B2A"/>
                  </a:solidFill>
                  <a:latin typeface="Calibri (MS) Bold"/>
                  <a:ea typeface="Calibri (MS) Bold"/>
                  <a:cs typeface="Calibri (MS) Bold"/>
                  <a:sym typeface="Calibri (MS) Bold"/>
                </a:rPr>
                <a:t>Model loading</a:t>
              </a:r>
            </a:p>
          </p:txBody>
        </p:sp>
      </p:grpSp>
      <p:grpSp>
        <p:nvGrpSpPr>
          <p:cNvPr id="24" name="Group 24"/>
          <p:cNvGrpSpPr/>
          <p:nvPr/>
        </p:nvGrpSpPr>
        <p:grpSpPr>
          <a:xfrm>
            <a:off x="4869180" y="2880360"/>
            <a:ext cx="3566160" cy="864108"/>
            <a:chOff x="0" y="0"/>
            <a:chExt cx="4754880" cy="1152144"/>
          </a:xfrm>
        </p:grpSpPr>
        <p:sp>
          <p:nvSpPr>
            <p:cNvPr id="25" name="Freeform 25"/>
            <p:cNvSpPr/>
            <p:nvPr/>
          </p:nvSpPr>
          <p:spPr>
            <a:xfrm>
              <a:off x="0" y="0"/>
              <a:ext cx="4754880" cy="1152144"/>
            </a:xfrm>
            <a:custGeom>
              <a:avLst/>
              <a:gdLst/>
              <a:ahLst/>
              <a:cxnLst/>
              <a:rect l="l" t="t" r="r" b="b"/>
              <a:pathLst>
                <a:path w="4754880" h="1152144">
                  <a:moveTo>
                    <a:pt x="0" y="0"/>
                  </a:moveTo>
                  <a:lnTo>
                    <a:pt x="4754880" y="0"/>
                  </a:lnTo>
                  <a:lnTo>
                    <a:pt x="4754880" y="1152144"/>
                  </a:lnTo>
                  <a:lnTo>
                    <a:pt x="0" y="1152144"/>
                  </a:lnTo>
                  <a:close/>
                </a:path>
              </a:pathLst>
            </a:custGeom>
            <a:blipFill>
              <a:blip r:embed="rId3">
                <a:alphaModFix amt="0"/>
              </a:blip>
              <a:stretch>
                <a:fillRect t="-30414" b="-30414"/>
              </a:stretch>
            </a:blipFill>
          </p:spPr>
          <p:txBody>
            <a:bodyPr/>
            <a:lstStyle/>
            <a:p>
              <a:endParaRPr lang="en-US"/>
            </a:p>
          </p:txBody>
        </p:sp>
        <p:sp>
          <p:nvSpPr>
            <p:cNvPr id="26" name="TextBox 26"/>
            <p:cNvSpPr txBox="1"/>
            <p:nvPr/>
          </p:nvSpPr>
          <p:spPr>
            <a:xfrm>
              <a:off x="0" y="-38100"/>
              <a:ext cx="4754880" cy="1190244"/>
            </a:xfrm>
            <a:prstGeom prst="rect">
              <a:avLst/>
            </a:prstGeom>
          </p:spPr>
          <p:txBody>
            <a:bodyPr lIns="0" tIns="0" rIns="0" bIns="0" rtlCol="0" anchor="ctr"/>
            <a:lstStyle/>
            <a:p>
              <a:pPr algn="l">
                <a:lnSpc>
                  <a:spcPts val="1800"/>
                </a:lnSpc>
              </a:pPr>
              <a:r>
                <a:rPr lang="en-US" sz="1500" b="1">
                  <a:solidFill>
                    <a:srgbClr val="40916C"/>
                  </a:solidFill>
                  <a:latin typeface="Calibri (MS) Bold"/>
                  <a:ea typeface="Calibri (MS) Bold"/>
                  <a:cs typeface="Calibri (MS) Bold"/>
                  <a:sym typeface="Calibri (MS) Bold"/>
                </a:rPr>
                <a:t>ModelRegistry cache</a:t>
              </a:r>
            </a:p>
          </p:txBody>
        </p:sp>
      </p:grpSp>
      <p:grpSp>
        <p:nvGrpSpPr>
          <p:cNvPr id="27" name="Group 27"/>
          <p:cNvGrpSpPr/>
          <p:nvPr/>
        </p:nvGrpSpPr>
        <p:grpSpPr>
          <a:xfrm>
            <a:off x="8641080" y="2880360"/>
            <a:ext cx="8503920" cy="864108"/>
            <a:chOff x="0" y="0"/>
            <a:chExt cx="11338560" cy="1152144"/>
          </a:xfrm>
        </p:grpSpPr>
        <p:sp>
          <p:nvSpPr>
            <p:cNvPr id="28" name="Freeform 28"/>
            <p:cNvSpPr/>
            <p:nvPr/>
          </p:nvSpPr>
          <p:spPr>
            <a:xfrm>
              <a:off x="0" y="0"/>
              <a:ext cx="11338560" cy="1152144"/>
            </a:xfrm>
            <a:custGeom>
              <a:avLst/>
              <a:gdLst/>
              <a:ahLst/>
              <a:cxnLst/>
              <a:rect l="l" t="t" r="r" b="b"/>
              <a:pathLst>
                <a:path w="11338560" h="1152144">
                  <a:moveTo>
                    <a:pt x="0" y="0"/>
                  </a:moveTo>
                  <a:lnTo>
                    <a:pt x="11338560" y="0"/>
                  </a:lnTo>
                  <a:lnTo>
                    <a:pt x="11338560" y="1152144"/>
                  </a:lnTo>
                  <a:lnTo>
                    <a:pt x="0" y="1152144"/>
                  </a:lnTo>
                  <a:close/>
                </a:path>
              </a:pathLst>
            </a:custGeom>
            <a:blipFill>
              <a:blip r:embed="rId3">
                <a:alphaModFix amt="0"/>
              </a:blip>
              <a:stretch>
                <a:fillRect t="-141757" b="-141757"/>
              </a:stretch>
            </a:blipFill>
          </p:spPr>
          <p:txBody>
            <a:bodyPr/>
            <a:lstStyle/>
            <a:p>
              <a:endParaRPr lang="en-US"/>
            </a:p>
          </p:txBody>
        </p:sp>
        <p:sp>
          <p:nvSpPr>
            <p:cNvPr id="29" name="TextBox 29"/>
            <p:cNvSpPr txBox="1"/>
            <p:nvPr/>
          </p:nvSpPr>
          <p:spPr>
            <a:xfrm>
              <a:off x="0" y="-38100"/>
              <a:ext cx="11338560" cy="1190244"/>
            </a:xfrm>
            <a:prstGeom prst="rect">
              <a:avLst/>
            </a:prstGeom>
          </p:spPr>
          <p:txBody>
            <a:bodyPr lIns="0" tIns="0" rIns="0" bIns="0" rtlCol="0" anchor="ctr"/>
            <a:lstStyle/>
            <a:p>
              <a:pPr algn="l">
                <a:lnSpc>
                  <a:spcPts val="1800"/>
                </a:lnSpc>
              </a:pPr>
              <a:r>
                <a:rPr lang="en-US" sz="1500">
                  <a:solidFill>
                    <a:srgbClr val="5B6B72"/>
                  </a:solidFill>
                  <a:latin typeface="Calibri (MS)"/>
                  <a:ea typeface="Calibri (MS)"/>
                  <a:cs typeface="Calibri (MS)"/>
                  <a:sym typeface="Calibri (MS)"/>
                </a:rPr>
                <a:t>Avoids re-loading pkl/ONNX every request; safe under threaded handling</a:t>
              </a:r>
            </a:p>
          </p:txBody>
        </p:sp>
      </p:grpSp>
      <p:grpSp>
        <p:nvGrpSpPr>
          <p:cNvPr id="30" name="Group 30"/>
          <p:cNvGrpSpPr/>
          <p:nvPr/>
        </p:nvGrpSpPr>
        <p:grpSpPr>
          <a:xfrm>
            <a:off x="822960" y="3744468"/>
            <a:ext cx="16596360" cy="864108"/>
            <a:chOff x="0" y="0"/>
            <a:chExt cx="22128480" cy="1152144"/>
          </a:xfrm>
        </p:grpSpPr>
        <p:sp>
          <p:nvSpPr>
            <p:cNvPr id="31" name="Freeform 31"/>
            <p:cNvSpPr/>
            <p:nvPr/>
          </p:nvSpPr>
          <p:spPr>
            <a:xfrm>
              <a:off x="0" y="0"/>
              <a:ext cx="22128480" cy="1152144"/>
            </a:xfrm>
            <a:custGeom>
              <a:avLst/>
              <a:gdLst/>
              <a:ahLst/>
              <a:cxnLst/>
              <a:rect l="l" t="t" r="r" b="b"/>
              <a:pathLst>
                <a:path w="22128480" h="1152144">
                  <a:moveTo>
                    <a:pt x="0" y="0"/>
                  </a:moveTo>
                  <a:lnTo>
                    <a:pt x="22128480" y="0"/>
                  </a:lnTo>
                  <a:lnTo>
                    <a:pt x="22128480" y="1152144"/>
                  </a:lnTo>
                  <a:lnTo>
                    <a:pt x="0" y="1152144"/>
                  </a:lnTo>
                  <a:close/>
                </a:path>
              </a:pathLst>
            </a:custGeom>
            <a:solidFill>
              <a:srgbClr val="EAF2ED"/>
            </a:solidFill>
          </p:spPr>
          <p:txBody>
            <a:bodyPr/>
            <a:lstStyle/>
            <a:p>
              <a:endParaRPr lang="en-US"/>
            </a:p>
          </p:txBody>
        </p:sp>
      </p:grpSp>
      <p:grpSp>
        <p:nvGrpSpPr>
          <p:cNvPr id="32" name="Group 32"/>
          <p:cNvGrpSpPr/>
          <p:nvPr/>
        </p:nvGrpSpPr>
        <p:grpSpPr>
          <a:xfrm>
            <a:off x="1028700" y="3744468"/>
            <a:ext cx="3566160" cy="864108"/>
            <a:chOff x="0" y="0"/>
            <a:chExt cx="4754880" cy="1152144"/>
          </a:xfrm>
        </p:grpSpPr>
        <p:sp>
          <p:nvSpPr>
            <p:cNvPr id="33" name="Freeform 33"/>
            <p:cNvSpPr/>
            <p:nvPr/>
          </p:nvSpPr>
          <p:spPr>
            <a:xfrm>
              <a:off x="0" y="0"/>
              <a:ext cx="4754880" cy="1152144"/>
            </a:xfrm>
            <a:custGeom>
              <a:avLst/>
              <a:gdLst/>
              <a:ahLst/>
              <a:cxnLst/>
              <a:rect l="l" t="t" r="r" b="b"/>
              <a:pathLst>
                <a:path w="4754880" h="1152144">
                  <a:moveTo>
                    <a:pt x="0" y="0"/>
                  </a:moveTo>
                  <a:lnTo>
                    <a:pt x="4754880" y="0"/>
                  </a:lnTo>
                  <a:lnTo>
                    <a:pt x="4754880" y="1152144"/>
                  </a:lnTo>
                  <a:lnTo>
                    <a:pt x="0" y="1152144"/>
                  </a:lnTo>
                  <a:close/>
                </a:path>
              </a:pathLst>
            </a:custGeom>
            <a:blipFill>
              <a:blip r:embed="rId3">
                <a:alphaModFix amt="0"/>
              </a:blip>
              <a:stretch>
                <a:fillRect t="-30414" b="-30414"/>
              </a:stretch>
            </a:blipFill>
          </p:spPr>
          <p:txBody>
            <a:bodyPr/>
            <a:lstStyle/>
            <a:p>
              <a:endParaRPr lang="en-US"/>
            </a:p>
          </p:txBody>
        </p:sp>
        <p:sp>
          <p:nvSpPr>
            <p:cNvPr id="34" name="TextBox 34"/>
            <p:cNvSpPr txBox="1"/>
            <p:nvPr/>
          </p:nvSpPr>
          <p:spPr>
            <a:xfrm>
              <a:off x="0" y="-19050"/>
              <a:ext cx="4754880" cy="1171194"/>
            </a:xfrm>
            <a:prstGeom prst="rect">
              <a:avLst/>
            </a:prstGeom>
          </p:spPr>
          <p:txBody>
            <a:bodyPr lIns="0" tIns="0" rIns="0" bIns="0" rtlCol="0" anchor="ctr"/>
            <a:lstStyle/>
            <a:p>
              <a:pPr algn="l">
                <a:lnSpc>
                  <a:spcPts val="1889"/>
                </a:lnSpc>
              </a:pPr>
              <a:r>
                <a:rPr lang="en-US" sz="1575" b="1">
                  <a:solidFill>
                    <a:srgbClr val="0D1B2A"/>
                  </a:solidFill>
                  <a:latin typeface="Calibri (MS) Bold"/>
                  <a:ea typeface="Calibri (MS) Bold"/>
                  <a:cs typeface="Calibri (MS) Bold"/>
                  <a:sym typeface="Calibri (MS) Bold"/>
                </a:rPr>
                <a:t>Consumer commits</a:t>
              </a:r>
            </a:p>
          </p:txBody>
        </p:sp>
      </p:grpSp>
      <p:grpSp>
        <p:nvGrpSpPr>
          <p:cNvPr id="35" name="Group 35"/>
          <p:cNvGrpSpPr/>
          <p:nvPr/>
        </p:nvGrpSpPr>
        <p:grpSpPr>
          <a:xfrm>
            <a:off x="4869180" y="3744468"/>
            <a:ext cx="3566160" cy="864108"/>
            <a:chOff x="0" y="0"/>
            <a:chExt cx="4754880" cy="1152144"/>
          </a:xfrm>
        </p:grpSpPr>
        <p:sp>
          <p:nvSpPr>
            <p:cNvPr id="36" name="Freeform 36"/>
            <p:cNvSpPr/>
            <p:nvPr/>
          </p:nvSpPr>
          <p:spPr>
            <a:xfrm>
              <a:off x="0" y="0"/>
              <a:ext cx="4754880" cy="1152144"/>
            </a:xfrm>
            <a:custGeom>
              <a:avLst/>
              <a:gdLst/>
              <a:ahLst/>
              <a:cxnLst/>
              <a:rect l="l" t="t" r="r" b="b"/>
              <a:pathLst>
                <a:path w="4754880" h="1152144">
                  <a:moveTo>
                    <a:pt x="0" y="0"/>
                  </a:moveTo>
                  <a:lnTo>
                    <a:pt x="4754880" y="0"/>
                  </a:lnTo>
                  <a:lnTo>
                    <a:pt x="4754880" y="1152144"/>
                  </a:lnTo>
                  <a:lnTo>
                    <a:pt x="0" y="1152144"/>
                  </a:lnTo>
                  <a:close/>
                </a:path>
              </a:pathLst>
            </a:custGeom>
            <a:blipFill>
              <a:blip r:embed="rId3">
                <a:alphaModFix amt="0"/>
              </a:blip>
              <a:stretch>
                <a:fillRect t="-30414" b="-30414"/>
              </a:stretch>
            </a:blipFill>
          </p:spPr>
          <p:txBody>
            <a:bodyPr/>
            <a:lstStyle/>
            <a:p>
              <a:endParaRPr lang="en-US"/>
            </a:p>
          </p:txBody>
        </p:sp>
        <p:sp>
          <p:nvSpPr>
            <p:cNvPr id="37" name="TextBox 37"/>
            <p:cNvSpPr txBox="1"/>
            <p:nvPr/>
          </p:nvSpPr>
          <p:spPr>
            <a:xfrm>
              <a:off x="0" y="-38100"/>
              <a:ext cx="4754880" cy="1190244"/>
            </a:xfrm>
            <a:prstGeom prst="rect">
              <a:avLst/>
            </a:prstGeom>
          </p:spPr>
          <p:txBody>
            <a:bodyPr lIns="0" tIns="0" rIns="0" bIns="0" rtlCol="0" anchor="ctr"/>
            <a:lstStyle/>
            <a:p>
              <a:pPr algn="l">
                <a:lnSpc>
                  <a:spcPts val="1800"/>
                </a:lnSpc>
              </a:pPr>
              <a:r>
                <a:rPr lang="en-US" sz="1500" b="1">
                  <a:solidFill>
                    <a:srgbClr val="40916C"/>
                  </a:solidFill>
                  <a:latin typeface="Calibri (MS) Bold"/>
                  <a:ea typeface="Calibri (MS) Bold"/>
                  <a:cs typeface="Calibri (MS) Bold"/>
                  <a:sym typeface="Calibri (MS) Bold"/>
                </a:rPr>
                <a:t>Manual, synchronous</a:t>
              </a:r>
            </a:p>
          </p:txBody>
        </p:sp>
      </p:grpSp>
      <p:grpSp>
        <p:nvGrpSpPr>
          <p:cNvPr id="38" name="Group 38"/>
          <p:cNvGrpSpPr/>
          <p:nvPr/>
        </p:nvGrpSpPr>
        <p:grpSpPr>
          <a:xfrm>
            <a:off x="8641080" y="3744468"/>
            <a:ext cx="8503920" cy="864108"/>
            <a:chOff x="0" y="0"/>
            <a:chExt cx="11338560" cy="1152144"/>
          </a:xfrm>
        </p:grpSpPr>
        <p:sp>
          <p:nvSpPr>
            <p:cNvPr id="39" name="Freeform 39"/>
            <p:cNvSpPr/>
            <p:nvPr/>
          </p:nvSpPr>
          <p:spPr>
            <a:xfrm>
              <a:off x="0" y="0"/>
              <a:ext cx="11338560" cy="1152144"/>
            </a:xfrm>
            <a:custGeom>
              <a:avLst/>
              <a:gdLst/>
              <a:ahLst/>
              <a:cxnLst/>
              <a:rect l="l" t="t" r="r" b="b"/>
              <a:pathLst>
                <a:path w="11338560" h="1152144">
                  <a:moveTo>
                    <a:pt x="0" y="0"/>
                  </a:moveTo>
                  <a:lnTo>
                    <a:pt x="11338560" y="0"/>
                  </a:lnTo>
                  <a:lnTo>
                    <a:pt x="11338560" y="1152144"/>
                  </a:lnTo>
                  <a:lnTo>
                    <a:pt x="0" y="1152144"/>
                  </a:lnTo>
                  <a:close/>
                </a:path>
              </a:pathLst>
            </a:custGeom>
            <a:blipFill>
              <a:blip r:embed="rId3">
                <a:alphaModFix amt="0"/>
              </a:blip>
              <a:stretch>
                <a:fillRect t="-141757" b="-141757"/>
              </a:stretch>
            </a:blipFill>
          </p:spPr>
          <p:txBody>
            <a:bodyPr/>
            <a:lstStyle/>
            <a:p>
              <a:endParaRPr lang="en-US"/>
            </a:p>
          </p:txBody>
        </p:sp>
        <p:sp>
          <p:nvSpPr>
            <p:cNvPr id="40" name="TextBox 40"/>
            <p:cNvSpPr txBox="1"/>
            <p:nvPr/>
          </p:nvSpPr>
          <p:spPr>
            <a:xfrm>
              <a:off x="0" y="-38100"/>
              <a:ext cx="11338560" cy="1190244"/>
            </a:xfrm>
            <a:prstGeom prst="rect">
              <a:avLst/>
            </a:prstGeom>
          </p:spPr>
          <p:txBody>
            <a:bodyPr lIns="0" tIns="0" rIns="0" bIns="0" rtlCol="0" anchor="ctr"/>
            <a:lstStyle/>
            <a:p>
              <a:pPr algn="l">
                <a:lnSpc>
                  <a:spcPts val="1800"/>
                </a:lnSpc>
              </a:pPr>
              <a:r>
                <a:rPr lang="en-US" sz="1500">
                  <a:solidFill>
                    <a:srgbClr val="5B6B72"/>
                  </a:solidFill>
                  <a:latin typeface="Calibri (MS)"/>
                  <a:ea typeface="Calibri (MS)"/>
                  <a:cs typeface="Calibri (MS)"/>
                  <a:sym typeface="Calibri (MS)"/>
                </a:rPr>
                <a:t>At-least-once delivery — no data loss if the consumer crashes pre-commit</a:t>
              </a:r>
            </a:p>
          </p:txBody>
        </p:sp>
      </p:grpSp>
      <p:grpSp>
        <p:nvGrpSpPr>
          <p:cNvPr id="41" name="Group 41"/>
          <p:cNvGrpSpPr/>
          <p:nvPr/>
        </p:nvGrpSpPr>
        <p:grpSpPr>
          <a:xfrm>
            <a:off x="822960" y="4608576"/>
            <a:ext cx="16596360" cy="864108"/>
            <a:chOff x="0" y="0"/>
            <a:chExt cx="22128480" cy="1152144"/>
          </a:xfrm>
        </p:grpSpPr>
        <p:sp>
          <p:nvSpPr>
            <p:cNvPr id="42" name="Freeform 42"/>
            <p:cNvSpPr/>
            <p:nvPr/>
          </p:nvSpPr>
          <p:spPr>
            <a:xfrm>
              <a:off x="0" y="0"/>
              <a:ext cx="22128480" cy="1152144"/>
            </a:xfrm>
            <a:custGeom>
              <a:avLst/>
              <a:gdLst/>
              <a:ahLst/>
              <a:cxnLst/>
              <a:rect l="l" t="t" r="r" b="b"/>
              <a:pathLst>
                <a:path w="22128480" h="1152144">
                  <a:moveTo>
                    <a:pt x="0" y="0"/>
                  </a:moveTo>
                  <a:lnTo>
                    <a:pt x="22128480" y="0"/>
                  </a:lnTo>
                  <a:lnTo>
                    <a:pt x="22128480" y="1152144"/>
                  </a:lnTo>
                  <a:lnTo>
                    <a:pt x="0" y="1152144"/>
                  </a:lnTo>
                  <a:close/>
                </a:path>
              </a:pathLst>
            </a:custGeom>
            <a:solidFill>
              <a:srgbClr val="FFFFFF"/>
            </a:solidFill>
          </p:spPr>
          <p:txBody>
            <a:bodyPr/>
            <a:lstStyle/>
            <a:p>
              <a:endParaRPr lang="en-US"/>
            </a:p>
          </p:txBody>
        </p:sp>
      </p:grpSp>
      <p:grpSp>
        <p:nvGrpSpPr>
          <p:cNvPr id="43" name="Group 43"/>
          <p:cNvGrpSpPr/>
          <p:nvPr/>
        </p:nvGrpSpPr>
        <p:grpSpPr>
          <a:xfrm>
            <a:off x="1028700" y="4608576"/>
            <a:ext cx="3566160" cy="864108"/>
            <a:chOff x="0" y="0"/>
            <a:chExt cx="4754880" cy="1152144"/>
          </a:xfrm>
        </p:grpSpPr>
        <p:sp>
          <p:nvSpPr>
            <p:cNvPr id="44" name="Freeform 44"/>
            <p:cNvSpPr/>
            <p:nvPr/>
          </p:nvSpPr>
          <p:spPr>
            <a:xfrm>
              <a:off x="0" y="0"/>
              <a:ext cx="4754880" cy="1152144"/>
            </a:xfrm>
            <a:custGeom>
              <a:avLst/>
              <a:gdLst/>
              <a:ahLst/>
              <a:cxnLst/>
              <a:rect l="l" t="t" r="r" b="b"/>
              <a:pathLst>
                <a:path w="4754880" h="1152144">
                  <a:moveTo>
                    <a:pt x="0" y="0"/>
                  </a:moveTo>
                  <a:lnTo>
                    <a:pt x="4754880" y="0"/>
                  </a:lnTo>
                  <a:lnTo>
                    <a:pt x="4754880" y="1152144"/>
                  </a:lnTo>
                  <a:lnTo>
                    <a:pt x="0" y="1152144"/>
                  </a:lnTo>
                  <a:close/>
                </a:path>
              </a:pathLst>
            </a:custGeom>
            <a:blipFill>
              <a:blip r:embed="rId3">
                <a:alphaModFix amt="0"/>
              </a:blip>
              <a:stretch>
                <a:fillRect t="-30414" b="-30414"/>
              </a:stretch>
            </a:blipFill>
          </p:spPr>
          <p:txBody>
            <a:bodyPr/>
            <a:lstStyle/>
            <a:p>
              <a:endParaRPr lang="en-US"/>
            </a:p>
          </p:txBody>
        </p:sp>
        <p:sp>
          <p:nvSpPr>
            <p:cNvPr id="45" name="TextBox 45"/>
            <p:cNvSpPr txBox="1"/>
            <p:nvPr/>
          </p:nvSpPr>
          <p:spPr>
            <a:xfrm>
              <a:off x="0" y="-19050"/>
              <a:ext cx="4754880" cy="1171194"/>
            </a:xfrm>
            <a:prstGeom prst="rect">
              <a:avLst/>
            </a:prstGeom>
          </p:spPr>
          <p:txBody>
            <a:bodyPr lIns="0" tIns="0" rIns="0" bIns="0" rtlCol="0" anchor="ctr"/>
            <a:lstStyle/>
            <a:p>
              <a:pPr algn="l">
                <a:lnSpc>
                  <a:spcPts val="1889"/>
                </a:lnSpc>
              </a:pPr>
              <a:r>
                <a:rPr lang="en-US" sz="1575" b="1">
                  <a:solidFill>
                    <a:srgbClr val="0D1B2A"/>
                  </a:solidFill>
                  <a:latin typeface="Calibri (MS) Bold"/>
                  <a:ea typeface="Calibri (MS) Bold"/>
                  <a:cs typeface="Calibri (MS) Bold"/>
                  <a:sym typeface="Calibri (MS) Bold"/>
                </a:rPr>
                <a:t>Forecast fallbacks</a:t>
              </a:r>
            </a:p>
          </p:txBody>
        </p:sp>
      </p:grpSp>
      <p:grpSp>
        <p:nvGrpSpPr>
          <p:cNvPr id="46" name="Group 46"/>
          <p:cNvGrpSpPr/>
          <p:nvPr/>
        </p:nvGrpSpPr>
        <p:grpSpPr>
          <a:xfrm>
            <a:off x="4869180" y="4608576"/>
            <a:ext cx="3566160" cy="864108"/>
            <a:chOff x="0" y="0"/>
            <a:chExt cx="4754880" cy="1152144"/>
          </a:xfrm>
        </p:grpSpPr>
        <p:sp>
          <p:nvSpPr>
            <p:cNvPr id="47" name="Freeform 47"/>
            <p:cNvSpPr/>
            <p:nvPr/>
          </p:nvSpPr>
          <p:spPr>
            <a:xfrm>
              <a:off x="0" y="0"/>
              <a:ext cx="4754880" cy="1152144"/>
            </a:xfrm>
            <a:custGeom>
              <a:avLst/>
              <a:gdLst/>
              <a:ahLst/>
              <a:cxnLst/>
              <a:rect l="l" t="t" r="r" b="b"/>
              <a:pathLst>
                <a:path w="4754880" h="1152144">
                  <a:moveTo>
                    <a:pt x="0" y="0"/>
                  </a:moveTo>
                  <a:lnTo>
                    <a:pt x="4754880" y="0"/>
                  </a:lnTo>
                  <a:lnTo>
                    <a:pt x="4754880" y="1152144"/>
                  </a:lnTo>
                  <a:lnTo>
                    <a:pt x="0" y="1152144"/>
                  </a:lnTo>
                  <a:close/>
                </a:path>
              </a:pathLst>
            </a:custGeom>
            <a:blipFill>
              <a:blip r:embed="rId3">
                <a:alphaModFix amt="0"/>
              </a:blip>
              <a:stretch>
                <a:fillRect t="-30414" b="-30414"/>
              </a:stretch>
            </a:blipFill>
          </p:spPr>
          <p:txBody>
            <a:bodyPr/>
            <a:lstStyle/>
            <a:p>
              <a:endParaRPr lang="en-US"/>
            </a:p>
          </p:txBody>
        </p:sp>
        <p:sp>
          <p:nvSpPr>
            <p:cNvPr id="48" name="TextBox 48"/>
            <p:cNvSpPr txBox="1"/>
            <p:nvPr/>
          </p:nvSpPr>
          <p:spPr>
            <a:xfrm>
              <a:off x="0" y="-38100"/>
              <a:ext cx="4754880" cy="1190244"/>
            </a:xfrm>
            <a:prstGeom prst="rect">
              <a:avLst/>
            </a:prstGeom>
          </p:spPr>
          <p:txBody>
            <a:bodyPr lIns="0" tIns="0" rIns="0" bIns="0" rtlCol="0" anchor="ctr"/>
            <a:lstStyle/>
            <a:p>
              <a:pPr algn="l">
                <a:lnSpc>
                  <a:spcPts val="1800"/>
                </a:lnSpc>
              </a:pPr>
              <a:r>
                <a:rPr lang="en-US" sz="1500" b="1">
                  <a:solidFill>
                    <a:srgbClr val="40916C"/>
                  </a:solidFill>
                  <a:latin typeface="Calibri (MS) Bold"/>
                  <a:ea typeface="Calibri (MS) Bold"/>
                  <a:cs typeface="Calibri (MS) Bold"/>
                  <a:sym typeface="Calibri (MS) Bold"/>
                </a:rPr>
                <a:t>Physics-based heuristics</a:t>
              </a:r>
            </a:p>
          </p:txBody>
        </p:sp>
      </p:grpSp>
      <p:grpSp>
        <p:nvGrpSpPr>
          <p:cNvPr id="49" name="Group 49"/>
          <p:cNvGrpSpPr/>
          <p:nvPr/>
        </p:nvGrpSpPr>
        <p:grpSpPr>
          <a:xfrm>
            <a:off x="8641080" y="4608576"/>
            <a:ext cx="8503920" cy="864108"/>
            <a:chOff x="0" y="0"/>
            <a:chExt cx="11338560" cy="1152144"/>
          </a:xfrm>
        </p:grpSpPr>
        <p:sp>
          <p:nvSpPr>
            <p:cNvPr id="50" name="Freeform 50"/>
            <p:cNvSpPr/>
            <p:nvPr/>
          </p:nvSpPr>
          <p:spPr>
            <a:xfrm>
              <a:off x="0" y="0"/>
              <a:ext cx="11338560" cy="1152144"/>
            </a:xfrm>
            <a:custGeom>
              <a:avLst/>
              <a:gdLst/>
              <a:ahLst/>
              <a:cxnLst/>
              <a:rect l="l" t="t" r="r" b="b"/>
              <a:pathLst>
                <a:path w="11338560" h="1152144">
                  <a:moveTo>
                    <a:pt x="0" y="0"/>
                  </a:moveTo>
                  <a:lnTo>
                    <a:pt x="11338560" y="0"/>
                  </a:lnTo>
                  <a:lnTo>
                    <a:pt x="11338560" y="1152144"/>
                  </a:lnTo>
                  <a:lnTo>
                    <a:pt x="0" y="1152144"/>
                  </a:lnTo>
                  <a:close/>
                </a:path>
              </a:pathLst>
            </a:custGeom>
            <a:blipFill>
              <a:blip r:embed="rId3">
                <a:alphaModFix amt="0"/>
              </a:blip>
              <a:stretch>
                <a:fillRect t="-141757" b="-141757"/>
              </a:stretch>
            </a:blipFill>
          </p:spPr>
          <p:txBody>
            <a:bodyPr/>
            <a:lstStyle/>
            <a:p>
              <a:endParaRPr lang="en-US"/>
            </a:p>
          </p:txBody>
        </p:sp>
        <p:sp>
          <p:nvSpPr>
            <p:cNvPr id="51" name="TextBox 51"/>
            <p:cNvSpPr txBox="1"/>
            <p:nvPr/>
          </p:nvSpPr>
          <p:spPr>
            <a:xfrm>
              <a:off x="0" y="-38100"/>
              <a:ext cx="11338560" cy="1190244"/>
            </a:xfrm>
            <a:prstGeom prst="rect">
              <a:avLst/>
            </a:prstGeom>
          </p:spPr>
          <p:txBody>
            <a:bodyPr lIns="0" tIns="0" rIns="0" bIns="0" rtlCol="0" anchor="ctr"/>
            <a:lstStyle/>
            <a:p>
              <a:pPr algn="l">
                <a:lnSpc>
                  <a:spcPts val="1800"/>
                </a:lnSpc>
              </a:pPr>
              <a:r>
                <a:rPr lang="en-US" sz="1500">
                  <a:solidFill>
                    <a:srgbClr val="5B6B72"/>
                  </a:solidFill>
                  <a:latin typeface="Calibri (MS)"/>
                  <a:ea typeface="Calibri (MS)"/>
                  <a:cs typeface="Calibri (MS)"/>
                  <a:sym typeface="Calibri (MS)"/>
                </a:rPr>
                <a:t>Keeps the dashboard continuous if ONNX inference returns implausible values</a:t>
              </a:r>
            </a:p>
          </p:txBody>
        </p:sp>
      </p:grpSp>
      <p:grpSp>
        <p:nvGrpSpPr>
          <p:cNvPr id="52" name="Group 52"/>
          <p:cNvGrpSpPr/>
          <p:nvPr/>
        </p:nvGrpSpPr>
        <p:grpSpPr>
          <a:xfrm>
            <a:off x="822960" y="5472684"/>
            <a:ext cx="16596360" cy="864108"/>
            <a:chOff x="0" y="0"/>
            <a:chExt cx="22128480" cy="1152144"/>
          </a:xfrm>
        </p:grpSpPr>
        <p:sp>
          <p:nvSpPr>
            <p:cNvPr id="53" name="Freeform 53"/>
            <p:cNvSpPr/>
            <p:nvPr/>
          </p:nvSpPr>
          <p:spPr>
            <a:xfrm>
              <a:off x="0" y="0"/>
              <a:ext cx="22128480" cy="1152144"/>
            </a:xfrm>
            <a:custGeom>
              <a:avLst/>
              <a:gdLst/>
              <a:ahLst/>
              <a:cxnLst/>
              <a:rect l="l" t="t" r="r" b="b"/>
              <a:pathLst>
                <a:path w="22128480" h="1152144">
                  <a:moveTo>
                    <a:pt x="0" y="0"/>
                  </a:moveTo>
                  <a:lnTo>
                    <a:pt x="22128480" y="0"/>
                  </a:lnTo>
                  <a:lnTo>
                    <a:pt x="22128480" y="1152144"/>
                  </a:lnTo>
                  <a:lnTo>
                    <a:pt x="0" y="1152144"/>
                  </a:lnTo>
                  <a:close/>
                </a:path>
              </a:pathLst>
            </a:custGeom>
            <a:solidFill>
              <a:srgbClr val="EAF2ED"/>
            </a:solidFill>
          </p:spPr>
          <p:txBody>
            <a:bodyPr/>
            <a:lstStyle/>
            <a:p>
              <a:endParaRPr lang="en-US"/>
            </a:p>
          </p:txBody>
        </p:sp>
      </p:grpSp>
      <p:grpSp>
        <p:nvGrpSpPr>
          <p:cNvPr id="54" name="Group 54"/>
          <p:cNvGrpSpPr/>
          <p:nvPr/>
        </p:nvGrpSpPr>
        <p:grpSpPr>
          <a:xfrm>
            <a:off x="1028700" y="5472684"/>
            <a:ext cx="3566160" cy="864108"/>
            <a:chOff x="0" y="0"/>
            <a:chExt cx="4754880" cy="1152144"/>
          </a:xfrm>
        </p:grpSpPr>
        <p:sp>
          <p:nvSpPr>
            <p:cNvPr id="55" name="Freeform 55"/>
            <p:cNvSpPr/>
            <p:nvPr/>
          </p:nvSpPr>
          <p:spPr>
            <a:xfrm>
              <a:off x="0" y="0"/>
              <a:ext cx="4754880" cy="1152144"/>
            </a:xfrm>
            <a:custGeom>
              <a:avLst/>
              <a:gdLst/>
              <a:ahLst/>
              <a:cxnLst/>
              <a:rect l="l" t="t" r="r" b="b"/>
              <a:pathLst>
                <a:path w="4754880" h="1152144">
                  <a:moveTo>
                    <a:pt x="0" y="0"/>
                  </a:moveTo>
                  <a:lnTo>
                    <a:pt x="4754880" y="0"/>
                  </a:lnTo>
                  <a:lnTo>
                    <a:pt x="4754880" y="1152144"/>
                  </a:lnTo>
                  <a:lnTo>
                    <a:pt x="0" y="1152144"/>
                  </a:lnTo>
                  <a:close/>
                </a:path>
              </a:pathLst>
            </a:custGeom>
            <a:blipFill>
              <a:blip r:embed="rId3">
                <a:alphaModFix amt="0"/>
              </a:blip>
              <a:stretch>
                <a:fillRect t="-30414" b="-30414"/>
              </a:stretch>
            </a:blipFill>
          </p:spPr>
          <p:txBody>
            <a:bodyPr/>
            <a:lstStyle/>
            <a:p>
              <a:endParaRPr lang="en-US"/>
            </a:p>
          </p:txBody>
        </p:sp>
        <p:sp>
          <p:nvSpPr>
            <p:cNvPr id="56" name="TextBox 56"/>
            <p:cNvSpPr txBox="1"/>
            <p:nvPr/>
          </p:nvSpPr>
          <p:spPr>
            <a:xfrm>
              <a:off x="0" y="-19050"/>
              <a:ext cx="4754880" cy="1171194"/>
            </a:xfrm>
            <a:prstGeom prst="rect">
              <a:avLst/>
            </a:prstGeom>
          </p:spPr>
          <p:txBody>
            <a:bodyPr lIns="0" tIns="0" rIns="0" bIns="0" rtlCol="0" anchor="ctr"/>
            <a:lstStyle/>
            <a:p>
              <a:pPr algn="l">
                <a:lnSpc>
                  <a:spcPts val="1889"/>
                </a:lnSpc>
              </a:pPr>
              <a:r>
                <a:rPr lang="en-US" sz="1575" b="1">
                  <a:solidFill>
                    <a:srgbClr val="0D1B2A"/>
                  </a:solidFill>
                  <a:latin typeface="Calibri (MS) Bold"/>
                  <a:ea typeface="Calibri (MS) Bold"/>
                  <a:cs typeface="Calibri (MS) Bold"/>
                  <a:sym typeface="Calibri (MS) Bold"/>
                </a:rPr>
                <a:t>RAG context</a:t>
              </a:r>
            </a:p>
          </p:txBody>
        </p:sp>
      </p:grpSp>
      <p:grpSp>
        <p:nvGrpSpPr>
          <p:cNvPr id="57" name="Group 57"/>
          <p:cNvGrpSpPr/>
          <p:nvPr/>
        </p:nvGrpSpPr>
        <p:grpSpPr>
          <a:xfrm>
            <a:off x="4869180" y="5472684"/>
            <a:ext cx="3566160" cy="864108"/>
            <a:chOff x="0" y="0"/>
            <a:chExt cx="4754880" cy="1152144"/>
          </a:xfrm>
        </p:grpSpPr>
        <p:sp>
          <p:nvSpPr>
            <p:cNvPr id="58" name="Freeform 58"/>
            <p:cNvSpPr/>
            <p:nvPr/>
          </p:nvSpPr>
          <p:spPr>
            <a:xfrm>
              <a:off x="0" y="0"/>
              <a:ext cx="4754880" cy="1152144"/>
            </a:xfrm>
            <a:custGeom>
              <a:avLst/>
              <a:gdLst/>
              <a:ahLst/>
              <a:cxnLst/>
              <a:rect l="l" t="t" r="r" b="b"/>
              <a:pathLst>
                <a:path w="4754880" h="1152144">
                  <a:moveTo>
                    <a:pt x="0" y="0"/>
                  </a:moveTo>
                  <a:lnTo>
                    <a:pt x="4754880" y="0"/>
                  </a:lnTo>
                  <a:lnTo>
                    <a:pt x="4754880" y="1152144"/>
                  </a:lnTo>
                  <a:lnTo>
                    <a:pt x="0" y="1152144"/>
                  </a:lnTo>
                  <a:close/>
                </a:path>
              </a:pathLst>
            </a:custGeom>
            <a:blipFill>
              <a:blip r:embed="rId3">
                <a:alphaModFix amt="0"/>
              </a:blip>
              <a:stretch>
                <a:fillRect t="-30414" b="-30414"/>
              </a:stretch>
            </a:blipFill>
          </p:spPr>
          <p:txBody>
            <a:bodyPr/>
            <a:lstStyle/>
            <a:p>
              <a:endParaRPr lang="en-US"/>
            </a:p>
          </p:txBody>
        </p:sp>
        <p:sp>
          <p:nvSpPr>
            <p:cNvPr id="59" name="TextBox 59"/>
            <p:cNvSpPr txBox="1"/>
            <p:nvPr/>
          </p:nvSpPr>
          <p:spPr>
            <a:xfrm>
              <a:off x="0" y="-38100"/>
              <a:ext cx="4754880" cy="1190244"/>
            </a:xfrm>
            <a:prstGeom prst="rect">
              <a:avLst/>
            </a:prstGeom>
          </p:spPr>
          <p:txBody>
            <a:bodyPr lIns="0" tIns="0" rIns="0" bIns="0" rtlCol="0" anchor="ctr"/>
            <a:lstStyle/>
            <a:p>
              <a:pPr algn="l">
                <a:lnSpc>
                  <a:spcPts val="1800"/>
                </a:lnSpc>
              </a:pPr>
              <a:r>
                <a:rPr lang="en-US" sz="1500" b="1">
                  <a:solidFill>
                    <a:srgbClr val="40916C"/>
                  </a:solidFill>
                  <a:latin typeface="Calibri (MS) Bold"/>
                  <a:ea typeface="Calibri (MS) Bold"/>
                  <a:cs typeface="Calibri (MS) Bold"/>
                  <a:sym typeface="Calibri (MS) Bold"/>
                </a:rPr>
                <a:t>FAISS local + Gemini</a:t>
              </a:r>
            </a:p>
          </p:txBody>
        </p:sp>
      </p:grpSp>
      <p:grpSp>
        <p:nvGrpSpPr>
          <p:cNvPr id="60" name="Group 60"/>
          <p:cNvGrpSpPr/>
          <p:nvPr/>
        </p:nvGrpSpPr>
        <p:grpSpPr>
          <a:xfrm>
            <a:off x="8641080" y="5472684"/>
            <a:ext cx="8503920" cy="864108"/>
            <a:chOff x="0" y="0"/>
            <a:chExt cx="11338560" cy="1152144"/>
          </a:xfrm>
        </p:grpSpPr>
        <p:sp>
          <p:nvSpPr>
            <p:cNvPr id="61" name="Freeform 61"/>
            <p:cNvSpPr/>
            <p:nvPr/>
          </p:nvSpPr>
          <p:spPr>
            <a:xfrm>
              <a:off x="0" y="0"/>
              <a:ext cx="11338560" cy="1152144"/>
            </a:xfrm>
            <a:custGeom>
              <a:avLst/>
              <a:gdLst/>
              <a:ahLst/>
              <a:cxnLst/>
              <a:rect l="l" t="t" r="r" b="b"/>
              <a:pathLst>
                <a:path w="11338560" h="1152144">
                  <a:moveTo>
                    <a:pt x="0" y="0"/>
                  </a:moveTo>
                  <a:lnTo>
                    <a:pt x="11338560" y="0"/>
                  </a:lnTo>
                  <a:lnTo>
                    <a:pt x="11338560" y="1152144"/>
                  </a:lnTo>
                  <a:lnTo>
                    <a:pt x="0" y="1152144"/>
                  </a:lnTo>
                  <a:close/>
                </a:path>
              </a:pathLst>
            </a:custGeom>
            <a:blipFill>
              <a:blip r:embed="rId3">
                <a:alphaModFix amt="0"/>
              </a:blip>
              <a:stretch>
                <a:fillRect t="-141757" b="-141757"/>
              </a:stretch>
            </a:blipFill>
          </p:spPr>
          <p:txBody>
            <a:bodyPr/>
            <a:lstStyle/>
            <a:p>
              <a:endParaRPr lang="en-US"/>
            </a:p>
          </p:txBody>
        </p:sp>
        <p:sp>
          <p:nvSpPr>
            <p:cNvPr id="62" name="TextBox 62"/>
            <p:cNvSpPr txBox="1"/>
            <p:nvPr/>
          </p:nvSpPr>
          <p:spPr>
            <a:xfrm>
              <a:off x="0" y="-38100"/>
              <a:ext cx="11338560" cy="1190244"/>
            </a:xfrm>
            <a:prstGeom prst="rect">
              <a:avLst/>
            </a:prstGeom>
          </p:spPr>
          <p:txBody>
            <a:bodyPr lIns="0" tIns="0" rIns="0" bIns="0" rtlCol="0" anchor="ctr"/>
            <a:lstStyle/>
            <a:p>
              <a:pPr algn="l">
                <a:lnSpc>
                  <a:spcPts val="1800"/>
                </a:lnSpc>
              </a:pPr>
              <a:r>
                <a:rPr lang="en-US" sz="1500">
                  <a:solidFill>
                    <a:srgbClr val="5B6B72"/>
                  </a:solidFill>
                  <a:latin typeface="Calibri (MS)"/>
                  <a:ea typeface="Calibri (MS)"/>
                  <a:cs typeface="Calibri (MS)"/>
                  <a:sym typeface="Calibri (MS)"/>
                </a:rPr>
                <a:t>Deterministic retrieval combined with creative synthesis, offline fallback included</a:t>
              </a:r>
            </a:p>
          </p:txBody>
        </p:sp>
      </p:grpSp>
      <p:grpSp>
        <p:nvGrpSpPr>
          <p:cNvPr id="63" name="Group 63"/>
          <p:cNvGrpSpPr/>
          <p:nvPr/>
        </p:nvGrpSpPr>
        <p:grpSpPr>
          <a:xfrm>
            <a:off x="822960" y="6336792"/>
            <a:ext cx="16596360" cy="864108"/>
            <a:chOff x="0" y="0"/>
            <a:chExt cx="22128480" cy="1152144"/>
          </a:xfrm>
        </p:grpSpPr>
        <p:sp>
          <p:nvSpPr>
            <p:cNvPr id="64" name="Freeform 64"/>
            <p:cNvSpPr/>
            <p:nvPr/>
          </p:nvSpPr>
          <p:spPr>
            <a:xfrm>
              <a:off x="0" y="0"/>
              <a:ext cx="22128480" cy="1152144"/>
            </a:xfrm>
            <a:custGeom>
              <a:avLst/>
              <a:gdLst/>
              <a:ahLst/>
              <a:cxnLst/>
              <a:rect l="l" t="t" r="r" b="b"/>
              <a:pathLst>
                <a:path w="22128480" h="1152144">
                  <a:moveTo>
                    <a:pt x="0" y="0"/>
                  </a:moveTo>
                  <a:lnTo>
                    <a:pt x="22128480" y="0"/>
                  </a:lnTo>
                  <a:lnTo>
                    <a:pt x="22128480" y="1152144"/>
                  </a:lnTo>
                  <a:lnTo>
                    <a:pt x="0" y="1152144"/>
                  </a:lnTo>
                  <a:close/>
                </a:path>
              </a:pathLst>
            </a:custGeom>
            <a:solidFill>
              <a:srgbClr val="FFFFFF"/>
            </a:solidFill>
          </p:spPr>
          <p:txBody>
            <a:bodyPr/>
            <a:lstStyle/>
            <a:p>
              <a:endParaRPr lang="en-US"/>
            </a:p>
          </p:txBody>
        </p:sp>
      </p:grpSp>
      <p:grpSp>
        <p:nvGrpSpPr>
          <p:cNvPr id="65" name="Group 65"/>
          <p:cNvGrpSpPr/>
          <p:nvPr/>
        </p:nvGrpSpPr>
        <p:grpSpPr>
          <a:xfrm>
            <a:off x="1028700" y="6336792"/>
            <a:ext cx="3566160" cy="864108"/>
            <a:chOff x="0" y="0"/>
            <a:chExt cx="4754880" cy="1152144"/>
          </a:xfrm>
        </p:grpSpPr>
        <p:sp>
          <p:nvSpPr>
            <p:cNvPr id="66" name="Freeform 66"/>
            <p:cNvSpPr/>
            <p:nvPr/>
          </p:nvSpPr>
          <p:spPr>
            <a:xfrm>
              <a:off x="0" y="0"/>
              <a:ext cx="4754880" cy="1152144"/>
            </a:xfrm>
            <a:custGeom>
              <a:avLst/>
              <a:gdLst/>
              <a:ahLst/>
              <a:cxnLst/>
              <a:rect l="l" t="t" r="r" b="b"/>
              <a:pathLst>
                <a:path w="4754880" h="1152144">
                  <a:moveTo>
                    <a:pt x="0" y="0"/>
                  </a:moveTo>
                  <a:lnTo>
                    <a:pt x="4754880" y="0"/>
                  </a:lnTo>
                  <a:lnTo>
                    <a:pt x="4754880" y="1152144"/>
                  </a:lnTo>
                  <a:lnTo>
                    <a:pt x="0" y="1152144"/>
                  </a:lnTo>
                  <a:close/>
                </a:path>
              </a:pathLst>
            </a:custGeom>
            <a:blipFill>
              <a:blip r:embed="rId3">
                <a:alphaModFix amt="0"/>
              </a:blip>
              <a:stretch>
                <a:fillRect t="-30414" b="-30414"/>
              </a:stretch>
            </a:blipFill>
          </p:spPr>
          <p:txBody>
            <a:bodyPr/>
            <a:lstStyle/>
            <a:p>
              <a:endParaRPr lang="en-US"/>
            </a:p>
          </p:txBody>
        </p:sp>
        <p:sp>
          <p:nvSpPr>
            <p:cNvPr id="67" name="TextBox 67"/>
            <p:cNvSpPr txBox="1"/>
            <p:nvPr/>
          </p:nvSpPr>
          <p:spPr>
            <a:xfrm>
              <a:off x="0" y="-19050"/>
              <a:ext cx="4754880" cy="1171194"/>
            </a:xfrm>
            <a:prstGeom prst="rect">
              <a:avLst/>
            </a:prstGeom>
          </p:spPr>
          <p:txBody>
            <a:bodyPr lIns="0" tIns="0" rIns="0" bIns="0" rtlCol="0" anchor="ctr"/>
            <a:lstStyle/>
            <a:p>
              <a:pPr algn="l">
                <a:lnSpc>
                  <a:spcPts val="1889"/>
                </a:lnSpc>
              </a:pPr>
              <a:r>
                <a:rPr lang="en-US" sz="1575" b="1">
                  <a:solidFill>
                    <a:srgbClr val="0D1B2A"/>
                  </a:solidFill>
                  <a:latin typeface="Calibri (MS) Bold"/>
                  <a:ea typeface="Calibri (MS) Bold"/>
                  <a:cs typeface="Calibri (MS) Bold"/>
                  <a:sym typeface="Calibri (MS) Bold"/>
                </a:rPr>
                <a:t>Async diagnostics</a:t>
              </a:r>
            </a:p>
          </p:txBody>
        </p:sp>
      </p:grpSp>
      <p:grpSp>
        <p:nvGrpSpPr>
          <p:cNvPr id="68" name="Group 68"/>
          <p:cNvGrpSpPr/>
          <p:nvPr/>
        </p:nvGrpSpPr>
        <p:grpSpPr>
          <a:xfrm>
            <a:off x="4869180" y="6336792"/>
            <a:ext cx="3566160" cy="864108"/>
            <a:chOff x="0" y="0"/>
            <a:chExt cx="4754880" cy="1152144"/>
          </a:xfrm>
        </p:grpSpPr>
        <p:sp>
          <p:nvSpPr>
            <p:cNvPr id="69" name="Freeform 69"/>
            <p:cNvSpPr/>
            <p:nvPr/>
          </p:nvSpPr>
          <p:spPr>
            <a:xfrm>
              <a:off x="0" y="0"/>
              <a:ext cx="4754880" cy="1152144"/>
            </a:xfrm>
            <a:custGeom>
              <a:avLst/>
              <a:gdLst/>
              <a:ahLst/>
              <a:cxnLst/>
              <a:rect l="l" t="t" r="r" b="b"/>
              <a:pathLst>
                <a:path w="4754880" h="1152144">
                  <a:moveTo>
                    <a:pt x="0" y="0"/>
                  </a:moveTo>
                  <a:lnTo>
                    <a:pt x="4754880" y="0"/>
                  </a:lnTo>
                  <a:lnTo>
                    <a:pt x="4754880" y="1152144"/>
                  </a:lnTo>
                  <a:lnTo>
                    <a:pt x="0" y="1152144"/>
                  </a:lnTo>
                  <a:close/>
                </a:path>
              </a:pathLst>
            </a:custGeom>
            <a:blipFill>
              <a:blip r:embed="rId3">
                <a:alphaModFix amt="0"/>
              </a:blip>
              <a:stretch>
                <a:fillRect t="-30414" b="-30414"/>
              </a:stretch>
            </a:blipFill>
          </p:spPr>
          <p:txBody>
            <a:bodyPr/>
            <a:lstStyle/>
            <a:p>
              <a:endParaRPr lang="en-US"/>
            </a:p>
          </p:txBody>
        </p:sp>
        <p:sp>
          <p:nvSpPr>
            <p:cNvPr id="70" name="TextBox 70"/>
            <p:cNvSpPr txBox="1"/>
            <p:nvPr/>
          </p:nvSpPr>
          <p:spPr>
            <a:xfrm>
              <a:off x="0" y="-38100"/>
              <a:ext cx="4754880" cy="1190244"/>
            </a:xfrm>
            <a:prstGeom prst="rect">
              <a:avLst/>
            </a:prstGeom>
          </p:spPr>
          <p:txBody>
            <a:bodyPr lIns="0" tIns="0" rIns="0" bIns="0" rtlCol="0" anchor="ctr"/>
            <a:lstStyle/>
            <a:p>
              <a:pPr algn="l">
                <a:lnSpc>
                  <a:spcPts val="1800"/>
                </a:lnSpc>
              </a:pPr>
              <a:r>
                <a:rPr lang="en-US" sz="1500" b="1">
                  <a:solidFill>
                    <a:srgbClr val="40916C"/>
                  </a:solidFill>
                  <a:latin typeface="Calibri (MS) Bold"/>
                  <a:ea typeface="Calibri (MS) Bold"/>
                  <a:cs typeface="Calibri (MS) Bold"/>
                  <a:sym typeface="Calibri (MS) Bold"/>
                </a:rPr>
                <a:t>run_in_threadpool</a:t>
              </a:r>
            </a:p>
          </p:txBody>
        </p:sp>
      </p:grpSp>
      <p:grpSp>
        <p:nvGrpSpPr>
          <p:cNvPr id="71" name="Group 71"/>
          <p:cNvGrpSpPr/>
          <p:nvPr/>
        </p:nvGrpSpPr>
        <p:grpSpPr>
          <a:xfrm>
            <a:off x="8641080" y="6336792"/>
            <a:ext cx="8503920" cy="864108"/>
            <a:chOff x="0" y="0"/>
            <a:chExt cx="11338560" cy="1152144"/>
          </a:xfrm>
        </p:grpSpPr>
        <p:sp>
          <p:nvSpPr>
            <p:cNvPr id="72" name="Freeform 72"/>
            <p:cNvSpPr/>
            <p:nvPr/>
          </p:nvSpPr>
          <p:spPr>
            <a:xfrm>
              <a:off x="0" y="0"/>
              <a:ext cx="11338560" cy="1152144"/>
            </a:xfrm>
            <a:custGeom>
              <a:avLst/>
              <a:gdLst/>
              <a:ahLst/>
              <a:cxnLst/>
              <a:rect l="l" t="t" r="r" b="b"/>
              <a:pathLst>
                <a:path w="11338560" h="1152144">
                  <a:moveTo>
                    <a:pt x="0" y="0"/>
                  </a:moveTo>
                  <a:lnTo>
                    <a:pt x="11338560" y="0"/>
                  </a:lnTo>
                  <a:lnTo>
                    <a:pt x="11338560" y="1152144"/>
                  </a:lnTo>
                  <a:lnTo>
                    <a:pt x="0" y="1152144"/>
                  </a:lnTo>
                  <a:close/>
                </a:path>
              </a:pathLst>
            </a:custGeom>
            <a:blipFill>
              <a:blip r:embed="rId3">
                <a:alphaModFix amt="0"/>
              </a:blip>
              <a:stretch>
                <a:fillRect t="-141757" b="-141757"/>
              </a:stretch>
            </a:blipFill>
          </p:spPr>
          <p:txBody>
            <a:bodyPr/>
            <a:lstStyle/>
            <a:p>
              <a:endParaRPr lang="en-US"/>
            </a:p>
          </p:txBody>
        </p:sp>
        <p:sp>
          <p:nvSpPr>
            <p:cNvPr id="73" name="TextBox 73"/>
            <p:cNvSpPr txBox="1"/>
            <p:nvPr/>
          </p:nvSpPr>
          <p:spPr>
            <a:xfrm>
              <a:off x="0" y="-38100"/>
              <a:ext cx="11338560" cy="1190244"/>
            </a:xfrm>
            <a:prstGeom prst="rect">
              <a:avLst/>
            </a:prstGeom>
          </p:spPr>
          <p:txBody>
            <a:bodyPr lIns="0" tIns="0" rIns="0" bIns="0" rtlCol="0" anchor="ctr"/>
            <a:lstStyle/>
            <a:p>
              <a:pPr algn="l">
                <a:lnSpc>
                  <a:spcPts val="1800"/>
                </a:lnSpc>
              </a:pPr>
              <a:r>
                <a:rPr lang="en-US" sz="1500">
                  <a:solidFill>
                    <a:srgbClr val="5B6B72"/>
                  </a:solidFill>
                  <a:latin typeface="Calibri (MS)"/>
                  <a:ea typeface="Calibri (MS)"/>
                  <a:cs typeface="Calibri (MS)"/>
                  <a:sym typeface="Calibri (MS)"/>
                </a:rPr>
                <a:t>Keeps the event loop unblocked while sklearn/ONNX inference runs synchronously</a:t>
              </a:r>
            </a:p>
          </p:txBody>
        </p:sp>
      </p:grpSp>
      <p:grpSp>
        <p:nvGrpSpPr>
          <p:cNvPr id="74" name="Group 74"/>
          <p:cNvGrpSpPr/>
          <p:nvPr/>
        </p:nvGrpSpPr>
        <p:grpSpPr>
          <a:xfrm>
            <a:off x="822960" y="7200900"/>
            <a:ext cx="16596360" cy="864108"/>
            <a:chOff x="0" y="0"/>
            <a:chExt cx="22128480" cy="1152144"/>
          </a:xfrm>
        </p:grpSpPr>
        <p:sp>
          <p:nvSpPr>
            <p:cNvPr id="75" name="Freeform 75"/>
            <p:cNvSpPr/>
            <p:nvPr/>
          </p:nvSpPr>
          <p:spPr>
            <a:xfrm>
              <a:off x="0" y="0"/>
              <a:ext cx="22128480" cy="1152144"/>
            </a:xfrm>
            <a:custGeom>
              <a:avLst/>
              <a:gdLst/>
              <a:ahLst/>
              <a:cxnLst/>
              <a:rect l="l" t="t" r="r" b="b"/>
              <a:pathLst>
                <a:path w="22128480" h="1152144">
                  <a:moveTo>
                    <a:pt x="0" y="0"/>
                  </a:moveTo>
                  <a:lnTo>
                    <a:pt x="22128480" y="0"/>
                  </a:lnTo>
                  <a:lnTo>
                    <a:pt x="22128480" y="1152144"/>
                  </a:lnTo>
                  <a:lnTo>
                    <a:pt x="0" y="1152144"/>
                  </a:lnTo>
                  <a:close/>
                </a:path>
              </a:pathLst>
            </a:custGeom>
            <a:solidFill>
              <a:srgbClr val="EAF2ED"/>
            </a:solidFill>
          </p:spPr>
          <p:txBody>
            <a:bodyPr/>
            <a:lstStyle/>
            <a:p>
              <a:endParaRPr lang="en-US"/>
            </a:p>
          </p:txBody>
        </p:sp>
      </p:grpSp>
      <p:grpSp>
        <p:nvGrpSpPr>
          <p:cNvPr id="76" name="Group 76"/>
          <p:cNvGrpSpPr/>
          <p:nvPr/>
        </p:nvGrpSpPr>
        <p:grpSpPr>
          <a:xfrm>
            <a:off x="1028700" y="7200900"/>
            <a:ext cx="3566160" cy="864108"/>
            <a:chOff x="0" y="0"/>
            <a:chExt cx="4754880" cy="1152144"/>
          </a:xfrm>
        </p:grpSpPr>
        <p:sp>
          <p:nvSpPr>
            <p:cNvPr id="77" name="Freeform 77"/>
            <p:cNvSpPr/>
            <p:nvPr/>
          </p:nvSpPr>
          <p:spPr>
            <a:xfrm>
              <a:off x="0" y="0"/>
              <a:ext cx="4754880" cy="1152144"/>
            </a:xfrm>
            <a:custGeom>
              <a:avLst/>
              <a:gdLst/>
              <a:ahLst/>
              <a:cxnLst/>
              <a:rect l="l" t="t" r="r" b="b"/>
              <a:pathLst>
                <a:path w="4754880" h="1152144">
                  <a:moveTo>
                    <a:pt x="0" y="0"/>
                  </a:moveTo>
                  <a:lnTo>
                    <a:pt x="4754880" y="0"/>
                  </a:lnTo>
                  <a:lnTo>
                    <a:pt x="4754880" y="1152144"/>
                  </a:lnTo>
                  <a:lnTo>
                    <a:pt x="0" y="1152144"/>
                  </a:lnTo>
                  <a:close/>
                </a:path>
              </a:pathLst>
            </a:custGeom>
            <a:blipFill>
              <a:blip r:embed="rId3">
                <a:alphaModFix amt="0"/>
              </a:blip>
              <a:stretch>
                <a:fillRect t="-30414" b="-30414"/>
              </a:stretch>
            </a:blipFill>
          </p:spPr>
          <p:txBody>
            <a:bodyPr/>
            <a:lstStyle/>
            <a:p>
              <a:endParaRPr lang="en-US"/>
            </a:p>
          </p:txBody>
        </p:sp>
        <p:sp>
          <p:nvSpPr>
            <p:cNvPr id="78" name="TextBox 78"/>
            <p:cNvSpPr txBox="1"/>
            <p:nvPr/>
          </p:nvSpPr>
          <p:spPr>
            <a:xfrm>
              <a:off x="0" y="-19050"/>
              <a:ext cx="4754880" cy="1171194"/>
            </a:xfrm>
            <a:prstGeom prst="rect">
              <a:avLst/>
            </a:prstGeom>
          </p:spPr>
          <p:txBody>
            <a:bodyPr lIns="0" tIns="0" rIns="0" bIns="0" rtlCol="0" anchor="ctr"/>
            <a:lstStyle/>
            <a:p>
              <a:pPr algn="l">
                <a:lnSpc>
                  <a:spcPts val="1889"/>
                </a:lnSpc>
              </a:pPr>
              <a:r>
                <a:rPr lang="en-US" sz="1575" b="1">
                  <a:solidFill>
                    <a:srgbClr val="0D1B2A"/>
                  </a:solidFill>
                  <a:latin typeface="Calibri (MS) Bold"/>
                  <a:ea typeface="Calibri (MS) Bold"/>
                  <a:cs typeface="Calibri (MS) Bold"/>
                  <a:sym typeface="Calibri (MS) Bold"/>
                </a:rPr>
                <a:t>Solar daylight gate</a:t>
              </a:r>
            </a:p>
          </p:txBody>
        </p:sp>
      </p:grpSp>
      <p:grpSp>
        <p:nvGrpSpPr>
          <p:cNvPr id="79" name="Group 79"/>
          <p:cNvGrpSpPr/>
          <p:nvPr/>
        </p:nvGrpSpPr>
        <p:grpSpPr>
          <a:xfrm>
            <a:off x="4869180" y="7200900"/>
            <a:ext cx="3566160" cy="864108"/>
            <a:chOff x="0" y="0"/>
            <a:chExt cx="4754880" cy="1152144"/>
          </a:xfrm>
        </p:grpSpPr>
        <p:sp>
          <p:nvSpPr>
            <p:cNvPr id="80" name="Freeform 80"/>
            <p:cNvSpPr/>
            <p:nvPr/>
          </p:nvSpPr>
          <p:spPr>
            <a:xfrm>
              <a:off x="0" y="0"/>
              <a:ext cx="4754880" cy="1152144"/>
            </a:xfrm>
            <a:custGeom>
              <a:avLst/>
              <a:gdLst/>
              <a:ahLst/>
              <a:cxnLst/>
              <a:rect l="l" t="t" r="r" b="b"/>
              <a:pathLst>
                <a:path w="4754880" h="1152144">
                  <a:moveTo>
                    <a:pt x="0" y="0"/>
                  </a:moveTo>
                  <a:lnTo>
                    <a:pt x="4754880" y="0"/>
                  </a:lnTo>
                  <a:lnTo>
                    <a:pt x="4754880" y="1152144"/>
                  </a:lnTo>
                  <a:lnTo>
                    <a:pt x="0" y="1152144"/>
                  </a:lnTo>
                  <a:close/>
                </a:path>
              </a:pathLst>
            </a:custGeom>
            <a:blipFill>
              <a:blip r:embed="rId3">
                <a:alphaModFix amt="0"/>
              </a:blip>
              <a:stretch>
                <a:fillRect t="-30414" b="-30414"/>
              </a:stretch>
            </a:blipFill>
          </p:spPr>
          <p:txBody>
            <a:bodyPr/>
            <a:lstStyle/>
            <a:p>
              <a:endParaRPr lang="en-US"/>
            </a:p>
          </p:txBody>
        </p:sp>
        <p:sp>
          <p:nvSpPr>
            <p:cNvPr id="81" name="TextBox 81"/>
            <p:cNvSpPr txBox="1"/>
            <p:nvPr/>
          </p:nvSpPr>
          <p:spPr>
            <a:xfrm>
              <a:off x="0" y="-38100"/>
              <a:ext cx="4754880" cy="1190244"/>
            </a:xfrm>
            <a:prstGeom prst="rect">
              <a:avLst/>
            </a:prstGeom>
          </p:spPr>
          <p:txBody>
            <a:bodyPr lIns="0" tIns="0" rIns="0" bIns="0" rtlCol="0" anchor="ctr"/>
            <a:lstStyle/>
            <a:p>
              <a:pPr algn="l">
                <a:lnSpc>
                  <a:spcPts val="1800"/>
                </a:lnSpc>
              </a:pPr>
              <a:r>
                <a:rPr lang="en-US" sz="1500" b="1">
                  <a:solidFill>
                    <a:srgbClr val="40916C"/>
                  </a:solidFill>
                  <a:latin typeface="Calibri (MS) Bold"/>
                  <a:ea typeface="Calibri (MS) Bold"/>
                  <a:cs typeface="Calibri (MS) Bold"/>
                  <a:sym typeface="Calibri (MS) Bold"/>
                </a:rPr>
                <a:t>Hour-based zero output</a:t>
              </a:r>
            </a:p>
          </p:txBody>
        </p:sp>
      </p:grpSp>
      <p:grpSp>
        <p:nvGrpSpPr>
          <p:cNvPr id="82" name="Group 82"/>
          <p:cNvGrpSpPr/>
          <p:nvPr/>
        </p:nvGrpSpPr>
        <p:grpSpPr>
          <a:xfrm>
            <a:off x="8641080" y="7200900"/>
            <a:ext cx="8503920" cy="864108"/>
            <a:chOff x="0" y="0"/>
            <a:chExt cx="11338560" cy="1152144"/>
          </a:xfrm>
        </p:grpSpPr>
        <p:sp>
          <p:nvSpPr>
            <p:cNvPr id="83" name="Freeform 83"/>
            <p:cNvSpPr/>
            <p:nvPr/>
          </p:nvSpPr>
          <p:spPr>
            <a:xfrm>
              <a:off x="0" y="0"/>
              <a:ext cx="11338560" cy="1152144"/>
            </a:xfrm>
            <a:custGeom>
              <a:avLst/>
              <a:gdLst/>
              <a:ahLst/>
              <a:cxnLst/>
              <a:rect l="l" t="t" r="r" b="b"/>
              <a:pathLst>
                <a:path w="11338560" h="1152144">
                  <a:moveTo>
                    <a:pt x="0" y="0"/>
                  </a:moveTo>
                  <a:lnTo>
                    <a:pt x="11338560" y="0"/>
                  </a:lnTo>
                  <a:lnTo>
                    <a:pt x="11338560" y="1152144"/>
                  </a:lnTo>
                  <a:lnTo>
                    <a:pt x="0" y="1152144"/>
                  </a:lnTo>
                  <a:close/>
                </a:path>
              </a:pathLst>
            </a:custGeom>
            <a:blipFill>
              <a:blip r:embed="rId3">
                <a:alphaModFix amt="0"/>
              </a:blip>
              <a:stretch>
                <a:fillRect t="-141757" b="-141757"/>
              </a:stretch>
            </a:blipFill>
          </p:spPr>
          <p:txBody>
            <a:bodyPr/>
            <a:lstStyle/>
            <a:p>
              <a:endParaRPr lang="en-US"/>
            </a:p>
          </p:txBody>
        </p:sp>
        <p:sp>
          <p:nvSpPr>
            <p:cNvPr id="84" name="TextBox 84"/>
            <p:cNvSpPr txBox="1"/>
            <p:nvPr/>
          </p:nvSpPr>
          <p:spPr>
            <a:xfrm>
              <a:off x="0" y="-38100"/>
              <a:ext cx="11338560" cy="1190244"/>
            </a:xfrm>
            <a:prstGeom prst="rect">
              <a:avLst/>
            </a:prstGeom>
          </p:spPr>
          <p:txBody>
            <a:bodyPr lIns="0" tIns="0" rIns="0" bIns="0" rtlCol="0" anchor="ctr"/>
            <a:lstStyle/>
            <a:p>
              <a:pPr algn="l">
                <a:lnSpc>
                  <a:spcPts val="1800"/>
                </a:lnSpc>
              </a:pPr>
              <a:r>
                <a:rPr lang="en-US" sz="1500">
                  <a:solidFill>
                    <a:srgbClr val="5B6B72"/>
                  </a:solidFill>
                  <a:latin typeface="Calibri (MS)"/>
                  <a:ea typeface="Calibri (MS)"/>
                  <a:cs typeface="Calibri (MS)"/>
                  <a:sym typeface="Calibri (MS)"/>
                </a:rPr>
                <a:t>Prevents spurious nighttime solar predictions from the Transformer model</a:t>
              </a:r>
            </a:p>
          </p:txBody>
        </p:sp>
      </p:grpSp>
      <p:grpSp>
        <p:nvGrpSpPr>
          <p:cNvPr id="85" name="Group 85"/>
          <p:cNvGrpSpPr/>
          <p:nvPr/>
        </p:nvGrpSpPr>
        <p:grpSpPr>
          <a:xfrm>
            <a:off x="822960" y="8065008"/>
            <a:ext cx="16596360" cy="864108"/>
            <a:chOff x="0" y="0"/>
            <a:chExt cx="22128480" cy="1152144"/>
          </a:xfrm>
        </p:grpSpPr>
        <p:sp>
          <p:nvSpPr>
            <p:cNvPr id="86" name="Freeform 86"/>
            <p:cNvSpPr/>
            <p:nvPr/>
          </p:nvSpPr>
          <p:spPr>
            <a:xfrm>
              <a:off x="0" y="0"/>
              <a:ext cx="22128480" cy="1152144"/>
            </a:xfrm>
            <a:custGeom>
              <a:avLst/>
              <a:gdLst/>
              <a:ahLst/>
              <a:cxnLst/>
              <a:rect l="l" t="t" r="r" b="b"/>
              <a:pathLst>
                <a:path w="22128480" h="1152144">
                  <a:moveTo>
                    <a:pt x="0" y="0"/>
                  </a:moveTo>
                  <a:lnTo>
                    <a:pt x="22128480" y="0"/>
                  </a:lnTo>
                  <a:lnTo>
                    <a:pt x="22128480" y="1152144"/>
                  </a:lnTo>
                  <a:lnTo>
                    <a:pt x="0" y="1152144"/>
                  </a:lnTo>
                  <a:close/>
                </a:path>
              </a:pathLst>
            </a:custGeom>
            <a:solidFill>
              <a:srgbClr val="FFFFFF"/>
            </a:solidFill>
          </p:spPr>
          <p:txBody>
            <a:bodyPr/>
            <a:lstStyle/>
            <a:p>
              <a:endParaRPr lang="en-US"/>
            </a:p>
          </p:txBody>
        </p:sp>
      </p:grpSp>
      <p:grpSp>
        <p:nvGrpSpPr>
          <p:cNvPr id="87" name="Group 87"/>
          <p:cNvGrpSpPr/>
          <p:nvPr/>
        </p:nvGrpSpPr>
        <p:grpSpPr>
          <a:xfrm>
            <a:off x="1028700" y="8065008"/>
            <a:ext cx="3566160" cy="864108"/>
            <a:chOff x="0" y="0"/>
            <a:chExt cx="4754880" cy="1152144"/>
          </a:xfrm>
        </p:grpSpPr>
        <p:sp>
          <p:nvSpPr>
            <p:cNvPr id="88" name="Freeform 88"/>
            <p:cNvSpPr/>
            <p:nvPr/>
          </p:nvSpPr>
          <p:spPr>
            <a:xfrm>
              <a:off x="0" y="0"/>
              <a:ext cx="4754880" cy="1152144"/>
            </a:xfrm>
            <a:custGeom>
              <a:avLst/>
              <a:gdLst/>
              <a:ahLst/>
              <a:cxnLst/>
              <a:rect l="l" t="t" r="r" b="b"/>
              <a:pathLst>
                <a:path w="4754880" h="1152144">
                  <a:moveTo>
                    <a:pt x="0" y="0"/>
                  </a:moveTo>
                  <a:lnTo>
                    <a:pt x="4754880" y="0"/>
                  </a:lnTo>
                  <a:lnTo>
                    <a:pt x="4754880" y="1152144"/>
                  </a:lnTo>
                  <a:lnTo>
                    <a:pt x="0" y="1152144"/>
                  </a:lnTo>
                  <a:close/>
                </a:path>
              </a:pathLst>
            </a:custGeom>
            <a:blipFill>
              <a:blip r:embed="rId3">
                <a:alphaModFix amt="0"/>
              </a:blip>
              <a:stretch>
                <a:fillRect t="-30414" b="-30414"/>
              </a:stretch>
            </a:blipFill>
          </p:spPr>
          <p:txBody>
            <a:bodyPr/>
            <a:lstStyle/>
            <a:p>
              <a:endParaRPr lang="en-US"/>
            </a:p>
          </p:txBody>
        </p:sp>
        <p:sp>
          <p:nvSpPr>
            <p:cNvPr id="89" name="TextBox 89"/>
            <p:cNvSpPr txBox="1"/>
            <p:nvPr/>
          </p:nvSpPr>
          <p:spPr>
            <a:xfrm>
              <a:off x="0" y="-19050"/>
              <a:ext cx="4754880" cy="1171194"/>
            </a:xfrm>
            <a:prstGeom prst="rect">
              <a:avLst/>
            </a:prstGeom>
          </p:spPr>
          <p:txBody>
            <a:bodyPr lIns="0" tIns="0" rIns="0" bIns="0" rtlCol="0" anchor="ctr"/>
            <a:lstStyle/>
            <a:p>
              <a:pPr algn="l">
                <a:lnSpc>
                  <a:spcPts val="1889"/>
                </a:lnSpc>
              </a:pPr>
              <a:r>
                <a:rPr lang="en-US" sz="1575" b="1">
                  <a:solidFill>
                    <a:srgbClr val="0D1B2A"/>
                  </a:solidFill>
                  <a:latin typeface="Calibri (MS) Bold"/>
                  <a:ea typeface="Calibri (MS) Bold"/>
                  <a:cs typeface="Calibri (MS) Bold"/>
                  <a:sym typeface="Calibri (MS) Bold"/>
                </a:rPr>
                <a:t>Chaos injection</a:t>
              </a:r>
            </a:p>
          </p:txBody>
        </p:sp>
      </p:grpSp>
      <p:grpSp>
        <p:nvGrpSpPr>
          <p:cNvPr id="90" name="Group 90"/>
          <p:cNvGrpSpPr/>
          <p:nvPr/>
        </p:nvGrpSpPr>
        <p:grpSpPr>
          <a:xfrm>
            <a:off x="4869180" y="8065008"/>
            <a:ext cx="3566160" cy="864108"/>
            <a:chOff x="0" y="0"/>
            <a:chExt cx="4754880" cy="1152144"/>
          </a:xfrm>
        </p:grpSpPr>
        <p:sp>
          <p:nvSpPr>
            <p:cNvPr id="91" name="Freeform 91"/>
            <p:cNvSpPr/>
            <p:nvPr/>
          </p:nvSpPr>
          <p:spPr>
            <a:xfrm>
              <a:off x="0" y="0"/>
              <a:ext cx="4754880" cy="1152144"/>
            </a:xfrm>
            <a:custGeom>
              <a:avLst/>
              <a:gdLst/>
              <a:ahLst/>
              <a:cxnLst/>
              <a:rect l="l" t="t" r="r" b="b"/>
              <a:pathLst>
                <a:path w="4754880" h="1152144">
                  <a:moveTo>
                    <a:pt x="0" y="0"/>
                  </a:moveTo>
                  <a:lnTo>
                    <a:pt x="4754880" y="0"/>
                  </a:lnTo>
                  <a:lnTo>
                    <a:pt x="4754880" y="1152144"/>
                  </a:lnTo>
                  <a:lnTo>
                    <a:pt x="0" y="1152144"/>
                  </a:lnTo>
                  <a:close/>
                </a:path>
              </a:pathLst>
            </a:custGeom>
            <a:blipFill>
              <a:blip r:embed="rId3">
                <a:alphaModFix amt="0"/>
              </a:blip>
              <a:stretch>
                <a:fillRect t="-30414" b="-30414"/>
              </a:stretch>
            </a:blipFill>
          </p:spPr>
          <p:txBody>
            <a:bodyPr/>
            <a:lstStyle/>
            <a:p>
              <a:endParaRPr lang="en-US"/>
            </a:p>
          </p:txBody>
        </p:sp>
        <p:sp>
          <p:nvSpPr>
            <p:cNvPr id="92" name="TextBox 92"/>
            <p:cNvSpPr txBox="1"/>
            <p:nvPr/>
          </p:nvSpPr>
          <p:spPr>
            <a:xfrm>
              <a:off x="0" y="-38100"/>
              <a:ext cx="4754880" cy="1190244"/>
            </a:xfrm>
            <a:prstGeom prst="rect">
              <a:avLst/>
            </a:prstGeom>
          </p:spPr>
          <p:txBody>
            <a:bodyPr lIns="0" tIns="0" rIns="0" bIns="0" rtlCol="0" anchor="ctr"/>
            <a:lstStyle/>
            <a:p>
              <a:pPr algn="l">
                <a:lnSpc>
                  <a:spcPts val="1800"/>
                </a:lnSpc>
              </a:pPr>
              <a:r>
                <a:rPr lang="en-US" sz="1500" b="1">
                  <a:solidFill>
                    <a:srgbClr val="40916C"/>
                  </a:solidFill>
                  <a:latin typeface="Calibri (MS) Bold"/>
                  <a:ea typeface="Calibri (MS) Bold"/>
                  <a:cs typeface="Calibri (MS) Bold"/>
                  <a:sym typeface="Calibri (MS) Bold"/>
                </a:rPr>
                <a:t>Future-timestamped row</a:t>
              </a:r>
            </a:p>
          </p:txBody>
        </p:sp>
      </p:grpSp>
      <p:grpSp>
        <p:nvGrpSpPr>
          <p:cNvPr id="93" name="Group 93"/>
          <p:cNvGrpSpPr/>
          <p:nvPr/>
        </p:nvGrpSpPr>
        <p:grpSpPr>
          <a:xfrm>
            <a:off x="8641080" y="8065008"/>
            <a:ext cx="8503920" cy="864108"/>
            <a:chOff x="0" y="0"/>
            <a:chExt cx="11338560" cy="1152144"/>
          </a:xfrm>
        </p:grpSpPr>
        <p:sp>
          <p:nvSpPr>
            <p:cNvPr id="94" name="Freeform 94"/>
            <p:cNvSpPr/>
            <p:nvPr/>
          </p:nvSpPr>
          <p:spPr>
            <a:xfrm>
              <a:off x="0" y="0"/>
              <a:ext cx="11338560" cy="1152144"/>
            </a:xfrm>
            <a:custGeom>
              <a:avLst/>
              <a:gdLst/>
              <a:ahLst/>
              <a:cxnLst/>
              <a:rect l="l" t="t" r="r" b="b"/>
              <a:pathLst>
                <a:path w="11338560" h="1152144">
                  <a:moveTo>
                    <a:pt x="0" y="0"/>
                  </a:moveTo>
                  <a:lnTo>
                    <a:pt x="11338560" y="0"/>
                  </a:lnTo>
                  <a:lnTo>
                    <a:pt x="11338560" y="1152144"/>
                  </a:lnTo>
                  <a:lnTo>
                    <a:pt x="0" y="1152144"/>
                  </a:lnTo>
                  <a:close/>
                </a:path>
              </a:pathLst>
            </a:custGeom>
            <a:blipFill>
              <a:blip r:embed="rId3">
                <a:alphaModFix amt="0"/>
              </a:blip>
              <a:stretch>
                <a:fillRect t="-141757" b="-141757"/>
              </a:stretch>
            </a:blipFill>
          </p:spPr>
          <p:txBody>
            <a:bodyPr/>
            <a:lstStyle/>
            <a:p>
              <a:endParaRPr lang="en-US"/>
            </a:p>
          </p:txBody>
        </p:sp>
        <p:sp>
          <p:nvSpPr>
            <p:cNvPr id="95" name="TextBox 95"/>
            <p:cNvSpPr txBox="1"/>
            <p:nvPr/>
          </p:nvSpPr>
          <p:spPr>
            <a:xfrm>
              <a:off x="0" y="-38100"/>
              <a:ext cx="11338560" cy="1190244"/>
            </a:xfrm>
            <a:prstGeom prst="rect">
              <a:avLst/>
            </a:prstGeom>
          </p:spPr>
          <p:txBody>
            <a:bodyPr lIns="0" tIns="0" rIns="0" bIns="0" rtlCol="0" anchor="ctr"/>
            <a:lstStyle/>
            <a:p>
              <a:pPr algn="l">
                <a:lnSpc>
                  <a:spcPts val="1800"/>
                </a:lnSpc>
              </a:pPr>
              <a:r>
                <a:rPr lang="en-US" sz="1500">
                  <a:solidFill>
                    <a:srgbClr val="5B6B72"/>
                  </a:solidFill>
                  <a:latin typeface="Calibri (MS)"/>
                  <a:ea typeface="Calibri (MS)"/>
                  <a:cs typeface="Calibri (MS)"/>
                  <a:sym typeface="Calibri (MS)"/>
                </a:rPr>
                <a:t>Guarantees the anomaly is the most-recent record, avoiding race conditions</a:t>
              </a:r>
            </a:p>
          </p:txBody>
        </p:sp>
      </p:grpSp>
      <p:grpSp>
        <p:nvGrpSpPr>
          <p:cNvPr id="96" name="Group 96"/>
          <p:cNvGrpSpPr/>
          <p:nvPr/>
        </p:nvGrpSpPr>
        <p:grpSpPr>
          <a:xfrm>
            <a:off x="17282160" y="9710928"/>
            <a:ext cx="822960" cy="411480"/>
            <a:chOff x="0" y="0"/>
            <a:chExt cx="1097280" cy="548640"/>
          </a:xfrm>
        </p:grpSpPr>
        <p:sp>
          <p:nvSpPr>
            <p:cNvPr id="97" name="Freeform 97"/>
            <p:cNvSpPr/>
            <p:nvPr/>
          </p:nvSpPr>
          <p:spPr>
            <a:xfrm>
              <a:off x="0" y="0"/>
              <a:ext cx="1097280" cy="548640"/>
            </a:xfrm>
            <a:custGeom>
              <a:avLst/>
              <a:gdLst/>
              <a:ahLst/>
              <a:cxnLst/>
              <a:rect l="l" t="t" r="r" b="b"/>
              <a:pathLst>
                <a:path w="1097280" h="548640">
                  <a:moveTo>
                    <a:pt x="0" y="0"/>
                  </a:moveTo>
                  <a:lnTo>
                    <a:pt x="1097280" y="0"/>
                  </a:lnTo>
                  <a:lnTo>
                    <a:pt x="1097280" y="548640"/>
                  </a:lnTo>
                  <a:lnTo>
                    <a:pt x="0" y="548640"/>
                  </a:lnTo>
                  <a:close/>
                </a:path>
              </a:pathLst>
            </a:custGeom>
            <a:blipFill>
              <a:blip r:embed="rId3">
                <a:alphaModFix amt="0"/>
              </a:blip>
              <a:stretch>
                <a:fillRect l="-14151" r="-14151"/>
              </a:stretch>
            </a:blipFill>
          </p:spPr>
          <p:txBody>
            <a:bodyPr/>
            <a:lstStyle/>
            <a:p>
              <a:endParaRPr lang="en-US"/>
            </a:p>
          </p:txBody>
        </p:sp>
        <p:sp>
          <p:nvSpPr>
            <p:cNvPr id="98" name="TextBox 98"/>
            <p:cNvSpPr txBox="1"/>
            <p:nvPr/>
          </p:nvSpPr>
          <p:spPr>
            <a:xfrm>
              <a:off x="0" y="-38100"/>
              <a:ext cx="1097280" cy="586740"/>
            </a:xfrm>
            <a:prstGeom prst="rect">
              <a:avLst/>
            </a:prstGeom>
          </p:spPr>
          <p:txBody>
            <a:bodyPr lIns="0" tIns="0" rIns="0" bIns="0" rtlCol="0" anchor="ctr"/>
            <a:lstStyle/>
            <a:p>
              <a:pPr algn="r">
                <a:lnSpc>
                  <a:spcPts val="1800"/>
                </a:lnSpc>
              </a:pPr>
              <a:r>
                <a:rPr lang="en-US" sz="1500">
                  <a:solidFill>
                    <a:srgbClr val="5B6B72"/>
                  </a:solidFill>
                  <a:latin typeface="Calibri (MS)"/>
                  <a:ea typeface="Calibri (MS)"/>
                  <a:cs typeface="Calibri (MS)"/>
                  <a:sym typeface="Calibri (MS)"/>
                </a:rPr>
                <a:t>17</a:t>
              </a: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5F8F6"/>
        </a:solidFill>
        <a:effectLst/>
      </p:bgPr>
    </p:bg>
    <p:spTree>
      <p:nvGrpSpPr>
        <p:cNvPr id="1" name=""/>
        <p:cNvGrpSpPr/>
        <p:nvPr/>
      </p:nvGrpSpPr>
      <p:grpSpPr>
        <a:xfrm>
          <a:off x="0" y="0"/>
          <a:ext cx="0" cy="0"/>
          <a:chOff x="0" y="0"/>
          <a:chExt cx="0" cy="0"/>
        </a:xfrm>
      </p:grpSpPr>
      <p:grpSp>
        <p:nvGrpSpPr>
          <p:cNvPr id="2" name="Group 2"/>
          <p:cNvGrpSpPr/>
          <p:nvPr/>
        </p:nvGrpSpPr>
        <p:grpSpPr>
          <a:xfrm>
            <a:off x="822960" y="576072"/>
            <a:ext cx="10972800" cy="480060"/>
            <a:chOff x="0" y="0"/>
            <a:chExt cx="14630400" cy="640080"/>
          </a:xfrm>
        </p:grpSpPr>
        <p:sp>
          <p:nvSpPr>
            <p:cNvPr id="3" name="Freeform 3"/>
            <p:cNvSpPr/>
            <p:nvPr/>
          </p:nvSpPr>
          <p:spPr>
            <a:xfrm>
              <a:off x="0" y="0"/>
              <a:ext cx="14630400" cy="640080"/>
            </a:xfrm>
            <a:custGeom>
              <a:avLst/>
              <a:gdLst/>
              <a:ahLst/>
              <a:cxnLst/>
              <a:rect l="l" t="t" r="r" b="b"/>
              <a:pathLst>
                <a:path w="14630400" h="640080">
                  <a:moveTo>
                    <a:pt x="0" y="0"/>
                  </a:moveTo>
                  <a:lnTo>
                    <a:pt x="14630400" y="0"/>
                  </a:lnTo>
                  <a:lnTo>
                    <a:pt x="14630400" y="640080"/>
                  </a:lnTo>
                  <a:lnTo>
                    <a:pt x="0" y="640080"/>
                  </a:lnTo>
                  <a:close/>
                </a:path>
              </a:pathLst>
            </a:custGeom>
            <a:blipFill>
              <a:blip r:embed="rId3">
                <a:alphaModFix amt="0"/>
              </a:blip>
              <a:stretch>
                <a:fillRect t="-395372" b="-395372"/>
              </a:stretch>
            </a:blipFill>
          </p:spPr>
          <p:txBody>
            <a:bodyPr/>
            <a:lstStyle/>
            <a:p>
              <a:endParaRPr lang="en-US"/>
            </a:p>
          </p:txBody>
        </p:sp>
        <p:sp>
          <p:nvSpPr>
            <p:cNvPr id="4" name="TextBox 4"/>
            <p:cNvSpPr txBox="1"/>
            <p:nvPr/>
          </p:nvSpPr>
          <p:spPr>
            <a:xfrm>
              <a:off x="0" y="-38100"/>
              <a:ext cx="14630400" cy="678180"/>
            </a:xfrm>
            <a:prstGeom prst="rect">
              <a:avLst/>
            </a:prstGeom>
          </p:spPr>
          <p:txBody>
            <a:bodyPr lIns="0" tIns="0" rIns="0" bIns="0" rtlCol="0" anchor="ctr"/>
            <a:lstStyle/>
            <a:p>
              <a:pPr algn="l">
                <a:lnSpc>
                  <a:spcPts val="2160"/>
                </a:lnSpc>
              </a:pPr>
              <a:r>
                <a:rPr lang="en-US" sz="1800" b="1" spc="299">
                  <a:solidFill>
                    <a:srgbClr val="40916C"/>
                  </a:solidFill>
                  <a:latin typeface="Calibri (MS) Bold"/>
                  <a:ea typeface="Calibri (MS) Bold"/>
                  <a:cs typeface="Calibri (MS) Bold"/>
                  <a:sym typeface="Calibri (MS) Bold"/>
                </a:rPr>
                <a:t>PART 05 · ENGINEERING &amp; SETUP</a:t>
              </a:r>
            </a:p>
          </p:txBody>
        </p:sp>
      </p:grpSp>
      <p:grpSp>
        <p:nvGrpSpPr>
          <p:cNvPr id="5" name="Group 5"/>
          <p:cNvGrpSpPr/>
          <p:nvPr/>
        </p:nvGrpSpPr>
        <p:grpSpPr>
          <a:xfrm>
            <a:off x="822960" y="987552"/>
            <a:ext cx="15773400" cy="1234440"/>
            <a:chOff x="0" y="0"/>
            <a:chExt cx="21031200" cy="1645920"/>
          </a:xfrm>
        </p:grpSpPr>
        <p:sp>
          <p:nvSpPr>
            <p:cNvPr id="6" name="Freeform 6"/>
            <p:cNvSpPr/>
            <p:nvPr/>
          </p:nvSpPr>
          <p:spPr>
            <a:xfrm>
              <a:off x="0" y="0"/>
              <a:ext cx="21031200" cy="1645920"/>
            </a:xfrm>
            <a:custGeom>
              <a:avLst/>
              <a:gdLst/>
              <a:ahLst/>
              <a:cxnLst/>
              <a:rect l="l" t="t" r="r" b="b"/>
              <a:pathLst>
                <a:path w="21031200" h="1645920">
                  <a:moveTo>
                    <a:pt x="0" y="0"/>
                  </a:moveTo>
                  <a:lnTo>
                    <a:pt x="21031200" y="0"/>
                  </a:lnTo>
                  <a:lnTo>
                    <a:pt x="21031200" y="1645920"/>
                  </a:lnTo>
                  <a:lnTo>
                    <a:pt x="0" y="1645920"/>
                  </a:lnTo>
                  <a:close/>
                </a:path>
              </a:pathLst>
            </a:custGeom>
            <a:blipFill>
              <a:blip r:embed="rId3">
                <a:alphaModFix amt="0"/>
              </a:blip>
              <a:stretch>
                <a:fillRect t="-198975" b="-198975"/>
              </a:stretch>
            </a:blipFill>
          </p:spPr>
          <p:txBody>
            <a:bodyPr/>
            <a:lstStyle/>
            <a:p>
              <a:endParaRPr lang="en-US"/>
            </a:p>
          </p:txBody>
        </p:sp>
        <p:sp>
          <p:nvSpPr>
            <p:cNvPr id="7" name="TextBox 7"/>
            <p:cNvSpPr txBox="1"/>
            <p:nvPr/>
          </p:nvSpPr>
          <p:spPr>
            <a:xfrm>
              <a:off x="0" y="-9525"/>
              <a:ext cx="21031200" cy="1655445"/>
            </a:xfrm>
            <a:prstGeom prst="rect">
              <a:avLst/>
            </a:prstGeom>
          </p:spPr>
          <p:txBody>
            <a:bodyPr lIns="0" tIns="0" rIns="0" bIns="0" rtlCol="0" anchor="ctr"/>
            <a:lstStyle/>
            <a:p>
              <a:pPr algn="l">
                <a:lnSpc>
                  <a:spcPts val="5759"/>
                </a:lnSpc>
              </a:pPr>
              <a:r>
                <a:rPr lang="en-US" sz="4800" b="1">
                  <a:solidFill>
                    <a:srgbClr val="0D1B2A"/>
                  </a:solidFill>
                  <a:latin typeface="Cambria Bold"/>
                  <a:ea typeface="Cambria Bold"/>
                  <a:cs typeface="Cambria Bold"/>
                  <a:sym typeface="Cambria Bold"/>
                </a:rPr>
                <a:t>How to Run the Platform</a:t>
              </a:r>
            </a:p>
          </p:txBody>
        </p:sp>
      </p:grpSp>
      <p:grpSp>
        <p:nvGrpSpPr>
          <p:cNvPr id="8" name="Group 8"/>
          <p:cNvGrpSpPr/>
          <p:nvPr/>
        </p:nvGrpSpPr>
        <p:grpSpPr>
          <a:xfrm>
            <a:off x="822960" y="2125980"/>
            <a:ext cx="16596360" cy="891540"/>
            <a:chOff x="0" y="0"/>
            <a:chExt cx="22128480" cy="1188720"/>
          </a:xfrm>
        </p:grpSpPr>
        <p:sp>
          <p:nvSpPr>
            <p:cNvPr id="9" name="Freeform 9"/>
            <p:cNvSpPr/>
            <p:nvPr/>
          </p:nvSpPr>
          <p:spPr>
            <a:xfrm>
              <a:off x="0" y="0"/>
              <a:ext cx="22128480" cy="1188720"/>
            </a:xfrm>
            <a:custGeom>
              <a:avLst/>
              <a:gdLst/>
              <a:ahLst/>
              <a:cxnLst/>
              <a:rect l="l" t="t" r="r" b="b"/>
              <a:pathLst>
                <a:path w="22128480" h="1188720">
                  <a:moveTo>
                    <a:pt x="0" y="146304"/>
                  </a:moveTo>
                  <a:cubicBezTo>
                    <a:pt x="0" y="65532"/>
                    <a:pt x="65532" y="0"/>
                    <a:pt x="146304" y="0"/>
                  </a:cubicBezTo>
                  <a:lnTo>
                    <a:pt x="21982176" y="0"/>
                  </a:lnTo>
                  <a:cubicBezTo>
                    <a:pt x="22062948" y="0"/>
                    <a:pt x="22128480" y="65532"/>
                    <a:pt x="22128480" y="146304"/>
                  </a:cubicBezTo>
                  <a:lnTo>
                    <a:pt x="22128480" y="1042416"/>
                  </a:lnTo>
                  <a:cubicBezTo>
                    <a:pt x="22128480" y="1123188"/>
                    <a:pt x="22062948" y="1188720"/>
                    <a:pt x="21982176" y="1188720"/>
                  </a:cubicBezTo>
                  <a:lnTo>
                    <a:pt x="146304" y="1188720"/>
                  </a:lnTo>
                  <a:cubicBezTo>
                    <a:pt x="65532" y="1188720"/>
                    <a:pt x="0" y="1123188"/>
                    <a:pt x="0" y="1042416"/>
                  </a:cubicBezTo>
                  <a:close/>
                </a:path>
              </a:pathLst>
            </a:custGeom>
            <a:solidFill>
              <a:srgbClr val="EAF2ED"/>
            </a:solidFill>
          </p:spPr>
          <p:txBody>
            <a:bodyPr/>
            <a:lstStyle/>
            <a:p>
              <a:endParaRPr lang="en-US"/>
            </a:p>
          </p:txBody>
        </p:sp>
      </p:grpSp>
      <p:grpSp>
        <p:nvGrpSpPr>
          <p:cNvPr id="10" name="Group 10"/>
          <p:cNvGrpSpPr/>
          <p:nvPr/>
        </p:nvGrpSpPr>
        <p:grpSpPr>
          <a:xfrm>
            <a:off x="1165860" y="2125980"/>
            <a:ext cx="15910560" cy="891540"/>
            <a:chOff x="0" y="0"/>
            <a:chExt cx="21214080" cy="1188720"/>
          </a:xfrm>
        </p:grpSpPr>
        <p:sp>
          <p:nvSpPr>
            <p:cNvPr id="11" name="Freeform 11"/>
            <p:cNvSpPr/>
            <p:nvPr/>
          </p:nvSpPr>
          <p:spPr>
            <a:xfrm>
              <a:off x="0" y="0"/>
              <a:ext cx="21214080" cy="1188720"/>
            </a:xfrm>
            <a:custGeom>
              <a:avLst/>
              <a:gdLst/>
              <a:ahLst/>
              <a:cxnLst/>
              <a:rect l="l" t="t" r="r" b="b"/>
              <a:pathLst>
                <a:path w="21214080" h="1188720">
                  <a:moveTo>
                    <a:pt x="0" y="0"/>
                  </a:moveTo>
                  <a:lnTo>
                    <a:pt x="21214080" y="0"/>
                  </a:lnTo>
                  <a:lnTo>
                    <a:pt x="21214080" y="1188720"/>
                  </a:lnTo>
                  <a:lnTo>
                    <a:pt x="0" y="1188720"/>
                  </a:lnTo>
                  <a:close/>
                </a:path>
              </a:pathLst>
            </a:custGeom>
            <a:blipFill>
              <a:blip r:embed="rId3">
                <a:alphaModFix amt="0"/>
              </a:blip>
              <a:stretch>
                <a:fillRect t="-297732" b="-297732"/>
              </a:stretch>
            </a:blipFill>
          </p:spPr>
          <p:txBody>
            <a:bodyPr/>
            <a:lstStyle/>
            <a:p>
              <a:endParaRPr lang="en-US"/>
            </a:p>
          </p:txBody>
        </p:sp>
        <p:sp>
          <p:nvSpPr>
            <p:cNvPr id="12" name="TextBox 12"/>
            <p:cNvSpPr txBox="1"/>
            <p:nvPr/>
          </p:nvSpPr>
          <p:spPr>
            <a:xfrm>
              <a:off x="0" y="-38100"/>
              <a:ext cx="21214080" cy="1226820"/>
            </a:xfrm>
            <a:prstGeom prst="rect">
              <a:avLst/>
            </a:prstGeom>
          </p:spPr>
          <p:txBody>
            <a:bodyPr lIns="0" tIns="0" rIns="0" bIns="0" rtlCol="0" anchor="ctr"/>
            <a:lstStyle/>
            <a:p>
              <a:pPr algn="l">
                <a:lnSpc>
                  <a:spcPts val="2070"/>
                </a:lnSpc>
              </a:pPr>
              <a:r>
                <a:rPr lang="en-US" sz="1725" b="1">
                  <a:solidFill>
                    <a:srgbClr val="0D1B2A"/>
                  </a:solidFill>
                  <a:latin typeface="Calibri (MS) Bold"/>
                  <a:ea typeface="Calibri (MS) Bold"/>
                  <a:cs typeface="Calibri (MS) Bold"/>
                  <a:sym typeface="Calibri (MS) Bold"/>
                </a:rPr>
                <a:t>PREREQUISITES:  Python 3.10+   ·   Docker Desktop (Kafka, Zookeeper, TimescaleDB)   ·   Git</a:t>
              </a:r>
            </a:p>
          </p:txBody>
        </p:sp>
      </p:grpSp>
      <p:grpSp>
        <p:nvGrpSpPr>
          <p:cNvPr id="13" name="Group 13"/>
          <p:cNvGrpSpPr/>
          <p:nvPr/>
        </p:nvGrpSpPr>
        <p:grpSpPr>
          <a:xfrm>
            <a:off x="822960" y="3497580"/>
            <a:ext cx="754380" cy="754380"/>
            <a:chOff x="0" y="0"/>
            <a:chExt cx="1005840" cy="1005840"/>
          </a:xfrm>
        </p:grpSpPr>
        <p:sp>
          <p:nvSpPr>
            <p:cNvPr id="14" name="Freeform 14"/>
            <p:cNvSpPr/>
            <p:nvPr/>
          </p:nvSpPr>
          <p:spPr>
            <a:xfrm>
              <a:off x="0" y="0"/>
              <a:ext cx="1005840" cy="1005840"/>
            </a:xfrm>
            <a:custGeom>
              <a:avLst/>
              <a:gdLst/>
              <a:ahLst/>
              <a:cxnLst/>
              <a:rect l="l" t="t" r="r" b="b"/>
              <a:pathLst>
                <a:path w="1005840" h="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40916C"/>
            </a:solidFill>
          </p:spPr>
          <p:txBody>
            <a:bodyPr/>
            <a:lstStyle/>
            <a:p>
              <a:endParaRPr lang="en-US"/>
            </a:p>
          </p:txBody>
        </p:sp>
      </p:grpSp>
      <p:grpSp>
        <p:nvGrpSpPr>
          <p:cNvPr id="15" name="Group 15"/>
          <p:cNvGrpSpPr/>
          <p:nvPr/>
        </p:nvGrpSpPr>
        <p:grpSpPr>
          <a:xfrm>
            <a:off x="822960" y="3497580"/>
            <a:ext cx="754380" cy="754380"/>
            <a:chOff x="0" y="0"/>
            <a:chExt cx="1005840" cy="1005840"/>
          </a:xfrm>
        </p:grpSpPr>
        <p:sp>
          <p:nvSpPr>
            <p:cNvPr id="16" name="Freeform 16"/>
            <p:cNvSpPr/>
            <p:nvPr/>
          </p:nvSpPr>
          <p:spPr>
            <a:xfrm>
              <a:off x="0" y="0"/>
              <a:ext cx="1005840" cy="1005840"/>
            </a:xfrm>
            <a:custGeom>
              <a:avLst/>
              <a:gdLst/>
              <a:ahLst/>
              <a:cxnLst/>
              <a:rect l="l" t="t" r="r" b="b"/>
              <a:pathLst>
                <a:path w="1005840" h="1005840">
                  <a:moveTo>
                    <a:pt x="0" y="0"/>
                  </a:moveTo>
                  <a:lnTo>
                    <a:pt x="1005840" y="0"/>
                  </a:lnTo>
                  <a:lnTo>
                    <a:pt x="1005840" y="1005840"/>
                  </a:lnTo>
                  <a:lnTo>
                    <a:pt x="0" y="1005840"/>
                  </a:lnTo>
                  <a:close/>
                </a:path>
              </a:pathLst>
            </a:custGeom>
            <a:blipFill>
              <a:blip r:embed="rId3">
                <a:alphaModFix amt="0"/>
              </a:blip>
              <a:stretch>
                <a:fillRect l="-78303" r="-78303"/>
              </a:stretch>
            </a:blipFill>
          </p:spPr>
          <p:txBody>
            <a:bodyPr/>
            <a:lstStyle/>
            <a:p>
              <a:endParaRPr lang="en-US"/>
            </a:p>
          </p:txBody>
        </p:sp>
        <p:sp>
          <p:nvSpPr>
            <p:cNvPr id="17" name="TextBox 17"/>
            <p:cNvSpPr txBox="1"/>
            <p:nvPr/>
          </p:nvSpPr>
          <p:spPr>
            <a:xfrm>
              <a:off x="0" y="-38100"/>
              <a:ext cx="1005840" cy="1043940"/>
            </a:xfrm>
            <a:prstGeom prst="rect">
              <a:avLst/>
            </a:prstGeom>
          </p:spPr>
          <p:txBody>
            <a:bodyPr lIns="0" tIns="0" rIns="0" bIns="0" rtlCol="0" anchor="ctr"/>
            <a:lstStyle/>
            <a:p>
              <a:pPr algn="ctr">
                <a:lnSpc>
                  <a:spcPts val="2574"/>
                </a:lnSpc>
              </a:pPr>
              <a:r>
                <a:rPr lang="en-US" sz="2145" b="1">
                  <a:solidFill>
                    <a:srgbClr val="FFFFFF"/>
                  </a:solidFill>
                  <a:latin typeface="Calibri (MS) Bold"/>
                  <a:ea typeface="Calibri (MS) Bold"/>
                  <a:cs typeface="Calibri (MS) Bold"/>
                  <a:sym typeface="Calibri (MS) Bold"/>
                </a:rPr>
                <a:t>1</a:t>
              </a:r>
            </a:p>
          </p:txBody>
        </p:sp>
      </p:grpSp>
      <p:grpSp>
        <p:nvGrpSpPr>
          <p:cNvPr id="18" name="Group 18"/>
          <p:cNvGrpSpPr/>
          <p:nvPr/>
        </p:nvGrpSpPr>
        <p:grpSpPr>
          <a:xfrm>
            <a:off x="1851660" y="3470148"/>
            <a:ext cx="4114800" cy="754380"/>
            <a:chOff x="0" y="0"/>
            <a:chExt cx="5486400" cy="1005840"/>
          </a:xfrm>
        </p:grpSpPr>
        <p:sp>
          <p:nvSpPr>
            <p:cNvPr id="19" name="Freeform 19"/>
            <p:cNvSpPr/>
            <p:nvPr/>
          </p:nvSpPr>
          <p:spPr>
            <a:xfrm>
              <a:off x="0" y="0"/>
              <a:ext cx="5486400" cy="1005840"/>
            </a:xfrm>
            <a:custGeom>
              <a:avLst/>
              <a:gdLst/>
              <a:ahLst/>
              <a:cxnLst/>
              <a:rect l="l" t="t" r="r" b="b"/>
              <a:pathLst>
                <a:path w="5486400" h="1005840">
                  <a:moveTo>
                    <a:pt x="0" y="0"/>
                  </a:moveTo>
                  <a:lnTo>
                    <a:pt x="5486400" y="0"/>
                  </a:lnTo>
                  <a:lnTo>
                    <a:pt x="5486400" y="1005840"/>
                  </a:lnTo>
                  <a:lnTo>
                    <a:pt x="0" y="1005840"/>
                  </a:lnTo>
                  <a:close/>
                </a:path>
              </a:pathLst>
            </a:custGeom>
            <a:blipFill>
              <a:blip r:embed="rId3">
                <a:alphaModFix amt="0"/>
              </a:blip>
              <a:stretch>
                <a:fillRect t="-56282" b="-56282"/>
              </a:stretch>
            </a:blipFill>
          </p:spPr>
          <p:txBody>
            <a:bodyPr/>
            <a:lstStyle/>
            <a:p>
              <a:endParaRPr lang="en-US"/>
            </a:p>
          </p:txBody>
        </p:sp>
        <p:sp>
          <p:nvSpPr>
            <p:cNvPr id="20" name="TextBox 20"/>
            <p:cNvSpPr txBox="1"/>
            <p:nvPr/>
          </p:nvSpPr>
          <p:spPr>
            <a:xfrm>
              <a:off x="0" y="-38100"/>
              <a:ext cx="5486400" cy="1043940"/>
            </a:xfrm>
            <a:prstGeom prst="rect">
              <a:avLst/>
            </a:prstGeom>
          </p:spPr>
          <p:txBody>
            <a:bodyPr lIns="0" tIns="0" rIns="0" bIns="0" rtlCol="0" anchor="ctr"/>
            <a:lstStyle/>
            <a:p>
              <a:pPr algn="l">
                <a:lnSpc>
                  <a:spcPts val="2430"/>
                </a:lnSpc>
              </a:pPr>
              <a:r>
                <a:rPr lang="en-US" sz="2025" b="1">
                  <a:solidFill>
                    <a:srgbClr val="0D1B2A"/>
                  </a:solidFill>
                  <a:latin typeface="Calibri (MS) Bold"/>
                  <a:ea typeface="Calibri (MS) Bold"/>
                  <a:cs typeface="Calibri (MS) Bold"/>
                  <a:sym typeface="Calibri (MS) Bold"/>
                </a:rPr>
                <a:t>Start Infrastructure</a:t>
              </a:r>
            </a:p>
          </p:txBody>
        </p:sp>
      </p:grpSp>
      <p:grpSp>
        <p:nvGrpSpPr>
          <p:cNvPr id="21" name="Group 21"/>
          <p:cNvGrpSpPr/>
          <p:nvPr/>
        </p:nvGrpSpPr>
        <p:grpSpPr>
          <a:xfrm>
            <a:off x="6172200" y="3497580"/>
            <a:ext cx="11247120" cy="1165860"/>
            <a:chOff x="0" y="0"/>
            <a:chExt cx="14996160" cy="1554480"/>
          </a:xfrm>
        </p:grpSpPr>
        <p:sp>
          <p:nvSpPr>
            <p:cNvPr id="22" name="Freeform 22"/>
            <p:cNvSpPr/>
            <p:nvPr/>
          </p:nvSpPr>
          <p:spPr>
            <a:xfrm>
              <a:off x="0" y="0"/>
              <a:ext cx="14996159" cy="1554480"/>
            </a:xfrm>
            <a:custGeom>
              <a:avLst/>
              <a:gdLst/>
              <a:ahLst/>
              <a:cxnLst/>
              <a:rect l="l" t="t" r="r" b="b"/>
              <a:pathLst>
                <a:path w="14996159" h="1554480">
                  <a:moveTo>
                    <a:pt x="0" y="128016"/>
                  </a:moveTo>
                  <a:cubicBezTo>
                    <a:pt x="0" y="57277"/>
                    <a:pt x="57277" y="0"/>
                    <a:pt x="128016" y="0"/>
                  </a:cubicBezTo>
                  <a:lnTo>
                    <a:pt x="14868144" y="0"/>
                  </a:lnTo>
                  <a:cubicBezTo>
                    <a:pt x="14938883" y="0"/>
                    <a:pt x="14996159" y="57277"/>
                    <a:pt x="14996159" y="128016"/>
                  </a:cubicBezTo>
                  <a:lnTo>
                    <a:pt x="14996159" y="1426464"/>
                  </a:lnTo>
                  <a:cubicBezTo>
                    <a:pt x="14996159" y="1497203"/>
                    <a:pt x="14938883" y="1554480"/>
                    <a:pt x="14868144" y="1554480"/>
                  </a:cubicBezTo>
                  <a:lnTo>
                    <a:pt x="128016" y="1554480"/>
                  </a:lnTo>
                  <a:cubicBezTo>
                    <a:pt x="57277" y="1554480"/>
                    <a:pt x="0" y="1497203"/>
                    <a:pt x="0" y="1426464"/>
                  </a:cubicBezTo>
                  <a:close/>
                </a:path>
              </a:pathLst>
            </a:custGeom>
            <a:solidFill>
              <a:srgbClr val="0D1B2A"/>
            </a:solidFill>
          </p:spPr>
          <p:txBody>
            <a:bodyPr/>
            <a:lstStyle/>
            <a:p>
              <a:endParaRPr lang="en-US"/>
            </a:p>
          </p:txBody>
        </p:sp>
      </p:grpSp>
      <p:grpSp>
        <p:nvGrpSpPr>
          <p:cNvPr id="23" name="Group 23"/>
          <p:cNvGrpSpPr/>
          <p:nvPr/>
        </p:nvGrpSpPr>
        <p:grpSpPr>
          <a:xfrm>
            <a:off x="6515100" y="3497580"/>
            <a:ext cx="10561320" cy="1165860"/>
            <a:chOff x="0" y="0"/>
            <a:chExt cx="14081760" cy="1554480"/>
          </a:xfrm>
        </p:grpSpPr>
        <p:sp>
          <p:nvSpPr>
            <p:cNvPr id="24" name="Freeform 24"/>
            <p:cNvSpPr/>
            <p:nvPr/>
          </p:nvSpPr>
          <p:spPr>
            <a:xfrm>
              <a:off x="0" y="0"/>
              <a:ext cx="14081761" cy="1554480"/>
            </a:xfrm>
            <a:custGeom>
              <a:avLst/>
              <a:gdLst/>
              <a:ahLst/>
              <a:cxnLst/>
              <a:rect l="l" t="t" r="r" b="b"/>
              <a:pathLst>
                <a:path w="14081761" h="1554480">
                  <a:moveTo>
                    <a:pt x="0" y="0"/>
                  </a:moveTo>
                  <a:lnTo>
                    <a:pt x="14081761" y="0"/>
                  </a:lnTo>
                  <a:lnTo>
                    <a:pt x="14081761" y="1554480"/>
                  </a:lnTo>
                  <a:lnTo>
                    <a:pt x="0" y="1554480"/>
                  </a:lnTo>
                  <a:close/>
                </a:path>
              </a:pathLst>
            </a:custGeom>
            <a:blipFill>
              <a:blip r:embed="rId3">
                <a:alphaModFix amt="0"/>
              </a:blip>
              <a:stretch>
                <a:fillRect t="-126511" b="-126511"/>
              </a:stretch>
            </a:blipFill>
          </p:spPr>
          <p:txBody>
            <a:bodyPr/>
            <a:lstStyle/>
            <a:p>
              <a:endParaRPr lang="en-US"/>
            </a:p>
          </p:txBody>
        </p:sp>
        <p:sp>
          <p:nvSpPr>
            <p:cNvPr id="25" name="TextBox 25"/>
            <p:cNvSpPr txBox="1"/>
            <p:nvPr/>
          </p:nvSpPr>
          <p:spPr>
            <a:xfrm>
              <a:off x="0" y="-9525"/>
              <a:ext cx="14081760" cy="1564005"/>
            </a:xfrm>
            <a:prstGeom prst="rect">
              <a:avLst/>
            </a:prstGeom>
          </p:spPr>
          <p:txBody>
            <a:bodyPr lIns="0" tIns="0" rIns="0" bIns="0" rtlCol="0" anchor="ctr"/>
            <a:lstStyle/>
            <a:p>
              <a:pPr algn="l">
                <a:lnSpc>
                  <a:spcPts val="1800"/>
                </a:lnSpc>
              </a:pPr>
              <a:r>
                <a:rPr lang="en-US" sz="1500">
                  <a:solidFill>
                    <a:srgbClr val="C9D6CE"/>
                  </a:solidFill>
                  <a:latin typeface="Courier New"/>
                  <a:ea typeface="Courier New"/>
                  <a:cs typeface="Courier New"/>
                  <a:sym typeface="Courier New"/>
                </a:rPr>
                <a:t>Bring up Docker containers for Kafka, Zookeeper, and TimescaleDB/PostgreSQL.</a:t>
              </a:r>
            </a:p>
          </p:txBody>
        </p:sp>
      </p:grpSp>
      <p:grpSp>
        <p:nvGrpSpPr>
          <p:cNvPr id="26" name="Group 26"/>
          <p:cNvGrpSpPr/>
          <p:nvPr/>
        </p:nvGrpSpPr>
        <p:grpSpPr>
          <a:xfrm>
            <a:off x="822960" y="4937760"/>
            <a:ext cx="754380" cy="754380"/>
            <a:chOff x="0" y="0"/>
            <a:chExt cx="1005840" cy="1005840"/>
          </a:xfrm>
        </p:grpSpPr>
        <p:sp>
          <p:nvSpPr>
            <p:cNvPr id="27" name="Freeform 27"/>
            <p:cNvSpPr/>
            <p:nvPr/>
          </p:nvSpPr>
          <p:spPr>
            <a:xfrm>
              <a:off x="0" y="0"/>
              <a:ext cx="1005840" cy="1005840"/>
            </a:xfrm>
            <a:custGeom>
              <a:avLst/>
              <a:gdLst/>
              <a:ahLst/>
              <a:cxnLst/>
              <a:rect l="l" t="t" r="r" b="b"/>
              <a:pathLst>
                <a:path w="1005840" h="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40916C"/>
            </a:solidFill>
          </p:spPr>
          <p:txBody>
            <a:bodyPr/>
            <a:lstStyle/>
            <a:p>
              <a:endParaRPr lang="en-US"/>
            </a:p>
          </p:txBody>
        </p:sp>
      </p:grpSp>
      <p:grpSp>
        <p:nvGrpSpPr>
          <p:cNvPr id="28" name="Group 28"/>
          <p:cNvGrpSpPr/>
          <p:nvPr/>
        </p:nvGrpSpPr>
        <p:grpSpPr>
          <a:xfrm>
            <a:off x="822960" y="4937760"/>
            <a:ext cx="754380" cy="754380"/>
            <a:chOff x="0" y="0"/>
            <a:chExt cx="1005840" cy="1005840"/>
          </a:xfrm>
        </p:grpSpPr>
        <p:sp>
          <p:nvSpPr>
            <p:cNvPr id="29" name="Freeform 29"/>
            <p:cNvSpPr/>
            <p:nvPr/>
          </p:nvSpPr>
          <p:spPr>
            <a:xfrm>
              <a:off x="0" y="0"/>
              <a:ext cx="1005840" cy="1005840"/>
            </a:xfrm>
            <a:custGeom>
              <a:avLst/>
              <a:gdLst/>
              <a:ahLst/>
              <a:cxnLst/>
              <a:rect l="l" t="t" r="r" b="b"/>
              <a:pathLst>
                <a:path w="1005840" h="1005840">
                  <a:moveTo>
                    <a:pt x="0" y="0"/>
                  </a:moveTo>
                  <a:lnTo>
                    <a:pt x="1005840" y="0"/>
                  </a:lnTo>
                  <a:lnTo>
                    <a:pt x="1005840" y="1005840"/>
                  </a:lnTo>
                  <a:lnTo>
                    <a:pt x="0" y="1005840"/>
                  </a:lnTo>
                  <a:close/>
                </a:path>
              </a:pathLst>
            </a:custGeom>
            <a:blipFill>
              <a:blip r:embed="rId3">
                <a:alphaModFix amt="0"/>
              </a:blip>
              <a:stretch>
                <a:fillRect l="-78303" r="-78303"/>
              </a:stretch>
            </a:blipFill>
          </p:spPr>
          <p:txBody>
            <a:bodyPr/>
            <a:lstStyle/>
            <a:p>
              <a:endParaRPr lang="en-US"/>
            </a:p>
          </p:txBody>
        </p:sp>
        <p:sp>
          <p:nvSpPr>
            <p:cNvPr id="30" name="TextBox 30"/>
            <p:cNvSpPr txBox="1"/>
            <p:nvPr/>
          </p:nvSpPr>
          <p:spPr>
            <a:xfrm>
              <a:off x="0" y="-38100"/>
              <a:ext cx="1005840" cy="1043940"/>
            </a:xfrm>
            <a:prstGeom prst="rect">
              <a:avLst/>
            </a:prstGeom>
          </p:spPr>
          <p:txBody>
            <a:bodyPr lIns="0" tIns="0" rIns="0" bIns="0" rtlCol="0" anchor="ctr"/>
            <a:lstStyle/>
            <a:p>
              <a:pPr algn="ctr">
                <a:lnSpc>
                  <a:spcPts val="2574"/>
                </a:lnSpc>
              </a:pPr>
              <a:r>
                <a:rPr lang="en-US" sz="2145" b="1">
                  <a:solidFill>
                    <a:srgbClr val="FFFFFF"/>
                  </a:solidFill>
                  <a:latin typeface="Calibri (MS) Bold"/>
                  <a:ea typeface="Calibri (MS) Bold"/>
                  <a:cs typeface="Calibri (MS) Bold"/>
                  <a:sym typeface="Calibri (MS) Bold"/>
                </a:rPr>
                <a:t>2</a:t>
              </a:r>
            </a:p>
          </p:txBody>
        </p:sp>
      </p:grpSp>
      <p:grpSp>
        <p:nvGrpSpPr>
          <p:cNvPr id="31" name="Group 31"/>
          <p:cNvGrpSpPr/>
          <p:nvPr/>
        </p:nvGrpSpPr>
        <p:grpSpPr>
          <a:xfrm>
            <a:off x="1851660" y="4910328"/>
            <a:ext cx="4114800" cy="754380"/>
            <a:chOff x="0" y="0"/>
            <a:chExt cx="5486400" cy="1005840"/>
          </a:xfrm>
        </p:grpSpPr>
        <p:sp>
          <p:nvSpPr>
            <p:cNvPr id="32" name="Freeform 32"/>
            <p:cNvSpPr/>
            <p:nvPr/>
          </p:nvSpPr>
          <p:spPr>
            <a:xfrm>
              <a:off x="0" y="0"/>
              <a:ext cx="5486400" cy="1005840"/>
            </a:xfrm>
            <a:custGeom>
              <a:avLst/>
              <a:gdLst/>
              <a:ahLst/>
              <a:cxnLst/>
              <a:rect l="l" t="t" r="r" b="b"/>
              <a:pathLst>
                <a:path w="5486400" h="1005840">
                  <a:moveTo>
                    <a:pt x="0" y="0"/>
                  </a:moveTo>
                  <a:lnTo>
                    <a:pt x="5486400" y="0"/>
                  </a:lnTo>
                  <a:lnTo>
                    <a:pt x="5486400" y="1005840"/>
                  </a:lnTo>
                  <a:lnTo>
                    <a:pt x="0" y="1005840"/>
                  </a:lnTo>
                  <a:close/>
                </a:path>
              </a:pathLst>
            </a:custGeom>
            <a:blipFill>
              <a:blip r:embed="rId3">
                <a:alphaModFix amt="0"/>
              </a:blip>
              <a:stretch>
                <a:fillRect t="-56282" b="-56282"/>
              </a:stretch>
            </a:blipFill>
          </p:spPr>
          <p:txBody>
            <a:bodyPr/>
            <a:lstStyle/>
            <a:p>
              <a:endParaRPr lang="en-US"/>
            </a:p>
          </p:txBody>
        </p:sp>
        <p:sp>
          <p:nvSpPr>
            <p:cNvPr id="33" name="TextBox 33"/>
            <p:cNvSpPr txBox="1"/>
            <p:nvPr/>
          </p:nvSpPr>
          <p:spPr>
            <a:xfrm>
              <a:off x="0" y="-38100"/>
              <a:ext cx="5486400" cy="1043940"/>
            </a:xfrm>
            <a:prstGeom prst="rect">
              <a:avLst/>
            </a:prstGeom>
          </p:spPr>
          <p:txBody>
            <a:bodyPr lIns="0" tIns="0" rIns="0" bIns="0" rtlCol="0" anchor="ctr"/>
            <a:lstStyle/>
            <a:p>
              <a:pPr algn="l">
                <a:lnSpc>
                  <a:spcPts val="2430"/>
                </a:lnSpc>
              </a:pPr>
              <a:r>
                <a:rPr lang="en-US" sz="2025" b="1">
                  <a:solidFill>
                    <a:srgbClr val="0D1B2A"/>
                  </a:solidFill>
                  <a:latin typeface="Calibri (MS) Bold"/>
                  <a:ea typeface="Calibri (MS) Bold"/>
                  <a:cs typeface="Calibri (MS) Bold"/>
                  <a:sym typeface="Calibri (MS) Bold"/>
                </a:rPr>
                <a:t>Stream Telemetry</a:t>
              </a:r>
            </a:p>
          </p:txBody>
        </p:sp>
      </p:grpSp>
      <p:grpSp>
        <p:nvGrpSpPr>
          <p:cNvPr id="34" name="Group 34"/>
          <p:cNvGrpSpPr/>
          <p:nvPr/>
        </p:nvGrpSpPr>
        <p:grpSpPr>
          <a:xfrm>
            <a:off x="6172200" y="4937760"/>
            <a:ext cx="11247120" cy="1165860"/>
            <a:chOff x="0" y="0"/>
            <a:chExt cx="14996160" cy="1554480"/>
          </a:xfrm>
        </p:grpSpPr>
        <p:sp>
          <p:nvSpPr>
            <p:cNvPr id="35" name="Freeform 35"/>
            <p:cNvSpPr/>
            <p:nvPr/>
          </p:nvSpPr>
          <p:spPr>
            <a:xfrm>
              <a:off x="0" y="0"/>
              <a:ext cx="14996159" cy="1554480"/>
            </a:xfrm>
            <a:custGeom>
              <a:avLst/>
              <a:gdLst/>
              <a:ahLst/>
              <a:cxnLst/>
              <a:rect l="l" t="t" r="r" b="b"/>
              <a:pathLst>
                <a:path w="14996159" h="1554480">
                  <a:moveTo>
                    <a:pt x="0" y="128016"/>
                  </a:moveTo>
                  <a:cubicBezTo>
                    <a:pt x="0" y="57277"/>
                    <a:pt x="57277" y="0"/>
                    <a:pt x="128016" y="0"/>
                  </a:cubicBezTo>
                  <a:lnTo>
                    <a:pt x="14868144" y="0"/>
                  </a:lnTo>
                  <a:cubicBezTo>
                    <a:pt x="14938883" y="0"/>
                    <a:pt x="14996159" y="57277"/>
                    <a:pt x="14996159" y="128016"/>
                  </a:cubicBezTo>
                  <a:lnTo>
                    <a:pt x="14996159" y="1426464"/>
                  </a:lnTo>
                  <a:cubicBezTo>
                    <a:pt x="14996159" y="1497203"/>
                    <a:pt x="14938883" y="1554480"/>
                    <a:pt x="14868144" y="1554480"/>
                  </a:cubicBezTo>
                  <a:lnTo>
                    <a:pt x="128016" y="1554480"/>
                  </a:lnTo>
                  <a:cubicBezTo>
                    <a:pt x="57277" y="1554480"/>
                    <a:pt x="0" y="1497203"/>
                    <a:pt x="0" y="1426464"/>
                  </a:cubicBezTo>
                  <a:close/>
                </a:path>
              </a:pathLst>
            </a:custGeom>
            <a:solidFill>
              <a:srgbClr val="0D1B2A"/>
            </a:solidFill>
          </p:spPr>
          <p:txBody>
            <a:bodyPr/>
            <a:lstStyle/>
            <a:p>
              <a:endParaRPr lang="en-US"/>
            </a:p>
          </p:txBody>
        </p:sp>
      </p:grpSp>
      <p:grpSp>
        <p:nvGrpSpPr>
          <p:cNvPr id="36" name="Group 36"/>
          <p:cNvGrpSpPr/>
          <p:nvPr/>
        </p:nvGrpSpPr>
        <p:grpSpPr>
          <a:xfrm>
            <a:off x="6515100" y="4937760"/>
            <a:ext cx="10561320" cy="1165860"/>
            <a:chOff x="0" y="0"/>
            <a:chExt cx="14081760" cy="1554480"/>
          </a:xfrm>
        </p:grpSpPr>
        <p:sp>
          <p:nvSpPr>
            <p:cNvPr id="37" name="Freeform 37"/>
            <p:cNvSpPr/>
            <p:nvPr/>
          </p:nvSpPr>
          <p:spPr>
            <a:xfrm>
              <a:off x="0" y="0"/>
              <a:ext cx="14081761" cy="1554480"/>
            </a:xfrm>
            <a:custGeom>
              <a:avLst/>
              <a:gdLst/>
              <a:ahLst/>
              <a:cxnLst/>
              <a:rect l="l" t="t" r="r" b="b"/>
              <a:pathLst>
                <a:path w="14081761" h="1554480">
                  <a:moveTo>
                    <a:pt x="0" y="0"/>
                  </a:moveTo>
                  <a:lnTo>
                    <a:pt x="14081761" y="0"/>
                  </a:lnTo>
                  <a:lnTo>
                    <a:pt x="14081761" y="1554480"/>
                  </a:lnTo>
                  <a:lnTo>
                    <a:pt x="0" y="1554480"/>
                  </a:lnTo>
                  <a:close/>
                </a:path>
              </a:pathLst>
            </a:custGeom>
            <a:blipFill>
              <a:blip r:embed="rId3">
                <a:alphaModFix amt="0"/>
              </a:blip>
              <a:stretch>
                <a:fillRect t="-126511" b="-126511"/>
              </a:stretch>
            </a:blipFill>
          </p:spPr>
          <p:txBody>
            <a:bodyPr/>
            <a:lstStyle/>
            <a:p>
              <a:endParaRPr lang="en-US"/>
            </a:p>
          </p:txBody>
        </p:sp>
        <p:sp>
          <p:nvSpPr>
            <p:cNvPr id="38" name="TextBox 38"/>
            <p:cNvSpPr txBox="1"/>
            <p:nvPr/>
          </p:nvSpPr>
          <p:spPr>
            <a:xfrm>
              <a:off x="0" y="-9525"/>
              <a:ext cx="14081760" cy="1564005"/>
            </a:xfrm>
            <a:prstGeom prst="rect">
              <a:avLst/>
            </a:prstGeom>
          </p:spPr>
          <p:txBody>
            <a:bodyPr lIns="0" tIns="0" rIns="0" bIns="0" rtlCol="0" anchor="ctr"/>
            <a:lstStyle/>
            <a:p>
              <a:pPr algn="l">
                <a:lnSpc>
                  <a:spcPts val="1800"/>
                </a:lnSpc>
              </a:pPr>
              <a:r>
                <a:rPr lang="en-US" sz="1500">
                  <a:solidFill>
                    <a:srgbClr val="C9D6CE"/>
                  </a:solidFill>
                  <a:latin typeface="Courier New"/>
                  <a:ea typeface="Courier New"/>
                  <a:cs typeface="Courier New"/>
                  <a:sym typeface="Courier New"/>
                </a:rPr>
                <a:t>Method A: sender.py + receiver.py (Kafka path)  ·  Method B: simulation.py (direct-DB, quick test).</a:t>
              </a:r>
            </a:p>
          </p:txBody>
        </p:sp>
      </p:grpSp>
      <p:grpSp>
        <p:nvGrpSpPr>
          <p:cNvPr id="39" name="Group 39"/>
          <p:cNvGrpSpPr/>
          <p:nvPr/>
        </p:nvGrpSpPr>
        <p:grpSpPr>
          <a:xfrm>
            <a:off x="822960" y="6377940"/>
            <a:ext cx="754380" cy="754380"/>
            <a:chOff x="0" y="0"/>
            <a:chExt cx="1005840" cy="1005840"/>
          </a:xfrm>
        </p:grpSpPr>
        <p:sp>
          <p:nvSpPr>
            <p:cNvPr id="40" name="Freeform 40"/>
            <p:cNvSpPr/>
            <p:nvPr/>
          </p:nvSpPr>
          <p:spPr>
            <a:xfrm>
              <a:off x="0" y="0"/>
              <a:ext cx="1005840" cy="1005840"/>
            </a:xfrm>
            <a:custGeom>
              <a:avLst/>
              <a:gdLst/>
              <a:ahLst/>
              <a:cxnLst/>
              <a:rect l="l" t="t" r="r" b="b"/>
              <a:pathLst>
                <a:path w="1005840" h="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40916C"/>
            </a:solidFill>
          </p:spPr>
          <p:txBody>
            <a:bodyPr/>
            <a:lstStyle/>
            <a:p>
              <a:endParaRPr lang="en-US"/>
            </a:p>
          </p:txBody>
        </p:sp>
      </p:grpSp>
      <p:grpSp>
        <p:nvGrpSpPr>
          <p:cNvPr id="41" name="Group 41"/>
          <p:cNvGrpSpPr/>
          <p:nvPr/>
        </p:nvGrpSpPr>
        <p:grpSpPr>
          <a:xfrm>
            <a:off x="822960" y="6377940"/>
            <a:ext cx="754380" cy="754380"/>
            <a:chOff x="0" y="0"/>
            <a:chExt cx="1005840" cy="1005840"/>
          </a:xfrm>
        </p:grpSpPr>
        <p:sp>
          <p:nvSpPr>
            <p:cNvPr id="42" name="Freeform 42"/>
            <p:cNvSpPr/>
            <p:nvPr/>
          </p:nvSpPr>
          <p:spPr>
            <a:xfrm>
              <a:off x="0" y="0"/>
              <a:ext cx="1005840" cy="1005840"/>
            </a:xfrm>
            <a:custGeom>
              <a:avLst/>
              <a:gdLst/>
              <a:ahLst/>
              <a:cxnLst/>
              <a:rect l="l" t="t" r="r" b="b"/>
              <a:pathLst>
                <a:path w="1005840" h="1005840">
                  <a:moveTo>
                    <a:pt x="0" y="0"/>
                  </a:moveTo>
                  <a:lnTo>
                    <a:pt x="1005840" y="0"/>
                  </a:lnTo>
                  <a:lnTo>
                    <a:pt x="1005840" y="1005840"/>
                  </a:lnTo>
                  <a:lnTo>
                    <a:pt x="0" y="1005840"/>
                  </a:lnTo>
                  <a:close/>
                </a:path>
              </a:pathLst>
            </a:custGeom>
            <a:blipFill>
              <a:blip r:embed="rId3">
                <a:alphaModFix amt="0"/>
              </a:blip>
              <a:stretch>
                <a:fillRect l="-78303" r="-78303"/>
              </a:stretch>
            </a:blipFill>
          </p:spPr>
          <p:txBody>
            <a:bodyPr/>
            <a:lstStyle/>
            <a:p>
              <a:endParaRPr lang="en-US"/>
            </a:p>
          </p:txBody>
        </p:sp>
        <p:sp>
          <p:nvSpPr>
            <p:cNvPr id="43" name="TextBox 43"/>
            <p:cNvSpPr txBox="1"/>
            <p:nvPr/>
          </p:nvSpPr>
          <p:spPr>
            <a:xfrm>
              <a:off x="0" y="-38100"/>
              <a:ext cx="1005840" cy="1043940"/>
            </a:xfrm>
            <a:prstGeom prst="rect">
              <a:avLst/>
            </a:prstGeom>
          </p:spPr>
          <p:txBody>
            <a:bodyPr lIns="0" tIns="0" rIns="0" bIns="0" rtlCol="0" anchor="ctr"/>
            <a:lstStyle/>
            <a:p>
              <a:pPr algn="ctr">
                <a:lnSpc>
                  <a:spcPts val="2574"/>
                </a:lnSpc>
              </a:pPr>
              <a:r>
                <a:rPr lang="en-US" sz="2145" b="1">
                  <a:solidFill>
                    <a:srgbClr val="FFFFFF"/>
                  </a:solidFill>
                  <a:latin typeface="Calibri (MS) Bold"/>
                  <a:ea typeface="Calibri (MS) Bold"/>
                  <a:cs typeface="Calibri (MS) Bold"/>
                  <a:sym typeface="Calibri (MS) Bold"/>
                </a:rPr>
                <a:t>3</a:t>
              </a:r>
            </a:p>
          </p:txBody>
        </p:sp>
      </p:grpSp>
      <p:grpSp>
        <p:nvGrpSpPr>
          <p:cNvPr id="44" name="Group 44"/>
          <p:cNvGrpSpPr/>
          <p:nvPr/>
        </p:nvGrpSpPr>
        <p:grpSpPr>
          <a:xfrm>
            <a:off x="1851660" y="6350508"/>
            <a:ext cx="4114800" cy="754380"/>
            <a:chOff x="0" y="0"/>
            <a:chExt cx="5486400" cy="1005840"/>
          </a:xfrm>
        </p:grpSpPr>
        <p:sp>
          <p:nvSpPr>
            <p:cNvPr id="45" name="Freeform 45"/>
            <p:cNvSpPr/>
            <p:nvPr/>
          </p:nvSpPr>
          <p:spPr>
            <a:xfrm>
              <a:off x="0" y="0"/>
              <a:ext cx="5486400" cy="1005840"/>
            </a:xfrm>
            <a:custGeom>
              <a:avLst/>
              <a:gdLst/>
              <a:ahLst/>
              <a:cxnLst/>
              <a:rect l="l" t="t" r="r" b="b"/>
              <a:pathLst>
                <a:path w="5486400" h="1005840">
                  <a:moveTo>
                    <a:pt x="0" y="0"/>
                  </a:moveTo>
                  <a:lnTo>
                    <a:pt x="5486400" y="0"/>
                  </a:lnTo>
                  <a:lnTo>
                    <a:pt x="5486400" y="1005840"/>
                  </a:lnTo>
                  <a:lnTo>
                    <a:pt x="0" y="1005840"/>
                  </a:lnTo>
                  <a:close/>
                </a:path>
              </a:pathLst>
            </a:custGeom>
            <a:blipFill>
              <a:blip r:embed="rId3">
                <a:alphaModFix amt="0"/>
              </a:blip>
              <a:stretch>
                <a:fillRect t="-56282" b="-56282"/>
              </a:stretch>
            </a:blipFill>
          </p:spPr>
          <p:txBody>
            <a:bodyPr/>
            <a:lstStyle/>
            <a:p>
              <a:endParaRPr lang="en-US"/>
            </a:p>
          </p:txBody>
        </p:sp>
        <p:sp>
          <p:nvSpPr>
            <p:cNvPr id="46" name="TextBox 46"/>
            <p:cNvSpPr txBox="1"/>
            <p:nvPr/>
          </p:nvSpPr>
          <p:spPr>
            <a:xfrm>
              <a:off x="0" y="-38100"/>
              <a:ext cx="5486400" cy="1043940"/>
            </a:xfrm>
            <a:prstGeom prst="rect">
              <a:avLst/>
            </a:prstGeom>
          </p:spPr>
          <p:txBody>
            <a:bodyPr lIns="0" tIns="0" rIns="0" bIns="0" rtlCol="0" anchor="ctr"/>
            <a:lstStyle/>
            <a:p>
              <a:pPr algn="l">
                <a:lnSpc>
                  <a:spcPts val="2430"/>
                </a:lnSpc>
              </a:pPr>
              <a:r>
                <a:rPr lang="en-US" sz="2025" b="1">
                  <a:solidFill>
                    <a:srgbClr val="0D1B2A"/>
                  </a:solidFill>
                  <a:latin typeface="Calibri (MS) Bold"/>
                  <a:ea typeface="Calibri (MS) Bold"/>
                  <a:cs typeface="Calibri (MS) Bold"/>
                  <a:sym typeface="Calibri (MS) Bold"/>
                </a:rPr>
                <a:t>Launch the API</a:t>
              </a:r>
            </a:p>
          </p:txBody>
        </p:sp>
      </p:grpSp>
      <p:grpSp>
        <p:nvGrpSpPr>
          <p:cNvPr id="47" name="Group 47"/>
          <p:cNvGrpSpPr/>
          <p:nvPr/>
        </p:nvGrpSpPr>
        <p:grpSpPr>
          <a:xfrm>
            <a:off x="6172200" y="6377940"/>
            <a:ext cx="11247120" cy="1165860"/>
            <a:chOff x="0" y="0"/>
            <a:chExt cx="14996160" cy="1554480"/>
          </a:xfrm>
        </p:grpSpPr>
        <p:sp>
          <p:nvSpPr>
            <p:cNvPr id="48" name="Freeform 48"/>
            <p:cNvSpPr/>
            <p:nvPr/>
          </p:nvSpPr>
          <p:spPr>
            <a:xfrm>
              <a:off x="0" y="0"/>
              <a:ext cx="14996159" cy="1554480"/>
            </a:xfrm>
            <a:custGeom>
              <a:avLst/>
              <a:gdLst/>
              <a:ahLst/>
              <a:cxnLst/>
              <a:rect l="l" t="t" r="r" b="b"/>
              <a:pathLst>
                <a:path w="14996159" h="1554480">
                  <a:moveTo>
                    <a:pt x="0" y="128016"/>
                  </a:moveTo>
                  <a:cubicBezTo>
                    <a:pt x="0" y="57277"/>
                    <a:pt x="57277" y="0"/>
                    <a:pt x="128016" y="0"/>
                  </a:cubicBezTo>
                  <a:lnTo>
                    <a:pt x="14868144" y="0"/>
                  </a:lnTo>
                  <a:cubicBezTo>
                    <a:pt x="14938883" y="0"/>
                    <a:pt x="14996159" y="57277"/>
                    <a:pt x="14996159" y="128016"/>
                  </a:cubicBezTo>
                  <a:lnTo>
                    <a:pt x="14996159" y="1426464"/>
                  </a:lnTo>
                  <a:cubicBezTo>
                    <a:pt x="14996159" y="1497203"/>
                    <a:pt x="14938883" y="1554480"/>
                    <a:pt x="14868144" y="1554480"/>
                  </a:cubicBezTo>
                  <a:lnTo>
                    <a:pt x="128016" y="1554480"/>
                  </a:lnTo>
                  <a:cubicBezTo>
                    <a:pt x="57277" y="1554480"/>
                    <a:pt x="0" y="1497203"/>
                    <a:pt x="0" y="1426464"/>
                  </a:cubicBezTo>
                  <a:close/>
                </a:path>
              </a:pathLst>
            </a:custGeom>
            <a:solidFill>
              <a:srgbClr val="0D1B2A"/>
            </a:solidFill>
          </p:spPr>
          <p:txBody>
            <a:bodyPr/>
            <a:lstStyle/>
            <a:p>
              <a:endParaRPr lang="en-US"/>
            </a:p>
          </p:txBody>
        </p:sp>
      </p:grpSp>
      <p:grpSp>
        <p:nvGrpSpPr>
          <p:cNvPr id="49" name="Group 49"/>
          <p:cNvGrpSpPr/>
          <p:nvPr/>
        </p:nvGrpSpPr>
        <p:grpSpPr>
          <a:xfrm>
            <a:off x="6515100" y="6377940"/>
            <a:ext cx="10561320" cy="1165860"/>
            <a:chOff x="0" y="0"/>
            <a:chExt cx="14081760" cy="1554480"/>
          </a:xfrm>
        </p:grpSpPr>
        <p:sp>
          <p:nvSpPr>
            <p:cNvPr id="50" name="Freeform 50"/>
            <p:cNvSpPr/>
            <p:nvPr/>
          </p:nvSpPr>
          <p:spPr>
            <a:xfrm>
              <a:off x="0" y="0"/>
              <a:ext cx="14081761" cy="1554480"/>
            </a:xfrm>
            <a:custGeom>
              <a:avLst/>
              <a:gdLst/>
              <a:ahLst/>
              <a:cxnLst/>
              <a:rect l="l" t="t" r="r" b="b"/>
              <a:pathLst>
                <a:path w="14081761" h="1554480">
                  <a:moveTo>
                    <a:pt x="0" y="0"/>
                  </a:moveTo>
                  <a:lnTo>
                    <a:pt x="14081761" y="0"/>
                  </a:lnTo>
                  <a:lnTo>
                    <a:pt x="14081761" y="1554480"/>
                  </a:lnTo>
                  <a:lnTo>
                    <a:pt x="0" y="1554480"/>
                  </a:lnTo>
                  <a:close/>
                </a:path>
              </a:pathLst>
            </a:custGeom>
            <a:blipFill>
              <a:blip r:embed="rId3">
                <a:alphaModFix amt="0"/>
              </a:blip>
              <a:stretch>
                <a:fillRect t="-126511" b="-126511"/>
              </a:stretch>
            </a:blipFill>
          </p:spPr>
          <p:txBody>
            <a:bodyPr/>
            <a:lstStyle/>
            <a:p>
              <a:endParaRPr lang="en-US"/>
            </a:p>
          </p:txBody>
        </p:sp>
        <p:sp>
          <p:nvSpPr>
            <p:cNvPr id="51" name="TextBox 51"/>
            <p:cNvSpPr txBox="1"/>
            <p:nvPr/>
          </p:nvSpPr>
          <p:spPr>
            <a:xfrm>
              <a:off x="0" y="-9525"/>
              <a:ext cx="14081760" cy="1564005"/>
            </a:xfrm>
            <a:prstGeom prst="rect">
              <a:avLst/>
            </a:prstGeom>
          </p:spPr>
          <p:txBody>
            <a:bodyPr lIns="0" tIns="0" rIns="0" bIns="0" rtlCol="0" anchor="ctr"/>
            <a:lstStyle/>
            <a:p>
              <a:pPr algn="l">
                <a:lnSpc>
                  <a:spcPts val="1800"/>
                </a:lnSpc>
              </a:pPr>
              <a:r>
                <a:rPr lang="en-US" sz="1500">
                  <a:solidFill>
                    <a:srgbClr val="C9D6CE"/>
                  </a:solidFill>
                  <a:latin typeface="Courier New"/>
                  <a:ea typeface="Courier New"/>
                  <a:cs typeface="Courier New"/>
                  <a:sym typeface="Courier New"/>
                </a:rPr>
                <a:t>python src/api/main.py — starts uvicorn on 127.0.0.1:8000.</a:t>
              </a:r>
            </a:p>
          </p:txBody>
        </p:sp>
      </p:grpSp>
      <p:grpSp>
        <p:nvGrpSpPr>
          <p:cNvPr id="52" name="Group 52"/>
          <p:cNvGrpSpPr/>
          <p:nvPr/>
        </p:nvGrpSpPr>
        <p:grpSpPr>
          <a:xfrm>
            <a:off x="822960" y="7818120"/>
            <a:ext cx="754380" cy="754380"/>
            <a:chOff x="0" y="0"/>
            <a:chExt cx="1005840" cy="1005840"/>
          </a:xfrm>
        </p:grpSpPr>
        <p:sp>
          <p:nvSpPr>
            <p:cNvPr id="53" name="Freeform 53"/>
            <p:cNvSpPr/>
            <p:nvPr/>
          </p:nvSpPr>
          <p:spPr>
            <a:xfrm>
              <a:off x="0" y="0"/>
              <a:ext cx="1005840" cy="1005840"/>
            </a:xfrm>
            <a:custGeom>
              <a:avLst/>
              <a:gdLst/>
              <a:ahLst/>
              <a:cxnLst/>
              <a:rect l="l" t="t" r="r" b="b"/>
              <a:pathLst>
                <a:path w="1005840" h="1005840">
                  <a:moveTo>
                    <a:pt x="0" y="502920"/>
                  </a:moveTo>
                  <a:cubicBezTo>
                    <a:pt x="0" y="225171"/>
                    <a:pt x="225171" y="0"/>
                    <a:pt x="502920" y="0"/>
                  </a:cubicBezTo>
                  <a:cubicBezTo>
                    <a:pt x="780669" y="0"/>
                    <a:pt x="1005840" y="225171"/>
                    <a:pt x="1005840" y="502920"/>
                  </a:cubicBezTo>
                  <a:cubicBezTo>
                    <a:pt x="1005840" y="780669"/>
                    <a:pt x="780669" y="1005840"/>
                    <a:pt x="502920" y="1005840"/>
                  </a:cubicBezTo>
                  <a:cubicBezTo>
                    <a:pt x="225171" y="1005840"/>
                    <a:pt x="0" y="780669"/>
                    <a:pt x="0" y="502920"/>
                  </a:cubicBezTo>
                  <a:close/>
                </a:path>
              </a:pathLst>
            </a:custGeom>
            <a:solidFill>
              <a:srgbClr val="40916C"/>
            </a:solidFill>
          </p:spPr>
          <p:txBody>
            <a:bodyPr/>
            <a:lstStyle/>
            <a:p>
              <a:endParaRPr lang="en-US"/>
            </a:p>
          </p:txBody>
        </p:sp>
      </p:grpSp>
      <p:grpSp>
        <p:nvGrpSpPr>
          <p:cNvPr id="54" name="Group 54"/>
          <p:cNvGrpSpPr/>
          <p:nvPr/>
        </p:nvGrpSpPr>
        <p:grpSpPr>
          <a:xfrm>
            <a:off x="822960" y="7818120"/>
            <a:ext cx="754380" cy="754380"/>
            <a:chOff x="0" y="0"/>
            <a:chExt cx="1005840" cy="1005840"/>
          </a:xfrm>
        </p:grpSpPr>
        <p:sp>
          <p:nvSpPr>
            <p:cNvPr id="55" name="Freeform 55"/>
            <p:cNvSpPr/>
            <p:nvPr/>
          </p:nvSpPr>
          <p:spPr>
            <a:xfrm>
              <a:off x="0" y="0"/>
              <a:ext cx="1005840" cy="1005840"/>
            </a:xfrm>
            <a:custGeom>
              <a:avLst/>
              <a:gdLst/>
              <a:ahLst/>
              <a:cxnLst/>
              <a:rect l="l" t="t" r="r" b="b"/>
              <a:pathLst>
                <a:path w="1005840" h="1005840">
                  <a:moveTo>
                    <a:pt x="0" y="0"/>
                  </a:moveTo>
                  <a:lnTo>
                    <a:pt x="1005840" y="0"/>
                  </a:lnTo>
                  <a:lnTo>
                    <a:pt x="1005840" y="1005840"/>
                  </a:lnTo>
                  <a:lnTo>
                    <a:pt x="0" y="1005840"/>
                  </a:lnTo>
                  <a:close/>
                </a:path>
              </a:pathLst>
            </a:custGeom>
            <a:blipFill>
              <a:blip r:embed="rId3">
                <a:alphaModFix amt="0"/>
              </a:blip>
              <a:stretch>
                <a:fillRect l="-78303" r="-78303"/>
              </a:stretch>
            </a:blipFill>
          </p:spPr>
          <p:txBody>
            <a:bodyPr/>
            <a:lstStyle/>
            <a:p>
              <a:endParaRPr lang="en-US"/>
            </a:p>
          </p:txBody>
        </p:sp>
        <p:sp>
          <p:nvSpPr>
            <p:cNvPr id="56" name="TextBox 56"/>
            <p:cNvSpPr txBox="1"/>
            <p:nvPr/>
          </p:nvSpPr>
          <p:spPr>
            <a:xfrm>
              <a:off x="0" y="-38100"/>
              <a:ext cx="1005840" cy="1043940"/>
            </a:xfrm>
            <a:prstGeom prst="rect">
              <a:avLst/>
            </a:prstGeom>
          </p:spPr>
          <p:txBody>
            <a:bodyPr lIns="0" tIns="0" rIns="0" bIns="0" rtlCol="0" anchor="ctr"/>
            <a:lstStyle/>
            <a:p>
              <a:pPr algn="ctr">
                <a:lnSpc>
                  <a:spcPts val="2574"/>
                </a:lnSpc>
              </a:pPr>
              <a:r>
                <a:rPr lang="en-US" sz="2145" b="1">
                  <a:solidFill>
                    <a:srgbClr val="FFFFFF"/>
                  </a:solidFill>
                  <a:latin typeface="Calibri (MS) Bold"/>
                  <a:ea typeface="Calibri (MS) Bold"/>
                  <a:cs typeface="Calibri (MS) Bold"/>
                  <a:sym typeface="Calibri (MS) Bold"/>
                </a:rPr>
                <a:t>4</a:t>
              </a:r>
            </a:p>
          </p:txBody>
        </p:sp>
      </p:grpSp>
      <p:grpSp>
        <p:nvGrpSpPr>
          <p:cNvPr id="57" name="Group 57"/>
          <p:cNvGrpSpPr/>
          <p:nvPr/>
        </p:nvGrpSpPr>
        <p:grpSpPr>
          <a:xfrm>
            <a:off x="1851660" y="7790688"/>
            <a:ext cx="4114800" cy="754380"/>
            <a:chOff x="0" y="0"/>
            <a:chExt cx="5486400" cy="1005840"/>
          </a:xfrm>
        </p:grpSpPr>
        <p:sp>
          <p:nvSpPr>
            <p:cNvPr id="58" name="Freeform 58"/>
            <p:cNvSpPr/>
            <p:nvPr/>
          </p:nvSpPr>
          <p:spPr>
            <a:xfrm>
              <a:off x="0" y="0"/>
              <a:ext cx="5486400" cy="1005840"/>
            </a:xfrm>
            <a:custGeom>
              <a:avLst/>
              <a:gdLst/>
              <a:ahLst/>
              <a:cxnLst/>
              <a:rect l="l" t="t" r="r" b="b"/>
              <a:pathLst>
                <a:path w="5486400" h="1005840">
                  <a:moveTo>
                    <a:pt x="0" y="0"/>
                  </a:moveTo>
                  <a:lnTo>
                    <a:pt x="5486400" y="0"/>
                  </a:lnTo>
                  <a:lnTo>
                    <a:pt x="5486400" y="1005840"/>
                  </a:lnTo>
                  <a:lnTo>
                    <a:pt x="0" y="1005840"/>
                  </a:lnTo>
                  <a:close/>
                </a:path>
              </a:pathLst>
            </a:custGeom>
            <a:blipFill>
              <a:blip r:embed="rId3">
                <a:alphaModFix amt="0"/>
              </a:blip>
              <a:stretch>
                <a:fillRect t="-56282" b="-56282"/>
              </a:stretch>
            </a:blipFill>
          </p:spPr>
          <p:txBody>
            <a:bodyPr/>
            <a:lstStyle/>
            <a:p>
              <a:endParaRPr lang="en-US"/>
            </a:p>
          </p:txBody>
        </p:sp>
        <p:sp>
          <p:nvSpPr>
            <p:cNvPr id="59" name="TextBox 59"/>
            <p:cNvSpPr txBox="1"/>
            <p:nvPr/>
          </p:nvSpPr>
          <p:spPr>
            <a:xfrm>
              <a:off x="0" y="-38100"/>
              <a:ext cx="5486400" cy="1043940"/>
            </a:xfrm>
            <a:prstGeom prst="rect">
              <a:avLst/>
            </a:prstGeom>
          </p:spPr>
          <p:txBody>
            <a:bodyPr lIns="0" tIns="0" rIns="0" bIns="0" rtlCol="0" anchor="ctr"/>
            <a:lstStyle/>
            <a:p>
              <a:pPr algn="l">
                <a:lnSpc>
                  <a:spcPts val="2430"/>
                </a:lnSpc>
              </a:pPr>
              <a:r>
                <a:rPr lang="en-US" sz="2025" b="1">
                  <a:solidFill>
                    <a:srgbClr val="0D1B2A"/>
                  </a:solidFill>
                  <a:latin typeface="Calibri (MS) Bold"/>
                  <a:ea typeface="Calibri (MS) Bold"/>
                  <a:cs typeface="Calibri (MS) Bold"/>
                  <a:sym typeface="Calibri (MS) Bold"/>
                </a:rPr>
                <a:t>Launch the Dashboard</a:t>
              </a:r>
            </a:p>
          </p:txBody>
        </p:sp>
      </p:grpSp>
      <p:grpSp>
        <p:nvGrpSpPr>
          <p:cNvPr id="60" name="Group 60"/>
          <p:cNvGrpSpPr/>
          <p:nvPr/>
        </p:nvGrpSpPr>
        <p:grpSpPr>
          <a:xfrm>
            <a:off x="6172200" y="7818120"/>
            <a:ext cx="11247120" cy="1165860"/>
            <a:chOff x="0" y="0"/>
            <a:chExt cx="14996160" cy="1554480"/>
          </a:xfrm>
        </p:grpSpPr>
        <p:sp>
          <p:nvSpPr>
            <p:cNvPr id="61" name="Freeform 61"/>
            <p:cNvSpPr/>
            <p:nvPr/>
          </p:nvSpPr>
          <p:spPr>
            <a:xfrm>
              <a:off x="0" y="0"/>
              <a:ext cx="14996159" cy="1554480"/>
            </a:xfrm>
            <a:custGeom>
              <a:avLst/>
              <a:gdLst/>
              <a:ahLst/>
              <a:cxnLst/>
              <a:rect l="l" t="t" r="r" b="b"/>
              <a:pathLst>
                <a:path w="14996159" h="1554480">
                  <a:moveTo>
                    <a:pt x="0" y="128016"/>
                  </a:moveTo>
                  <a:cubicBezTo>
                    <a:pt x="0" y="57277"/>
                    <a:pt x="57277" y="0"/>
                    <a:pt x="128016" y="0"/>
                  </a:cubicBezTo>
                  <a:lnTo>
                    <a:pt x="14868144" y="0"/>
                  </a:lnTo>
                  <a:cubicBezTo>
                    <a:pt x="14938883" y="0"/>
                    <a:pt x="14996159" y="57277"/>
                    <a:pt x="14996159" y="128016"/>
                  </a:cubicBezTo>
                  <a:lnTo>
                    <a:pt x="14996159" y="1426464"/>
                  </a:lnTo>
                  <a:cubicBezTo>
                    <a:pt x="14996159" y="1497203"/>
                    <a:pt x="14938883" y="1554480"/>
                    <a:pt x="14868144" y="1554480"/>
                  </a:cubicBezTo>
                  <a:lnTo>
                    <a:pt x="128016" y="1554480"/>
                  </a:lnTo>
                  <a:cubicBezTo>
                    <a:pt x="57277" y="1554480"/>
                    <a:pt x="0" y="1497203"/>
                    <a:pt x="0" y="1426464"/>
                  </a:cubicBezTo>
                  <a:close/>
                </a:path>
              </a:pathLst>
            </a:custGeom>
            <a:solidFill>
              <a:srgbClr val="0D1B2A"/>
            </a:solidFill>
          </p:spPr>
          <p:txBody>
            <a:bodyPr/>
            <a:lstStyle/>
            <a:p>
              <a:endParaRPr lang="en-US"/>
            </a:p>
          </p:txBody>
        </p:sp>
      </p:grpSp>
      <p:grpSp>
        <p:nvGrpSpPr>
          <p:cNvPr id="62" name="Group 62"/>
          <p:cNvGrpSpPr/>
          <p:nvPr/>
        </p:nvGrpSpPr>
        <p:grpSpPr>
          <a:xfrm>
            <a:off x="6515100" y="7818120"/>
            <a:ext cx="10561320" cy="1165860"/>
            <a:chOff x="0" y="0"/>
            <a:chExt cx="14081760" cy="1554480"/>
          </a:xfrm>
        </p:grpSpPr>
        <p:sp>
          <p:nvSpPr>
            <p:cNvPr id="63" name="Freeform 63"/>
            <p:cNvSpPr/>
            <p:nvPr/>
          </p:nvSpPr>
          <p:spPr>
            <a:xfrm>
              <a:off x="0" y="0"/>
              <a:ext cx="14081761" cy="1554480"/>
            </a:xfrm>
            <a:custGeom>
              <a:avLst/>
              <a:gdLst/>
              <a:ahLst/>
              <a:cxnLst/>
              <a:rect l="l" t="t" r="r" b="b"/>
              <a:pathLst>
                <a:path w="14081761" h="1554480">
                  <a:moveTo>
                    <a:pt x="0" y="0"/>
                  </a:moveTo>
                  <a:lnTo>
                    <a:pt x="14081761" y="0"/>
                  </a:lnTo>
                  <a:lnTo>
                    <a:pt x="14081761" y="1554480"/>
                  </a:lnTo>
                  <a:lnTo>
                    <a:pt x="0" y="1554480"/>
                  </a:lnTo>
                  <a:close/>
                </a:path>
              </a:pathLst>
            </a:custGeom>
            <a:blipFill>
              <a:blip r:embed="rId3">
                <a:alphaModFix amt="0"/>
              </a:blip>
              <a:stretch>
                <a:fillRect t="-126511" b="-126511"/>
              </a:stretch>
            </a:blipFill>
          </p:spPr>
          <p:txBody>
            <a:bodyPr/>
            <a:lstStyle/>
            <a:p>
              <a:endParaRPr lang="en-US"/>
            </a:p>
          </p:txBody>
        </p:sp>
        <p:sp>
          <p:nvSpPr>
            <p:cNvPr id="64" name="TextBox 64"/>
            <p:cNvSpPr txBox="1"/>
            <p:nvPr/>
          </p:nvSpPr>
          <p:spPr>
            <a:xfrm>
              <a:off x="0" y="-9525"/>
              <a:ext cx="14081760" cy="1564005"/>
            </a:xfrm>
            <a:prstGeom prst="rect">
              <a:avLst/>
            </a:prstGeom>
          </p:spPr>
          <p:txBody>
            <a:bodyPr lIns="0" tIns="0" rIns="0" bIns="0" rtlCol="0" anchor="ctr"/>
            <a:lstStyle/>
            <a:p>
              <a:pPr algn="l">
                <a:lnSpc>
                  <a:spcPts val="1800"/>
                </a:lnSpc>
              </a:pPr>
              <a:r>
                <a:rPr lang="en-US" sz="1500">
                  <a:solidFill>
                    <a:srgbClr val="C9D6CE"/>
                  </a:solidFill>
                  <a:latin typeface="Courier New"/>
                  <a:ea typeface="Courier New"/>
                  <a:cs typeface="Courier New"/>
                  <a:sym typeface="Courier New"/>
                </a:rPr>
                <a:t>streamlit run src/ui/dashboard.py</a:t>
              </a:r>
            </a:p>
          </p:txBody>
        </p:sp>
      </p:grpSp>
      <p:grpSp>
        <p:nvGrpSpPr>
          <p:cNvPr id="65" name="Group 65"/>
          <p:cNvGrpSpPr/>
          <p:nvPr/>
        </p:nvGrpSpPr>
        <p:grpSpPr>
          <a:xfrm>
            <a:off x="17282160" y="9710928"/>
            <a:ext cx="822960" cy="411480"/>
            <a:chOff x="0" y="0"/>
            <a:chExt cx="1097280" cy="548640"/>
          </a:xfrm>
        </p:grpSpPr>
        <p:sp>
          <p:nvSpPr>
            <p:cNvPr id="66" name="Freeform 66"/>
            <p:cNvSpPr/>
            <p:nvPr/>
          </p:nvSpPr>
          <p:spPr>
            <a:xfrm>
              <a:off x="0" y="0"/>
              <a:ext cx="1097280" cy="548640"/>
            </a:xfrm>
            <a:custGeom>
              <a:avLst/>
              <a:gdLst/>
              <a:ahLst/>
              <a:cxnLst/>
              <a:rect l="l" t="t" r="r" b="b"/>
              <a:pathLst>
                <a:path w="1097280" h="548640">
                  <a:moveTo>
                    <a:pt x="0" y="0"/>
                  </a:moveTo>
                  <a:lnTo>
                    <a:pt x="1097280" y="0"/>
                  </a:lnTo>
                  <a:lnTo>
                    <a:pt x="1097280" y="548640"/>
                  </a:lnTo>
                  <a:lnTo>
                    <a:pt x="0" y="548640"/>
                  </a:lnTo>
                  <a:close/>
                </a:path>
              </a:pathLst>
            </a:custGeom>
            <a:blipFill>
              <a:blip r:embed="rId3">
                <a:alphaModFix amt="0"/>
              </a:blip>
              <a:stretch>
                <a:fillRect l="-14151" r="-14151"/>
              </a:stretch>
            </a:blipFill>
          </p:spPr>
          <p:txBody>
            <a:bodyPr/>
            <a:lstStyle/>
            <a:p>
              <a:endParaRPr lang="en-US"/>
            </a:p>
          </p:txBody>
        </p:sp>
        <p:sp>
          <p:nvSpPr>
            <p:cNvPr id="67" name="TextBox 67"/>
            <p:cNvSpPr txBox="1"/>
            <p:nvPr/>
          </p:nvSpPr>
          <p:spPr>
            <a:xfrm>
              <a:off x="0" y="-38100"/>
              <a:ext cx="1097280" cy="586740"/>
            </a:xfrm>
            <a:prstGeom prst="rect">
              <a:avLst/>
            </a:prstGeom>
          </p:spPr>
          <p:txBody>
            <a:bodyPr lIns="0" tIns="0" rIns="0" bIns="0" rtlCol="0" anchor="ctr"/>
            <a:lstStyle/>
            <a:p>
              <a:pPr algn="r">
                <a:lnSpc>
                  <a:spcPts val="1800"/>
                </a:lnSpc>
              </a:pPr>
              <a:r>
                <a:rPr lang="en-US" sz="1500">
                  <a:solidFill>
                    <a:srgbClr val="5B6B72"/>
                  </a:solidFill>
                  <a:latin typeface="Calibri (MS)"/>
                  <a:ea typeface="Calibri (MS)"/>
                  <a:cs typeface="Calibri (MS)"/>
                  <a:sym typeface="Calibri (MS)"/>
                </a:rPr>
                <a:t>18</a:t>
              </a: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5F8F6"/>
        </a:solidFill>
        <a:effectLst/>
      </p:bgPr>
    </p:bg>
    <p:spTree>
      <p:nvGrpSpPr>
        <p:cNvPr id="1" name=""/>
        <p:cNvGrpSpPr/>
        <p:nvPr/>
      </p:nvGrpSpPr>
      <p:grpSpPr>
        <a:xfrm>
          <a:off x="0" y="0"/>
          <a:ext cx="0" cy="0"/>
          <a:chOff x="0" y="0"/>
          <a:chExt cx="0" cy="0"/>
        </a:xfrm>
      </p:grpSpPr>
      <p:grpSp>
        <p:nvGrpSpPr>
          <p:cNvPr id="2" name="Group 2"/>
          <p:cNvGrpSpPr/>
          <p:nvPr/>
        </p:nvGrpSpPr>
        <p:grpSpPr>
          <a:xfrm>
            <a:off x="822960" y="576072"/>
            <a:ext cx="10972800" cy="480060"/>
            <a:chOff x="0" y="0"/>
            <a:chExt cx="14630400" cy="640080"/>
          </a:xfrm>
        </p:grpSpPr>
        <p:sp>
          <p:nvSpPr>
            <p:cNvPr id="3" name="Freeform 3"/>
            <p:cNvSpPr/>
            <p:nvPr/>
          </p:nvSpPr>
          <p:spPr>
            <a:xfrm>
              <a:off x="0" y="0"/>
              <a:ext cx="14630400" cy="640080"/>
            </a:xfrm>
            <a:custGeom>
              <a:avLst/>
              <a:gdLst/>
              <a:ahLst/>
              <a:cxnLst/>
              <a:rect l="l" t="t" r="r" b="b"/>
              <a:pathLst>
                <a:path w="14630400" h="640080">
                  <a:moveTo>
                    <a:pt x="0" y="0"/>
                  </a:moveTo>
                  <a:lnTo>
                    <a:pt x="14630400" y="0"/>
                  </a:lnTo>
                  <a:lnTo>
                    <a:pt x="14630400" y="640080"/>
                  </a:lnTo>
                  <a:lnTo>
                    <a:pt x="0" y="640080"/>
                  </a:lnTo>
                  <a:close/>
                </a:path>
              </a:pathLst>
            </a:custGeom>
            <a:blipFill>
              <a:blip r:embed="rId3">
                <a:alphaModFix amt="0"/>
              </a:blip>
              <a:stretch>
                <a:fillRect t="-395372" b="-395372"/>
              </a:stretch>
            </a:blipFill>
          </p:spPr>
          <p:txBody>
            <a:bodyPr/>
            <a:lstStyle/>
            <a:p>
              <a:endParaRPr lang="en-US"/>
            </a:p>
          </p:txBody>
        </p:sp>
        <p:sp>
          <p:nvSpPr>
            <p:cNvPr id="4" name="TextBox 4"/>
            <p:cNvSpPr txBox="1"/>
            <p:nvPr/>
          </p:nvSpPr>
          <p:spPr>
            <a:xfrm>
              <a:off x="0" y="-38100"/>
              <a:ext cx="14630400" cy="678180"/>
            </a:xfrm>
            <a:prstGeom prst="rect">
              <a:avLst/>
            </a:prstGeom>
          </p:spPr>
          <p:txBody>
            <a:bodyPr lIns="0" tIns="0" rIns="0" bIns="0" rtlCol="0" anchor="ctr"/>
            <a:lstStyle/>
            <a:p>
              <a:pPr algn="l">
                <a:lnSpc>
                  <a:spcPts val="2160"/>
                </a:lnSpc>
              </a:pPr>
              <a:r>
                <a:rPr lang="en-US" sz="1800" b="1" spc="299">
                  <a:solidFill>
                    <a:srgbClr val="40916C"/>
                  </a:solidFill>
                  <a:latin typeface="Calibri (MS) Bold"/>
                  <a:ea typeface="Calibri (MS) Bold"/>
                  <a:cs typeface="Calibri (MS) Bold"/>
                  <a:sym typeface="Calibri (MS) Bold"/>
                </a:rPr>
                <a:t>PART 05 · ENGINEERING &amp; SETUP</a:t>
              </a:r>
            </a:p>
          </p:txBody>
        </p:sp>
      </p:grpSp>
      <p:grpSp>
        <p:nvGrpSpPr>
          <p:cNvPr id="5" name="Group 5"/>
          <p:cNvGrpSpPr/>
          <p:nvPr/>
        </p:nvGrpSpPr>
        <p:grpSpPr>
          <a:xfrm>
            <a:off x="822960" y="987552"/>
            <a:ext cx="15773400" cy="1234440"/>
            <a:chOff x="0" y="0"/>
            <a:chExt cx="21031200" cy="1645920"/>
          </a:xfrm>
        </p:grpSpPr>
        <p:sp>
          <p:nvSpPr>
            <p:cNvPr id="6" name="Freeform 6"/>
            <p:cNvSpPr/>
            <p:nvPr/>
          </p:nvSpPr>
          <p:spPr>
            <a:xfrm>
              <a:off x="0" y="0"/>
              <a:ext cx="21031200" cy="1645920"/>
            </a:xfrm>
            <a:custGeom>
              <a:avLst/>
              <a:gdLst/>
              <a:ahLst/>
              <a:cxnLst/>
              <a:rect l="l" t="t" r="r" b="b"/>
              <a:pathLst>
                <a:path w="21031200" h="1645920">
                  <a:moveTo>
                    <a:pt x="0" y="0"/>
                  </a:moveTo>
                  <a:lnTo>
                    <a:pt x="21031200" y="0"/>
                  </a:lnTo>
                  <a:lnTo>
                    <a:pt x="21031200" y="1645920"/>
                  </a:lnTo>
                  <a:lnTo>
                    <a:pt x="0" y="1645920"/>
                  </a:lnTo>
                  <a:close/>
                </a:path>
              </a:pathLst>
            </a:custGeom>
            <a:blipFill>
              <a:blip r:embed="rId3">
                <a:alphaModFix amt="0"/>
              </a:blip>
              <a:stretch>
                <a:fillRect t="-198975" b="-198975"/>
              </a:stretch>
            </a:blipFill>
          </p:spPr>
          <p:txBody>
            <a:bodyPr/>
            <a:lstStyle/>
            <a:p>
              <a:endParaRPr lang="en-US"/>
            </a:p>
          </p:txBody>
        </p:sp>
        <p:sp>
          <p:nvSpPr>
            <p:cNvPr id="7" name="TextBox 7"/>
            <p:cNvSpPr txBox="1"/>
            <p:nvPr/>
          </p:nvSpPr>
          <p:spPr>
            <a:xfrm>
              <a:off x="0" y="-9525"/>
              <a:ext cx="21031200" cy="1655445"/>
            </a:xfrm>
            <a:prstGeom prst="rect">
              <a:avLst/>
            </a:prstGeom>
          </p:spPr>
          <p:txBody>
            <a:bodyPr lIns="0" tIns="0" rIns="0" bIns="0" rtlCol="0" anchor="ctr"/>
            <a:lstStyle/>
            <a:p>
              <a:pPr algn="l">
                <a:lnSpc>
                  <a:spcPts val="5759"/>
                </a:lnSpc>
              </a:pPr>
              <a:r>
                <a:rPr lang="en-US" sz="4800" b="1">
                  <a:solidFill>
                    <a:srgbClr val="0D1B2A"/>
                  </a:solidFill>
                  <a:latin typeface="Cambria Bold"/>
                  <a:ea typeface="Cambria Bold"/>
                  <a:cs typeface="Cambria Bold"/>
                  <a:sym typeface="Cambria Bold"/>
                </a:rPr>
                <a:t>Troubleshooting &amp; Known Issues</a:t>
              </a:r>
            </a:p>
          </p:txBody>
        </p:sp>
      </p:grpSp>
      <p:grpSp>
        <p:nvGrpSpPr>
          <p:cNvPr id="8" name="Group 8"/>
          <p:cNvGrpSpPr/>
          <p:nvPr/>
        </p:nvGrpSpPr>
        <p:grpSpPr>
          <a:xfrm>
            <a:off x="813435" y="2322195"/>
            <a:ext cx="8180070" cy="3448050"/>
            <a:chOff x="0" y="0"/>
            <a:chExt cx="10906760" cy="4597400"/>
          </a:xfrm>
        </p:grpSpPr>
        <p:sp>
          <p:nvSpPr>
            <p:cNvPr id="9" name="Freeform 9"/>
            <p:cNvSpPr/>
            <p:nvPr/>
          </p:nvSpPr>
          <p:spPr>
            <a:xfrm>
              <a:off x="0" y="0"/>
              <a:ext cx="10906760" cy="4597400"/>
            </a:xfrm>
            <a:custGeom>
              <a:avLst/>
              <a:gdLst/>
              <a:ahLst/>
              <a:cxnLst/>
              <a:rect l="l" t="t" r="r" b="b"/>
              <a:pathLst>
                <a:path w="10906760" h="4597400">
                  <a:moveTo>
                    <a:pt x="0" y="183896"/>
                  </a:moveTo>
                  <a:cubicBezTo>
                    <a:pt x="0" y="82296"/>
                    <a:pt x="82296" y="0"/>
                    <a:pt x="183896" y="0"/>
                  </a:cubicBezTo>
                  <a:lnTo>
                    <a:pt x="10722864" y="0"/>
                  </a:lnTo>
                  <a:cubicBezTo>
                    <a:pt x="10824464" y="0"/>
                    <a:pt x="10906760" y="82296"/>
                    <a:pt x="10906760" y="183896"/>
                  </a:cubicBezTo>
                  <a:lnTo>
                    <a:pt x="10906760" y="4413504"/>
                  </a:lnTo>
                  <a:cubicBezTo>
                    <a:pt x="10906760" y="4515104"/>
                    <a:pt x="10824464" y="4597400"/>
                    <a:pt x="10722864" y="4597400"/>
                  </a:cubicBezTo>
                  <a:lnTo>
                    <a:pt x="183896" y="4597400"/>
                  </a:lnTo>
                  <a:cubicBezTo>
                    <a:pt x="82296" y="4597400"/>
                    <a:pt x="0" y="4515104"/>
                    <a:pt x="0" y="4413504"/>
                  </a:cubicBezTo>
                  <a:close/>
                </a:path>
              </a:pathLst>
            </a:custGeom>
            <a:solidFill>
              <a:srgbClr val="FFFFFF"/>
            </a:solidFill>
            <a:ln w="19050" cap="sq">
              <a:solidFill>
                <a:srgbClr val="DCE7E0"/>
              </a:solidFill>
              <a:prstDash val="solid"/>
              <a:miter/>
            </a:ln>
          </p:spPr>
          <p:txBody>
            <a:bodyPr/>
            <a:lstStyle/>
            <a:p>
              <a:endParaRPr lang="en-US"/>
            </a:p>
          </p:txBody>
        </p:sp>
      </p:grpSp>
      <p:grpSp>
        <p:nvGrpSpPr>
          <p:cNvPr id="10" name="Group 10"/>
          <p:cNvGrpSpPr/>
          <p:nvPr/>
        </p:nvGrpSpPr>
        <p:grpSpPr>
          <a:xfrm>
            <a:off x="1097280" y="2606040"/>
            <a:ext cx="1851660" cy="438912"/>
            <a:chOff x="0" y="0"/>
            <a:chExt cx="2468880" cy="585216"/>
          </a:xfrm>
        </p:grpSpPr>
        <p:sp>
          <p:nvSpPr>
            <p:cNvPr id="11" name="Freeform 11"/>
            <p:cNvSpPr/>
            <p:nvPr/>
          </p:nvSpPr>
          <p:spPr>
            <a:xfrm>
              <a:off x="0" y="0"/>
              <a:ext cx="2468880" cy="585216"/>
            </a:xfrm>
            <a:custGeom>
              <a:avLst/>
              <a:gdLst/>
              <a:ahLst/>
              <a:cxnLst/>
              <a:rect l="l" t="t" r="r" b="b"/>
              <a:pathLst>
                <a:path w="2468880" h="585216">
                  <a:moveTo>
                    <a:pt x="0" y="292608"/>
                  </a:moveTo>
                  <a:cubicBezTo>
                    <a:pt x="0" y="131064"/>
                    <a:pt x="131064" y="0"/>
                    <a:pt x="292608" y="0"/>
                  </a:cubicBezTo>
                  <a:lnTo>
                    <a:pt x="2176272" y="0"/>
                  </a:lnTo>
                  <a:cubicBezTo>
                    <a:pt x="2337816" y="0"/>
                    <a:pt x="2468880" y="131064"/>
                    <a:pt x="2468880" y="292608"/>
                  </a:cubicBezTo>
                  <a:cubicBezTo>
                    <a:pt x="2468880" y="454152"/>
                    <a:pt x="2337816" y="585216"/>
                    <a:pt x="2176272" y="585216"/>
                  </a:cubicBezTo>
                  <a:lnTo>
                    <a:pt x="292608" y="585216"/>
                  </a:lnTo>
                  <a:cubicBezTo>
                    <a:pt x="131064" y="585216"/>
                    <a:pt x="0" y="454152"/>
                    <a:pt x="0" y="292608"/>
                  </a:cubicBezTo>
                  <a:close/>
                </a:path>
              </a:pathLst>
            </a:custGeom>
            <a:solidFill>
              <a:srgbClr val="FFB703"/>
            </a:solidFill>
          </p:spPr>
          <p:txBody>
            <a:bodyPr/>
            <a:lstStyle/>
            <a:p>
              <a:endParaRPr lang="en-US"/>
            </a:p>
          </p:txBody>
        </p:sp>
      </p:grpSp>
      <p:grpSp>
        <p:nvGrpSpPr>
          <p:cNvPr id="12" name="Group 12"/>
          <p:cNvGrpSpPr/>
          <p:nvPr/>
        </p:nvGrpSpPr>
        <p:grpSpPr>
          <a:xfrm>
            <a:off x="1097280" y="2606040"/>
            <a:ext cx="1851660" cy="438912"/>
            <a:chOff x="0" y="0"/>
            <a:chExt cx="2468880" cy="585216"/>
          </a:xfrm>
        </p:grpSpPr>
        <p:sp>
          <p:nvSpPr>
            <p:cNvPr id="13" name="Freeform 13"/>
            <p:cNvSpPr/>
            <p:nvPr/>
          </p:nvSpPr>
          <p:spPr>
            <a:xfrm>
              <a:off x="0" y="0"/>
              <a:ext cx="2468880" cy="585216"/>
            </a:xfrm>
            <a:custGeom>
              <a:avLst/>
              <a:gdLst/>
              <a:ahLst/>
              <a:cxnLst/>
              <a:rect l="l" t="t" r="r" b="b"/>
              <a:pathLst>
                <a:path w="2468880" h="585216">
                  <a:moveTo>
                    <a:pt x="0" y="0"/>
                  </a:moveTo>
                  <a:lnTo>
                    <a:pt x="2468880" y="0"/>
                  </a:lnTo>
                  <a:lnTo>
                    <a:pt x="2468880" y="585216"/>
                  </a:lnTo>
                  <a:lnTo>
                    <a:pt x="0" y="585216"/>
                  </a:lnTo>
                  <a:close/>
                </a:path>
              </a:pathLst>
            </a:custGeom>
            <a:blipFill>
              <a:blip r:embed="rId3">
                <a:alphaModFix amt="0"/>
              </a:blip>
              <a:stretch>
                <a:fillRect t="-32202" b="-32202"/>
              </a:stretch>
            </a:blipFill>
          </p:spPr>
          <p:txBody>
            <a:bodyPr/>
            <a:lstStyle/>
            <a:p>
              <a:endParaRPr lang="en-US"/>
            </a:p>
          </p:txBody>
        </p:sp>
        <p:sp>
          <p:nvSpPr>
            <p:cNvPr id="14" name="TextBox 14"/>
            <p:cNvSpPr txBox="1"/>
            <p:nvPr/>
          </p:nvSpPr>
          <p:spPr>
            <a:xfrm>
              <a:off x="0" y="-19050"/>
              <a:ext cx="2468880" cy="604266"/>
            </a:xfrm>
            <a:prstGeom prst="rect">
              <a:avLst/>
            </a:prstGeom>
          </p:spPr>
          <p:txBody>
            <a:bodyPr lIns="0" tIns="0" rIns="0" bIns="0" rtlCol="0" anchor="ctr"/>
            <a:lstStyle/>
            <a:p>
              <a:pPr algn="ctr">
                <a:lnSpc>
                  <a:spcPts val="1439"/>
                </a:lnSpc>
              </a:pPr>
              <a:r>
                <a:rPr lang="en-US" sz="1200" b="1">
                  <a:solidFill>
                    <a:srgbClr val="0D1B2A"/>
                  </a:solidFill>
                  <a:latin typeface="Calibri (MS) Bold"/>
                  <a:ea typeface="Calibri (MS) Bold"/>
                  <a:cs typeface="Calibri (MS) Bold"/>
                  <a:sym typeface="Calibri (MS) Bold"/>
                </a:rPr>
                <a:t>SYMPTOM</a:t>
              </a:r>
            </a:p>
          </p:txBody>
        </p:sp>
      </p:grpSp>
      <p:grpSp>
        <p:nvGrpSpPr>
          <p:cNvPr id="15" name="Group 15"/>
          <p:cNvGrpSpPr/>
          <p:nvPr/>
        </p:nvGrpSpPr>
        <p:grpSpPr>
          <a:xfrm>
            <a:off x="1097280" y="3127248"/>
            <a:ext cx="7612380" cy="617220"/>
            <a:chOff x="0" y="0"/>
            <a:chExt cx="10149840" cy="822960"/>
          </a:xfrm>
        </p:grpSpPr>
        <p:sp>
          <p:nvSpPr>
            <p:cNvPr id="16" name="Freeform 16"/>
            <p:cNvSpPr/>
            <p:nvPr/>
          </p:nvSpPr>
          <p:spPr>
            <a:xfrm>
              <a:off x="0" y="0"/>
              <a:ext cx="10149840" cy="822960"/>
            </a:xfrm>
            <a:custGeom>
              <a:avLst/>
              <a:gdLst/>
              <a:ahLst/>
              <a:cxnLst/>
              <a:rect l="l" t="t" r="r" b="b"/>
              <a:pathLst>
                <a:path w="10149840" h="822960">
                  <a:moveTo>
                    <a:pt x="0" y="0"/>
                  </a:moveTo>
                  <a:lnTo>
                    <a:pt x="10149840" y="0"/>
                  </a:lnTo>
                  <a:lnTo>
                    <a:pt x="10149840" y="822960"/>
                  </a:lnTo>
                  <a:lnTo>
                    <a:pt x="0" y="822960"/>
                  </a:lnTo>
                  <a:close/>
                </a:path>
              </a:pathLst>
            </a:custGeom>
            <a:blipFill>
              <a:blip r:embed="rId3">
                <a:alphaModFix amt="0"/>
              </a:blip>
              <a:stretch>
                <a:fillRect t="-190315" b="-190315"/>
              </a:stretch>
            </a:blipFill>
          </p:spPr>
          <p:txBody>
            <a:bodyPr/>
            <a:lstStyle/>
            <a:p>
              <a:endParaRPr lang="en-US"/>
            </a:p>
          </p:txBody>
        </p:sp>
        <p:sp>
          <p:nvSpPr>
            <p:cNvPr id="17" name="TextBox 17"/>
            <p:cNvSpPr txBox="1"/>
            <p:nvPr/>
          </p:nvSpPr>
          <p:spPr>
            <a:xfrm>
              <a:off x="0" y="-38100"/>
              <a:ext cx="10149840" cy="861060"/>
            </a:xfrm>
            <a:prstGeom prst="rect">
              <a:avLst/>
            </a:prstGeom>
          </p:spPr>
          <p:txBody>
            <a:bodyPr lIns="0" tIns="0" rIns="0" bIns="0" rtlCol="0" anchor="ctr"/>
            <a:lstStyle/>
            <a:p>
              <a:pPr algn="l">
                <a:lnSpc>
                  <a:spcPts val="2250"/>
                </a:lnSpc>
              </a:pPr>
              <a:r>
                <a:rPr lang="en-US" sz="1875" b="1">
                  <a:solidFill>
                    <a:srgbClr val="0D1B2A"/>
                  </a:solidFill>
                  <a:latin typeface="Calibri (MS) Bold"/>
                  <a:ea typeface="Calibri (MS) Bold"/>
                  <a:cs typeface="Calibri (MS) Bold"/>
                  <a:sym typeface="Calibri (MS) Bold"/>
                </a:rPr>
                <a:t>Graphs zig-zagging in time</a:t>
              </a:r>
            </a:p>
          </p:txBody>
        </p:sp>
      </p:grpSp>
      <p:grpSp>
        <p:nvGrpSpPr>
          <p:cNvPr id="18" name="Group 18"/>
          <p:cNvGrpSpPr/>
          <p:nvPr/>
        </p:nvGrpSpPr>
        <p:grpSpPr>
          <a:xfrm>
            <a:off x="1097280" y="3771900"/>
            <a:ext cx="7612380" cy="891540"/>
            <a:chOff x="0" y="0"/>
            <a:chExt cx="10149840" cy="1188720"/>
          </a:xfrm>
        </p:grpSpPr>
        <p:sp>
          <p:nvSpPr>
            <p:cNvPr id="19" name="Freeform 19"/>
            <p:cNvSpPr/>
            <p:nvPr/>
          </p:nvSpPr>
          <p:spPr>
            <a:xfrm>
              <a:off x="0" y="0"/>
              <a:ext cx="10149840" cy="1188720"/>
            </a:xfrm>
            <a:custGeom>
              <a:avLst/>
              <a:gdLst/>
              <a:ahLst/>
              <a:cxnLst/>
              <a:rect l="l" t="t" r="r" b="b"/>
              <a:pathLst>
                <a:path w="10149840" h="1188720">
                  <a:moveTo>
                    <a:pt x="0" y="0"/>
                  </a:moveTo>
                  <a:lnTo>
                    <a:pt x="10149840" y="0"/>
                  </a:lnTo>
                  <a:lnTo>
                    <a:pt x="10149840" y="1188720"/>
                  </a:lnTo>
                  <a:lnTo>
                    <a:pt x="0" y="1188720"/>
                  </a:lnTo>
                  <a:close/>
                </a:path>
              </a:pathLst>
            </a:custGeom>
            <a:blipFill>
              <a:blip r:embed="rId3">
                <a:alphaModFix amt="0"/>
              </a:blip>
              <a:stretch>
                <a:fillRect t="-116372" b="-116372"/>
              </a:stretch>
            </a:blipFill>
          </p:spPr>
          <p:txBody>
            <a:bodyPr/>
            <a:lstStyle/>
            <a:p>
              <a:endParaRPr lang="en-US"/>
            </a:p>
          </p:txBody>
        </p:sp>
        <p:sp>
          <p:nvSpPr>
            <p:cNvPr id="20" name="TextBox 20"/>
            <p:cNvSpPr txBox="1"/>
            <p:nvPr/>
          </p:nvSpPr>
          <p:spPr>
            <a:xfrm>
              <a:off x="0" y="-57150"/>
              <a:ext cx="10149840" cy="1245870"/>
            </a:xfrm>
            <a:prstGeom prst="rect">
              <a:avLst/>
            </a:prstGeom>
          </p:spPr>
          <p:txBody>
            <a:bodyPr lIns="0" tIns="0" rIns="0" bIns="0" rtlCol="0" anchor="ctr"/>
            <a:lstStyle/>
            <a:p>
              <a:pPr algn="l">
                <a:lnSpc>
                  <a:spcPts val="2095"/>
                </a:lnSpc>
              </a:pPr>
              <a:r>
                <a:rPr lang="en-US" sz="1455">
                  <a:solidFill>
                    <a:srgbClr val="5B6B72"/>
                  </a:solidFill>
                  <a:latin typeface="Calibri (MS)"/>
                  <a:ea typeface="Calibri (MS)"/>
                  <a:cs typeface="Calibri (MS)"/>
                  <a:sym typeface="Calibri (MS)"/>
                </a:rPr>
                <a:t>Root cause: sender.py looped historical CSVs infinitely, jumping timestamps backward</a:t>
              </a:r>
            </a:p>
          </p:txBody>
        </p:sp>
      </p:grpSp>
      <p:grpSp>
        <p:nvGrpSpPr>
          <p:cNvPr id="21" name="Group 21"/>
          <p:cNvGrpSpPr/>
          <p:nvPr/>
        </p:nvGrpSpPr>
        <p:grpSpPr>
          <a:xfrm>
            <a:off x="1097280" y="4732020"/>
            <a:ext cx="7612380" cy="891540"/>
            <a:chOff x="0" y="0"/>
            <a:chExt cx="10149840" cy="1188720"/>
          </a:xfrm>
        </p:grpSpPr>
        <p:sp>
          <p:nvSpPr>
            <p:cNvPr id="22" name="Freeform 22"/>
            <p:cNvSpPr/>
            <p:nvPr/>
          </p:nvSpPr>
          <p:spPr>
            <a:xfrm>
              <a:off x="0" y="0"/>
              <a:ext cx="10149840" cy="1188720"/>
            </a:xfrm>
            <a:custGeom>
              <a:avLst/>
              <a:gdLst/>
              <a:ahLst/>
              <a:cxnLst/>
              <a:rect l="l" t="t" r="r" b="b"/>
              <a:pathLst>
                <a:path w="10149840" h="1188720">
                  <a:moveTo>
                    <a:pt x="0" y="0"/>
                  </a:moveTo>
                  <a:lnTo>
                    <a:pt x="10149840" y="0"/>
                  </a:lnTo>
                  <a:lnTo>
                    <a:pt x="10149840" y="1188720"/>
                  </a:lnTo>
                  <a:lnTo>
                    <a:pt x="0" y="1188720"/>
                  </a:lnTo>
                  <a:close/>
                </a:path>
              </a:pathLst>
            </a:custGeom>
            <a:blipFill>
              <a:blip r:embed="rId3">
                <a:alphaModFix amt="0"/>
              </a:blip>
              <a:stretch>
                <a:fillRect t="-116372" b="-116372"/>
              </a:stretch>
            </a:blipFill>
          </p:spPr>
          <p:txBody>
            <a:bodyPr/>
            <a:lstStyle/>
            <a:p>
              <a:endParaRPr lang="en-US"/>
            </a:p>
          </p:txBody>
        </p:sp>
        <p:sp>
          <p:nvSpPr>
            <p:cNvPr id="23" name="TextBox 23"/>
            <p:cNvSpPr txBox="1"/>
            <p:nvPr/>
          </p:nvSpPr>
          <p:spPr>
            <a:xfrm>
              <a:off x="0" y="-57150"/>
              <a:ext cx="10149840" cy="1245870"/>
            </a:xfrm>
            <a:prstGeom prst="rect">
              <a:avLst/>
            </a:prstGeom>
          </p:spPr>
          <p:txBody>
            <a:bodyPr lIns="0" tIns="0" rIns="0" bIns="0" rtlCol="0" anchor="ctr"/>
            <a:lstStyle/>
            <a:p>
              <a:pPr algn="l">
                <a:lnSpc>
                  <a:spcPts val="2095"/>
                </a:lnSpc>
              </a:pPr>
              <a:r>
                <a:rPr lang="en-US" sz="1455" b="1">
                  <a:solidFill>
                    <a:srgbClr val="40916C"/>
                  </a:solidFill>
                  <a:latin typeface="Calibri (MS) Bold"/>
                  <a:ea typeface="Calibri (MS) Bold"/>
                  <a:cs typeface="Calibri (MS) Bold"/>
                  <a:sym typeface="Calibri (MS) Bold"/>
                </a:rPr>
                <a:t>Fix: Removed the infinite loop; queries now align to NOW() for live sync</a:t>
              </a:r>
            </a:p>
          </p:txBody>
        </p:sp>
      </p:grpSp>
      <p:grpSp>
        <p:nvGrpSpPr>
          <p:cNvPr id="24" name="Group 24"/>
          <p:cNvGrpSpPr/>
          <p:nvPr/>
        </p:nvGrpSpPr>
        <p:grpSpPr>
          <a:xfrm>
            <a:off x="9248775" y="2322195"/>
            <a:ext cx="8180070" cy="3448050"/>
            <a:chOff x="0" y="0"/>
            <a:chExt cx="10906760" cy="4597400"/>
          </a:xfrm>
        </p:grpSpPr>
        <p:sp>
          <p:nvSpPr>
            <p:cNvPr id="25" name="Freeform 25"/>
            <p:cNvSpPr/>
            <p:nvPr/>
          </p:nvSpPr>
          <p:spPr>
            <a:xfrm>
              <a:off x="0" y="0"/>
              <a:ext cx="10906760" cy="4597400"/>
            </a:xfrm>
            <a:custGeom>
              <a:avLst/>
              <a:gdLst/>
              <a:ahLst/>
              <a:cxnLst/>
              <a:rect l="l" t="t" r="r" b="b"/>
              <a:pathLst>
                <a:path w="10906760" h="4597400">
                  <a:moveTo>
                    <a:pt x="0" y="183896"/>
                  </a:moveTo>
                  <a:cubicBezTo>
                    <a:pt x="0" y="82296"/>
                    <a:pt x="82296" y="0"/>
                    <a:pt x="183896" y="0"/>
                  </a:cubicBezTo>
                  <a:lnTo>
                    <a:pt x="10722864" y="0"/>
                  </a:lnTo>
                  <a:cubicBezTo>
                    <a:pt x="10824464" y="0"/>
                    <a:pt x="10906760" y="82296"/>
                    <a:pt x="10906760" y="183896"/>
                  </a:cubicBezTo>
                  <a:lnTo>
                    <a:pt x="10906760" y="4413504"/>
                  </a:lnTo>
                  <a:cubicBezTo>
                    <a:pt x="10906760" y="4515104"/>
                    <a:pt x="10824464" y="4597400"/>
                    <a:pt x="10722864" y="4597400"/>
                  </a:cubicBezTo>
                  <a:lnTo>
                    <a:pt x="183896" y="4597400"/>
                  </a:lnTo>
                  <a:cubicBezTo>
                    <a:pt x="82296" y="4597400"/>
                    <a:pt x="0" y="4515104"/>
                    <a:pt x="0" y="4413504"/>
                  </a:cubicBezTo>
                  <a:close/>
                </a:path>
              </a:pathLst>
            </a:custGeom>
            <a:solidFill>
              <a:srgbClr val="FFFFFF"/>
            </a:solidFill>
            <a:ln w="19050" cap="sq">
              <a:solidFill>
                <a:srgbClr val="DCE7E0"/>
              </a:solidFill>
              <a:prstDash val="solid"/>
              <a:miter/>
            </a:ln>
          </p:spPr>
          <p:txBody>
            <a:bodyPr/>
            <a:lstStyle/>
            <a:p>
              <a:endParaRPr lang="en-US"/>
            </a:p>
          </p:txBody>
        </p:sp>
      </p:grpSp>
      <p:grpSp>
        <p:nvGrpSpPr>
          <p:cNvPr id="26" name="Group 26"/>
          <p:cNvGrpSpPr/>
          <p:nvPr/>
        </p:nvGrpSpPr>
        <p:grpSpPr>
          <a:xfrm>
            <a:off x="9532620" y="2606040"/>
            <a:ext cx="1851660" cy="438912"/>
            <a:chOff x="0" y="0"/>
            <a:chExt cx="2468880" cy="585216"/>
          </a:xfrm>
        </p:grpSpPr>
        <p:sp>
          <p:nvSpPr>
            <p:cNvPr id="27" name="Freeform 27"/>
            <p:cNvSpPr/>
            <p:nvPr/>
          </p:nvSpPr>
          <p:spPr>
            <a:xfrm>
              <a:off x="0" y="0"/>
              <a:ext cx="2468880" cy="585216"/>
            </a:xfrm>
            <a:custGeom>
              <a:avLst/>
              <a:gdLst/>
              <a:ahLst/>
              <a:cxnLst/>
              <a:rect l="l" t="t" r="r" b="b"/>
              <a:pathLst>
                <a:path w="2468880" h="585216">
                  <a:moveTo>
                    <a:pt x="0" y="292608"/>
                  </a:moveTo>
                  <a:cubicBezTo>
                    <a:pt x="0" y="131064"/>
                    <a:pt x="131064" y="0"/>
                    <a:pt x="292608" y="0"/>
                  </a:cubicBezTo>
                  <a:lnTo>
                    <a:pt x="2176272" y="0"/>
                  </a:lnTo>
                  <a:cubicBezTo>
                    <a:pt x="2337816" y="0"/>
                    <a:pt x="2468880" y="131064"/>
                    <a:pt x="2468880" y="292608"/>
                  </a:cubicBezTo>
                  <a:cubicBezTo>
                    <a:pt x="2468880" y="454152"/>
                    <a:pt x="2337816" y="585216"/>
                    <a:pt x="2176272" y="585216"/>
                  </a:cubicBezTo>
                  <a:lnTo>
                    <a:pt x="292608" y="585216"/>
                  </a:lnTo>
                  <a:cubicBezTo>
                    <a:pt x="131064" y="585216"/>
                    <a:pt x="0" y="454152"/>
                    <a:pt x="0" y="292608"/>
                  </a:cubicBezTo>
                  <a:close/>
                </a:path>
              </a:pathLst>
            </a:custGeom>
            <a:solidFill>
              <a:srgbClr val="FFB703"/>
            </a:solidFill>
          </p:spPr>
          <p:txBody>
            <a:bodyPr/>
            <a:lstStyle/>
            <a:p>
              <a:endParaRPr lang="en-US"/>
            </a:p>
          </p:txBody>
        </p:sp>
      </p:grpSp>
      <p:grpSp>
        <p:nvGrpSpPr>
          <p:cNvPr id="28" name="Group 28"/>
          <p:cNvGrpSpPr/>
          <p:nvPr/>
        </p:nvGrpSpPr>
        <p:grpSpPr>
          <a:xfrm>
            <a:off x="9532620" y="2606040"/>
            <a:ext cx="1851660" cy="438912"/>
            <a:chOff x="0" y="0"/>
            <a:chExt cx="2468880" cy="585216"/>
          </a:xfrm>
        </p:grpSpPr>
        <p:sp>
          <p:nvSpPr>
            <p:cNvPr id="29" name="Freeform 29"/>
            <p:cNvSpPr/>
            <p:nvPr/>
          </p:nvSpPr>
          <p:spPr>
            <a:xfrm>
              <a:off x="0" y="0"/>
              <a:ext cx="2468880" cy="585216"/>
            </a:xfrm>
            <a:custGeom>
              <a:avLst/>
              <a:gdLst/>
              <a:ahLst/>
              <a:cxnLst/>
              <a:rect l="l" t="t" r="r" b="b"/>
              <a:pathLst>
                <a:path w="2468880" h="585216">
                  <a:moveTo>
                    <a:pt x="0" y="0"/>
                  </a:moveTo>
                  <a:lnTo>
                    <a:pt x="2468880" y="0"/>
                  </a:lnTo>
                  <a:lnTo>
                    <a:pt x="2468880" y="585216"/>
                  </a:lnTo>
                  <a:lnTo>
                    <a:pt x="0" y="585216"/>
                  </a:lnTo>
                  <a:close/>
                </a:path>
              </a:pathLst>
            </a:custGeom>
            <a:blipFill>
              <a:blip r:embed="rId3">
                <a:alphaModFix amt="0"/>
              </a:blip>
              <a:stretch>
                <a:fillRect t="-32202" b="-32202"/>
              </a:stretch>
            </a:blipFill>
          </p:spPr>
          <p:txBody>
            <a:bodyPr/>
            <a:lstStyle/>
            <a:p>
              <a:endParaRPr lang="en-US"/>
            </a:p>
          </p:txBody>
        </p:sp>
        <p:sp>
          <p:nvSpPr>
            <p:cNvPr id="30" name="TextBox 30"/>
            <p:cNvSpPr txBox="1"/>
            <p:nvPr/>
          </p:nvSpPr>
          <p:spPr>
            <a:xfrm>
              <a:off x="0" y="-19050"/>
              <a:ext cx="2468880" cy="604266"/>
            </a:xfrm>
            <a:prstGeom prst="rect">
              <a:avLst/>
            </a:prstGeom>
          </p:spPr>
          <p:txBody>
            <a:bodyPr lIns="0" tIns="0" rIns="0" bIns="0" rtlCol="0" anchor="ctr"/>
            <a:lstStyle/>
            <a:p>
              <a:pPr algn="ctr">
                <a:lnSpc>
                  <a:spcPts val="1439"/>
                </a:lnSpc>
              </a:pPr>
              <a:r>
                <a:rPr lang="en-US" sz="1200" b="1">
                  <a:solidFill>
                    <a:srgbClr val="0D1B2A"/>
                  </a:solidFill>
                  <a:latin typeface="Calibri (MS) Bold"/>
                  <a:ea typeface="Calibri (MS) Bold"/>
                  <a:cs typeface="Calibri (MS) Bold"/>
                  <a:sym typeface="Calibri (MS) Bold"/>
                </a:rPr>
                <a:t>SYMPTOM</a:t>
              </a:r>
            </a:p>
          </p:txBody>
        </p:sp>
      </p:grpSp>
      <p:grpSp>
        <p:nvGrpSpPr>
          <p:cNvPr id="31" name="Group 31"/>
          <p:cNvGrpSpPr/>
          <p:nvPr/>
        </p:nvGrpSpPr>
        <p:grpSpPr>
          <a:xfrm>
            <a:off x="9532620" y="3127248"/>
            <a:ext cx="7612380" cy="617220"/>
            <a:chOff x="0" y="0"/>
            <a:chExt cx="10149840" cy="822960"/>
          </a:xfrm>
        </p:grpSpPr>
        <p:sp>
          <p:nvSpPr>
            <p:cNvPr id="32" name="Freeform 32"/>
            <p:cNvSpPr/>
            <p:nvPr/>
          </p:nvSpPr>
          <p:spPr>
            <a:xfrm>
              <a:off x="0" y="0"/>
              <a:ext cx="10149840" cy="822960"/>
            </a:xfrm>
            <a:custGeom>
              <a:avLst/>
              <a:gdLst/>
              <a:ahLst/>
              <a:cxnLst/>
              <a:rect l="l" t="t" r="r" b="b"/>
              <a:pathLst>
                <a:path w="10149840" h="822960">
                  <a:moveTo>
                    <a:pt x="0" y="0"/>
                  </a:moveTo>
                  <a:lnTo>
                    <a:pt x="10149840" y="0"/>
                  </a:lnTo>
                  <a:lnTo>
                    <a:pt x="10149840" y="822960"/>
                  </a:lnTo>
                  <a:lnTo>
                    <a:pt x="0" y="822960"/>
                  </a:lnTo>
                  <a:close/>
                </a:path>
              </a:pathLst>
            </a:custGeom>
            <a:blipFill>
              <a:blip r:embed="rId3">
                <a:alphaModFix amt="0"/>
              </a:blip>
              <a:stretch>
                <a:fillRect t="-190315" b="-190315"/>
              </a:stretch>
            </a:blipFill>
          </p:spPr>
          <p:txBody>
            <a:bodyPr/>
            <a:lstStyle/>
            <a:p>
              <a:endParaRPr lang="en-US"/>
            </a:p>
          </p:txBody>
        </p:sp>
        <p:sp>
          <p:nvSpPr>
            <p:cNvPr id="33" name="TextBox 33"/>
            <p:cNvSpPr txBox="1"/>
            <p:nvPr/>
          </p:nvSpPr>
          <p:spPr>
            <a:xfrm>
              <a:off x="0" y="-38100"/>
              <a:ext cx="10149840" cy="861060"/>
            </a:xfrm>
            <a:prstGeom prst="rect">
              <a:avLst/>
            </a:prstGeom>
          </p:spPr>
          <p:txBody>
            <a:bodyPr lIns="0" tIns="0" rIns="0" bIns="0" rtlCol="0" anchor="ctr"/>
            <a:lstStyle/>
            <a:p>
              <a:pPr algn="l">
                <a:lnSpc>
                  <a:spcPts val="2250"/>
                </a:lnSpc>
              </a:pPr>
              <a:r>
                <a:rPr lang="en-US" sz="1875" b="1">
                  <a:solidFill>
                    <a:srgbClr val="0D1B2A"/>
                  </a:solidFill>
                  <a:latin typeface="Calibri (MS) Bold"/>
                  <a:ea typeface="Calibri (MS) Bold"/>
                  <a:cs typeface="Calibri (MS) Bold"/>
                  <a:sym typeface="Calibri (MS) Bold"/>
                </a:rPr>
                <a:t>ONNX shape-mismatch crash</a:t>
              </a:r>
            </a:p>
          </p:txBody>
        </p:sp>
      </p:grpSp>
      <p:grpSp>
        <p:nvGrpSpPr>
          <p:cNvPr id="34" name="Group 34"/>
          <p:cNvGrpSpPr/>
          <p:nvPr/>
        </p:nvGrpSpPr>
        <p:grpSpPr>
          <a:xfrm>
            <a:off x="9532620" y="3771900"/>
            <a:ext cx="7612380" cy="891540"/>
            <a:chOff x="0" y="0"/>
            <a:chExt cx="10149840" cy="1188720"/>
          </a:xfrm>
        </p:grpSpPr>
        <p:sp>
          <p:nvSpPr>
            <p:cNvPr id="35" name="Freeform 35"/>
            <p:cNvSpPr/>
            <p:nvPr/>
          </p:nvSpPr>
          <p:spPr>
            <a:xfrm>
              <a:off x="0" y="0"/>
              <a:ext cx="10149840" cy="1188720"/>
            </a:xfrm>
            <a:custGeom>
              <a:avLst/>
              <a:gdLst/>
              <a:ahLst/>
              <a:cxnLst/>
              <a:rect l="l" t="t" r="r" b="b"/>
              <a:pathLst>
                <a:path w="10149840" h="1188720">
                  <a:moveTo>
                    <a:pt x="0" y="0"/>
                  </a:moveTo>
                  <a:lnTo>
                    <a:pt x="10149840" y="0"/>
                  </a:lnTo>
                  <a:lnTo>
                    <a:pt x="10149840" y="1188720"/>
                  </a:lnTo>
                  <a:lnTo>
                    <a:pt x="0" y="1188720"/>
                  </a:lnTo>
                  <a:close/>
                </a:path>
              </a:pathLst>
            </a:custGeom>
            <a:blipFill>
              <a:blip r:embed="rId3">
                <a:alphaModFix amt="0"/>
              </a:blip>
              <a:stretch>
                <a:fillRect t="-116372" b="-116372"/>
              </a:stretch>
            </a:blipFill>
          </p:spPr>
          <p:txBody>
            <a:bodyPr/>
            <a:lstStyle/>
            <a:p>
              <a:endParaRPr lang="en-US"/>
            </a:p>
          </p:txBody>
        </p:sp>
        <p:sp>
          <p:nvSpPr>
            <p:cNvPr id="36" name="TextBox 36"/>
            <p:cNvSpPr txBox="1"/>
            <p:nvPr/>
          </p:nvSpPr>
          <p:spPr>
            <a:xfrm>
              <a:off x="0" y="-57150"/>
              <a:ext cx="10149840" cy="1245870"/>
            </a:xfrm>
            <a:prstGeom prst="rect">
              <a:avLst/>
            </a:prstGeom>
          </p:spPr>
          <p:txBody>
            <a:bodyPr lIns="0" tIns="0" rIns="0" bIns="0" rtlCol="0" anchor="ctr"/>
            <a:lstStyle/>
            <a:p>
              <a:pPr algn="l">
                <a:lnSpc>
                  <a:spcPts val="2095"/>
                </a:lnSpc>
              </a:pPr>
              <a:r>
                <a:rPr lang="en-US" sz="1455">
                  <a:solidFill>
                    <a:srgbClr val="5B6B72"/>
                  </a:solidFill>
                  <a:latin typeface="Calibri (MS)"/>
                  <a:ea typeface="Calibri (MS)"/>
                  <a:cs typeface="Calibri (MS)"/>
                  <a:sym typeface="Calibri (MS)"/>
                </a:rPr>
                <a:t>Root cause: Models require exact tensor shapes (e.g. expecting 144×10, given only 24×1)</a:t>
              </a:r>
            </a:p>
          </p:txBody>
        </p:sp>
      </p:grpSp>
      <p:grpSp>
        <p:nvGrpSpPr>
          <p:cNvPr id="37" name="Group 37"/>
          <p:cNvGrpSpPr/>
          <p:nvPr/>
        </p:nvGrpSpPr>
        <p:grpSpPr>
          <a:xfrm>
            <a:off x="9532620" y="4732020"/>
            <a:ext cx="7612380" cy="891540"/>
            <a:chOff x="0" y="0"/>
            <a:chExt cx="10149840" cy="1188720"/>
          </a:xfrm>
        </p:grpSpPr>
        <p:sp>
          <p:nvSpPr>
            <p:cNvPr id="38" name="Freeform 38"/>
            <p:cNvSpPr/>
            <p:nvPr/>
          </p:nvSpPr>
          <p:spPr>
            <a:xfrm>
              <a:off x="0" y="0"/>
              <a:ext cx="10149840" cy="1188720"/>
            </a:xfrm>
            <a:custGeom>
              <a:avLst/>
              <a:gdLst/>
              <a:ahLst/>
              <a:cxnLst/>
              <a:rect l="l" t="t" r="r" b="b"/>
              <a:pathLst>
                <a:path w="10149840" h="1188720">
                  <a:moveTo>
                    <a:pt x="0" y="0"/>
                  </a:moveTo>
                  <a:lnTo>
                    <a:pt x="10149840" y="0"/>
                  </a:lnTo>
                  <a:lnTo>
                    <a:pt x="10149840" y="1188720"/>
                  </a:lnTo>
                  <a:lnTo>
                    <a:pt x="0" y="1188720"/>
                  </a:lnTo>
                  <a:close/>
                </a:path>
              </a:pathLst>
            </a:custGeom>
            <a:blipFill>
              <a:blip r:embed="rId3">
                <a:alphaModFix amt="0"/>
              </a:blip>
              <a:stretch>
                <a:fillRect t="-116372" b="-116372"/>
              </a:stretch>
            </a:blipFill>
          </p:spPr>
          <p:txBody>
            <a:bodyPr/>
            <a:lstStyle/>
            <a:p>
              <a:endParaRPr lang="en-US"/>
            </a:p>
          </p:txBody>
        </p:sp>
        <p:sp>
          <p:nvSpPr>
            <p:cNvPr id="39" name="TextBox 39"/>
            <p:cNvSpPr txBox="1"/>
            <p:nvPr/>
          </p:nvSpPr>
          <p:spPr>
            <a:xfrm>
              <a:off x="0" y="-57150"/>
              <a:ext cx="10149840" cy="1245870"/>
            </a:xfrm>
            <a:prstGeom prst="rect">
              <a:avLst/>
            </a:prstGeom>
          </p:spPr>
          <p:txBody>
            <a:bodyPr lIns="0" tIns="0" rIns="0" bIns="0" rtlCol="0" anchor="ctr"/>
            <a:lstStyle/>
            <a:p>
              <a:pPr algn="l">
                <a:lnSpc>
                  <a:spcPts val="2095"/>
                </a:lnSpc>
              </a:pPr>
              <a:r>
                <a:rPr lang="en-US" sz="1455" b="1">
                  <a:solidFill>
                    <a:srgbClr val="40916C"/>
                  </a:solidFill>
                  <a:latin typeface="Calibri (MS) Bold"/>
                  <a:ea typeface="Calibri (MS) Bold"/>
                  <a:cs typeface="Calibri (MS) Bold"/>
                  <a:sym typeface="Calibri (MS) Bold"/>
                </a:rPr>
                <a:t>Fix: Dynamically read required dims and build padded zero-matrices to match</a:t>
              </a:r>
            </a:p>
          </p:txBody>
        </p:sp>
      </p:grpSp>
      <p:grpSp>
        <p:nvGrpSpPr>
          <p:cNvPr id="40" name="Group 40"/>
          <p:cNvGrpSpPr/>
          <p:nvPr/>
        </p:nvGrpSpPr>
        <p:grpSpPr>
          <a:xfrm>
            <a:off x="813435" y="6025515"/>
            <a:ext cx="8180070" cy="3448050"/>
            <a:chOff x="0" y="0"/>
            <a:chExt cx="10906760" cy="4597400"/>
          </a:xfrm>
        </p:grpSpPr>
        <p:sp>
          <p:nvSpPr>
            <p:cNvPr id="41" name="Freeform 41"/>
            <p:cNvSpPr/>
            <p:nvPr/>
          </p:nvSpPr>
          <p:spPr>
            <a:xfrm>
              <a:off x="0" y="0"/>
              <a:ext cx="10906760" cy="4597400"/>
            </a:xfrm>
            <a:custGeom>
              <a:avLst/>
              <a:gdLst/>
              <a:ahLst/>
              <a:cxnLst/>
              <a:rect l="l" t="t" r="r" b="b"/>
              <a:pathLst>
                <a:path w="10906760" h="4597400">
                  <a:moveTo>
                    <a:pt x="0" y="183896"/>
                  </a:moveTo>
                  <a:cubicBezTo>
                    <a:pt x="0" y="82296"/>
                    <a:pt x="82296" y="0"/>
                    <a:pt x="183896" y="0"/>
                  </a:cubicBezTo>
                  <a:lnTo>
                    <a:pt x="10722864" y="0"/>
                  </a:lnTo>
                  <a:cubicBezTo>
                    <a:pt x="10824464" y="0"/>
                    <a:pt x="10906760" y="82296"/>
                    <a:pt x="10906760" y="183896"/>
                  </a:cubicBezTo>
                  <a:lnTo>
                    <a:pt x="10906760" y="4413504"/>
                  </a:lnTo>
                  <a:cubicBezTo>
                    <a:pt x="10906760" y="4515104"/>
                    <a:pt x="10824464" y="4597400"/>
                    <a:pt x="10722864" y="4597400"/>
                  </a:cubicBezTo>
                  <a:lnTo>
                    <a:pt x="183896" y="4597400"/>
                  </a:lnTo>
                  <a:cubicBezTo>
                    <a:pt x="82296" y="4597400"/>
                    <a:pt x="0" y="4515104"/>
                    <a:pt x="0" y="4413504"/>
                  </a:cubicBezTo>
                  <a:close/>
                </a:path>
              </a:pathLst>
            </a:custGeom>
            <a:solidFill>
              <a:srgbClr val="FFFFFF"/>
            </a:solidFill>
            <a:ln w="19050" cap="sq">
              <a:solidFill>
                <a:srgbClr val="DCE7E0"/>
              </a:solidFill>
              <a:prstDash val="solid"/>
              <a:miter/>
            </a:ln>
          </p:spPr>
          <p:txBody>
            <a:bodyPr/>
            <a:lstStyle/>
            <a:p>
              <a:endParaRPr lang="en-US"/>
            </a:p>
          </p:txBody>
        </p:sp>
      </p:grpSp>
      <p:grpSp>
        <p:nvGrpSpPr>
          <p:cNvPr id="42" name="Group 42"/>
          <p:cNvGrpSpPr/>
          <p:nvPr/>
        </p:nvGrpSpPr>
        <p:grpSpPr>
          <a:xfrm>
            <a:off x="1097280" y="6309360"/>
            <a:ext cx="1851660" cy="438912"/>
            <a:chOff x="0" y="0"/>
            <a:chExt cx="2468880" cy="585216"/>
          </a:xfrm>
        </p:grpSpPr>
        <p:sp>
          <p:nvSpPr>
            <p:cNvPr id="43" name="Freeform 43"/>
            <p:cNvSpPr/>
            <p:nvPr/>
          </p:nvSpPr>
          <p:spPr>
            <a:xfrm>
              <a:off x="0" y="0"/>
              <a:ext cx="2468880" cy="585216"/>
            </a:xfrm>
            <a:custGeom>
              <a:avLst/>
              <a:gdLst/>
              <a:ahLst/>
              <a:cxnLst/>
              <a:rect l="l" t="t" r="r" b="b"/>
              <a:pathLst>
                <a:path w="2468880" h="585216">
                  <a:moveTo>
                    <a:pt x="0" y="292608"/>
                  </a:moveTo>
                  <a:cubicBezTo>
                    <a:pt x="0" y="131064"/>
                    <a:pt x="131064" y="0"/>
                    <a:pt x="292608" y="0"/>
                  </a:cubicBezTo>
                  <a:lnTo>
                    <a:pt x="2176272" y="0"/>
                  </a:lnTo>
                  <a:cubicBezTo>
                    <a:pt x="2337816" y="0"/>
                    <a:pt x="2468880" y="131064"/>
                    <a:pt x="2468880" y="292608"/>
                  </a:cubicBezTo>
                  <a:cubicBezTo>
                    <a:pt x="2468880" y="454152"/>
                    <a:pt x="2337816" y="585216"/>
                    <a:pt x="2176272" y="585216"/>
                  </a:cubicBezTo>
                  <a:lnTo>
                    <a:pt x="292608" y="585216"/>
                  </a:lnTo>
                  <a:cubicBezTo>
                    <a:pt x="131064" y="585216"/>
                    <a:pt x="0" y="454152"/>
                    <a:pt x="0" y="292608"/>
                  </a:cubicBezTo>
                  <a:close/>
                </a:path>
              </a:pathLst>
            </a:custGeom>
            <a:solidFill>
              <a:srgbClr val="FFB703"/>
            </a:solidFill>
          </p:spPr>
          <p:txBody>
            <a:bodyPr/>
            <a:lstStyle/>
            <a:p>
              <a:endParaRPr lang="en-US"/>
            </a:p>
          </p:txBody>
        </p:sp>
      </p:grpSp>
      <p:grpSp>
        <p:nvGrpSpPr>
          <p:cNvPr id="44" name="Group 44"/>
          <p:cNvGrpSpPr/>
          <p:nvPr/>
        </p:nvGrpSpPr>
        <p:grpSpPr>
          <a:xfrm>
            <a:off x="1097280" y="6309360"/>
            <a:ext cx="1851660" cy="438912"/>
            <a:chOff x="0" y="0"/>
            <a:chExt cx="2468880" cy="585216"/>
          </a:xfrm>
        </p:grpSpPr>
        <p:sp>
          <p:nvSpPr>
            <p:cNvPr id="45" name="Freeform 45"/>
            <p:cNvSpPr/>
            <p:nvPr/>
          </p:nvSpPr>
          <p:spPr>
            <a:xfrm>
              <a:off x="0" y="0"/>
              <a:ext cx="2468880" cy="585216"/>
            </a:xfrm>
            <a:custGeom>
              <a:avLst/>
              <a:gdLst/>
              <a:ahLst/>
              <a:cxnLst/>
              <a:rect l="l" t="t" r="r" b="b"/>
              <a:pathLst>
                <a:path w="2468880" h="585216">
                  <a:moveTo>
                    <a:pt x="0" y="0"/>
                  </a:moveTo>
                  <a:lnTo>
                    <a:pt x="2468880" y="0"/>
                  </a:lnTo>
                  <a:lnTo>
                    <a:pt x="2468880" y="585216"/>
                  </a:lnTo>
                  <a:lnTo>
                    <a:pt x="0" y="585216"/>
                  </a:lnTo>
                  <a:close/>
                </a:path>
              </a:pathLst>
            </a:custGeom>
            <a:blipFill>
              <a:blip r:embed="rId3">
                <a:alphaModFix amt="0"/>
              </a:blip>
              <a:stretch>
                <a:fillRect t="-32202" b="-32202"/>
              </a:stretch>
            </a:blipFill>
          </p:spPr>
          <p:txBody>
            <a:bodyPr/>
            <a:lstStyle/>
            <a:p>
              <a:endParaRPr lang="en-US"/>
            </a:p>
          </p:txBody>
        </p:sp>
        <p:sp>
          <p:nvSpPr>
            <p:cNvPr id="46" name="TextBox 46"/>
            <p:cNvSpPr txBox="1"/>
            <p:nvPr/>
          </p:nvSpPr>
          <p:spPr>
            <a:xfrm>
              <a:off x="0" y="-19050"/>
              <a:ext cx="2468880" cy="604266"/>
            </a:xfrm>
            <a:prstGeom prst="rect">
              <a:avLst/>
            </a:prstGeom>
          </p:spPr>
          <p:txBody>
            <a:bodyPr lIns="0" tIns="0" rIns="0" bIns="0" rtlCol="0" anchor="ctr"/>
            <a:lstStyle/>
            <a:p>
              <a:pPr algn="ctr">
                <a:lnSpc>
                  <a:spcPts val="1439"/>
                </a:lnSpc>
              </a:pPr>
              <a:r>
                <a:rPr lang="en-US" sz="1200" b="1">
                  <a:solidFill>
                    <a:srgbClr val="0D1B2A"/>
                  </a:solidFill>
                  <a:latin typeface="Calibri (MS) Bold"/>
                  <a:ea typeface="Calibri (MS) Bold"/>
                  <a:cs typeface="Calibri (MS) Bold"/>
                  <a:sym typeface="Calibri (MS) Bold"/>
                </a:rPr>
                <a:t>SYMPTOM</a:t>
              </a:r>
            </a:p>
          </p:txBody>
        </p:sp>
      </p:grpSp>
      <p:grpSp>
        <p:nvGrpSpPr>
          <p:cNvPr id="47" name="Group 47"/>
          <p:cNvGrpSpPr/>
          <p:nvPr/>
        </p:nvGrpSpPr>
        <p:grpSpPr>
          <a:xfrm>
            <a:off x="1097280" y="6830568"/>
            <a:ext cx="7612380" cy="617220"/>
            <a:chOff x="0" y="0"/>
            <a:chExt cx="10149840" cy="822960"/>
          </a:xfrm>
        </p:grpSpPr>
        <p:sp>
          <p:nvSpPr>
            <p:cNvPr id="48" name="Freeform 48"/>
            <p:cNvSpPr/>
            <p:nvPr/>
          </p:nvSpPr>
          <p:spPr>
            <a:xfrm>
              <a:off x="0" y="0"/>
              <a:ext cx="10149840" cy="822960"/>
            </a:xfrm>
            <a:custGeom>
              <a:avLst/>
              <a:gdLst/>
              <a:ahLst/>
              <a:cxnLst/>
              <a:rect l="l" t="t" r="r" b="b"/>
              <a:pathLst>
                <a:path w="10149840" h="822960">
                  <a:moveTo>
                    <a:pt x="0" y="0"/>
                  </a:moveTo>
                  <a:lnTo>
                    <a:pt x="10149840" y="0"/>
                  </a:lnTo>
                  <a:lnTo>
                    <a:pt x="10149840" y="822960"/>
                  </a:lnTo>
                  <a:lnTo>
                    <a:pt x="0" y="822960"/>
                  </a:lnTo>
                  <a:close/>
                </a:path>
              </a:pathLst>
            </a:custGeom>
            <a:blipFill>
              <a:blip r:embed="rId3">
                <a:alphaModFix amt="0"/>
              </a:blip>
              <a:stretch>
                <a:fillRect t="-190315" b="-190315"/>
              </a:stretch>
            </a:blipFill>
          </p:spPr>
          <p:txBody>
            <a:bodyPr/>
            <a:lstStyle/>
            <a:p>
              <a:endParaRPr lang="en-US"/>
            </a:p>
          </p:txBody>
        </p:sp>
        <p:sp>
          <p:nvSpPr>
            <p:cNvPr id="49" name="TextBox 49"/>
            <p:cNvSpPr txBox="1"/>
            <p:nvPr/>
          </p:nvSpPr>
          <p:spPr>
            <a:xfrm>
              <a:off x="0" y="-38100"/>
              <a:ext cx="10149840" cy="861060"/>
            </a:xfrm>
            <a:prstGeom prst="rect">
              <a:avLst/>
            </a:prstGeom>
          </p:spPr>
          <p:txBody>
            <a:bodyPr lIns="0" tIns="0" rIns="0" bIns="0" rtlCol="0" anchor="ctr"/>
            <a:lstStyle/>
            <a:p>
              <a:pPr algn="l">
                <a:lnSpc>
                  <a:spcPts val="2250"/>
                </a:lnSpc>
              </a:pPr>
              <a:r>
                <a:rPr lang="en-US" sz="1875" b="1">
                  <a:solidFill>
                    <a:srgbClr val="0D1B2A"/>
                  </a:solidFill>
                  <a:latin typeface="Calibri (MS) Bold"/>
                  <a:ea typeface="Calibri (MS) Bold"/>
                  <a:cs typeface="Calibri (MS) Bold"/>
                  <a:sym typeface="Calibri (MS) Bold"/>
                </a:rPr>
                <a:t>Dashboard won't open browser</a:t>
              </a:r>
            </a:p>
          </p:txBody>
        </p:sp>
      </p:grpSp>
      <p:grpSp>
        <p:nvGrpSpPr>
          <p:cNvPr id="50" name="Group 50"/>
          <p:cNvGrpSpPr/>
          <p:nvPr/>
        </p:nvGrpSpPr>
        <p:grpSpPr>
          <a:xfrm>
            <a:off x="1097280" y="7475220"/>
            <a:ext cx="7612380" cy="891540"/>
            <a:chOff x="0" y="0"/>
            <a:chExt cx="10149840" cy="1188720"/>
          </a:xfrm>
        </p:grpSpPr>
        <p:sp>
          <p:nvSpPr>
            <p:cNvPr id="51" name="Freeform 51"/>
            <p:cNvSpPr/>
            <p:nvPr/>
          </p:nvSpPr>
          <p:spPr>
            <a:xfrm>
              <a:off x="0" y="0"/>
              <a:ext cx="10149840" cy="1188720"/>
            </a:xfrm>
            <a:custGeom>
              <a:avLst/>
              <a:gdLst/>
              <a:ahLst/>
              <a:cxnLst/>
              <a:rect l="l" t="t" r="r" b="b"/>
              <a:pathLst>
                <a:path w="10149840" h="1188720">
                  <a:moveTo>
                    <a:pt x="0" y="0"/>
                  </a:moveTo>
                  <a:lnTo>
                    <a:pt x="10149840" y="0"/>
                  </a:lnTo>
                  <a:lnTo>
                    <a:pt x="10149840" y="1188720"/>
                  </a:lnTo>
                  <a:lnTo>
                    <a:pt x="0" y="1188720"/>
                  </a:lnTo>
                  <a:close/>
                </a:path>
              </a:pathLst>
            </a:custGeom>
            <a:blipFill>
              <a:blip r:embed="rId3">
                <a:alphaModFix amt="0"/>
              </a:blip>
              <a:stretch>
                <a:fillRect t="-116372" b="-116372"/>
              </a:stretch>
            </a:blipFill>
          </p:spPr>
          <p:txBody>
            <a:bodyPr/>
            <a:lstStyle/>
            <a:p>
              <a:endParaRPr lang="en-US"/>
            </a:p>
          </p:txBody>
        </p:sp>
        <p:sp>
          <p:nvSpPr>
            <p:cNvPr id="52" name="TextBox 52"/>
            <p:cNvSpPr txBox="1"/>
            <p:nvPr/>
          </p:nvSpPr>
          <p:spPr>
            <a:xfrm>
              <a:off x="0" y="-57150"/>
              <a:ext cx="10149840" cy="1245870"/>
            </a:xfrm>
            <a:prstGeom prst="rect">
              <a:avLst/>
            </a:prstGeom>
          </p:spPr>
          <p:txBody>
            <a:bodyPr lIns="0" tIns="0" rIns="0" bIns="0" rtlCol="0" anchor="ctr"/>
            <a:lstStyle/>
            <a:p>
              <a:pPr algn="l">
                <a:lnSpc>
                  <a:spcPts val="2095"/>
                </a:lnSpc>
              </a:pPr>
              <a:r>
                <a:rPr lang="en-US" sz="1455">
                  <a:solidFill>
                    <a:srgbClr val="5B6B72"/>
                  </a:solidFill>
                  <a:latin typeface="Calibri (MS)"/>
                  <a:ea typeface="Calibri (MS)"/>
                  <a:cs typeface="Calibri (MS)"/>
                  <a:sym typeface="Calibri (MS)"/>
                </a:rPr>
                <a:t>Root cause: config.toml had headless = true, meant for cloud deployments</a:t>
              </a:r>
            </a:p>
          </p:txBody>
        </p:sp>
      </p:grpSp>
      <p:grpSp>
        <p:nvGrpSpPr>
          <p:cNvPr id="53" name="Group 53"/>
          <p:cNvGrpSpPr/>
          <p:nvPr/>
        </p:nvGrpSpPr>
        <p:grpSpPr>
          <a:xfrm>
            <a:off x="1097280" y="8435340"/>
            <a:ext cx="7612380" cy="891540"/>
            <a:chOff x="0" y="0"/>
            <a:chExt cx="10149840" cy="1188720"/>
          </a:xfrm>
        </p:grpSpPr>
        <p:sp>
          <p:nvSpPr>
            <p:cNvPr id="54" name="Freeform 54"/>
            <p:cNvSpPr/>
            <p:nvPr/>
          </p:nvSpPr>
          <p:spPr>
            <a:xfrm>
              <a:off x="0" y="0"/>
              <a:ext cx="10149840" cy="1188720"/>
            </a:xfrm>
            <a:custGeom>
              <a:avLst/>
              <a:gdLst/>
              <a:ahLst/>
              <a:cxnLst/>
              <a:rect l="l" t="t" r="r" b="b"/>
              <a:pathLst>
                <a:path w="10149840" h="1188720">
                  <a:moveTo>
                    <a:pt x="0" y="0"/>
                  </a:moveTo>
                  <a:lnTo>
                    <a:pt x="10149840" y="0"/>
                  </a:lnTo>
                  <a:lnTo>
                    <a:pt x="10149840" y="1188720"/>
                  </a:lnTo>
                  <a:lnTo>
                    <a:pt x="0" y="1188720"/>
                  </a:lnTo>
                  <a:close/>
                </a:path>
              </a:pathLst>
            </a:custGeom>
            <a:blipFill>
              <a:blip r:embed="rId3">
                <a:alphaModFix amt="0"/>
              </a:blip>
              <a:stretch>
                <a:fillRect t="-116372" b="-116372"/>
              </a:stretch>
            </a:blipFill>
          </p:spPr>
          <p:txBody>
            <a:bodyPr/>
            <a:lstStyle/>
            <a:p>
              <a:endParaRPr lang="en-US"/>
            </a:p>
          </p:txBody>
        </p:sp>
        <p:sp>
          <p:nvSpPr>
            <p:cNvPr id="55" name="TextBox 55"/>
            <p:cNvSpPr txBox="1"/>
            <p:nvPr/>
          </p:nvSpPr>
          <p:spPr>
            <a:xfrm>
              <a:off x="0" y="-57150"/>
              <a:ext cx="10149840" cy="1245870"/>
            </a:xfrm>
            <a:prstGeom prst="rect">
              <a:avLst/>
            </a:prstGeom>
          </p:spPr>
          <p:txBody>
            <a:bodyPr lIns="0" tIns="0" rIns="0" bIns="0" rtlCol="0" anchor="ctr"/>
            <a:lstStyle/>
            <a:p>
              <a:pPr algn="l">
                <a:lnSpc>
                  <a:spcPts val="2095"/>
                </a:lnSpc>
              </a:pPr>
              <a:r>
                <a:rPr lang="en-US" sz="1455" b="1">
                  <a:solidFill>
                    <a:srgbClr val="40916C"/>
                  </a:solidFill>
                  <a:latin typeface="Calibri (MS) Bold"/>
                  <a:ea typeface="Calibri (MS) Bold"/>
                  <a:cs typeface="Calibri (MS) Bold"/>
                  <a:sym typeface="Calibri (MS) Bold"/>
                </a:rPr>
                <a:t>Fix: Set headless = false for local development</a:t>
              </a:r>
            </a:p>
          </p:txBody>
        </p:sp>
      </p:grpSp>
      <p:grpSp>
        <p:nvGrpSpPr>
          <p:cNvPr id="56" name="Group 56"/>
          <p:cNvGrpSpPr/>
          <p:nvPr/>
        </p:nvGrpSpPr>
        <p:grpSpPr>
          <a:xfrm>
            <a:off x="9248775" y="6025515"/>
            <a:ext cx="8180070" cy="3448050"/>
            <a:chOff x="0" y="0"/>
            <a:chExt cx="10906760" cy="4597400"/>
          </a:xfrm>
        </p:grpSpPr>
        <p:sp>
          <p:nvSpPr>
            <p:cNvPr id="57" name="Freeform 57"/>
            <p:cNvSpPr/>
            <p:nvPr/>
          </p:nvSpPr>
          <p:spPr>
            <a:xfrm>
              <a:off x="0" y="0"/>
              <a:ext cx="10906760" cy="4597400"/>
            </a:xfrm>
            <a:custGeom>
              <a:avLst/>
              <a:gdLst/>
              <a:ahLst/>
              <a:cxnLst/>
              <a:rect l="l" t="t" r="r" b="b"/>
              <a:pathLst>
                <a:path w="10906760" h="4597400">
                  <a:moveTo>
                    <a:pt x="0" y="183896"/>
                  </a:moveTo>
                  <a:cubicBezTo>
                    <a:pt x="0" y="82296"/>
                    <a:pt x="82296" y="0"/>
                    <a:pt x="183896" y="0"/>
                  </a:cubicBezTo>
                  <a:lnTo>
                    <a:pt x="10722864" y="0"/>
                  </a:lnTo>
                  <a:cubicBezTo>
                    <a:pt x="10824464" y="0"/>
                    <a:pt x="10906760" y="82296"/>
                    <a:pt x="10906760" y="183896"/>
                  </a:cubicBezTo>
                  <a:lnTo>
                    <a:pt x="10906760" y="4413504"/>
                  </a:lnTo>
                  <a:cubicBezTo>
                    <a:pt x="10906760" y="4515104"/>
                    <a:pt x="10824464" y="4597400"/>
                    <a:pt x="10722864" y="4597400"/>
                  </a:cubicBezTo>
                  <a:lnTo>
                    <a:pt x="183896" y="4597400"/>
                  </a:lnTo>
                  <a:cubicBezTo>
                    <a:pt x="82296" y="4597400"/>
                    <a:pt x="0" y="4515104"/>
                    <a:pt x="0" y="4413504"/>
                  </a:cubicBezTo>
                  <a:close/>
                </a:path>
              </a:pathLst>
            </a:custGeom>
            <a:solidFill>
              <a:srgbClr val="FFFFFF"/>
            </a:solidFill>
            <a:ln w="19050" cap="sq">
              <a:solidFill>
                <a:srgbClr val="DCE7E0"/>
              </a:solidFill>
              <a:prstDash val="solid"/>
              <a:miter/>
            </a:ln>
          </p:spPr>
          <p:txBody>
            <a:bodyPr/>
            <a:lstStyle/>
            <a:p>
              <a:endParaRPr lang="en-US"/>
            </a:p>
          </p:txBody>
        </p:sp>
      </p:grpSp>
      <p:grpSp>
        <p:nvGrpSpPr>
          <p:cNvPr id="58" name="Group 58"/>
          <p:cNvGrpSpPr/>
          <p:nvPr/>
        </p:nvGrpSpPr>
        <p:grpSpPr>
          <a:xfrm>
            <a:off x="9532620" y="6309360"/>
            <a:ext cx="1851660" cy="438912"/>
            <a:chOff x="0" y="0"/>
            <a:chExt cx="2468880" cy="585216"/>
          </a:xfrm>
        </p:grpSpPr>
        <p:sp>
          <p:nvSpPr>
            <p:cNvPr id="59" name="Freeform 59"/>
            <p:cNvSpPr/>
            <p:nvPr/>
          </p:nvSpPr>
          <p:spPr>
            <a:xfrm>
              <a:off x="0" y="0"/>
              <a:ext cx="2468880" cy="585216"/>
            </a:xfrm>
            <a:custGeom>
              <a:avLst/>
              <a:gdLst/>
              <a:ahLst/>
              <a:cxnLst/>
              <a:rect l="l" t="t" r="r" b="b"/>
              <a:pathLst>
                <a:path w="2468880" h="585216">
                  <a:moveTo>
                    <a:pt x="0" y="292608"/>
                  </a:moveTo>
                  <a:cubicBezTo>
                    <a:pt x="0" y="131064"/>
                    <a:pt x="131064" y="0"/>
                    <a:pt x="292608" y="0"/>
                  </a:cubicBezTo>
                  <a:lnTo>
                    <a:pt x="2176272" y="0"/>
                  </a:lnTo>
                  <a:cubicBezTo>
                    <a:pt x="2337816" y="0"/>
                    <a:pt x="2468880" y="131064"/>
                    <a:pt x="2468880" y="292608"/>
                  </a:cubicBezTo>
                  <a:cubicBezTo>
                    <a:pt x="2468880" y="454152"/>
                    <a:pt x="2337816" y="585216"/>
                    <a:pt x="2176272" y="585216"/>
                  </a:cubicBezTo>
                  <a:lnTo>
                    <a:pt x="292608" y="585216"/>
                  </a:lnTo>
                  <a:cubicBezTo>
                    <a:pt x="131064" y="585216"/>
                    <a:pt x="0" y="454152"/>
                    <a:pt x="0" y="292608"/>
                  </a:cubicBezTo>
                  <a:close/>
                </a:path>
              </a:pathLst>
            </a:custGeom>
            <a:solidFill>
              <a:srgbClr val="FFB703"/>
            </a:solidFill>
          </p:spPr>
          <p:txBody>
            <a:bodyPr/>
            <a:lstStyle/>
            <a:p>
              <a:endParaRPr lang="en-US"/>
            </a:p>
          </p:txBody>
        </p:sp>
      </p:grpSp>
      <p:grpSp>
        <p:nvGrpSpPr>
          <p:cNvPr id="60" name="Group 60"/>
          <p:cNvGrpSpPr/>
          <p:nvPr/>
        </p:nvGrpSpPr>
        <p:grpSpPr>
          <a:xfrm>
            <a:off x="9532620" y="6309360"/>
            <a:ext cx="1851660" cy="438912"/>
            <a:chOff x="0" y="0"/>
            <a:chExt cx="2468880" cy="585216"/>
          </a:xfrm>
        </p:grpSpPr>
        <p:sp>
          <p:nvSpPr>
            <p:cNvPr id="61" name="Freeform 61"/>
            <p:cNvSpPr/>
            <p:nvPr/>
          </p:nvSpPr>
          <p:spPr>
            <a:xfrm>
              <a:off x="0" y="0"/>
              <a:ext cx="2468880" cy="585216"/>
            </a:xfrm>
            <a:custGeom>
              <a:avLst/>
              <a:gdLst/>
              <a:ahLst/>
              <a:cxnLst/>
              <a:rect l="l" t="t" r="r" b="b"/>
              <a:pathLst>
                <a:path w="2468880" h="585216">
                  <a:moveTo>
                    <a:pt x="0" y="0"/>
                  </a:moveTo>
                  <a:lnTo>
                    <a:pt x="2468880" y="0"/>
                  </a:lnTo>
                  <a:lnTo>
                    <a:pt x="2468880" y="585216"/>
                  </a:lnTo>
                  <a:lnTo>
                    <a:pt x="0" y="585216"/>
                  </a:lnTo>
                  <a:close/>
                </a:path>
              </a:pathLst>
            </a:custGeom>
            <a:blipFill>
              <a:blip r:embed="rId3">
                <a:alphaModFix amt="0"/>
              </a:blip>
              <a:stretch>
                <a:fillRect t="-32202" b="-32202"/>
              </a:stretch>
            </a:blipFill>
          </p:spPr>
          <p:txBody>
            <a:bodyPr/>
            <a:lstStyle/>
            <a:p>
              <a:endParaRPr lang="en-US"/>
            </a:p>
          </p:txBody>
        </p:sp>
        <p:sp>
          <p:nvSpPr>
            <p:cNvPr id="62" name="TextBox 62"/>
            <p:cNvSpPr txBox="1"/>
            <p:nvPr/>
          </p:nvSpPr>
          <p:spPr>
            <a:xfrm>
              <a:off x="0" y="-19050"/>
              <a:ext cx="2468880" cy="604266"/>
            </a:xfrm>
            <a:prstGeom prst="rect">
              <a:avLst/>
            </a:prstGeom>
          </p:spPr>
          <p:txBody>
            <a:bodyPr lIns="0" tIns="0" rIns="0" bIns="0" rtlCol="0" anchor="ctr"/>
            <a:lstStyle/>
            <a:p>
              <a:pPr algn="ctr">
                <a:lnSpc>
                  <a:spcPts val="1439"/>
                </a:lnSpc>
              </a:pPr>
              <a:r>
                <a:rPr lang="en-US" sz="1200" b="1">
                  <a:solidFill>
                    <a:srgbClr val="0D1B2A"/>
                  </a:solidFill>
                  <a:latin typeface="Calibri (MS) Bold"/>
                  <a:ea typeface="Calibri (MS) Bold"/>
                  <a:cs typeface="Calibri (MS) Bold"/>
                  <a:sym typeface="Calibri (MS) Bold"/>
                </a:rPr>
                <a:t>SYMPTOM</a:t>
              </a:r>
            </a:p>
          </p:txBody>
        </p:sp>
      </p:grpSp>
      <p:grpSp>
        <p:nvGrpSpPr>
          <p:cNvPr id="63" name="Group 63"/>
          <p:cNvGrpSpPr/>
          <p:nvPr/>
        </p:nvGrpSpPr>
        <p:grpSpPr>
          <a:xfrm>
            <a:off x="9532620" y="6830568"/>
            <a:ext cx="7612380" cy="617220"/>
            <a:chOff x="0" y="0"/>
            <a:chExt cx="10149840" cy="822960"/>
          </a:xfrm>
        </p:grpSpPr>
        <p:sp>
          <p:nvSpPr>
            <p:cNvPr id="64" name="Freeform 64"/>
            <p:cNvSpPr/>
            <p:nvPr/>
          </p:nvSpPr>
          <p:spPr>
            <a:xfrm>
              <a:off x="0" y="0"/>
              <a:ext cx="10149840" cy="822960"/>
            </a:xfrm>
            <a:custGeom>
              <a:avLst/>
              <a:gdLst/>
              <a:ahLst/>
              <a:cxnLst/>
              <a:rect l="l" t="t" r="r" b="b"/>
              <a:pathLst>
                <a:path w="10149840" h="822960">
                  <a:moveTo>
                    <a:pt x="0" y="0"/>
                  </a:moveTo>
                  <a:lnTo>
                    <a:pt x="10149840" y="0"/>
                  </a:lnTo>
                  <a:lnTo>
                    <a:pt x="10149840" y="822960"/>
                  </a:lnTo>
                  <a:lnTo>
                    <a:pt x="0" y="822960"/>
                  </a:lnTo>
                  <a:close/>
                </a:path>
              </a:pathLst>
            </a:custGeom>
            <a:blipFill>
              <a:blip r:embed="rId3">
                <a:alphaModFix amt="0"/>
              </a:blip>
              <a:stretch>
                <a:fillRect t="-190315" b="-190315"/>
              </a:stretch>
            </a:blipFill>
          </p:spPr>
          <p:txBody>
            <a:bodyPr/>
            <a:lstStyle/>
            <a:p>
              <a:endParaRPr lang="en-US"/>
            </a:p>
          </p:txBody>
        </p:sp>
        <p:sp>
          <p:nvSpPr>
            <p:cNvPr id="65" name="TextBox 65"/>
            <p:cNvSpPr txBox="1"/>
            <p:nvPr/>
          </p:nvSpPr>
          <p:spPr>
            <a:xfrm>
              <a:off x="0" y="-38100"/>
              <a:ext cx="10149840" cy="861060"/>
            </a:xfrm>
            <a:prstGeom prst="rect">
              <a:avLst/>
            </a:prstGeom>
          </p:spPr>
          <p:txBody>
            <a:bodyPr lIns="0" tIns="0" rIns="0" bIns="0" rtlCol="0" anchor="ctr"/>
            <a:lstStyle/>
            <a:p>
              <a:pPr algn="l">
                <a:lnSpc>
                  <a:spcPts val="2250"/>
                </a:lnSpc>
              </a:pPr>
              <a:r>
                <a:rPr lang="en-US" sz="1875" b="1">
                  <a:solidFill>
                    <a:srgbClr val="0D1B2A"/>
                  </a:solidFill>
                  <a:latin typeface="Calibri (MS) Bold"/>
                  <a:ea typeface="Calibri (MS) Bold"/>
                  <a:cs typeface="Calibri (MS) Bold"/>
                  <a:sym typeface="Calibri (MS) Bold"/>
                </a:rPr>
                <a:t>Injected anomaly not detected</a:t>
              </a:r>
            </a:p>
          </p:txBody>
        </p:sp>
      </p:grpSp>
      <p:grpSp>
        <p:nvGrpSpPr>
          <p:cNvPr id="66" name="Group 66"/>
          <p:cNvGrpSpPr/>
          <p:nvPr/>
        </p:nvGrpSpPr>
        <p:grpSpPr>
          <a:xfrm>
            <a:off x="9532620" y="7475220"/>
            <a:ext cx="7612380" cy="891540"/>
            <a:chOff x="0" y="0"/>
            <a:chExt cx="10149840" cy="1188720"/>
          </a:xfrm>
        </p:grpSpPr>
        <p:sp>
          <p:nvSpPr>
            <p:cNvPr id="67" name="Freeform 67"/>
            <p:cNvSpPr/>
            <p:nvPr/>
          </p:nvSpPr>
          <p:spPr>
            <a:xfrm>
              <a:off x="0" y="0"/>
              <a:ext cx="10149840" cy="1188720"/>
            </a:xfrm>
            <a:custGeom>
              <a:avLst/>
              <a:gdLst/>
              <a:ahLst/>
              <a:cxnLst/>
              <a:rect l="l" t="t" r="r" b="b"/>
              <a:pathLst>
                <a:path w="10149840" h="1188720">
                  <a:moveTo>
                    <a:pt x="0" y="0"/>
                  </a:moveTo>
                  <a:lnTo>
                    <a:pt x="10149840" y="0"/>
                  </a:lnTo>
                  <a:lnTo>
                    <a:pt x="10149840" y="1188720"/>
                  </a:lnTo>
                  <a:lnTo>
                    <a:pt x="0" y="1188720"/>
                  </a:lnTo>
                  <a:close/>
                </a:path>
              </a:pathLst>
            </a:custGeom>
            <a:blipFill>
              <a:blip r:embed="rId3">
                <a:alphaModFix amt="0"/>
              </a:blip>
              <a:stretch>
                <a:fillRect t="-116372" b="-116372"/>
              </a:stretch>
            </a:blipFill>
          </p:spPr>
          <p:txBody>
            <a:bodyPr/>
            <a:lstStyle/>
            <a:p>
              <a:endParaRPr lang="en-US"/>
            </a:p>
          </p:txBody>
        </p:sp>
        <p:sp>
          <p:nvSpPr>
            <p:cNvPr id="68" name="TextBox 68"/>
            <p:cNvSpPr txBox="1"/>
            <p:nvPr/>
          </p:nvSpPr>
          <p:spPr>
            <a:xfrm>
              <a:off x="0" y="-57150"/>
              <a:ext cx="10149840" cy="1245870"/>
            </a:xfrm>
            <a:prstGeom prst="rect">
              <a:avLst/>
            </a:prstGeom>
          </p:spPr>
          <p:txBody>
            <a:bodyPr lIns="0" tIns="0" rIns="0" bIns="0" rtlCol="0" anchor="ctr"/>
            <a:lstStyle/>
            <a:p>
              <a:pPr algn="l">
                <a:lnSpc>
                  <a:spcPts val="2095"/>
                </a:lnSpc>
              </a:pPr>
              <a:r>
                <a:rPr lang="en-US" sz="1455">
                  <a:solidFill>
                    <a:srgbClr val="5B6B72"/>
                  </a:solidFill>
                  <a:latin typeface="Calibri (MS)"/>
                  <a:ea typeface="Calibri (MS)"/>
                  <a:cs typeface="Calibri (MS)"/>
                  <a:sym typeface="Calibri (MS)"/>
                </a:rPr>
                <a:t>Root cause: Race condition — fresh normal rows push the anomaly down before it's read</a:t>
              </a:r>
            </a:p>
          </p:txBody>
        </p:sp>
      </p:grpSp>
      <p:grpSp>
        <p:nvGrpSpPr>
          <p:cNvPr id="69" name="Group 69"/>
          <p:cNvGrpSpPr/>
          <p:nvPr/>
        </p:nvGrpSpPr>
        <p:grpSpPr>
          <a:xfrm>
            <a:off x="9532620" y="8435340"/>
            <a:ext cx="7612380" cy="891540"/>
            <a:chOff x="0" y="0"/>
            <a:chExt cx="10149840" cy="1188720"/>
          </a:xfrm>
        </p:grpSpPr>
        <p:sp>
          <p:nvSpPr>
            <p:cNvPr id="70" name="Freeform 70"/>
            <p:cNvSpPr/>
            <p:nvPr/>
          </p:nvSpPr>
          <p:spPr>
            <a:xfrm>
              <a:off x="0" y="0"/>
              <a:ext cx="10149840" cy="1188720"/>
            </a:xfrm>
            <a:custGeom>
              <a:avLst/>
              <a:gdLst/>
              <a:ahLst/>
              <a:cxnLst/>
              <a:rect l="l" t="t" r="r" b="b"/>
              <a:pathLst>
                <a:path w="10149840" h="1188720">
                  <a:moveTo>
                    <a:pt x="0" y="0"/>
                  </a:moveTo>
                  <a:lnTo>
                    <a:pt x="10149840" y="0"/>
                  </a:lnTo>
                  <a:lnTo>
                    <a:pt x="10149840" y="1188720"/>
                  </a:lnTo>
                  <a:lnTo>
                    <a:pt x="0" y="1188720"/>
                  </a:lnTo>
                  <a:close/>
                </a:path>
              </a:pathLst>
            </a:custGeom>
            <a:blipFill>
              <a:blip r:embed="rId3">
                <a:alphaModFix amt="0"/>
              </a:blip>
              <a:stretch>
                <a:fillRect t="-116372" b="-116372"/>
              </a:stretch>
            </a:blipFill>
          </p:spPr>
          <p:txBody>
            <a:bodyPr/>
            <a:lstStyle/>
            <a:p>
              <a:endParaRPr lang="en-US"/>
            </a:p>
          </p:txBody>
        </p:sp>
        <p:sp>
          <p:nvSpPr>
            <p:cNvPr id="71" name="TextBox 71"/>
            <p:cNvSpPr txBox="1"/>
            <p:nvPr/>
          </p:nvSpPr>
          <p:spPr>
            <a:xfrm>
              <a:off x="0" y="-57150"/>
              <a:ext cx="10149840" cy="1245870"/>
            </a:xfrm>
            <a:prstGeom prst="rect">
              <a:avLst/>
            </a:prstGeom>
          </p:spPr>
          <p:txBody>
            <a:bodyPr lIns="0" tIns="0" rIns="0" bIns="0" rtlCol="0" anchor="ctr"/>
            <a:lstStyle/>
            <a:p>
              <a:pPr algn="l">
                <a:lnSpc>
                  <a:spcPts val="2095"/>
                </a:lnSpc>
              </a:pPr>
              <a:r>
                <a:rPr lang="en-US" sz="1455" b="1">
                  <a:solidFill>
                    <a:srgbClr val="40916C"/>
                  </a:solidFill>
                  <a:latin typeface="Calibri (MS) Bold"/>
                  <a:ea typeface="Calibri (MS) Bold"/>
                  <a:cs typeface="Calibri (MS) Bold"/>
                  <a:sym typeface="Calibri (MS) Bold"/>
                </a:rPr>
                <a:t>Fix: Apply a +30s UTC offset so injected rows sort first, every time</a:t>
              </a:r>
            </a:p>
          </p:txBody>
        </p:sp>
      </p:grpSp>
      <p:grpSp>
        <p:nvGrpSpPr>
          <p:cNvPr id="72" name="Group 72"/>
          <p:cNvGrpSpPr/>
          <p:nvPr/>
        </p:nvGrpSpPr>
        <p:grpSpPr>
          <a:xfrm>
            <a:off x="17282160" y="9710928"/>
            <a:ext cx="822960" cy="411480"/>
            <a:chOff x="0" y="0"/>
            <a:chExt cx="1097280" cy="548640"/>
          </a:xfrm>
        </p:grpSpPr>
        <p:sp>
          <p:nvSpPr>
            <p:cNvPr id="73" name="Freeform 73"/>
            <p:cNvSpPr/>
            <p:nvPr/>
          </p:nvSpPr>
          <p:spPr>
            <a:xfrm>
              <a:off x="0" y="0"/>
              <a:ext cx="1097280" cy="548640"/>
            </a:xfrm>
            <a:custGeom>
              <a:avLst/>
              <a:gdLst/>
              <a:ahLst/>
              <a:cxnLst/>
              <a:rect l="l" t="t" r="r" b="b"/>
              <a:pathLst>
                <a:path w="1097280" h="548640">
                  <a:moveTo>
                    <a:pt x="0" y="0"/>
                  </a:moveTo>
                  <a:lnTo>
                    <a:pt x="1097280" y="0"/>
                  </a:lnTo>
                  <a:lnTo>
                    <a:pt x="1097280" y="548640"/>
                  </a:lnTo>
                  <a:lnTo>
                    <a:pt x="0" y="548640"/>
                  </a:lnTo>
                  <a:close/>
                </a:path>
              </a:pathLst>
            </a:custGeom>
            <a:blipFill>
              <a:blip r:embed="rId3">
                <a:alphaModFix amt="0"/>
              </a:blip>
              <a:stretch>
                <a:fillRect l="-14151" r="-14151"/>
              </a:stretch>
            </a:blipFill>
          </p:spPr>
          <p:txBody>
            <a:bodyPr/>
            <a:lstStyle/>
            <a:p>
              <a:endParaRPr lang="en-US"/>
            </a:p>
          </p:txBody>
        </p:sp>
        <p:sp>
          <p:nvSpPr>
            <p:cNvPr id="74" name="TextBox 74"/>
            <p:cNvSpPr txBox="1"/>
            <p:nvPr/>
          </p:nvSpPr>
          <p:spPr>
            <a:xfrm>
              <a:off x="0" y="-38100"/>
              <a:ext cx="1097280" cy="586740"/>
            </a:xfrm>
            <a:prstGeom prst="rect">
              <a:avLst/>
            </a:prstGeom>
          </p:spPr>
          <p:txBody>
            <a:bodyPr lIns="0" tIns="0" rIns="0" bIns="0" rtlCol="0" anchor="ctr"/>
            <a:lstStyle/>
            <a:p>
              <a:pPr algn="r">
                <a:lnSpc>
                  <a:spcPts val="1800"/>
                </a:lnSpc>
              </a:pPr>
              <a:r>
                <a:rPr lang="en-US" sz="1500">
                  <a:solidFill>
                    <a:srgbClr val="5B6B72"/>
                  </a:solidFill>
                  <a:latin typeface="Calibri (MS)"/>
                  <a:ea typeface="Calibri (MS)"/>
                  <a:cs typeface="Calibri (MS)"/>
                  <a:sym typeface="Calibri (MS)"/>
                </a:rPr>
                <a:t>19</a:t>
              </a: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grpSp>
        <p:nvGrpSpPr>
          <p:cNvPr id="2" name="Group 2"/>
          <p:cNvGrpSpPr/>
          <p:nvPr/>
        </p:nvGrpSpPr>
        <p:grpSpPr>
          <a:xfrm>
            <a:off x="813435" y="-9525"/>
            <a:ext cx="19050" cy="10306050"/>
            <a:chOff x="0" y="0"/>
            <a:chExt cx="25400" cy="13741400"/>
          </a:xfrm>
        </p:grpSpPr>
        <p:sp>
          <p:nvSpPr>
            <p:cNvPr id="3" name="Freeform 3"/>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4" name="Group 4"/>
          <p:cNvGrpSpPr/>
          <p:nvPr/>
        </p:nvGrpSpPr>
        <p:grpSpPr>
          <a:xfrm>
            <a:off x="2253615" y="-9525"/>
            <a:ext cx="19050" cy="10306050"/>
            <a:chOff x="0" y="0"/>
            <a:chExt cx="25400" cy="13741400"/>
          </a:xfrm>
        </p:grpSpPr>
        <p:sp>
          <p:nvSpPr>
            <p:cNvPr id="5" name="Freeform 5"/>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6" name="Group 6"/>
          <p:cNvGrpSpPr/>
          <p:nvPr/>
        </p:nvGrpSpPr>
        <p:grpSpPr>
          <a:xfrm>
            <a:off x="3693795" y="-9525"/>
            <a:ext cx="19050" cy="10306050"/>
            <a:chOff x="0" y="0"/>
            <a:chExt cx="25400" cy="13741400"/>
          </a:xfrm>
        </p:grpSpPr>
        <p:sp>
          <p:nvSpPr>
            <p:cNvPr id="7" name="Freeform 7"/>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8" name="Group 8"/>
          <p:cNvGrpSpPr/>
          <p:nvPr/>
        </p:nvGrpSpPr>
        <p:grpSpPr>
          <a:xfrm>
            <a:off x="5133975" y="-9525"/>
            <a:ext cx="19050" cy="10306050"/>
            <a:chOff x="0" y="0"/>
            <a:chExt cx="25400" cy="13741400"/>
          </a:xfrm>
        </p:grpSpPr>
        <p:sp>
          <p:nvSpPr>
            <p:cNvPr id="9" name="Freeform 9"/>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10" name="Group 10"/>
          <p:cNvGrpSpPr/>
          <p:nvPr/>
        </p:nvGrpSpPr>
        <p:grpSpPr>
          <a:xfrm>
            <a:off x="6574155" y="-9525"/>
            <a:ext cx="19050" cy="10306050"/>
            <a:chOff x="0" y="0"/>
            <a:chExt cx="25400" cy="13741400"/>
          </a:xfrm>
        </p:grpSpPr>
        <p:sp>
          <p:nvSpPr>
            <p:cNvPr id="11" name="Freeform 11"/>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12" name="Group 12"/>
          <p:cNvGrpSpPr/>
          <p:nvPr/>
        </p:nvGrpSpPr>
        <p:grpSpPr>
          <a:xfrm>
            <a:off x="8014335" y="-9525"/>
            <a:ext cx="19050" cy="10306050"/>
            <a:chOff x="0" y="0"/>
            <a:chExt cx="25400" cy="13741400"/>
          </a:xfrm>
        </p:grpSpPr>
        <p:sp>
          <p:nvSpPr>
            <p:cNvPr id="13" name="Freeform 13"/>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14" name="Group 14"/>
          <p:cNvGrpSpPr/>
          <p:nvPr/>
        </p:nvGrpSpPr>
        <p:grpSpPr>
          <a:xfrm>
            <a:off x="9454515" y="-9525"/>
            <a:ext cx="19050" cy="10306050"/>
            <a:chOff x="0" y="0"/>
            <a:chExt cx="25400" cy="13741400"/>
          </a:xfrm>
        </p:grpSpPr>
        <p:sp>
          <p:nvSpPr>
            <p:cNvPr id="15" name="Freeform 15"/>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16" name="Group 16"/>
          <p:cNvGrpSpPr/>
          <p:nvPr/>
        </p:nvGrpSpPr>
        <p:grpSpPr>
          <a:xfrm>
            <a:off x="10894695" y="-9525"/>
            <a:ext cx="19050" cy="10306050"/>
            <a:chOff x="0" y="0"/>
            <a:chExt cx="25400" cy="13741400"/>
          </a:xfrm>
        </p:grpSpPr>
        <p:sp>
          <p:nvSpPr>
            <p:cNvPr id="17" name="Freeform 17"/>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18" name="Group 18"/>
          <p:cNvGrpSpPr/>
          <p:nvPr/>
        </p:nvGrpSpPr>
        <p:grpSpPr>
          <a:xfrm>
            <a:off x="12334875" y="-9525"/>
            <a:ext cx="19050" cy="10306050"/>
            <a:chOff x="0" y="0"/>
            <a:chExt cx="25400" cy="13741400"/>
          </a:xfrm>
        </p:grpSpPr>
        <p:sp>
          <p:nvSpPr>
            <p:cNvPr id="19" name="Freeform 19"/>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20" name="Group 20"/>
          <p:cNvGrpSpPr/>
          <p:nvPr/>
        </p:nvGrpSpPr>
        <p:grpSpPr>
          <a:xfrm>
            <a:off x="13775055" y="-9525"/>
            <a:ext cx="19050" cy="10306050"/>
            <a:chOff x="0" y="0"/>
            <a:chExt cx="25400" cy="13741400"/>
          </a:xfrm>
        </p:grpSpPr>
        <p:sp>
          <p:nvSpPr>
            <p:cNvPr id="21" name="Freeform 21"/>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22" name="Group 22"/>
          <p:cNvGrpSpPr/>
          <p:nvPr/>
        </p:nvGrpSpPr>
        <p:grpSpPr>
          <a:xfrm>
            <a:off x="15215235" y="-9525"/>
            <a:ext cx="19050" cy="10306050"/>
            <a:chOff x="0" y="0"/>
            <a:chExt cx="25400" cy="13741400"/>
          </a:xfrm>
        </p:grpSpPr>
        <p:sp>
          <p:nvSpPr>
            <p:cNvPr id="23" name="Freeform 23"/>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24" name="Group 24"/>
          <p:cNvGrpSpPr/>
          <p:nvPr/>
        </p:nvGrpSpPr>
        <p:grpSpPr>
          <a:xfrm>
            <a:off x="16655415" y="-9525"/>
            <a:ext cx="19050" cy="10306050"/>
            <a:chOff x="0" y="0"/>
            <a:chExt cx="25400" cy="13741400"/>
          </a:xfrm>
        </p:grpSpPr>
        <p:sp>
          <p:nvSpPr>
            <p:cNvPr id="25" name="Freeform 25"/>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26" name="Group 26"/>
          <p:cNvGrpSpPr/>
          <p:nvPr/>
        </p:nvGrpSpPr>
        <p:grpSpPr>
          <a:xfrm>
            <a:off x="1234440" y="1234440"/>
            <a:ext cx="8229600" cy="548640"/>
            <a:chOff x="0" y="0"/>
            <a:chExt cx="10972800" cy="731520"/>
          </a:xfrm>
        </p:grpSpPr>
        <p:sp>
          <p:nvSpPr>
            <p:cNvPr id="27" name="Freeform 27"/>
            <p:cNvSpPr/>
            <p:nvPr/>
          </p:nvSpPr>
          <p:spPr>
            <a:xfrm>
              <a:off x="0" y="0"/>
              <a:ext cx="10972800" cy="731520"/>
            </a:xfrm>
            <a:custGeom>
              <a:avLst/>
              <a:gdLst/>
              <a:ahLst/>
              <a:cxnLst/>
              <a:rect l="l" t="t" r="r" b="b"/>
              <a:pathLst>
                <a:path w="10972800" h="731520">
                  <a:moveTo>
                    <a:pt x="0" y="0"/>
                  </a:moveTo>
                  <a:lnTo>
                    <a:pt x="10972800" y="0"/>
                  </a:lnTo>
                  <a:lnTo>
                    <a:pt x="10972800" y="731520"/>
                  </a:lnTo>
                  <a:lnTo>
                    <a:pt x="0" y="731520"/>
                  </a:lnTo>
                  <a:close/>
                </a:path>
              </a:pathLst>
            </a:custGeom>
            <a:blipFill>
              <a:blip r:embed="rId3">
                <a:alphaModFix amt="0"/>
              </a:blip>
              <a:stretch>
                <a:fillRect t="-242275" b="-242275"/>
              </a:stretch>
            </a:blipFill>
          </p:spPr>
          <p:txBody>
            <a:bodyPr/>
            <a:lstStyle/>
            <a:p>
              <a:endParaRPr lang="en-US"/>
            </a:p>
          </p:txBody>
        </p:sp>
        <p:sp>
          <p:nvSpPr>
            <p:cNvPr id="28" name="TextBox 28"/>
            <p:cNvSpPr txBox="1"/>
            <p:nvPr/>
          </p:nvSpPr>
          <p:spPr>
            <a:xfrm>
              <a:off x="0" y="-47625"/>
              <a:ext cx="10972800" cy="779145"/>
            </a:xfrm>
            <a:prstGeom prst="rect">
              <a:avLst/>
            </a:prstGeom>
          </p:spPr>
          <p:txBody>
            <a:bodyPr lIns="0" tIns="0" rIns="0" bIns="0" rtlCol="0" anchor="ctr"/>
            <a:lstStyle/>
            <a:p>
              <a:pPr algn="l">
                <a:lnSpc>
                  <a:spcPts val="2340"/>
                </a:lnSpc>
              </a:pPr>
              <a:r>
                <a:rPr lang="en-US" sz="1950" b="1" spc="300">
                  <a:solidFill>
                    <a:srgbClr val="74C69D"/>
                  </a:solidFill>
                  <a:latin typeface="Calibri (MS) Bold"/>
                  <a:ea typeface="Calibri (MS) Bold"/>
                  <a:cs typeface="Calibri (MS) Bold"/>
                  <a:sym typeface="Calibri (MS) Bold"/>
                </a:rPr>
                <a:t>IN SUMMARY</a:t>
              </a:r>
            </a:p>
          </p:txBody>
        </p:sp>
      </p:grpSp>
      <p:grpSp>
        <p:nvGrpSpPr>
          <p:cNvPr id="29" name="Group 29"/>
          <p:cNvGrpSpPr/>
          <p:nvPr/>
        </p:nvGrpSpPr>
        <p:grpSpPr>
          <a:xfrm>
            <a:off x="1165860" y="1783080"/>
            <a:ext cx="14813280" cy="1783080"/>
            <a:chOff x="0" y="0"/>
            <a:chExt cx="19751040" cy="2377440"/>
          </a:xfrm>
        </p:grpSpPr>
        <p:sp>
          <p:nvSpPr>
            <p:cNvPr id="30" name="Freeform 30"/>
            <p:cNvSpPr/>
            <p:nvPr/>
          </p:nvSpPr>
          <p:spPr>
            <a:xfrm>
              <a:off x="0" y="0"/>
              <a:ext cx="19751039" cy="2377440"/>
            </a:xfrm>
            <a:custGeom>
              <a:avLst/>
              <a:gdLst/>
              <a:ahLst/>
              <a:cxnLst/>
              <a:rect l="l" t="t" r="r" b="b"/>
              <a:pathLst>
                <a:path w="19751039" h="2377440">
                  <a:moveTo>
                    <a:pt x="0" y="0"/>
                  </a:moveTo>
                  <a:lnTo>
                    <a:pt x="19751039" y="0"/>
                  </a:lnTo>
                  <a:lnTo>
                    <a:pt x="19751039" y="2377440"/>
                  </a:lnTo>
                  <a:lnTo>
                    <a:pt x="0" y="2377440"/>
                  </a:lnTo>
                  <a:close/>
                </a:path>
              </a:pathLst>
            </a:custGeom>
            <a:blipFill>
              <a:blip r:embed="rId3">
                <a:alphaModFix amt="0"/>
              </a:blip>
              <a:stretch>
                <a:fillRect t="-111875" b="-111875"/>
              </a:stretch>
            </a:blipFill>
          </p:spPr>
          <p:txBody>
            <a:bodyPr/>
            <a:lstStyle/>
            <a:p>
              <a:endParaRPr lang="en-US"/>
            </a:p>
          </p:txBody>
        </p:sp>
        <p:sp>
          <p:nvSpPr>
            <p:cNvPr id="31" name="TextBox 31"/>
            <p:cNvSpPr txBox="1"/>
            <p:nvPr/>
          </p:nvSpPr>
          <p:spPr>
            <a:xfrm>
              <a:off x="0" y="-19050"/>
              <a:ext cx="19751040" cy="2396490"/>
            </a:xfrm>
            <a:prstGeom prst="rect">
              <a:avLst/>
            </a:prstGeom>
          </p:spPr>
          <p:txBody>
            <a:bodyPr lIns="0" tIns="0" rIns="0" bIns="0" rtlCol="0" anchor="ctr"/>
            <a:lstStyle/>
            <a:p>
              <a:pPr algn="l">
                <a:lnSpc>
                  <a:spcPts val="5400"/>
                </a:lnSpc>
              </a:pPr>
              <a:r>
                <a:rPr lang="en-US" sz="4500" b="1">
                  <a:solidFill>
                    <a:srgbClr val="FFFFFF"/>
                  </a:solidFill>
                  <a:latin typeface="Cambria Bold"/>
                  <a:ea typeface="Cambria Bold"/>
                  <a:cs typeface="Cambria Bold"/>
                  <a:sym typeface="Cambria Bold"/>
                </a:rPr>
                <a:t>A Reference Architecture for Intelligent, Scalable Renewable Energy</a:t>
              </a:r>
            </a:p>
          </p:txBody>
        </p:sp>
      </p:grpSp>
      <p:grpSp>
        <p:nvGrpSpPr>
          <p:cNvPr id="32" name="Group 32"/>
          <p:cNvGrpSpPr/>
          <p:nvPr/>
        </p:nvGrpSpPr>
        <p:grpSpPr>
          <a:xfrm>
            <a:off x="1234440" y="3634740"/>
            <a:ext cx="11384280" cy="2880360"/>
            <a:chOff x="0" y="0"/>
            <a:chExt cx="15179040" cy="3840480"/>
          </a:xfrm>
        </p:grpSpPr>
        <p:sp>
          <p:nvSpPr>
            <p:cNvPr id="33" name="Freeform 33"/>
            <p:cNvSpPr/>
            <p:nvPr/>
          </p:nvSpPr>
          <p:spPr>
            <a:xfrm>
              <a:off x="0" y="0"/>
              <a:ext cx="15179039" cy="3840480"/>
            </a:xfrm>
            <a:custGeom>
              <a:avLst/>
              <a:gdLst/>
              <a:ahLst/>
              <a:cxnLst/>
              <a:rect l="l" t="t" r="r" b="b"/>
              <a:pathLst>
                <a:path w="15179039" h="3840480">
                  <a:moveTo>
                    <a:pt x="0" y="0"/>
                  </a:moveTo>
                  <a:lnTo>
                    <a:pt x="15179039" y="0"/>
                  </a:lnTo>
                  <a:lnTo>
                    <a:pt x="15179039" y="3840480"/>
                  </a:lnTo>
                  <a:lnTo>
                    <a:pt x="0" y="3840480"/>
                  </a:lnTo>
                  <a:close/>
                </a:path>
              </a:pathLst>
            </a:custGeom>
            <a:blipFill>
              <a:blip r:embed="rId3">
                <a:alphaModFix amt="0"/>
              </a:blip>
              <a:stretch>
                <a:fillRect t="-27012" b="-27012"/>
              </a:stretch>
            </a:blipFill>
          </p:spPr>
          <p:txBody>
            <a:bodyPr/>
            <a:lstStyle/>
            <a:p>
              <a:endParaRPr lang="en-US"/>
            </a:p>
          </p:txBody>
        </p:sp>
        <p:sp>
          <p:nvSpPr>
            <p:cNvPr id="34" name="TextBox 34"/>
            <p:cNvSpPr txBox="1"/>
            <p:nvPr/>
          </p:nvSpPr>
          <p:spPr>
            <a:xfrm>
              <a:off x="0" y="-123825"/>
              <a:ext cx="15179040" cy="3964305"/>
            </a:xfrm>
            <a:prstGeom prst="rect">
              <a:avLst/>
            </a:prstGeom>
          </p:spPr>
          <p:txBody>
            <a:bodyPr lIns="0" tIns="0" rIns="0" bIns="0" rtlCol="0" anchor="ctr"/>
            <a:lstStyle/>
            <a:p>
              <a:pPr algn="l">
                <a:lnSpc>
                  <a:spcPts val="3159"/>
                </a:lnSpc>
              </a:pPr>
              <a:r>
                <a:rPr lang="en-US" sz="1950">
                  <a:solidFill>
                    <a:srgbClr val="C9D6CE"/>
                  </a:solidFill>
                  <a:latin typeface="Calibri (MS)"/>
                  <a:ea typeface="Calibri (MS)"/>
                  <a:cs typeface="Calibri (MS)"/>
                  <a:sym typeface="Calibri (MS)"/>
                </a:rPr>
                <a:t>High-frequency Kafka streaming with batched TimescaleDB persistence keeps data flowing without overwhelming local hardware. A hybrid ML engine balances deterministic physics-based heuristics with ONNX neural networks for reliable forecasting. And by embedding Chaos Engineering alongside RAG-augmented generative AI, DEPI Grid moves beyond monitoring — delivering explainable diagnostics and autonomous repair blueprints in real time.</a:t>
              </a:r>
            </a:p>
          </p:txBody>
        </p:sp>
      </p:grpSp>
      <p:grpSp>
        <p:nvGrpSpPr>
          <p:cNvPr id="35" name="Group 35"/>
          <p:cNvGrpSpPr/>
          <p:nvPr/>
        </p:nvGrpSpPr>
        <p:grpSpPr>
          <a:xfrm>
            <a:off x="1224915" y="7054215"/>
            <a:ext cx="2556510" cy="636270"/>
            <a:chOff x="0" y="0"/>
            <a:chExt cx="3408680" cy="848360"/>
          </a:xfrm>
        </p:grpSpPr>
        <p:sp>
          <p:nvSpPr>
            <p:cNvPr id="36" name="Freeform 36"/>
            <p:cNvSpPr/>
            <p:nvPr/>
          </p:nvSpPr>
          <p:spPr>
            <a:xfrm>
              <a:off x="0" y="0"/>
              <a:ext cx="3408680" cy="848360"/>
            </a:xfrm>
            <a:custGeom>
              <a:avLst/>
              <a:gdLst/>
              <a:ahLst/>
              <a:cxnLst/>
              <a:rect l="l" t="t" r="r" b="b"/>
              <a:pathLst>
                <a:path w="3408680" h="848360">
                  <a:moveTo>
                    <a:pt x="0" y="414782"/>
                  </a:moveTo>
                  <a:cubicBezTo>
                    <a:pt x="0" y="185674"/>
                    <a:pt x="185674" y="0"/>
                    <a:pt x="414782" y="0"/>
                  </a:cubicBezTo>
                  <a:lnTo>
                    <a:pt x="2993898" y="0"/>
                  </a:lnTo>
                  <a:cubicBezTo>
                    <a:pt x="3223006" y="0"/>
                    <a:pt x="3408680" y="185674"/>
                    <a:pt x="3408680" y="414782"/>
                  </a:cubicBezTo>
                  <a:lnTo>
                    <a:pt x="3408680" y="433578"/>
                  </a:lnTo>
                  <a:cubicBezTo>
                    <a:pt x="3408680" y="662686"/>
                    <a:pt x="3223006" y="848360"/>
                    <a:pt x="2993898" y="848360"/>
                  </a:cubicBezTo>
                  <a:lnTo>
                    <a:pt x="414782" y="848360"/>
                  </a:lnTo>
                  <a:cubicBezTo>
                    <a:pt x="185674" y="848360"/>
                    <a:pt x="0" y="662686"/>
                    <a:pt x="0" y="433578"/>
                  </a:cubicBezTo>
                  <a:close/>
                </a:path>
              </a:pathLst>
            </a:custGeom>
            <a:solidFill>
              <a:srgbClr val="16273D"/>
            </a:solidFill>
            <a:ln w="19050" cap="sq">
              <a:solidFill>
                <a:srgbClr val="40916C"/>
              </a:solidFill>
              <a:prstDash val="solid"/>
              <a:miter/>
            </a:ln>
          </p:spPr>
          <p:txBody>
            <a:bodyPr/>
            <a:lstStyle/>
            <a:p>
              <a:endParaRPr lang="en-US"/>
            </a:p>
          </p:txBody>
        </p:sp>
      </p:grpSp>
      <p:grpSp>
        <p:nvGrpSpPr>
          <p:cNvPr id="37" name="Group 37"/>
          <p:cNvGrpSpPr/>
          <p:nvPr/>
        </p:nvGrpSpPr>
        <p:grpSpPr>
          <a:xfrm>
            <a:off x="1234440" y="7063740"/>
            <a:ext cx="2537460" cy="617220"/>
            <a:chOff x="0" y="0"/>
            <a:chExt cx="3383280" cy="822960"/>
          </a:xfrm>
        </p:grpSpPr>
        <p:sp>
          <p:nvSpPr>
            <p:cNvPr id="38" name="Freeform 38"/>
            <p:cNvSpPr/>
            <p:nvPr/>
          </p:nvSpPr>
          <p:spPr>
            <a:xfrm>
              <a:off x="0" y="0"/>
              <a:ext cx="3383280" cy="822960"/>
            </a:xfrm>
            <a:custGeom>
              <a:avLst/>
              <a:gdLst/>
              <a:ahLst/>
              <a:cxnLst/>
              <a:rect l="l" t="t" r="r" b="b"/>
              <a:pathLst>
                <a:path w="3383280" h="822960">
                  <a:moveTo>
                    <a:pt x="0" y="0"/>
                  </a:moveTo>
                  <a:lnTo>
                    <a:pt x="3383280" y="0"/>
                  </a:lnTo>
                  <a:lnTo>
                    <a:pt x="3383280" y="822960"/>
                  </a:lnTo>
                  <a:lnTo>
                    <a:pt x="0" y="822960"/>
                  </a:lnTo>
                  <a:close/>
                </a:path>
              </a:pathLst>
            </a:custGeom>
            <a:blipFill>
              <a:blip r:embed="rId3">
                <a:alphaModFix amt="0"/>
              </a:blip>
              <a:stretch>
                <a:fillRect t="-30105" b="-30105"/>
              </a:stretch>
            </a:blipFill>
          </p:spPr>
          <p:txBody>
            <a:bodyPr/>
            <a:lstStyle/>
            <a:p>
              <a:endParaRPr lang="en-US"/>
            </a:p>
          </p:txBody>
        </p:sp>
        <p:sp>
          <p:nvSpPr>
            <p:cNvPr id="39" name="TextBox 39"/>
            <p:cNvSpPr txBox="1"/>
            <p:nvPr/>
          </p:nvSpPr>
          <p:spPr>
            <a:xfrm>
              <a:off x="0" y="-38100"/>
              <a:ext cx="3383280" cy="861060"/>
            </a:xfrm>
            <a:prstGeom prst="rect">
              <a:avLst/>
            </a:prstGeom>
          </p:spPr>
          <p:txBody>
            <a:bodyPr lIns="0" tIns="0" rIns="0" bIns="0" rtlCol="0" anchor="ctr"/>
            <a:lstStyle/>
            <a:p>
              <a:pPr algn="ctr">
                <a:lnSpc>
                  <a:spcPts val="1800"/>
                </a:lnSpc>
              </a:pPr>
              <a:r>
                <a:rPr lang="en-US" sz="1500" b="1">
                  <a:solidFill>
                    <a:srgbClr val="74C69D"/>
                  </a:solidFill>
                  <a:latin typeface="Calibri (MS) Bold"/>
                  <a:ea typeface="Calibri (MS) Bold"/>
                  <a:cs typeface="Calibri (MS) Bold"/>
                  <a:sym typeface="Calibri (MS) Bold"/>
                </a:rPr>
                <a:t>Kafka Streaming</a:t>
              </a:r>
            </a:p>
          </p:txBody>
        </p:sp>
      </p:grpSp>
      <p:grpSp>
        <p:nvGrpSpPr>
          <p:cNvPr id="40" name="Group 40"/>
          <p:cNvGrpSpPr/>
          <p:nvPr/>
        </p:nvGrpSpPr>
        <p:grpSpPr>
          <a:xfrm>
            <a:off x="4009263" y="7054215"/>
            <a:ext cx="2007870" cy="636270"/>
            <a:chOff x="0" y="0"/>
            <a:chExt cx="2677160" cy="848360"/>
          </a:xfrm>
        </p:grpSpPr>
        <p:sp>
          <p:nvSpPr>
            <p:cNvPr id="41" name="Freeform 41"/>
            <p:cNvSpPr/>
            <p:nvPr/>
          </p:nvSpPr>
          <p:spPr>
            <a:xfrm>
              <a:off x="0" y="0"/>
              <a:ext cx="2677160" cy="848360"/>
            </a:xfrm>
            <a:custGeom>
              <a:avLst/>
              <a:gdLst/>
              <a:ahLst/>
              <a:cxnLst/>
              <a:rect l="l" t="t" r="r" b="b"/>
              <a:pathLst>
                <a:path w="2677160" h="848360">
                  <a:moveTo>
                    <a:pt x="0" y="414782"/>
                  </a:moveTo>
                  <a:cubicBezTo>
                    <a:pt x="0" y="185674"/>
                    <a:pt x="185674" y="0"/>
                    <a:pt x="414782" y="0"/>
                  </a:cubicBezTo>
                  <a:lnTo>
                    <a:pt x="2262378" y="0"/>
                  </a:lnTo>
                  <a:cubicBezTo>
                    <a:pt x="2491486" y="0"/>
                    <a:pt x="2677160" y="185674"/>
                    <a:pt x="2677160" y="414782"/>
                  </a:cubicBezTo>
                  <a:lnTo>
                    <a:pt x="2677160" y="433578"/>
                  </a:lnTo>
                  <a:cubicBezTo>
                    <a:pt x="2677160" y="662686"/>
                    <a:pt x="2491486" y="848360"/>
                    <a:pt x="2262378" y="848360"/>
                  </a:cubicBezTo>
                  <a:lnTo>
                    <a:pt x="414782" y="848360"/>
                  </a:lnTo>
                  <a:cubicBezTo>
                    <a:pt x="185674" y="848360"/>
                    <a:pt x="0" y="662686"/>
                    <a:pt x="0" y="433578"/>
                  </a:cubicBezTo>
                  <a:close/>
                </a:path>
              </a:pathLst>
            </a:custGeom>
            <a:solidFill>
              <a:srgbClr val="16273D"/>
            </a:solidFill>
            <a:ln w="19050" cap="sq">
              <a:solidFill>
                <a:srgbClr val="40916C"/>
              </a:solidFill>
              <a:prstDash val="solid"/>
              <a:miter/>
            </a:ln>
          </p:spPr>
          <p:txBody>
            <a:bodyPr/>
            <a:lstStyle/>
            <a:p>
              <a:endParaRPr lang="en-US"/>
            </a:p>
          </p:txBody>
        </p:sp>
      </p:grpSp>
      <p:grpSp>
        <p:nvGrpSpPr>
          <p:cNvPr id="42" name="Group 42"/>
          <p:cNvGrpSpPr/>
          <p:nvPr/>
        </p:nvGrpSpPr>
        <p:grpSpPr>
          <a:xfrm>
            <a:off x="4018788" y="7063740"/>
            <a:ext cx="1988820" cy="617220"/>
            <a:chOff x="0" y="0"/>
            <a:chExt cx="2651760" cy="822960"/>
          </a:xfrm>
        </p:grpSpPr>
        <p:sp>
          <p:nvSpPr>
            <p:cNvPr id="43" name="Freeform 43"/>
            <p:cNvSpPr/>
            <p:nvPr/>
          </p:nvSpPr>
          <p:spPr>
            <a:xfrm>
              <a:off x="0" y="0"/>
              <a:ext cx="2651760" cy="822960"/>
            </a:xfrm>
            <a:custGeom>
              <a:avLst/>
              <a:gdLst/>
              <a:ahLst/>
              <a:cxnLst/>
              <a:rect l="l" t="t" r="r" b="b"/>
              <a:pathLst>
                <a:path w="2651760" h="822960">
                  <a:moveTo>
                    <a:pt x="0" y="0"/>
                  </a:moveTo>
                  <a:lnTo>
                    <a:pt x="2651760" y="0"/>
                  </a:lnTo>
                  <a:lnTo>
                    <a:pt x="2651760" y="822960"/>
                  </a:lnTo>
                  <a:lnTo>
                    <a:pt x="0" y="822960"/>
                  </a:lnTo>
                  <a:close/>
                </a:path>
              </a:pathLst>
            </a:custGeom>
            <a:blipFill>
              <a:blip r:embed="rId3">
                <a:alphaModFix amt="0"/>
              </a:blip>
              <a:stretch>
                <a:fillRect t="-12785" b="-12785"/>
              </a:stretch>
            </a:blipFill>
          </p:spPr>
          <p:txBody>
            <a:bodyPr/>
            <a:lstStyle/>
            <a:p>
              <a:endParaRPr lang="en-US"/>
            </a:p>
          </p:txBody>
        </p:sp>
        <p:sp>
          <p:nvSpPr>
            <p:cNvPr id="44" name="TextBox 44"/>
            <p:cNvSpPr txBox="1"/>
            <p:nvPr/>
          </p:nvSpPr>
          <p:spPr>
            <a:xfrm>
              <a:off x="0" y="-38100"/>
              <a:ext cx="2651760" cy="861060"/>
            </a:xfrm>
            <a:prstGeom prst="rect">
              <a:avLst/>
            </a:prstGeom>
          </p:spPr>
          <p:txBody>
            <a:bodyPr lIns="0" tIns="0" rIns="0" bIns="0" rtlCol="0" anchor="ctr"/>
            <a:lstStyle/>
            <a:p>
              <a:pPr algn="ctr">
                <a:lnSpc>
                  <a:spcPts val="1800"/>
                </a:lnSpc>
              </a:pPr>
              <a:r>
                <a:rPr lang="en-US" sz="1500" b="1">
                  <a:solidFill>
                    <a:srgbClr val="74C69D"/>
                  </a:solidFill>
                  <a:latin typeface="Calibri (MS) Bold"/>
                  <a:ea typeface="Calibri (MS) Bold"/>
                  <a:cs typeface="Calibri (MS) Bold"/>
                  <a:sym typeface="Calibri (MS) Bold"/>
                </a:rPr>
                <a:t>TimescaleDB</a:t>
              </a:r>
            </a:p>
          </p:txBody>
        </p:sp>
      </p:grpSp>
      <p:grpSp>
        <p:nvGrpSpPr>
          <p:cNvPr id="45" name="Group 45"/>
          <p:cNvGrpSpPr/>
          <p:nvPr/>
        </p:nvGrpSpPr>
        <p:grpSpPr>
          <a:xfrm>
            <a:off x="6244971" y="7054215"/>
            <a:ext cx="3105150" cy="636270"/>
            <a:chOff x="0" y="0"/>
            <a:chExt cx="4140200" cy="848360"/>
          </a:xfrm>
        </p:grpSpPr>
        <p:sp>
          <p:nvSpPr>
            <p:cNvPr id="46" name="Freeform 46"/>
            <p:cNvSpPr/>
            <p:nvPr/>
          </p:nvSpPr>
          <p:spPr>
            <a:xfrm>
              <a:off x="0" y="0"/>
              <a:ext cx="4140200" cy="848360"/>
            </a:xfrm>
            <a:custGeom>
              <a:avLst/>
              <a:gdLst/>
              <a:ahLst/>
              <a:cxnLst/>
              <a:rect l="l" t="t" r="r" b="b"/>
              <a:pathLst>
                <a:path w="4140200" h="848360">
                  <a:moveTo>
                    <a:pt x="0" y="414782"/>
                  </a:moveTo>
                  <a:cubicBezTo>
                    <a:pt x="0" y="185674"/>
                    <a:pt x="185674" y="0"/>
                    <a:pt x="414782" y="0"/>
                  </a:cubicBezTo>
                  <a:lnTo>
                    <a:pt x="3725418" y="0"/>
                  </a:lnTo>
                  <a:cubicBezTo>
                    <a:pt x="3954526" y="0"/>
                    <a:pt x="4140200" y="185674"/>
                    <a:pt x="4140200" y="414782"/>
                  </a:cubicBezTo>
                  <a:lnTo>
                    <a:pt x="4140200" y="433578"/>
                  </a:lnTo>
                  <a:cubicBezTo>
                    <a:pt x="4140200" y="662686"/>
                    <a:pt x="3954526" y="848360"/>
                    <a:pt x="3725418" y="848360"/>
                  </a:cubicBezTo>
                  <a:lnTo>
                    <a:pt x="414782" y="848360"/>
                  </a:lnTo>
                  <a:cubicBezTo>
                    <a:pt x="185674" y="848360"/>
                    <a:pt x="0" y="662686"/>
                    <a:pt x="0" y="433578"/>
                  </a:cubicBezTo>
                  <a:close/>
                </a:path>
              </a:pathLst>
            </a:custGeom>
            <a:solidFill>
              <a:srgbClr val="16273D"/>
            </a:solidFill>
            <a:ln w="19050" cap="sq">
              <a:solidFill>
                <a:srgbClr val="40916C"/>
              </a:solidFill>
              <a:prstDash val="solid"/>
              <a:miter/>
            </a:ln>
          </p:spPr>
          <p:txBody>
            <a:bodyPr/>
            <a:lstStyle/>
            <a:p>
              <a:endParaRPr lang="en-US"/>
            </a:p>
          </p:txBody>
        </p:sp>
      </p:grpSp>
      <p:grpSp>
        <p:nvGrpSpPr>
          <p:cNvPr id="47" name="Group 47"/>
          <p:cNvGrpSpPr/>
          <p:nvPr/>
        </p:nvGrpSpPr>
        <p:grpSpPr>
          <a:xfrm>
            <a:off x="6254496" y="7063740"/>
            <a:ext cx="3086100" cy="617220"/>
            <a:chOff x="0" y="0"/>
            <a:chExt cx="4114800" cy="822960"/>
          </a:xfrm>
        </p:grpSpPr>
        <p:sp>
          <p:nvSpPr>
            <p:cNvPr id="48" name="Freeform 48"/>
            <p:cNvSpPr/>
            <p:nvPr/>
          </p:nvSpPr>
          <p:spPr>
            <a:xfrm>
              <a:off x="0" y="0"/>
              <a:ext cx="4114800" cy="822960"/>
            </a:xfrm>
            <a:custGeom>
              <a:avLst/>
              <a:gdLst/>
              <a:ahLst/>
              <a:cxnLst/>
              <a:rect l="l" t="t" r="r" b="b"/>
              <a:pathLst>
                <a:path w="4114800" h="822960">
                  <a:moveTo>
                    <a:pt x="0" y="0"/>
                  </a:moveTo>
                  <a:lnTo>
                    <a:pt x="4114800" y="0"/>
                  </a:lnTo>
                  <a:lnTo>
                    <a:pt x="4114800" y="822960"/>
                  </a:lnTo>
                  <a:lnTo>
                    <a:pt x="0" y="822960"/>
                  </a:lnTo>
                  <a:close/>
                </a:path>
              </a:pathLst>
            </a:custGeom>
            <a:blipFill>
              <a:blip r:embed="rId3">
                <a:alphaModFix amt="0"/>
              </a:blip>
              <a:stretch>
                <a:fillRect t="-47425" b="-47425"/>
              </a:stretch>
            </a:blipFill>
          </p:spPr>
          <p:txBody>
            <a:bodyPr/>
            <a:lstStyle/>
            <a:p>
              <a:endParaRPr lang="en-US"/>
            </a:p>
          </p:txBody>
        </p:sp>
        <p:sp>
          <p:nvSpPr>
            <p:cNvPr id="49" name="TextBox 49"/>
            <p:cNvSpPr txBox="1"/>
            <p:nvPr/>
          </p:nvSpPr>
          <p:spPr>
            <a:xfrm>
              <a:off x="0" y="-38100"/>
              <a:ext cx="4114800" cy="861060"/>
            </a:xfrm>
            <a:prstGeom prst="rect">
              <a:avLst/>
            </a:prstGeom>
          </p:spPr>
          <p:txBody>
            <a:bodyPr lIns="0" tIns="0" rIns="0" bIns="0" rtlCol="0" anchor="ctr"/>
            <a:lstStyle/>
            <a:p>
              <a:pPr algn="ctr">
                <a:lnSpc>
                  <a:spcPts val="1800"/>
                </a:lnSpc>
              </a:pPr>
              <a:r>
                <a:rPr lang="en-US" sz="1500" b="1">
                  <a:solidFill>
                    <a:srgbClr val="74C69D"/>
                  </a:solidFill>
                  <a:latin typeface="Calibri (MS) Bold"/>
                  <a:ea typeface="Calibri (MS) Bold"/>
                  <a:cs typeface="Calibri (MS) Bold"/>
                  <a:sym typeface="Calibri (MS) Bold"/>
                </a:rPr>
                <a:t>ONNX + scikit-learn</a:t>
              </a:r>
            </a:p>
          </p:txBody>
        </p:sp>
      </p:grpSp>
      <p:grpSp>
        <p:nvGrpSpPr>
          <p:cNvPr id="50" name="Group 50"/>
          <p:cNvGrpSpPr/>
          <p:nvPr/>
        </p:nvGrpSpPr>
        <p:grpSpPr>
          <a:xfrm>
            <a:off x="9577959" y="7054215"/>
            <a:ext cx="2967990" cy="636270"/>
            <a:chOff x="0" y="0"/>
            <a:chExt cx="3957320" cy="848360"/>
          </a:xfrm>
        </p:grpSpPr>
        <p:sp>
          <p:nvSpPr>
            <p:cNvPr id="51" name="Freeform 51"/>
            <p:cNvSpPr/>
            <p:nvPr/>
          </p:nvSpPr>
          <p:spPr>
            <a:xfrm>
              <a:off x="0" y="0"/>
              <a:ext cx="3957320" cy="848360"/>
            </a:xfrm>
            <a:custGeom>
              <a:avLst/>
              <a:gdLst/>
              <a:ahLst/>
              <a:cxnLst/>
              <a:rect l="l" t="t" r="r" b="b"/>
              <a:pathLst>
                <a:path w="3957320" h="848360">
                  <a:moveTo>
                    <a:pt x="0" y="414782"/>
                  </a:moveTo>
                  <a:cubicBezTo>
                    <a:pt x="0" y="185674"/>
                    <a:pt x="185674" y="0"/>
                    <a:pt x="414782" y="0"/>
                  </a:cubicBezTo>
                  <a:lnTo>
                    <a:pt x="3542538" y="0"/>
                  </a:lnTo>
                  <a:cubicBezTo>
                    <a:pt x="3771646" y="0"/>
                    <a:pt x="3957320" y="185674"/>
                    <a:pt x="3957320" y="414782"/>
                  </a:cubicBezTo>
                  <a:lnTo>
                    <a:pt x="3957320" y="433578"/>
                  </a:lnTo>
                  <a:cubicBezTo>
                    <a:pt x="3957320" y="662686"/>
                    <a:pt x="3771646" y="848360"/>
                    <a:pt x="3542538" y="848360"/>
                  </a:cubicBezTo>
                  <a:lnTo>
                    <a:pt x="414782" y="848360"/>
                  </a:lnTo>
                  <a:cubicBezTo>
                    <a:pt x="185674" y="848360"/>
                    <a:pt x="0" y="662686"/>
                    <a:pt x="0" y="433578"/>
                  </a:cubicBezTo>
                  <a:close/>
                </a:path>
              </a:pathLst>
            </a:custGeom>
            <a:solidFill>
              <a:srgbClr val="16273D"/>
            </a:solidFill>
            <a:ln w="19050" cap="sq">
              <a:solidFill>
                <a:srgbClr val="40916C"/>
              </a:solidFill>
              <a:prstDash val="solid"/>
              <a:miter/>
            </a:ln>
          </p:spPr>
          <p:txBody>
            <a:bodyPr/>
            <a:lstStyle/>
            <a:p>
              <a:endParaRPr lang="en-US"/>
            </a:p>
          </p:txBody>
        </p:sp>
      </p:grpSp>
      <p:grpSp>
        <p:nvGrpSpPr>
          <p:cNvPr id="52" name="Group 52"/>
          <p:cNvGrpSpPr/>
          <p:nvPr/>
        </p:nvGrpSpPr>
        <p:grpSpPr>
          <a:xfrm>
            <a:off x="9587484" y="7063740"/>
            <a:ext cx="2948940" cy="617220"/>
            <a:chOff x="0" y="0"/>
            <a:chExt cx="3931920" cy="822960"/>
          </a:xfrm>
        </p:grpSpPr>
        <p:sp>
          <p:nvSpPr>
            <p:cNvPr id="53" name="Freeform 53"/>
            <p:cNvSpPr/>
            <p:nvPr/>
          </p:nvSpPr>
          <p:spPr>
            <a:xfrm>
              <a:off x="0" y="0"/>
              <a:ext cx="3931920" cy="822960"/>
            </a:xfrm>
            <a:custGeom>
              <a:avLst/>
              <a:gdLst/>
              <a:ahLst/>
              <a:cxnLst/>
              <a:rect l="l" t="t" r="r" b="b"/>
              <a:pathLst>
                <a:path w="3931920" h="822960">
                  <a:moveTo>
                    <a:pt x="0" y="0"/>
                  </a:moveTo>
                  <a:lnTo>
                    <a:pt x="3931920" y="0"/>
                  </a:lnTo>
                  <a:lnTo>
                    <a:pt x="3931920" y="822960"/>
                  </a:lnTo>
                  <a:lnTo>
                    <a:pt x="0" y="822960"/>
                  </a:lnTo>
                  <a:close/>
                </a:path>
              </a:pathLst>
            </a:custGeom>
            <a:blipFill>
              <a:blip r:embed="rId3">
                <a:alphaModFix amt="0"/>
              </a:blip>
              <a:stretch>
                <a:fillRect t="-43095" b="-43095"/>
              </a:stretch>
            </a:blipFill>
          </p:spPr>
          <p:txBody>
            <a:bodyPr/>
            <a:lstStyle/>
            <a:p>
              <a:endParaRPr lang="en-US"/>
            </a:p>
          </p:txBody>
        </p:sp>
        <p:sp>
          <p:nvSpPr>
            <p:cNvPr id="54" name="TextBox 54"/>
            <p:cNvSpPr txBox="1"/>
            <p:nvPr/>
          </p:nvSpPr>
          <p:spPr>
            <a:xfrm>
              <a:off x="0" y="-38100"/>
              <a:ext cx="3931920" cy="861060"/>
            </a:xfrm>
            <a:prstGeom prst="rect">
              <a:avLst/>
            </a:prstGeom>
          </p:spPr>
          <p:txBody>
            <a:bodyPr lIns="0" tIns="0" rIns="0" bIns="0" rtlCol="0" anchor="ctr"/>
            <a:lstStyle/>
            <a:p>
              <a:pPr algn="ctr">
                <a:lnSpc>
                  <a:spcPts val="1800"/>
                </a:lnSpc>
              </a:pPr>
              <a:r>
                <a:rPr lang="en-US" sz="1500" b="1">
                  <a:solidFill>
                    <a:srgbClr val="74C69D"/>
                  </a:solidFill>
                  <a:latin typeface="Calibri (MS) Bold"/>
                  <a:ea typeface="Calibri (MS) Bold"/>
                  <a:cs typeface="Calibri (MS) Bold"/>
                  <a:sym typeface="Calibri (MS) Bold"/>
                </a:rPr>
                <a:t>Gemini + FAISS RAG</a:t>
              </a:r>
            </a:p>
          </p:txBody>
        </p:sp>
      </p:grpSp>
      <p:grpSp>
        <p:nvGrpSpPr>
          <p:cNvPr id="55" name="Group 55"/>
          <p:cNvGrpSpPr/>
          <p:nvPr/>
        </p:nvGrpSpPr>
        <p:grpSpPr>
          <a:xfrm>
            <a:off x="12773787" y="7054215"/>
            <a:ext cx="1733550" cy="636270"/>
            <a:chOff x="0" y="0"/>
            <a:chExt cx="2311400" cy="848360"/>
          </a:xfrm>
        </p:grpSpPr>
        <p:sp>
          <p:nvSpPr>
            <p:cNvPr id="56" name="Freeform 56"/>
            <p:cNvSpPr/>
            <p:nvPr/>
          </p:nvSpPr>
          <p:spPr>
            <a:xfrm>
              <a:off x="0" y="0"/>
              <a:ext cx="2311400" cy="848360"/>
            </a:xfrm>
            <a:custGeom>
              <a:avLst/>
              <a:gdLst/>
              <a:ahLst/>
              <a:cxnLst/>
              <a:rect l="l" t="t" r="r" b="b"/>
              <a:pathLst>
                <a:path w="2311400" h="848360">
                  <a:moveTo>
                    <a:pt x="0" y="414782"/>
                  </a:moveTo>
                  <a:cubicBezTo>
                    <a:pt x="0" y="185674"/>
                    <a:pt x="185674" y="0"/>
                    <a:pt x="414782" y="0"/>
                  </a:cubicBezTo>
                  <a:lnTo>
                    <a:pt x="1896618" y="0"/>
                  </a:lnTo>
                  <a:cubicBezTo>
                    <a:pt x="2125726" y="0"/>
                    <a:pt x="2311400" y="185674"/>
                    <a:pt x="2311400" y="414782"/>
                  </a:cubicBezTo>
                  <a:lnTo>
                    <a:pt x="2311400" y="433578"/>
                  </a:lnTo>
                  <a:cubicBezTo>
                    <a:pt x="2311400" y="662686"/>
                    <a:pt x="2125726" y="848360"/>
                    <a:pt x="1896618" y="848360"/>
                  </a:cubicBezTo>
                  <a:lnTo>
                    <a:pt x="414782" y="848360"/>
                  </a:lnTo>
                  <a:cubicBezTo>
                    <a:pt x="185674" y="848360"/>
                    <a:pt x="0" y="662686"/>
                    <a:pt x="0" y="433578"/>
                  </a:cubicBezTo>
                  <a:close/>
                </a:path>
              </a:pathLst>
            </a:custGeom>
            <a:solidFill>
              <a:srgbClr val="16273D"/>
            </a:solidFill>
            <a:ln w="19050" cap="sq">
              <a:solidFill>
                <a:srgbClr val="40916C"/>
              </a:solidFill>
              <a:prstDash val="solid"/>
              <a:miter/>
            </a:ln>
          </p:spPr>
          <p:txBody>
            <a:bodyPr/>
            <a:lstStyle/>
            <a:p>
              <a:endParaRPr lang="en-US"/>
            </a:p>
          </p:txBody>
        </p:sp>
      </p:grpSp>
      <p:grpSp>
        <p:nvGrpSpPr>
          <p:cNvPr id="57" name="Group 57"/>
          <p:cNvGrpSpPr/>
          <p:nvPr/>
        </p:nvGrpSpPr>
        <p:grpSpPr>
          <a:xfrm>
            <a:off x="12783312" y="7063740"/>
            <a:ext cx="1714500" cy="617220"/>
            <a:chOff x="0" y="0"/>
            <a:chExt cx="2286000" cy="822960"/>
          </a:xfrm>
        </p:grpSpPr>
        <p:sp>
          <p:nvSpPr>
            <p:cNvPr id="58" name="Freeform 58"/>
            <p:cNvSpPr/>
            <p:nvPr/>
          </p:nvSpPr>
          <p:spPr>
            <a:xfrm>
              <a:off x="0" y="0"/>
              <a:ext cx="2286000" cy="822960"/>
            </a:xfrm>
            <a:custGeom>
              <a:avLst/>
              <a:gdLst/>
              <a:ahLst/>
              <a:cxnLst/>
              <a:rect l="l" t="t" r="r" b="b"/>
              <a:pathLst>
                <a:path w="2286000" h="822960">
                  <a:moveTo>
                    <a:pt x="0" y="0"/>
                  </a:moveTo>
                  <a:lnTo>
                    <a:pt x="2286000" y="0"/>
                  </a:lnTo>
                  <a:lnTo>
                    <a:pt x="2286000" y="822960"/>
                  </a:lnTo>
                  <a:lnTo>
                    <a:pt x="0" y="822960"/>
                  </a:lnTo>
                  <a:close/>
                </a:path>
              </a:pathLst>
            </a:custGeom>
            <a:blipFill>
              <a:blip r:embed="rId3">
                <a:alphaModFix amt="0"/>
              </a:blip>
              <a:stretch>
                <a:fillRect t="-4125" b="-4125"/>
              </a:stretch>
            </a:blipFill>
          </p:spPr>
          <p:txBody>
            <a:bodyPr/>
            <a:lstStyle/>
            <a:p>
              <a:endParaRPr lang="en-US"/>
            </a:p>
          </p:txBody>
        </p:sp>
        <p:sp>
          <p:nvSpPr>
            <p:cNvPr id="59" name="TextBox 59"/>
            <p:cNvSpPr txBox="1"/>
            <p:nvPr/>
          </p:nvSpPr>
          <p:spPr>
            <a:xfrm>
              <a:off x="0" y="-38100"/>
              <a:ext cx="2286000" cy="861060"/>
            </a:xfrm>
            <a:prstGeom prst="rect">
              <a:avLst/>
            </a:prstGeom>
          </p:spPr>
          <p:txBody>
            <a:bodyPr lIns="0" tIns="0" rIns="0" bIns="0" rtlCol="0" anchor="ctr"/>
            <a:lstStyle/>
            <a:p>
              <a:pPr algn="ctr">
                <a:lnSpc>
                  <a:spcPts val="1800"/>
                </a:lnSpc>
              </a:pPr>
              <a:r>
                <a:rPr lang="en-US" sz="1500" b="1">
                  <a:solidFill>
                    <a:srgbClr val="74C69D"/>
                  </a:solidFill>
                  <a:latin typeface="Calibri (MS) Bold"/>
                  <a:ea typeface="Calibri (MS) Bold"/>
                  <a:cs typeface="Calibri (MS) Bold"/>
                  <a:sym typeface="Calibri (MS) Bold"/>
                </a:rPr>
                <a:t>Streamlit</a:t>
              </a:r>
            </a:p>
          </p:txBody>
        </p:sp>
      </p:grpSp>
      <p:grpSp>
        <p:nvGrpSpPr>
          <p:cNvPr id="60" name="Group 60"/>
          <p:cNvGrpSpPr/>
          <p:nvPr/>
        </p:nvGrpSpPr>
        <p:grpSpPr>
          <a:xfrm>
            <a:off x="1224915" y="7877175"/>
            <a:ext cx="2830830" cy="636270"/>
            <a:chOff x="0" y="0"/>
            <a:chExt cx="3774440" cy="848360"/>
          </a:xfrm>
        </p:grpSpPr>
        <p:sp>
          <p:nvSpPr>
            <p:cNvPr id="61" name="Freeform 61"/>
            <p:cNvSpPr/>
            <p:nvPr/>
          </p:nvSpPr>
          <p:spPr>
            <a:xfrm>
              <a:off x="0" y="0"/>
              <a:ext cx="3774440" cy="848360"/>
            </a:xfrm>
            <a:custGeom>
              <a:avLst/>
              <a:gdLst/>
              <a:ahLst/>
              <a:cxnLst/>
              <a:rect l="l" t="t" r="r" b="b"/>
              <a:pathLst>
                <a:path w="3774440" h="848360">
                  <a:moveTo>
                    <a:pt x="0" y="414782"/>
                  </a:moveTo>
                  <a:cubicBezTo>
                    <a:pt x="0" y="185674"/>
                    <a:pt x="185674" y="0"/>
                    <a:pt x="414782" y="0"/>
                  </a:cubicBezTo>
                  <a:lnTo>
                    <a:pt x="3359658" y="0"/>
                  </a:lnTo>
                  <a:cubicBezTo>
                    <a:pt x="3588766" y="0"/>
                    <a:pt x="3774440" y="185674"/>
                    <a:pt x="3774440" y="414782"/>
                  </a:cubicBezTo>
                  <a:lnTo>
                    <a:pt x="3774440" y="433578"/>
                  </a:lnTo>
                  <a:cubicBezTo>
                    <a:pt x="3774440" y="662686"/>
                    <a:pt x="3588766" y="848360"/>
                    <a:pt x="3359658" y="848360"/>
                  </a:cubicBezTo>
                  <a:lnTo>
                    <a:pt x="414782" y="848360"/>
                  </a:lnTo>
                  <a:cubicBezTo>
                    <a:pt x="185674" y="848360"/>
                    <a:pt x="0" y="662686"/>
                    <a:pt x="0" y="433578"/>
                  </a:cubicBezTo>
                  <a:close/>
                </a:path>
              </a:pathLst>
            </a:custGeom>
            <a:solidFill>
              <a:srgbClr val="16273D"/>
            </a:solidFill>
            <a:ln w="19050" cap="sq">
              <a:solidFill>
                <a:srgbClr val="40916C"/>
              </a:solidFill>
              <a:prstDash val="solid"/>
              <a:miter/>
            </a:ln>
          </p:spPr>
          <p:txBody>
            <a:bodyPr/>
            <a:lstStyle/>
            <a:p>
              <a:endParaRPr lang="en-US"/>
            </a:p>
          </p:txBody>
        </p:sp>
      </p:grpSp>
      <p:grpSp>
        <p:nvGrpSpPr>
          <p:cNvPr id="62" name="Group 62"/>
          <p:cNvGrpSpPr/>
          <p:nvPr/>
        </p:nvGrpSpPr>
        <p:grpSpPr>
          <a:xfrm>
            <a:off x="1234440" y="7886700"/>
            <a:ext cx="2811780" cy="617220"/>
            <a:chOff x="0" y="0"/>
            <a:chExt cx="3749040" cy="822960"/>
          </a:xfrm>
        </p:grpSpPr>
        <p:sp>
          <p:nvSpPr>
            <p:cNvPr id="63" name="Freeform 63"/>
            <p:cNvSpPr/>
            <p:nvPr/>
          </p:nvSpPr>
          <p:spPr>
            <a:xfrm>
              <a:off x="0" y="0"/>
              <a:ext cx="3749040" cy="822960"/>
            </a:xfrm>
            <a:custGeom>
              <a:avLst/>
              <a:gdLst/>
              <a:ahLst/>
              <a:cxnLst/>
              <a:rect l="l" t="t" r="r" b="b"/>
              <a:pathLst>
                <a:path w="3749040" h="822960">
                  <a:moveTo>
                    <a:pt x="0" y="0"/>
                  </a:moveTo>
                  <a:lnTo>
                    <a:pt x="3749040" y="0"/>
                  </a:lnTo>
                  <a:lnTo>
                    <a:pt x="3749040" y="822960"/>
                  </a:lnTo>
                  <a:lnTo>
                    <a:pt x="0" y="822960"/>
                  </a:lnTo>
                  <a:close/>
                </a:path>
              </a:pathLst>
            </a:custGeom>
            <a:blipFill>
              <a:blip r:embed="rId3">
                <a:alphaModFix amt="0"/>
              </a:blip>
              <a:stretch>
                <a:fillRect t="-38765" b="-38765"/>
              </a:stretch>
            </a:blipFill>
          </p:spPr>
          <p:txBody>
            <a:bodyPr/>
            <a:lstStyle/>
            <a:p>
              <a:endParaRPr lang="en-US"/>
            </a:p>
          </p:txBody>
        </p:sp>
        <p:sp>
          <p:nvSpPr>
            <p:cNvPr id="64" name="TextBox 64"/>
            <p:cNvSpPr txBox="1"/>
            <p:nvPr/>
          </p:nvSpPr>
          <p:spPr>
            <a:xfrm>
              <a:off x="0" y="-38100"/>
              <a:ext cx="3749040" cy="861060"/>
            </a:xfrm>
            <a:prstGeom prst="rect">
              <a:avLst/>
            </a:prstGeom>
          </p:spPr>
          <p:txBody>
            <a:bodyPr lIns="0" tIns="0" rIns="0" bIns="0" rtlCol="0" anchor="ctr"/>
            <a:lstStyle/>
            <a:p>
              <a:pPr algn="ctr">
                <a:lnSpc>
                  <a:spcPts val="1800"/>
                </a:lnSpc>
              </a:pPr>
              <a:r>
                <a:rPr lang="en-US" sz="1500" b="1">
                  <a:solidFill>
                    <a:srgbClr val="74C69D"/>
                  </a:solidFill>
                  <a:latin typeface="Calibri (MS) Bold"/>
                  <a:ea typeface="Calibri (MS) Bold"/>
                  <a:cs typeface="Calibri (MS) Bold"/>
                  <a:sym typeface="Calibri (MS) Bold"/>
                </a:rPr>
                <a:t>Chaos Engineering</a:t>
              </a:r>
            </a:p>
          </p:txBody>
        </p:sp>
      </p:grpSp>
      <p:grpSp>
        <p:nvGrpSpPr>
          <p:cNvPr id="65" name="Group 65"/>
          <p:cNvGrpSpPr/>
          <p:nvPr/>
        </p:nvGrpSpPr>
        <p:grpSpPr>
          <a:xfrm>
            <a:off x="1234440" y="9738360"/>
            <a:ext cx="8229600" cy="480060"/>
            <a:chOff x="0" y="0"/>
            <a:chExt cx="10972800" cy="640080"/>
          </a:xfrm>
        </p:grpSpPr>
        <p:sp>
          <p:nvSpPr>
            <p:cNvPr id="66" name="Freeform 66"/>
            <p:cNvSpPr/>
            <p:nvPr/>
          </p:nvSpPr>
          <p:spPr>
            <a:xfrm>
              <a:off x="0" y="0"/>
              <a:ext cx="10972800" cy="640080"/>
            </a:xfrm>
            <a:custGeom>
              <a:avLst/>
              <a:gdLst/>
              <a:ahLst/>
              <a:cxnLst/>
              <a:rect l="l" t="t" r="r" b="b"/>
              <a:pathLst>
                <a:path w="10972800" h="640080">
                  <a:moveTo>
                    <a:pt x="0" y="0"/>
                  </a:moveTo>
                  <a:lnTo>
                    <a:pt x="10972800" y="0"/>
                  </a:lnTo>
                  <a:lnTo>
                    <a:pt x="10972800" y="640080"/>
                  </a:lnTo>
                  <a:lnTo>
                    <a:pt x="0" y="640080"/>
                  </a:lnTo>
                  <a:close/>
                </a:path>
              </a:pathLst>
            </a:custGeom>
            <a:blipFill>
              <a:blip r:embed="rId3">
                <a:alphaModFix amt="0"/>
              </a:blip>
              <a:stretch>
                <a:fillRect t="-284029" b="-284029"/>
              </a:stretch>
            </a:blipFill>
          </p:spPr>
          <p:txBody>
            <a:bodyPr/>
            <a:lstStyle/>
            <a:p>
              <a:endParaRPr lang="en-US"/>
            </a:p>
          </p:txBody>
        </p:sp>
        <p:sp>
          <p:nvSpPr>
            <p:cNvPr id="67" name="TextBox 67"/>
            <p:cNvSpPr txBox="1"/>
            <p:nvPr/>
          </p:nvSpPr>
          <p:spPr>
            <a:xfrm>
              <a:off x="0" y="-28575"/>
              <a:ext cx="10972800" cy="668655"/>
            </a:xfrm>
            <a:prstGeom prst="rect">
              <a:avLst/>
            </a:prstGeom>
          </p:spPr>
          <p:txBody>
            <a:bodyPr lIns="0" tIns="0" rIns="0" bIns="0" rtlCol="0" anchor="ctr"/>
            <a:lstStyle/>
            <a:p>
              <a:pPr algn="l">
                <a:lnSpc>
                  <a:spcPts val="1980"/>
                </a:lnSpc>
              </a:pPr>
              <a:r>
                <a:rPr lang="en-US" sz="1650">
                  <a:solidFill>
                    <a:srgbClr val="5B6B72"/>
                  </a:solidFill>
                  <a:latin typeface="Calibri (MS)"/>
                  <a:ea typeface="Calibri (MS)"/>
                  <a:cs typeface="Calibri (MS)"/>
                  <a:sym typeface="Calibri (MS)"/>
                </a:rPr>
                <a:t>DEPI Grid — Team Presentation</a:t>
              </a: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grpSp>
        <p:nvGrpSpPr>
          <p:cNvPr id="2" name="Group 2"/>
          <p:cNvGrpSpPr/>
          <p:nvPr/>
        </p:nvGrpSpPr>
        <p:grpSpPr>
          <a:xfrm>
            <a:off x="813435" y="-9525"/>
            <a:ext cx="19050" cy="10306050"/>
            <a:chOff x="0" y="0"/>
            <a:chExt cx="25400" cy="13741400"/>
          </a:xfrm>
        </p:grpSpPr>
        <p:sp>
          <p:nvSpPr>
            <p:cNvPr id="3" name="Freeform 3"/>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4" name="Group 4"/>
          <p:cNvGrpSpPr/>
          <p:nvPr/>
        </p:nvGrpSpPr>
        <p:grpSpPr>
          <a:xfrm>
            <a:off x="16655415" y="-9525"/>
            <a:ext cx="19050" cy="10306050"/>
            <a:chOff x="0" y="0"/>
            <a:chExt cx="25400" cy="13741400"/>
          </a:xfrm>
        </p:grpSpPr>
        <p:sp>
          <p:nvSpPr>
            <p:cNvPr id="5" name="Freeform 5"/>
            <p:cNvSpPr/>
            <p:nvPr/>
          </p:nvSpPr>
          <p:spPr>
            <a:xfrm>
              <a:off x="0" y="0"/>
              <a:ext cx="25400" cy="13741400"/>
            </a:xfrm>
            <a:custGeom>
              <a:avLst/>
              <a:gdLst/>
              <a:ahLst/>
              <a:cxnLst/>
              <a:rect l="l" t="t" r="r" b="b"/>
              <a:pathLst>
                <a:path w="25400" h="13741400">
                  <a:moveTo>
                    <a:pt x="0" y="0"/>
                  </a:moveTo>
                  <a:lnTo>
                    <a:pt x="25400" y="13741400"/>
                  </a:lnTo>
                </a:path>
              </a:pathLst>
            </a:custGeom>
            <a:blipFill>
              <a:blip r:embed="rId3">
                <a:alphaModFix amt="0"/>
              </a:blip>
              <a:stretch>
                <a:fillRect l="-69362232" r="-69362232"/>
              </a:stretch>
            </a:blipFill>
            <a:ln w="19050" cap="sq">
              <a:solidFill>
                <a:srgbClr val="16273D"/>
              </a:solidFill>
              <a:prstDash val="solid"/>
              <a:miter/>
            </a:ln>
          </p:spPr>
          <p:txBody>
            <a:bodyPr/>
            <a:lstStyle/>
            <a:p>
              <a:endParaRPr lang="en-US"/>
            </a:p>
          </p:txBody>
        </p:sp>
      </p:grpSp>
      <p:grpSp>
        <p:nvGrpSpPr>
          <p:cNvPr id="6" name="Group 6"/>
          <p:cNvGrpSpPr/>
          <p:nvPr/>
        </p:nvGrpSpPr>
        <p:grpSpPr>
          <a:xfrm>
            <a:off x="1234440" y="9738360"/>
            <a:ext cx="8229600" cy="480060"/>
            <a:chOff x="0" y="0"/>
            <a:chExt cx="10972800" cy="640080"/>
          </a:xfrm>
        </p:grpSpPr>
        <p:sp>
          <p:nvSpPr>
            <p:cNvPr id="7" name="Freeform 7"/>
            <p:cNvSpPr/>
            <p:nvPr/>
          </p:nvSpPr>
          <p:spPr>
            <a:xfrm>
              <a:off x="0" y="0"/>
              <a:ext cx="10972800" cy="640080"/>
            </a:xfrm>
            <a:custGeom>
              <a:avLst/>
              <a:gdLst/>
              <a:ahLst/>
              <a:cxnLst/>
              <a:rect l="l" t="t" r="r" b="b"/>
              <a:pathLst>
                <a:path w="10972800" h="640080">
                  <a:moveTo>
                    <a:pt x="0" y="0"/>
                  </a:moveTo>
                  <a:lnTo>
                    <a:pt x="10972800" y="0"/>
                  </a:lnTo>
                  <a:lnTo>
                    <a:pt x="10972800" y="640080"/>
                  </a:lnTo>
                  <a:lnTo>
                    <a:pt x="0" y="640080"/>
                  </a:lnTo>
                  <a:close/>
                </a:path>
              </a:pathLst>
            </a:custGeom>
            <a:blipFill>
              <a:blip r:embed="rId3">
                <a:alphaModFix amt="0"/>
              </a:blip>
              <a:stretch>
                <a:fillRect t="-284029" b="-284029"/>
              </a:stretch>
            </a:blipFill>
          </p:spPr>
          <p:txBody>
            <a:bodyPr/>
            <a:lstStyle/>
            <a:p>
              <a:endParaRPr lang="en-US"/>
            </a:p>
          </p:txBody>
        </p:sp>
        <p:sp>
          <p:nvSpPr>
            <p:cNvPr id="8" name="TextBox 8"/>
            <p:cNvSpPr txBox="1"/>
            <p:nvPr/>
          </p:nvSpPr>
          <p:spPr>
            <a:xfrm>
              <a:off x="0" y="-28575"/>
              <a:ext cx="10972800" cy="668655"/>
            </a:xfrm>
            <a:prstGeom prst="rect">
              <a:avLst/>
            </a:prstGeom>
          </p:spPr>
          <p:txBody>
            <a:bodyPr lIns="0" tIns="0" rIns="0" bIns="0" rtlCol="0" anchor="ctr"/>
            <a:lstStyle/>
            <a:p>
              <a:pPr algn="l">
                <a:lnSpc>
                  <a:spcPts val="1980"/>
                </a:lnSpc>
              </a:pPr>
              <a:r>
                <a:rPr lang="en-US" sz="1650">
                  <a:solidFill>
                    <a:srgbClr val="5B6B72"/>
                  </a:solidFill>
                  <a:latin typeface="Calibri (MS)"/>
                  <a:ea typeface="Calibri (MS)"/>
                  <a:cs typeface="Calibri (MS)"/>
                  <a:sym typeface="Calibri (MS)"/>
                </a:rPr>
                <a:t>DEPI Grid — Team Presentation</a:t>
              </a:r>
            </a:p>
          </p:txBody>
        </p:sp>
      </p:grpSp>
      <p:grpSp>
        <p:nvGrpSpPr>
          <p:cNvPr id="9" name="Group 9"/>
          <p:cNvGrpSpPr/>
          <p:nvPr/>
        </p:nvGrpSpPr>
        <p:grpSpPr>
          <a:xfrm>
            <a:off x="2757558" y="1974621"/>
            <a:ext cx="11972785" cy="5078473"/>
            <a:chOff x="0" y="0"/>
            <a:chExt cx="15963713" cy="6771297"/>
          </a:xfrm>
        </p:grpSpPr>
        <p:sp>
          <p:nvSpPr>
            <p:cNvPr id="10" name="Freeform 10"/>
            <p:cNvSpPr/>
            <p:nvPr/>
          </p:nvSpPr>
          <p:spPr>
            <a:xfrm>
              <a:off x="0" y="0"/>
              <a:ext cx="15963714" cy="6771298"/>
            </a:xfrm>
            <a:custGeom>
              <a:avLst/>
              <a:gdLst/>
              <a:ahLst/>
              <a:cxnLst/>
              <a:rect l="l" t="t" r="r" b="b"/>
              <a:pathLst>
                <a:path w="15963714" h="6771298">
                  <a:moveTo>
                    <a:pt x="0" y="0"/>
                  </a:moveTo>
                  <a:lnTo>
                    <a:pt x="15963714" y="0"/>
                  </a:lnTo>
                  <a:lnTo>
                    <a:pt x="15963714" y="6771298"/>
                  </a:lnTo>
                  <a:lnTo>
                    <a:pt x="0" y="6771298"/>
                  </a:lnTo>
                  <a:close/>
                </a:path>
              </a:pathLst>
            </a:custGeom>
            <a:blipFill>
              <a:blip r:embed="rId3">
                <a:alphaModFix amt="0"/>
              </a:blip>
              <a:stretch>
                <a:fillRect t="-23472" r="31264" b="60322"/>
              </a:stretch>
            </a:blipFill>
          </p:spPr>
          <p:txBody>
            <a:bodyPr/>
            <a:lstStyle/>
            <a:p>
              <a:endParaRPr lang="en-US"/>
            </a:p>
          </p:txBody>
        </p:sp>
        <p:sp>
          <p:nvSpPr>
            <p:cNvPr id="11" name="TextBox 11"/>
            <p:cNvSpPr txBox="1"/>
            <p:nvPr/>
          </p:nvSpPr>
          <p:spPr>
            <a:xfrm>
              <a:off x="0" y="0"/>
              <a:ext cx="15963713" cy="6771297"/>
            </a:xfrm>
            <a:prstGeom prst="rect">
              <a:avLst/>
            </a:prstGeom>
          </p:spPr>
          <p:txBody>
            <a:bodyPr lIns="0" tIns="0" rIns="0" bIns="0" rtlCol="0" anchor="ctr"/>
            <a:lstStyle/>
            <a:p>
              <a:pPr algn="ctr">
                <a:lnSpc>
                  <a:spcPts val="8999"/>
                </a:lnSpc>
              </a:pPr>
              <a:r>
                <a:rPr lang="en-US" sz="7499" b="1">
                  <a:solidFill>
                    <a:srgbClr val="FFFFFF"/>
                  </a:solidFill>
                  <a:latin typeface="Cambria Bold"/>
                  <a:ea typeface="Cambria Bold"/>
                  <a:cs typeface="Cambria Bold"/>
                  <a:sym typeface="Cambria Bold"/>
                </a:rPr>
                <a:t>Thank you..!</a:t>
              </a:r>
            </a:p>
            <a:p>
              <a:pPr algn="ctr">
                <a:lnSpc>
                  <a:spcPts val="4799"/>
                </a:lnSpc>
              </a:pPr>
              <a:r>
                <a:rPr lang="en-US" sz="3999" b="1">
                  <a:solidFill>
                    <a:srgbClr val="FFFFFF"/>
                  </a:solidFill>
                  <a:latin typeface="Cambria Bold"/>
                  <a:ea typeface="Cambria Bold"/>
                  <a:cs typeface="Cambria Bold"/>
                  <a:sym typeface="Cambria Bold"/>
                </a:rPr>
                <a:t>Any Questions..?</a:t>
              </a:r>
            </a:p>
          </p:txBody>
        </p:sp>
      </p:grpSp>
      <p:sp>
        <p:nvSpPr>
          <p:cNvPr id="12" name="Freeform 12"/>
          <p:cNvSpPr/>
          <p:nvPr/>
        </p:nvSpPr>
        <p:spPr>
          <a:xfrm>
            <a:off x="1028700" y="490147"/>
            <a:ext cx="1728376" cy="1708042"/>
          </a:xfrm>
          <a:custGeom>
            <a:avLst/>
            <a:gdLst/>
            <a:ahLst/>
            <a:cxnLst/>
            <a:rect l="l" t="t" r="r" b="b"/>
            <a:pathLst>
              <a:path w="1728376" h="1708042">
                <a:moveTo>
                  <a:pt x="0" y="0"/>
                </a:moveTo>
                <a:lnTo>
                  <a:pt x="1728376" y="0"/>
                </a:lnTo>
                <a:lnTo>
                  <a:pt x="1728376" y="1708042"/>
                </a:lnTo>
                <a:lnTo>
                  <a:pt x="0" y="1708042"/>
                </a:lnTo>
                <a:lnTo>
                  <a:pt x="0" y="0"/>
                </a:lnTo>
                <a:close/>
              </a:path>
            </a:pathLst>
          </a:custGeom>
          <a:blipFill>
            <a:blip r:embed="rId4"/>
            <a:stretch>
              <a:fillRect/>
            </a:stretch>
          </a:blipFill>
        </p:spPr>
        <p:txBody>
          <a:bodyPr/>
          <a:lstStyle/>
          <a:p>
            <a:endParaRPr lang="en-US"/>
          </a:p>
        </p:txBody>
      </p:sp>
      <p:sp>
        <p:nvSpPr>
          <p:cNvPr id="13" name="TextBox 13"/>
          <p:cNvSpPr txBox="1"/>
          <p:nvPr/>
        </p:nvSpPr>
        <p:spPr>
          <a:xfrm>
            <a:off x="2878205" y="1541145"/>
            <a:ext cx="2134642" cy="485775"/>
          </a:xfrm>
          <a:prstGeom prst="rect">
            <a:avLst/>
          </a:prstGeom>
        </p:spPr>
        <p:txBody>
          <a:bodyPr lIns="0" tIns="0" rIns="0" bIns="0" rtlCol="0" anchor="t">
            <a:spAutoFit/>
          </a:bodyPr>
          <a:lstStyle/>
          <a:p>
            <a:pPr algn="ctr" rtl="1">
              <a:lnSpc>
                <a:spcPts val="3449"/>
              </a:lnSpc>
              <a:spcBef>
                <a:spcPct val="0"/>
              </a:spcBef>
            </a:pPr>
            <a:r>
              <a:rPr lang="ar-EG" sz="2874" b="1">
                <a:solidFill>
                  <a:srgbClr val="FFFFFF"/>
                </a:solidFill>
                <a:latin typeface="Calibri (MS) Bold"/>
                <a:ea typeface="Calibri (MS) Bold"/>
                <a:cs typeface="Calibri (MS) Bold"/>
                <a:sym typeface="Calibri (MS) Bold"/>
                <a:rtl/>
              </a:rPr>
              <a:t>رواد مصر الرقمية</a:t>
            </a:r>
          </a:p>
        </p:txBody>
      </p:sp>
      <p:sp>
        <p:nvSpPr>
          <p:cNvPr id="14" name="TextBox 14"/>
          <p:cNvSpPr txBox="1"/>
          <p:nvPr/>
        </p:nvSpPr>
        <p:spPr>
          <a:xfrm>
            <a:off x="3213882" y="774192"/>
            <a:ext cx="1088603" cy="762000"/>
          </a:xfrm>
          <a:prstGeom prst="rect">
            <a:avLst/>
          </a:prstGeom>
        </p:spPr>
        <p:txBody>
          <a:bodyPr lIns="0" tIns="0" rIns="0" bIns="0" rtlCol="0" anchor="t">
            <a:spAutoFit/>
          </a:bodyPr>
          <a:lstStyle/>
          <a:p>
            <a:pPr algn="ctr">
              <a:lnSpc>
                <a:spcPts val="5365"/>
              </a:lnSpc>
              <a:spcBef>
                <a:spcPct val="0"/>
              </a:spcBef>
            </a:pPr>
            <a:r>
              <a:rPr lang="en-US" sz="4471" b="1">
                <a:solidFill>
                  <a:srgbClr val="FFFFFF"/>
                </a:solidFill>
                <a:latin typeface="Calibri (MS) Bold"/>
                <a:ea typeface="Calibri (MS) Bold"/>
                <a:cs typeface="Calibri (MS) Bold"/>
                <a:sym typeface="Calibri (MS) Bold"/>
              </a:rPr>
              <a:t>DEPI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2096</Words>
  <Application>Microsoft Office PowerPoint</Application>
  <PresentationFormat>Custom</PresentationFormat>
  <Paragraphs>385</Paragraphs>
  <Slides>22</Slides>
  <Notes>22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22</vt:i4>
      </vt:variant>
    </vt:vector>
  </HeadingPairs>
  <TitlesOfParts>
    <vt:vector size="32" baseType="lpstr">
      <vt:lpstr>Calibri (MS) Italics</vt:lpstr>
      <vt:lpstr>Calibri</vt:lpstr>
      <vt:lpstr>Courier New Bold</vt:lpstr>
      <vt:lpstr>Courier New</vt:lpstr>
      <vt:lpstr>Calibri (MS) Bold</vt:lpstr>
      <vt:lpstr>Calibri (MS)</vt:lpstr>
      <vt:lpstr>Arial Bold</vt:lpstr>
      <vt:lpstr>Cambria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GridSentry AI_Presentation.pptx</dc:title>
  <dc:creator>Mohamed</dc:creator>
  <cp:lastModifiedBy>محمد هانى احمد عبدالحميد هريدى</cp:lastModifiedBy>
  <cp:revision>1</cp:revision>
  <dcterms:created xsi:type="dcterms:W3CDTF">2006-08-16T00:00:00Z</dcterms:created>
  <dcterms:modified xsi:type="dcterms:W3CDTF">2026-07-12T21:40:47Z</dcterms:modified>
  <dc:identifier>DAHPNCAE0wI</dc:identifier>
</cp:coreProperties>
</file>